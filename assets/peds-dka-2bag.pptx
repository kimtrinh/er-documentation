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  <p:sldId id="263" r:id="rId9"/>
    <p:sldId id="264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-11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26E8-AE0D-A446-B776-64C76A1F55F3}" type="datetimeFigureOut">
              <a:rPr lang="en-US" smtClean="0"/>
              <a:t>8/9/17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8E02E-1073-4B42-A489-9382C9DF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93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26E8-AE0D-A446-B776-64C76A1F55F3}" type="datetimeFigureOut">
              <a:rPr lang="en-US" smtClean="0"/>
              <a:t>8/9/17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8E02E-1073-4B42-A489-9382C9DF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9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26E8-AE0D-A446-B776-64C76A1F55F3}" type="datetimeFigureOut">
              <a:rPr lang="en-US" smtClean="0"/>
              <a:t>8/9/17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8E02E-1073-4B42-A489-9382C9DF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93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26E8-AE0D-A446-B776-64C76A1F55F3}" type="datetimeFigureOut">
              <a:rPr lang="en-US" smtClean="0"/>
              <a:t>8/9/17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8E02E-1073-4B42-A489-9382C9DF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26E8-AE0D-A446-B776-64C76A1F55F3}" type="datetimeFigureOut">
              <a:rPr lang="en-US" smtClean="0"/>
              <a:t>8/9/17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8E02E-1073-4B42-A489-9382C9DF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7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26E8-AE0D-A446-B776-64C76A1F55F3}" type="datetimeFigureOut">
              <a:rPr lang="en-US" smtClean="0"/>
              <a:t>8/9/17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8E02E-1073-4B42-A489-9382C9DF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6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26E8-AE0D-A446-B776-64C76A1F55F3}" type="datetimeFigureOut">
              <a:rPr lang="en-US" smtClean="0"/>
              <a:t>8/9/17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8E02E-1073-4B42-A489-9382C9DF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67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26E8-AE0D-A446-B776-64C76A1F55F3}" type="datetimeFigureOut">
              <a:rPr lang="en-US" smtClean="0"/>
              <a:t>8/9/17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8E02E-1073-4B42-A489-9382C9DF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43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26E8-AE0D-A446-B776-64C76A1F55F3}" type="datetimeFigureOut">
              <a:rPr lang="en-US" smtClean="0"/>
              <a:t>8/9/17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8E02E-1073-4B42-A489-9382C9DF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60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26E8-AE0D-A446-B776-64C76A1F55F3}" type="datetimeFigureOut">
              <a:rPr lang="en-US" smtClean="0"/>
              <a:t>8/9/17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8E02E-1073-4B42-A489-9382C9DF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88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26E8-AE0D-A446-B776-64C76A1F55F3}" type="datetimeFigureOut">
              <a:rPr lang="en-US" smtClean="0"/>
              <a:t>8/9/17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8E02E-1073-4B42-A489-9382C9DF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4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526E8-AE0D-A446-B776-64C76A1F55F3}" type="datetimeFigureOut">
              <a:rPr lang="en-US" smtClean="0"/>
              <a:t>8/9/17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8E02E-1073-4B42-A489-9382C9DFE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2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Pediatric DKA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Understanding the 2-Bag System</a:t>
            </a:r>
          </a:p>
          <a:p>
            <a:r>
              <a:rPr lang="en-US" dirty="0" smtClean="0"/>
              <a:t>&amp;</a:t>
            </a:r>
          </a:p>
          <a:p>
            <a:r>
              <a:rPr lang="en-US" dirty="0" smtClean="0"/>
              <a:t>Hyperglycemia Review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415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Key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main goal of DKA treatment is to fix the acidosis</a:t>
            </a:r>
            <a:r>
              <a:rPr lang="is-IS" dirty="0" smtClean="0"/>
              <a:t>…how do we do this?	</a:t>
            </a:r>
          </a:p>
          <a:p>
            <a:pPr lvl="1"/>
            <a:r>
              <a:rPr lang="is-IS" dirty="0" smtClean="0"/>
              <a:t>Keep the insulin drip running until acidosis is fixed</a:t>
            </a:r>
          </a:p>
          <a:p>
            <a:pPr lvl="1"/>
            <a:r>
              <a:rPr lang="is-IS" dirty="0" smtClean="0"/>
              <a:t>Glucose will come down with IV fluids</a:t>
            </a:r>
          </a:p>
          <a:p>
            <a:pPr lvl="1"/>
            <a:endParaRPr lang="is-IS" dirty="0"/>
          </a:p>
          <a:p>
            <a:pPr marL="0" indent="0">
              <a:buNone/>
            </a:pPr>
            <a:r>
              <a:rPr lang="is-IS" dirty="0" smtClean="0"/>
              <a:t>Fixing the glucose is not the main goal...insulin boluses are not helpful when a child is acidotic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470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the 2-Bag IV fluid system?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US" dirty="0" smtClean="0"/>
              <a:t>The insulin drip needs to continue running until the acidosis is fixed (simply put</a:t>
            </a:r>
            <a:r>
              <a:rPr lang="is-IS" dirty="0" smtClean="0"/>
              <a:t>…</a:t>
            </a:r>
            <a:r>
              <a:rPr lang="en-US" dirty="0" smtClean="0"/>
              <a:t>insulin pushing glucose into cells stops ketone production) but the glucose will drop with IVF and insulin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Instead of shutting off the insulin when the glucose is low, give the body more glucose to push into the cells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he 2-bag system orders more glucose when the blood sugar is dropping too fast and holds glucose when the blood sugar is too high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907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234"/>
            <a:ext cx="8229600" cy="1143000"/>
          </a:xfrm>
        </p:spPr>
        <p:txBody>
          <a:bodyPr/>
          <a:lstStyle/>
          <a:p>
            <a:r>
              <a:rPr lang="en-US" dirty="0" smtClean="0"/>
              <a:t>Logistics of the 2-bag system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50911"/>
            <a:ext cx="3552960" cy="639762"/>
          </a:xfrm>
        </p:spPr>
        <p:txBody>
          <a:bodyPr>
            <a:normAutofit/>
          </a:bodyPr>
          <a:lstStyle/>
          <a:p>
            <a:r>
              <a:rPr lang="en-US" dirty="0" smtClean="0"/>
              <a:t>If Glucose &gt;300: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81945"/>
            <a:ext cx="7295776" cy="830854"/>
          </a:xfrm>
        </p:spPr>
        <p:txBody>
          <a:bodyPr/>
          <a:lstStyle/>
          <a:p>
            <a:r>
              <a:rPr lang="en-US" dirty="0" smtClean="0"/>
              <a:t>Run NS at 1.5 X maintenance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7825" y="3421156"/>
            <a:ext cx="2707012" cy="639762"/>
          </a:xfrm>
        </p:spPr>
        <p:txBody>
          <a:bodyPr>
            <a:normAutofit/>
          </a:bodyPr>
          <a:lstStyle/>
          <a:p>
            <a:r>
              <a:rPr lang="en-US" dirty="0" smtClean="0"/>
              <a:t>If Glucose 150-300:</a:t>
            </a:r>
            <a:endParaRPr lang="en-US" dirty="0"/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640999" y="4808214"/>
            <a:ext cx="2450166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If Glucose &lt;150:</a:t>
            </a:r>
            <a:endParaRPr lang="en-US" dirty="0"/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457200" y="1013718"/>
            <a:ext cx="7696792" cy="14539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 smtClean="0"/>
              <a:t>Start the insulin drip and 2-bag IVF at the same time</a:t>
            </a:r>
            <a:endParaRPr lang="en-US" b="0" dirty="0"/>
          </a:p>
          <a:p>
            <a:r>
              <a:rPr lang="en-US" b="0" dirty="0" smtClean="0"/>
              <a:t>The patient is receiving constant IVF at 1.5 </a:t>
            </a:r>
            <a:r>
              <a:rPr lang="en-US" b="0" dirty="0"/>
              <a:t>X</a:t>
            </a:r>
            <a:r>
              <a:rPr lang="en-US" b="0" dirty="0" smtClean="0"/>
              <a:t> maintenance </a:t>
            </a:r>
            <a:endParaRPr lang="en-US" b="0" dirty="0"/>
          </a:p>
          <a:p>
            <a:r>
              <a:rPr lang="en-US" b="0" dirty="0" smtClean="0"/>
              <a:t>The type of IV fluids adjusts based on hourly </a:t>
            </a:r>
            <a:r>
              <a:rPr lang="en-US" b="0" dirty="0" err="1" smtClean="0"/>
              <a:t>accuchecks</a:t>
            </a:r>
            <a:r>
              <a:rPr lang="en-US" b="0" dirty="0" smtClean="0"/>
              <a:t>: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609600" y="4082000"/>
            <a:ext cx="7295776" cy="830854"/>
          </a:xfrm>
        </p:spPr>
        <p:txBody>
          <a:bodyPr/>
          <a:lstStyle/>
          <a:p>
            <a:r>
              <a:rPr lang="en-US" dirty="0" smtClean="0"/>
              <a:t>Run NS at 0.75 X maintenance AND Run D10 NS at 0.75 X maintenance (patient is essentially getting D5)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609600" y="5447976"/>
            <a:ext cx="7295776" cy="830854"/>
          </a:xfrm>
        </p:spPr>
        <p:txBody>
          <a:bodyPr/>
          <a:lstStyle/>
          <a:p>
            <a:r>
              <a:rPr lang="en-US" dirty="0" smtClean="0"/>
              <a:t>Run D10 NS at 1.5 X maintenance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504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I order the 2-bag system?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The Pediatric DKA Order </a:t>
            </a:r>
            <a:r>
              <a:rPr lang="en-US" dirty="0"/>
              <a:t>S</a:t>
            </a:r>
            <a:r>
              <a:rPr lang="en-US" dirty="0" smtClean="0"/>
              <a:t>et has it all</a:t>
            </a:r>
          </a:p>
          <a:p>
            <a:pPr lvl="1"/>
            <a:r>
              <a:rPr lang="en-US" dirty="0" smtClean="0"/>
              <a:t>The key components of this order set are: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Pull down the 2-bag system drop-down box 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dirty="0"/>
              <a:t>Y</a:t>
            </a:r>
            <a:r>
              <a:rPr lang="en-US" dirty="0" smtClean="0"/>
              <a:t>ou will NOT need to order any other fluids except a NS bolus upon arrival 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dirty="0" smtClean="0"/>
              <a:t>Order includes a bag of D10 NS and a bag of NS with perimeters for adjustment (IV fluids will contain 40 MEQ/L potassium automatically)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Calculate </a:t>
            </a:r>
            <a:r>
              <a:rPr lang="en-US" dirty="0"/>
              <a:t>1.5 X maintenance rate for </a:t>
            </a:r>
            <a:r>
              <a:rPr lang="en-US" dirty="0" smtClean="0"/>
              <a:t>IV </a:t>
            </a:r>
            <a:r>
              <a:rPr lang="en-US" dirty="0"/>
              <a:t>fluids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Insulin drip rate (automatically calculates)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043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diabetic hyperglycemic kid</a:t>
            </a:r>
            <a:r>
              <a:rPr lang="is-IS" dirty="0" smtClean="0"/>
              <a:t>…what do i do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Want to review </a:t>
            </a:r>
            <a:r>
              <a:rPr lang="en-US" sz="3600" dirty="0" err="1" smtClean="0"/>
              <a:t>Peds</a:t>
            </a:r>
            <a:r>
              <a:rPr lang="en-US" sz="3600" dirty="0" smtClean="0"/>
              <a:t> diabetes?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05473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Points: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Airway: Rarely are kids so obtunded that they need airway support but watch for it</a:t>
            </a:r>
          </a:p>
          <a:p>
            <a:r>
              <a:rPr lang="en-US" dirty="0" smtClean="0"/>
              <a:t>Upon arrival: </a:t>
            </a:r>
          </a:p>
          <a:p>
            <a:pPr lvl="1"/>
            <a:r>
              <a:rPr lang="en-US" dirty="0" smtClean="0"/>
              <a:t>Obtain urinalysis, venous blood gas, and metabolic panel</a:t>
            </a:r>
          </a:p>
          <a:p>
            <a:pPr lvl="1"/>
            <a:r>
              <a:rPr lang="en-US" dirty="0" smtClean="0"/>
              <a:t>Give NS bolus 10ml/kg </a:t>
            </a:r>
          </a:p>
          <a:p>
            <a:pPr lvl="1"/>
            <a:r>
              <a:rPr lang="en-US" dirty="0" smtClean="0"/>
              <a:t>No meds until your labs return: </a:t>
            </a:r>
            <a:r>
              <a:rPr lang="en-US" b="1" dirty="0" smtClean="0"/>
              <a:t>NO insulin bolus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70316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labs show DKA</a:t>
            </a:r>
            <a:r>
              <a:rPr lang="is-I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If hyperglycemia and pH &lt;7.25 or </a:t>
            </a:r>
            <a:r>
              <a:rPr lang="en-US" dirty="0" err="1" smtClean="0"/>
              <a:t>Bicarb</a:t>
            </a:r>
            <a:r>
              <a:rPr lang="en-US" dirty="0" smtClean="0"/>
              <a:t> &lt;15:</a:t>
            </a:r>
          </a:p>
          <a:p>
            <a:r>
              <a:rPr lang="en-US" dirty="0" smtClean="0"/>
              <a:t>Goal is to correct acidosis</a:t>
            </a:r>
          </a:p>
          <a:p>
            <a:r>
              <a:rPr lang="en-US" dirty="0" smtClean="0"/>
              <a:t>Start insulin drip and 2-bag IV fluid system</a:t>
            </a:r>
          </a:p>
          <a:p>
            <a:r>
              <a:rPr lang="en-US" dirty="0" smtClean="0"/>
              <a:t>DKA Order </a:t>
            </a:r>
            <a:r>
              <a:rPr lang="en-US" dirty="0"/>
              <a:t>S</a:t>
            </a:r>
            <a:r>
              <a:rPr lang="en-US" dirty="0" smtClean="0"/>
              <a:t>et will give nurse parameters to adjust based on hourly </a:t>
            </a:r>
            <a:r>
              <a:rPr lang="en-US" dirty="0" err="1" smtClean="0"/>
              <a:t>accuchecks</a:t>
            </a:r>
            <a:endParaRPr lang="en-US" dirty="0" smtClean="0"/>
          </a:p>
          <a:p>
            <a:r>
              <a:rPr lang="en-US" dirty="0" smtClean="0"/>
              <a:t>Call PICU</a:t>
            </a:r>
          </a:p>
          <a:p>
            <a:pPr marL="0" indent="0">
              <a:buNone/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 smtClean="0"/>
              <a:t>If the 2-bags are taking awhile to be delivered: you can start insulin drip with NS at a rate of 1.5 X maintenance</a:t>
            </a:r>
          </a:p>
        </p:txBody>
      </p:sp>
    </p:spTree>
    <p:extLst>
      <p:ext uri="{BB962C8B-B14F-4D97-AF65-F5344CB8AC3E}">
        <p14:creationId xmlns:p14="http://schemas.microsoft.com/office/powerpoint/2010/main" val="417088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Calculating 1.5 X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4,2,1 rule and multiply by 1.5</a:t>
            </a:r>
          </a:p>
          <a:p>
            <a:r>
              <a:rPr lang="en-US" dirty="0" smtClean="0"/>
              <a:t>The DKA Order Set will use m</a:t>
            </a:r>
            <a:r>
              <a:rPr lang="en-US" baseline="30000" dirty="0" smtClean="0"/>
              <a:t>2</a:t>
            </a:r>
            <a:r>
              <a:rPr lang="en-US" dirty="0" smtClean="0"/>
              <a:t> but it gives you almost the same number</a:t>
            </a:r>
          </a:p>
          <a:p>
            <a:endParaRPr lang="en-US" dirty="0"/>
          </a:p>
          <a:p>
            <a:r>
              <a:rPr lang="en-US" dirty="0" smtClean="0"/>
              <a:t>Example: 27 kg kid = 40ml (first 10) + 20 ml (second 10) + 7 (1 ml for each additional kg)= 67 X 1.5 = Rate of 100 ml/kg/</a:t>
            </a:r>
            <a:r>
              <a:rPr lang="en-US" dirty="0" err="1" smtClean="0"/>
              <a:t>hr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2406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Mental status changes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When we start correcting is when the risk of cerebral edema starts to increase</a:t>
            </a:r>
          </a:p>
          <a:p>
            <a:r>
              <a:rPr lang="en-US" dirty="0" smtClean="0"/>
              <a:t>3% NS bolus (5 ml/kg) is preferred but </a:t>
            </a:r>
            <a:r>
              <a:rPr lang="en-US" dirty="0" err="1" smtClean="0"/>
              <a:t>mannitol</a:t>
            </a:r>
            <a:r>
              <a:rPr lang="en-US" dirty="0" smtClean="0"/>
              <a:t> can be used, elevate head of bed, protect airway if needed</a:t>
            </a:r>
          </a:p>
          <a:p>
            <a:r>
              <a:rPr lang="en-US" dirty="0" smtClean="0"/>
              <a:t>If you intubate, ventilator rate usually needs to be higher than normal to help blow off CO2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733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Electrolyte Derangements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Potassium is expected to drop: kids don’t need large amounts of replacement so 40 </a:t>
            </a:r>
            <a:r>
              <a:rPr lang="en-US" dirty="0" err="1" smtClean="0"/>
              <a:t>mEq</a:t>
            </a:r>
            <a:r>
              <a:rPr lang="en-US" dirty="0" smtClean="0"/>
              <a:t>/L potassium is added to the IV fluids</a:t>
            </a:r>
          </a:p>
          <a:p>
            <a:r>
              <a:rPr lang="en-US" dirty="0" smtClean="0"/>
              <a:t>Phosphate is added as </a:t>
            </a:r>
            <a:r>
              <a:rPr lang="en-US" dirty="0" err="1" smtClean="0"/>
              <a:t>KPhos</a:t>
            </a:r>
            <a:r>
              <a:rPr lang="en-US" dirty="0" smtClean="0"/>
              <a:t>: rarely this can drop the calcium so stop if Ca</a:t>
            </a:r>
            <a:r>
              <a:rPr lang="en-US" baseline="30000" dirty="0" smtClean="0"/>
              <a:t>2+</a:t>
            </a:r>
            <a:r>
              <a:rPr lang="en-US" dirty="0" smtClean="0"/>
              <a:t> is too low</a:t>
            </a:r>
          </a:p>
          <a:p>
            <a:r>
              <a:rPr lang="en-US" dirty="0" err="1" smtClean="0"/>
              <a:t>Bicarb</a:t>
            </a:r>
            <a:r>
              <a:rPr lang="en-US" dirty="0" smtClean="0"/>
              <a:t>: Insulin increases the </a:t>
            </a:r>
            <a:r>
              <a:rPr lang="en-US" dirty="0" err="1"/>
              <a:t>b</a:t>
            </a:r>
            <a:r>
              <a:rPr lang="en-US" dirty="0" err="1" smtClean="0"/>
              <a:t>icarb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b="1" dirty="0" smtClean="0"/>
              <a:t>NO </a:t>
            </a:r>
            <a:r>
              <a:rPr lang="en-US" b="1" dirty="0" err="1" smtClean="0"/>
              <a:t>Bicarb</a:t>
            </a:r>
            <a:r>
              <a:rPr lang="en-US" b="1" dirty="0" smtClean="0"/>
              <a:t> boluses</a:t>
            </a:r>
            <a:r>
              <a:rPr lang="en-US" dirty="0" smtClean="0"/>
              <a:t>. Slow correction is better</a:t>
            </a:r>
          </a:p>
        </p:txBody>
      </p:sp>
    </p:spTree>
    <p:extLst>
      <p:ext uri="{BB962C8B-B14F-4D97-AF65-F5344CB8AC3E}">
        <p14:creationId xmlns:p14="http://schemas.microsoft.com/office/powerpoint/2010/main" val="226109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kid is NOT in DKA..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82115" cy="4525963"/>
          </a:xfrm>
        </p:spPr>
        <p:txBody>
          <a:bodyPr/>
          <a:lstStyle/>
          <a:p>
            <a:r>
              <a:rPr lang="en-US" dirty="0" smtClean="0"/>
              <a:t>In other words, if the kid does not need an insulin drip (but usually is slightly acidotic)</a:t>
            </a:r>
          </a:p>
          <a:p>
            <a:r>
              <a:rPr lang="en-US" dirty="0" smtClean="0"/>
              <a:t>Follow the ED hyperglycemia guideline:</a:t>
            </a:r>
          </a:p>
          <a:p>
            <a:pPr lvl="1"/>
            <a:r>
              <a:rPr lang="en-US" dirty="0" smtClean="0"/>
              <a:t>Repeat IV bolus </a:t>
            </a:r>
            <a:r>
              <a:rPr lang="en-US" smtClean="0"/>
              <a:t>at </a:t>
            </a:r>
            <a:r>
              <a:rPr lang="en-US" smtClean="0"/>
              <a:t>10 </a:t>
            </a:r>
            <a:r>
              <a:rPr lang="en-US" dirty="0" smtClean="0"/>
              <a:t>ml/kg </a:t>
            </a:r>
          </a:p>
          <a:p>
            <a:pPr lvl="2"/>
            <a:r>
              <a:rPr lang="en-US" dirty="0" smtClean="0"/>
              <a:t>If not critically acidotic, we can be liberal with IVF</a:t>
            </a:r>
          </a:p>
          <a:p>
            <a:pPr lvl="2"/>
            <a:r>
              <a:rPr lang="en-US" dirty="0" smtClean="0"/>
              <a:t>IV fluids alone will help bring down glucose </a:t>
            </a:r>
          </a:p>
          <a:p>
            <a:pPr lvl="1"/>
            <a:r>
              <a:rPr lang="en-US" dirty="0" smtClean="0"/>
              <a:t>Correct hyperglycemia with insulin boluses according to home insulin regimen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406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708</Words>
  <Application>Microsoft Macintosh PowerPoint</Application>
  <PresentationFormat>On-screen Show (4:3)</PresentationFormat>
  <Paragraphs>70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Pediatric DKA</vt:lpstr>
      <vt:lpstr>The Key Concept</vt:lpstr>
      <vt:lpstr>Why the 2-Bag IV fluid system?</vt:lpstr>
      <vt:lpstr>Logistics of the 2-bag system</vt:lpstr>
      <vt:lpstr>How do I order the 2-bag system?</vt:lpstr>
      <vt:lpstr>the diabetic hyperglycemic kid…what do i do?</vt:lpstr>
      <vt:lpstr>Key Points:</vt:lpstr>
      <vt:lpstr>If labs show DKA…</vt:lpstr>
      <vt:lpstr>Calculating 1.5 X maintenance</vt:lpstr>
      <vt:lpstr>Mental status changes</vt:lpstr>
      <vt:lpstr>Electrolyte Derangements</vt:lpstr>
      <vt:lpstr>If kid is NOT in DKA..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Pediatric DKA</dc:title>
  <dc:creator>Andrea Thorp</dc:creator>
  <cp:lastModifiedBy>Andrea Thorp</cp:lastModifiedBy>
  <cp:revision>18</cp:revision>
  <dcterms:created xsi:type="dcterms:W3CDTF">2017-08-08T17:56:07Z</dcterms:created>
  <dcterms:modified xsi:type="dcterms:W3CDTF">2017-08-09T22:17:53Z</dcterms:modified>
</cp:coreProperties>
</file>