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8" r:id="rId2"/>
    <p:sldMasterId id="2147483687" r:id="rId3"/>
    <p:sldMasterId id="2147483686" r:id="rId4"/>
  </p:sldMasterIdLst>
  <p:notesMasterIdLst>
    <p:notesMasterId r:id="rId87"/>
  </p:notesMasterIdLst>
  <p:handoutMasterIdLst>
    <p:handoutMasterId r:id="rId88"/>
  </p:handoutMasterIdLst>
  <p:sldIdLst>
    <p:sldId id="485" r:id="rId5"/>
    <p:sldId id="1513" r:id="rId6"/>
    <p:sldId id="1514" r:id="rId7"/>
    <p:sldId id="1496" r:id="rId8"/>
    <p:sldId id="1515" r:id="rId9"/>
    <p:sldId id="1508" r:id="rId10"/>
    <p:sldId id="1512" r:id="rId11"/>
    <p:sldId id="1507" r:id="rId12"/>
    <p:sldId id="1499" r:id="rId13"/>
    <p:sldId id="1517" r:id="rId14"/>
    <p:sldId id="1518" r:id="rId15"/>
    <p:sldId id="1493" r:id="rId16"/>
    <p:sldId id="1519" r:id="rId17"/>
    <p:sldId id="257" r:id="rId18"/>
    <p:sldId id="1520" r:id="rId19"/>
    <p:sldId id="325" r:id="rId20"/>
    <p:sldId id="311" r:id="rId21"/>
    <p:sldId id="351" r:id="rId22"/>
    <p:sldId id="372" r:id="rId23"/>
    <p:sldId id="313" r:id="rId24"/>
    <p:sldId id="352" r:id="rId25"/>
    <p:sldId id="316" r:id="rId26"/>
    <p:sldId id="332" r:id="rId27"/>
    <p:sldId id="333" r:id="rId28"/>
    <p:sldId id="356" r:id="rId29"/>
    <p:sldId id="359" r:id="rId30"/>
    <p:sldId id="1521" r:id="rId31"/>
    <p:sldId id="1522" r:id="rId32"/>
    <p:sldId id="1494" r:id="rId33"/>
    <p:sldId id="1523" r:id="rId34"/>
    <p:sldId id="1503" r:id="rId35"/>
    <p:sldId id="1524" r:id="rId36"/>
    <p:sldId id="373" r:id="rId37"/>
    <p:sldId id="374" r:id="rId38"/>
    <p:sldId id="375" r:id="rId39"/>
    <p:sldId id="1543" r:id="rId40"/>
    <p:sldId id="1544" r:id="rId41"/>
    <p:sldId id="1536" r:id="rId42"/>
    <p:sldId id="314" r:id="rId43"/>
    <p:sldId id="347" r:id="rId44"/>
    <p:sldId id="335" r:id="rId45"/>
    <p:sldId id="329" r:id="rId46"/>
    <p:sldId id="334" r:id="rId47"/>
    <p:sldId id="358" r:id="rId48"/>
    <p:sldId id="376" r:id="rId49"/>
    <p:sldId id="1525" r:id="rId50"/>
    <p:sldId id="1526" r:id="rId51"/>
    <p:sldId id="1497" r:id="rId52"/>
    <p:sldId id="1527" r:id="rId53"/>
    <p:sldId id="1504" r:id="rId54"/>
    <p:sldId id="1528" r:id="rId55"/>
    <p:sldId id="357" r:id="rId56"/>
    <p:sldId id="326" r:id="rId57"/>
    <p:sldId id="312" r:id="rId58"/>
    <p:sldId id="377" r:id="rId59"/>
    <p:sldId id="1542" r:id="rId60"/>
    <p:sldId id="1541" r:id="rId61"/>
    <p:sldId id="378" r:id="rId62"/>
    <p:sldId id="379" r:id="rId63"/>
    <p:sldId id="350" r:id="rId64"/>
    <p:sldId id="323" r:id="rId65"/>
    <p:sldId id="309" r:id="rId66"/>
    <p:sldId id="380" r:id="rId67"/>
    <p:sldId id="1533" r:id="rId68"/>
    <p:sldId id="1534" r:id="rId69"/>
    <p:sldId id="1502" r:id="rId70"/>
    <p:sldId id="1529" r:id="rId71"/>
    <p:sldId id="1530" r:id="rId72"/>
    <p:sldId id="1498" r:id="rId73"/>
    <p:sldId id="1531" r:id="rId74"/>
    <p:sldId id="1505" r:id="rId75"/>
    <p:sldId id="1532" r:id="rId76"/>
    <p:sldId id="354" r:id="rId77"/>
    <p:sldId id="324" r:id="rId78"/>
    <p:sldId id="310" r:id="rId79"/>
    <p:sldId id="1540" r:id="rId80"/>
    <p:sldId id="1539" r:id="rId81"/>
    <p:sldId id="348" r:id="rId82"/>
    <p:sldId id="349" r:id="rId83"/>
    <p:sldId id="1538" r:id="rId84"/>
    <p:sldId id="1537" r:id="rId85"/>
    <p:sldId id="381" r:id="rId86"/>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Narrow" panose="020B0606020202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Narrow" panose="020B0606020202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Narrow" panose="020B0606020202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Narrow" panose="020B0606020202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Narrow" panose="020B0606020202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Narrow" panose="020B0606020202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Narrow" panose="020B0606020202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Narrow" panose="020B0606020202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Narrow" panose="020B0606020202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152">
          <p15:clr>
            <a:srgbClr val="A4A3A4"/>
          </p15:clr>
        </p15:guide>
        <p15:guide id="2" orient="horz" pos="3744">
          <p15:clr>
            <a:srgbClr val="A4A3A4"/>
          </p15:clr>
        </p15:guide>
        <p15:guide id="3" pos="2880">
          <p15:clr>
            <a:srgbClr val="A4A3A4"/>
          </p15:clr>
        </p15:guide>
        <p15:guide id="4" pos="288">
          <p15:clr>
            <a:srgbClr val="A4A3A4"/>
          </p15:clr>
        </p15:guide>
        <p15:guide id="5" pos="5472">
          <p15:clr>
            <a:srgbClr val="A4A3A4"/>
          </p15:clr>
        </p15:guide>
      </p15:sldGuideLst>
    </p:ext>
    <p:ext uri="{2D200454-40CA-4A62-9FC3-DE9A4176ACB9}">
      <p15:notesGuideLst xmlns:p15="http://schemas.microsoft.com/office/powerpoint/2012/main">
        <p15:guide id="1" orient="horz" pos="2927">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an P Fitzwater" initials="SPF" lastIdx="2" clrIdx="0">
    <p:extLst>
      <p:ext uri="{19B8F6BF-5375-455C-9EA6-DF929625EA0E}">
        <p15:presenceInfo xmlns:p15="http://schemas.microsoft.com/office/powerpoint/2012/main" userId="S::SEAN.P.FITZWATER@kp.org::05524a30-91f8-4a5a-9a5b-bf74fd18d156" providerId="AD"/>
      </p:ext>
    </p:extLst>
  </p:cmAuthor>
  <p:cmAuthor id="2" name="Dustin W Ballard" initials="DWB" lastIdx="42" clrIdx="1">
    <p:extLst>
      <p:ext uri="{19B8F6BF-5375-455C-9EA6-DF929625EA0E}">
        <p15:presenceInfo xmlns:p15="http://schemas.microsoft.com/office/powerpoint/2012/main" userId="S::dustin.ballard@kp.org::8f612dcd-5802-4015-a062-941234916625" providerId="AD"/>
      </p:ext>
    </p:extLst>
  </p:cmAuthor>
  <p:cmAuthor id="3" name="Tara L. Greenhow" initials="TLG" lastIdx="33" clrIdx="2">
    <p:extLst>
      <p:ext uri="{19B8F6BF-5375-455C-9EA6-DF929625EA0E}">
        <p15:presenceInfo xmlns:p15="http://schemas.microsoft.com/office/powerpoint/2012/main" userId="S::Tara.Greenhow@kp.org::6112cf9a-2d24-4f60-ac43-73cf397ff5bf" providerId="AD"/>
      </p:ext>
    </p:extLst>
  </p:cmAuthor>
  <p:cmAuthor id="4" name="JENNIFER Y ZHANG" initials="JYZ" lastIdx="1" clrIdx="3">
    <p:extLst>
      <p:ext uri="{19B8F6BF-5375-455C-9EA6-DF929625EA0E}">
        <p15:presenceInfo xmlns:p15="http://schemas.microsoft.com/office/powerpoint/2012/main" userId="S-1-5-21-1091048779-1534414635-592522955-30261" providerId="AD"/>
      </p:ext>
    </p:extLst>
  </p:cmAuthor>
  <p:cmAuthor id="5" name="Jennifer Zhang" initials="JZ" lastIdx="2" clrIdx="4">
    <p:extLst>
      <p:ext uri="{19B8F6BF-5375-455C-9EA6-DF929625EA0E}">
        <p15:presenceInfo xmlns:p15="http://schemas.microsoft.com/office/powerpoint/2012/main" userId="Jennifer Zh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28F"/>
    <a:srgbClr val="4472C4"/>
    <a:srgbClr val="E2F0D9"/>
    <a:srgbClr val="DAE3F3"/>
    <a:srgbClr val="8FAADC"/>
    <a:srgbClr val="CCFFCC"/>
    <a:srgbClr val="CC00FF"/>
    <a:srgbClr val="FFD966"/>
    <a:srgbClr val="7D3815"/>
    <a:srgbClr val="3953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60" autoAdjust="0"/>
    <p:restoredTop sz="96196" autoAdjust="0"/>
  </p:normalViewPr>
  <p:slideViewPr>
    <p:cSldViewPr snapToGrid="0" snapToObjects="1">
      <p:cViewPr varScale="1">
        <p:scale>
          <a:sx n="79" d="100"/>
          <a:sy n="79" d="100"/>
        </p:scale>
        <p:origin x="432" y="96"/>
      </p:cViewPr>
      <p:guideLst>
        <p:guide orient="horz" pos="1152"/>
        <p:guide orient="horz" pos="3744"/>
        <p:guide pos="2880"/>
        <p:guide pos="288"/>
        <p:guide pos="54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96" d="100"/>
          <a:sy n="96" d="100"/>
        </p:scale>
        <p:origin x="-3606" y="-96"/>
      </p:cViewPr>
      <p:guideLst>
        <p:guide orient="horz" pos="2927"/>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commentAuthors" Target="commentAuthor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44F77486-CAD6-4C72-A42E-D474B06D2C77}"/>
              </a:ext>
            </a:extLst>
          </p:cNvPr>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000">
                <a:latin typeface="Arial" panose="020B0604020202020204" pitchFamily="34" charset="0"/>
                <a:cs typeface="+mn-cs"/>
              </a:defRPr>
            </a:lvl1pPr>
          </a:lstStyle>
          <a:p>
            <a:pPr>
              <a:defRPr/>
            </a:pPr>
            <a:endParaRPr lang="en-US" altLang="en-US" dirty="0"/>
          </a:p>
        </p:txBody>
      </p:sp>
      <p:sp>
        <p:nvSpPr>
          <p:cNvPr id="248835" name="Rectangle 3">
            <a:extLst>
              <a:ext uri="{FF2B5EF4-FFF2-40B4-BE49-F238E27FC236}">
                <a16:creationId xmlns:a16="http://schemas.microsoft.com/office/drawing/2014/main" id="{226F263E-73D6-4E07-8785-31D1BA1CFB29}"/>
              </a:ext>
            </a:extLst>
          </p:cNvPr>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atin typeface="Arial" panose="020B0604020202020204" pitchFamily="34" charset="0"/>
                <a:cs typeface="+mn-cs"/>
              </a:defRPr>
            </a:lvl1pPr>
          </a:lstStyle>
          <a:p>
            <a:pPr>
              <a:defRPr/>
            </a:pPr>
            <a:endParaRPr lang="en-US" altLang="en-US" dirty="0"/>
          </a:p>
        </p:txBody>
      </p:sp>
      <p:sp>
        <p:nvSpPr>
          <p:cNvPr id="248836" name="Rectangle 4">
            <a:extLst>
              <a:ext uri="{FF2B5EF4-FFF2-40B4-BE49-F238E27FC236}">
                <a16:creationId xmlns:a16="http://schemas.microsoft.com/office/drawing/2014/main" id="{AC86B1EE-F5EA-4B45-B4FE-71698E4E3F4C}"/>
              </a:ext>
            </a:extLst>
          </p:cNvPr>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000">
                <a:latin typeface="Arial" panose="020B0604020202020204" pitchFamily="34" charset="0"/>
                <a:cs typeface="+mn-cs"/>
              </a:defRPr>
            </a:lvl1pPr>
          </a:lstStyle>
          <a:p>
            <a:pPr>
              <a:defRPr/>
            </a:pPr>
            <a:endParaRPr lang="en-US" altLang="en-US" dirty="0"/>
          </a:p>
        </p:txBody>
      </p:sp>
      <p:sp>
        <p:nvSpPr>
          <p:cNvPr id="248837" name="Rectangle 5">
            <a:extLst>
              <a:ext uri="{FF2B5EF4-FFF2-40B4-BE49-F238E27FC236}">
                <a16:creationId xmlns:a16="http://schemas.microsoft.com/office/drawing/2014/main" id="{14D89500-1ACF-40CE-A091-4654735A4D64}"/>
              </a:ext>
            </a:extLst>
          </p:cNvPr>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000">
                <a:latin typeface="Arial" panose="020B0604020202020204" pitchFamily="34" charset="0"/>
              </a:defRPr>
            </a:lvl1pPr>
          </a:lstStyle>
          <a:p>
            <a:fld id="{51B61D04-D3D5-445A-8CEA-4197DF1B0659}" type="slidenum">
              <a:rPr lang="en-US" altLang="en-US"/>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33E14D9-7553-4227-BC9F-2665720BE5CE}"/>
              </a:ext>
            </a:extLst>
          </p:cNvPr>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46" tIns="46273" rIns="92546" bIns="46273" numCol="1" anchor="t" anchorCtr="0" compatLnSpc="1">
            <a:prstTxWarp prst="textNoShape">
              <a:avLst/>
            </a:prstTxWarp>
          </a:bodyPr>
          <a:lstStyle>
            <a:lvl1pPr algn="l" defTabSz="925513" eaLnBrk="1" hangingPunct="1">
              <a:defRPr sz="1000">
                <a:latin typeface="Arial" panose="020B0604020202020204" pitchFamily="34" charset="0"/>
                <a:cs typeface="+mn-cs"/>
              </a:defRPr>
            </a:lvl1pPr>
          </a:lstStyle>
          <a:p>
            <a:pPr>
              <a:defRPr/>
            </a:pPr>
            <a:endParaRPr lang="en-US" altLang="en-US" dirty="0"/>
          </a:p>
        </p:txBody>
      </p:sp>
      <p:sp>
        <p:nvSpPr>
          <p:cNvPr id="7171" name="Rectangle 3">
            <a:extLst>
              <a:ext uri="{FF2B5EF4-FFF2-40B4-BE49-F238E27FC236}">
                <a16:creationId xmlns:a16="http://schemas.microsoft.com/office/drawing/2014/main" id="{D236D53C-3B66-41BF-AC8B-3BBC6C7267F8}"/>
              </a:ext>
            </a:extLst>
          </p:cNvPr>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46" tIns="46273" rIns="92546" bIns="46273" numCol="1" anchor="t" anchorCtr="0" compatLnSpc="1">
            <a:prstTxWarp prst="textNoShape">
              <a:avLst/>
            </a:prstTxWarp>
          </a:bodyPr>
          <a:lstStyle>
            <a:lvl1pPr algn="r" defTabSz="925513" eaLnBrk="1" hangingPunct="1">
              <a:defRPr sz="1000">
                <a:latin typeface="Arial" panose="020B0604020202020204" pitchFamily="34" charset="0"/>
                <a:cs typeface="+mn-cs"/>
              </a:defRPr>
            </a:lvl1pPr>
          </a:lstStyle>
          <a:p>
            <a:pPr>
              <a:defRPr/>
            </a:pPr>
            <a:endParaRPr lang="en-US" altLang="en-US" dirty="0"/>
          </a:p>
        </p:txBody>
      </p:sp>
      <p:sp>
        <p:nvSpPr>
          <p:cNvPr id="6148" name="Rectangle 4">
            <a:extLst>
              <a:ext uri="{FF2B5EF4-FFF2-40B4-BE49-F238E27FC236}">
                <a16:creationId xmlns:a16="http://schemas.microsoft.com/office/drawing/2014/main" id="{2A43C223-6493-42D6-9160-20A3021581BC}"/>
              </a:ext>
            </a:extLst>
          </p:cNvPr>
          <p:cNvSpPr>
            <a:spLocks noGrp="1" noRot="1" noChangeAspect="1" noChangeArrowheads="1" noTextEdit="1"/>
          </p:cNvSpPr>
          <p:nvPr>
            <p:ph type="sldImg" idx="2"/>
          </p:nvPr>
        </p:nvSpPr>
        <p:spPr bwMode="auto">
          <a:xfrm>
            <a:off x="1182688" y="698500"/>
            <a:ext cx="4646612" cy="34845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85B4D384-6F74-443C-8808-2E56B6184047}"/>
              </a:ext>
            </a:extLst>
          </p:cNvPr>
          <p:cNvSpPr>
            <a:spLocks noGrp="1" noChangeArrowheads="1"/>
          </p:cNvSpPr>
          <p:nvPr>
            <p:ph type="body" sz="quarter" idx="3"/>
          </p:nvPr>
        </p:nvSpPr>
        <p:spPr bwMode="auto">
          <a:xfrm>
            <a:off x="701675" y="4416425"/>
            <a:ext cx="560705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46" tIns="46273" rIns="92546" bIns="46273"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7174" name="Rectangle 6">
            <a:extLst>
              <a:ext uri="{FF2B5EF4-FFF2-40B4-BE49-F238E27FC236}">
                <a16:creationId xmlns:a16="http://schemas.microsoft.com/office/drawing/2014/main" id="{7BF29A3F-1521-44C9-BF51-867D84C7BBD5}"/>
              </a:ext>
            </a:extLst>
          </p:cNvPr>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46" tIns="46273" rIns="92546" bIns="46273" numCol="1" anchor="b" anchorCtr="0" compatLnSpc="1">
            <a:prstTxWarp prst="textNoShape">
              <a:avLst/>
            </a:prstTxWarp>
          </a:bodyPr>
          <a:lstStyle>
            <a:lvl1pPr algn="l" defTabSz="925513" eaLnBrk="1" hangingPunct="1">
              <a:defRPr sz="1000">
                <a:latin typeface="Arial" panose="020B0604020202020204" pitchFamily="34" charset="0"/>
                <a:cs typeface="+mn-cs"/>
              </a:defRPr>
            </a:lvl1pPr>
          </a:lstStyle>
          <a:p>
            <a:pPr>
              <a:defRPr/>
            </a:pPr>
            <a:endParaRPr lang="en-US" altLang="en-US" dirty="0"/>
          </a:p>
        </p:txBody>
      </p:sp>
      <p:sp>
        <p:nvSpPr>
          <p:cNvPr id="7175" name="Rectangle 7">
            <a:extLst>
              <a:ext uri="{FF2B5EF4-FFF2-40B4-BE49-F238E27FC236}">
                <a16:creationId xmlns:a16="http://schemas.microsoft.com/office/drawing/2014/main" id="{8C57CEA7-5782-4298-B80C-7FB022B96D31}"/>
              </a:ext>
            </a:extLst>
          </p:cNvPr>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46" tIns="46273" rIns="92546" bIns="46273" numCol="1" anchor="b" anchorCtr="0" compatLnSpc="1">
            <a:prstTxWarp prst="textNoShape">
              <a:avLst/>
            </a:prstTxWarp>
          </a:bodyPr>
          <a:lstStyle>
            <a:lvl1pPr algn="r" defTabSz="925513" eaLnBrk="1" hangingPunct="1">
              <a:defRPr sz="1000">
                <a:latin typeface="Arial" panose="020B0604020202020204" pitchFamily="34" charset="0"/>
              </a:defRPr>
            </a:lvl1pPr>
          </a:lstStyle>
          <a:p>
            <a:fld id="{C34C44BC-1819-4F26-BD58-77E4136DBA43}"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lnSpc>
        <a:spcPct val="95000"/>
      </a:lnSpc>
      <a:spcBef>
        <a:spcPct val="35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lnSpc>
        <a:spcPct val="95000"/>
      </a:lnSpc>
      <a:spcBef>
        <a:spcPct val="35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lnSpc>
        <a:spcPct val="95000"/>
      </a:lnSpc>
      <a:spcBef>
        <a:spcPct val="35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lnSpc>
        <a:spcPct val="95000"/>
      </a:lnSpc>
      <a:spcBef>
        <a:spcPct val="35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lnSpc>
        <a:spcPct val="95000"/>
      </a:lnSpc>
      <a:spcBef>
        <a:spcPct val="35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2C2EE7B-5C5D-4EDA-B941-9E938737F54F}"/>
              </a:ext>
            </a:extLst>
          </p:cNvPr>
          <p:cNvSpPr>
            <a:spLocks noGrp="1" noChangeArrowheads="1"/>
          </p:cNvSpPr>
          <p:nvPr>
            <p:ph type="sldNum" sz="quarter" idx="5"/>
          </p:nvPr>
        </p:nvSpPr>
        <p:spPr>
          <a:noFill/>
        </p:spPr>
        <p:txBody>
          <a:bodyPr/>
          <a:lstStyle>
            <a:lvl1pPr algn="ctr" defTabSz="925513">
              <a:defRPr>
                <a:solidFill>
                  <a:schemeClr val="tx1"/>
                </a:solidFill>
                <a:latin typeface="Arial Narrow" panose="020B0606020202030204" pitchFamily="34" charset="0"/>
                <a:cs typeface="Arial" panose="020B0604020202020204" pitchFamily="34" charset="0"/>
              </a:defRPr>
            </a:lvl1pPr>
            <a:lvl2pPr marL="742950" indent="-285750" algn="ctr" defTabSz="925513">
              <a:defRPr>
                <a:solidFill>
                  <a:schemeClr val="tx1"/>
                </a:solidFill>
                <a:latin typeface="Arial Narrow" panose="020B0606020202030204" pitchFamily="34" charset="0"/>
                <a:cs typeface="Arial" panose="020B0604020202020204" pitchFamily="34" charset="0"/>
              </a:defRPr>
            </a:lvl2pPr>
            <a:lvl3pPr marL="1143000" indent="-228600" algn="ctr" defTabSz="925513">
              <a:defRPr>
                <a:solidFill>
                  <a:schemeClr val="tx1"/>
                </a:solidFill>
                <a:latin typeface="Arial Narrow" panose="020B0606020202030204" pitchFamily="34" charset="0"/>
                <a:cs typeface="Arial" panose="020B0604020202020204" pitchFamily="34" charset="0"/>
              </a:defRPr>
            </a:lvl3pPr>
            <a:lvl4pPr marL="1600200" indent="-228600" algn="ctr" defTabSz="925513">
              <a:defRPr>
                <a:solidFill>
                  <a:schemeClr val="tx1"/>
                </a:solidFill>
                <a:latin typeface="Arial Narrow" panose="020B0606020202030204" pitchFamily="34" charset="0"/>
                <a:cs typeface="Arial" panose="020B0604020202020204" pitchFamily="34" charset="0"/>
              </a:defRPr>
            </a:lvl4pPr>
            <a:lvl5pPr marL="2057400" indent="-228600" algn="ctr" defTabSz="925513">
              <a:defRPr>
                <a:solidFill>
                  <a:schemeClr val="tx1"/>
                </a:solidFill>
                <a:latin typeface="Arial Narrow" panose="020B0606020202030204" pitchFamily="34" charset="0"/>
                <a:cs typeface="Arial" panose="020B0604020202020204" pitchFamily="34" charset="0"/>
              </a:defRPr>
            </a:lvl5pPr>
            <a:lvl6pPr marL="2514600" indent="-228600" algn="ctr" defTabSz="925513"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defTabSz="925513"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defTabSz="925513"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defTabSz="925513"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B216DCE1-663F-4C5B-A386-08EBF82804D7}" type="slidenum">
              <a:rPr lang="en-US" altLang="en-US">
                <a:latin typeface="Arial" panose="020B0604020202020204" pitchFamily="34" charset="0"/>
              </a:rPr>
              <a:pPr algn="r"/>
              <a:t>1</a:t>
            </a:fld>
            <a:endParaRPr lang="en-US" altLang="en-US" dirty="0">
              <a:latin typeface="Arial" panose="020B0604020202020204" pitchFamily="34" charset="0"/>
            </a:endParaRPr>
          </a:p>
        </p:txBody>
      </p:sp>
      <p:sp>
        <p:nvSpPr>
          <p:cNvPr id="22531" name="Rectangle 2">
            <a:extLst>
              <a:ext uri="{FF2B5EF4-FFF2-40B4-BE49-F238E27FC236}">
                <a16:creationId xmlns:a16="http://schemas.microsoft.com/office/drawing/2014/main" id="{F77729CC-7D63-4A6F-8E63-3EF1A0FB43FC}"/>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55750B24-F5F8-40C9-85BF-A1D2BF84C625}"/>
              </a:ext>
            </a:extLst>
          </p:cNvPr>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8</a:t>
            </a:fld>
            <a:endParaRPr lang="en-US"/>
          </a:p>
        </p:txBody>
      </p:sp>
    </p:spTree>
    <p:extLst>
      <p:ext uri="{BB962C8B-B14F-4D97-AF65-F5344CB8AC3E}">
        <p14:creationId xmlns:p14="http://schemas.microsoft.com/office/powerpoint/2010/main" val="2867437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18</a:t>
            </a:fld>
            <a:endParaRPr lang="en-US"/>
          </a:p>
        </p:txBody>
      </p:sp>
    </p:spTree>
    <p:extLst>
      <p:ext uri="{BB962C8B-B14F-4D97-AF65-F5344CB8AC3E}">
        <p14:creationId xmlns:p14="http://schemas.microsoft.com/office/powerpoint/2010/main" val="3854655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B</a:t>
            </a:r>
          </a:p>
        </p:txBody>
      </p:sp>
      <p:sp>
        <p:nvSpPr>
          <p:cNvPr id="4" name="Slide Number Placeholder 3"/>
          <p:cNvSpPr>
            <a:spLocks noGrp="1"/>
          </p:cNvSpPr>
          <p:nvPr>
            <p:ph type="sldNum" sz="quarter" idx="5"/>
          </p:nvPr>
        </p:nvSpPr>
        <p:spPr/>
        <p:txBody>
          <a:bodyPr/>
          <a:lstStyle/>
          <a:p>
            <a:fld id="{54D49C13-0095-A445-9CB3-7D576D1C98A2}" type="slidenum">
              <a:rPr lang="en-US" smtClean="0"/>
              <a:t>21</a:t>
            </a:fld>
            <a:endParaRPr lang="en-US"/>
          </a:p>
        </p:txBody>
      </p:sp>
    </p:spTree>
    <p:extLst>
      <p:ext uri="{BB962C8B-B14F-4D97-AF65-F5344CB8AC3E}">
        <p14:creationId xmlns:p14="http://schemas.microsoft.com/office/powerpoint/2010/main" val="2513669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C</a:t>
            </a:r>
          </a:p>
        </p:txBody>
      </p:sp>
      <p:sp>
        <p:nvSpPr>
          <p:cNvPr id="4" name="Slide Number Placeholder 3"/>
          <p:cNvSpPr>
            <a:spLocks noGrp="1"/>
          </p:cNvSpPr>
          <p:nvPr>
            <p:ph type="sldNum" sz="quarter" idx="5"/>
          </p:nvPr>
        </p:nvSpPr>
        <p:spPr/>
        <p:txBody>
          <a:bodyPr/>
          <a:lstStyle/>
          <a:p>
            <a:fld id="{54D49C13-0095-A445-9CB3-7D576D1C98A2}" type="slidenum">
              <a:rPr lang="en-US" smtClean="0"/>
              <a:t>25</a:t>
            </a:fld>
            <a:endParaRPr lang="en-US"/>
          </a:p>
        </p:txBody>
      </p:sp>
    </p:spTree>
    <p:extLst>
      <p:ext uri="{BB962C8B-B14F-4D97-AF65-F5344CB8AC3E}">
        <p14:creationId xmlns:p14="http://schemas.microsoft.com/office/powerpoint/2010/main" val="147991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26</a:t>
            </a:fld>
            <a:endParaRPr lang="en-US"/>
          </a:p>
        </p:txBody>
      </p:sp>
    </p:spTree>
    <p:extLst>
      <p:ext uri="{BB962C8B-B14F-4D97-AF65-F5344CB8AC3E}">
        <p14:creationId xmlns:p14="http://schemas.microsoft.com/office/powerpoint/2010/main" val="2202192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33</a:t>
            </a:fld>
            <a:endParaRPr lang="en-US"/>
          </a:p>
        </p:txBody>
      </p:sp>
    </p:spTree>
    <p:extLst>
      <p:ext uri="{BB962C8B-B14F-4D97-AF65-F5344CB8AC3E}">
        <p14:creationId xmlns:p14="http://schemas.microsoft.com/office/powerpoint/2010/main" val="3854655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F</a:t>
            </a:r>
          </a:p>
        </p:txBody>
      </p:sp>
      <p:sp>
        <p:nvSpPr>
          <p:cNvPr id="4" name="Slide Number Placeholder 3"/>
          <p:cNvSpPr>
            <a:spLocks noGrp="1"/>
          </p:cNvSpPr>
          <p:nvPr>
            <p:ph type="sldNum" sz="quarter" idx="5"/>
          </p:nvPr>
        </p:nvSpPr>
        <p:spPr/>
        <p:txBody>
          <a:bodyPr/>
          <a:lstStyle/>
          <a:p>
            <a:fld id="{54D49C13-0095-A445-9CB3-7D576D1C98A2}" type="slidenum">
              <a:rPr lang="en-US" smtClean="0"/>
              <a:t>40</a:t>
            </a:fld>
            <a:endParaRPr lang="en-US"/>
          </a:p>
        </p:txBody>
      </p:sp>
    </p:spTree>
    <p:extLst>
      <p:ext uri="{BB962C8B-B14F-4D97-AF65-F5344CB8AC3E}">
        <p14:creationId xmlns:p14="http://schemas.microsoft.com/office/powerpoint/2010/main" val="3689264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G</a:t>
            </a:r>
          </a:p>
        </p:txBody>
      </p:sp>
      <p:sp>
        <p:nvSpPr>
          <p:cNvPr id="4" name="Slide Number Placeholder 3"/>
          <p:cNvSpPr>
            <a:spLocks noGrp="1"/>
          </p:cNvSpPr>
          <p:nvPr>
            <p:ph type="sldNum" sz="quarter" idx="5"/>
          </p:nvPr>
        </p:nvSpPr>
        <p:spPr/>
        <p:txBody>
          <a:bodyPr/>
          <a:lstStyle/>
          <a:p>
            <a:fld id="{54D49C13-0095-A445-9CB3-7D576D1C98A2}" type="slidenum">
              <a:rPr lang="en-US" smtClean="0"/>
              <a:t>44</a:t>
            </a:fld>
            <a:endParaRPr lang="en-US"/>
          </a:p>
        </p:txBody>
      </p:sp>
    </p:spTree>
    <p:extLst>
      <p:ext uri="{BB962C8B-B14F-4D97-AF65-F5344CB8AC3E}">
        <p14:creationId xmlns:p14="http://schemas.microsoft.com/office/powerpoint/2010/main" val="2728812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45</a:t>
            </a:fld>
            <a:endParaRPr lang="en-US"/>
          </a:p>
        </p:txBody>
      </p:sp>
    </p:spTree>
    <p:extLst>
      <p:ext uri="{BB962C8B-B14F-4D97-AF65-F5344CB8AC3E}">
        <p14:creationId xmlns:p14="http://schemas.microsoft.com/office/powerpoint/2010/main" val="2202192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endParaRPr lang="en-US"/>
          </a:p>
          <a:p>
            <a:r>
              <a:rPr lang="en-US"/>
              <a:t>E</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54D49C13-0095-A445-9CB3-7D576D1C98A2}" type="slidenum">
              <a:rPr lang="en-US" smtClean="0"/>
              <a:t>52</a:t>
            </a:fld>
            <a:endParaRPr lang="en-US"/>
          </a:p>
        </p:txBody>
      </p:sp>
    </p:spTree>
    <p:extLst>
      <p:ext uri="{BB962C8B-B14F-4D97-AF65-F5344CB8AC3E}">
        <p14:creationId xmlns:p14="http://schemas.microsoft.com/office/powerpoint/2010/main" val="280663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F</a:t>
            </a:r>
          </a:p>
        </p:txBody>
      </p:sp>
      <p:sp>
        <p:nvSpPr>
          <p:cNvPr id="4" name="Slide Number Placeholder 3"/>
          <p:cNvSpPr>
            <a:spLocks noGrp="1"/>
          </p:cNvSpPr>
          <p:nvPr>
            <p:ph type="sldNum" sz="quarter" idx="5"/>
          </p:nvPr>
        </p:nvSpPr>
        <p:spPr/>
        <p:txBody>
          <a:bodyPr/>
          <a:lstStyle/>
          <a:p>
            <a:fld id="{54D49C13-0095-A445-9CB3-7D576D1C98A2}" type="slidenum">
              <a:rPr lang="en-US" smtClean="0"/>
              <a:t>59</a:t>
            </a:fld>
            <a:endParaRPr lang="en-US"/>
          </a:p>
        </p:txBody>
      </p:sp>
    </p:spTree>
    <p:extLst>
      <p:ext uri="{BB962C8B-B14F-4D97-AF65-F5344CB8AC3E}">
        <p14:creationId xmlns:p14="http://schemas.microsoft.com/office/powerpoint/2010/main" val="3689264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endParaRPr lang="en-US"/>
          </a:p>
          <a:p>
            <a:r>
              <a:rPr lang="en-US"/>
              <a:t>I</a:t>
            </a:r>
          </a:p>
        </p:txBody>
      </p:sp>
      <p:sp>
        <p:nvSpPr>
          <p:cNvPr id="4" name="Slide Number Placeholder 3"/>
          <p:cNvSpPr>
            <a:spLocks noGrp="1"/>
          </p:cNvSpPr>
          <p:nvPr>
            <p:ph type="sldNum" sz="quarter" idx="5"/>
          </p:nvPr>
        </p:nvSpPr>
        <p:spPr/>
        <p:txBody>
          <a:bodyPr/>
          <a:lstStyle/>
          <a:p>
            <a:fld id="{54D49C13-0095-A445-9CB3-7D576D1C98A2}" type="slidenum">
              <a:rPr lang="en-US" smtClean="0"/>
              <a:t>60</a:t>
            </a:fld>
            <a:endParaRPr lang="en-US"/>
          </a:p>
        </p:txBody>
      </p:sp>
    </p:spTree>
    <p:extLst>
      <p:ext uri="{BB962C8B-B14F-4D97-AF65-F5344CB8AC3E}">
        <p14:creationId xmlns:p14="http://schemas.microsoft.com/office/powerpoint/2010/main" val="2665749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63</a:t>
            </a:fld>
            <a:endParaRPr lang="en-US"/>
          </a:p>
        </p:txBody>
      </p:sp>
    </p:spTree>
    <p:extLst>
      <p:ext uri="{BB962C8B-B14F-4D97-AF65-F5344CB8AC3E}">
        <p14:creationId xmlns:p14="http://schemas.microsoft.com/office/powerpoint/2010/main" val="2202192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64</a:t>
            </a:fld>
            <a:endParaRPr lang="en-US"/>
          </a:p>
        </p:txBody>
      </p:sp>
    </p:spTree>
    <p:extLst>
      <p:ext uri="{BB962C8B-B14F-4D97-AF65-F5344CB8AC3E}">
        <p14:creationId xmlns:p14="http://schemas.microsoft.com/office/powerpoint/2010/main" val="1610384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65</a:t>
            </a:fld>
            <a:endParaRPr lang="en-US"/>
          </a:p>
        </p:txBody>
      </p:sp>
    </p:spTree>
    <p:extLst>
      <p:ext uri="{BB962C8B-B14F-4D97-AF65-F5344CB8AC3E}">
        <p14:creationId xmlns:p14="http://schemas.microsoft.com/office/powerpoint/2010/main" val="2792568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J</a:t>
            </a:r>
          </a:p>
        </p:txBody>
      </p:sp>
      <p:sp>
        <p:nvSpPr>
          <p:cNvPr id="4" name="Slide Number Placeholder 3"/>
          <p:cNvSpPr>
            <a:spLocks noGrp="1"/>
          </p:cNvSpPr>
          <p:nvPr>
            <p:ph type="sldNum" sz="quarter" idx="5"/>
          </p:nvPr>
        </p:nvSpPr>
        <p:spPr/>
        <p:txBody>
          <a:bodyPr/>
          <a:lstStyle/>
          <a:p>
            <a:fld id="{54D49C13-0095-A445-9CB3-7D576D1C98A2}" type="slidenum">
              <a:rPr lang="en-US" smtClean="0"/>
              <a:t>73</a:t>
            </a:fld>
            <a:endParaRPr lang="en-US"/>
          </a:p>
        </p:txBody>
      </p:sp>
    </p:spTree>
    <p:extLst>
      <p:ext uri="{BB962C8B-B14F-4D97-AF65-F5344CB8AC3E}">
        <p14:creationId xmlns:p14="http://schemas.microsoft.com/office/powerpoint/2010/main" val="3595760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K</a:t>
            </a:r>
          </a:p>
        </p:txBody>
      </p:sp>
      <p:sp>
        <p:nvSpPr>
          <p:cNvPr id="4" name="Slide Number Placeholder 3"/>
          <p:cNvSpPr>
            <a:spLocks noGrp="1"/>
          </p:cNvSpPr>
          <p:nvPr>
            <p:ph type="sldNum" sz="quarter" idx="5"/>
          </p:nvPr>
        </p:nvSpPr>
        <p:spPr/>
        <p:txBody>
          <a:bodyPr/>
          <a:lstStyle/>
          <a:p>
            <a:fld id="{54D49C13-0095-A445-9CB3-7D576D1C98A2}" type="slidenum">
              <a:rPr lang="en-US" smtClean="0"/>
              <a:t>78</a:t>
            </a:fld>
            <a:endParaRPr lang="en-US"/>
          </a:p>
        </p:txBody>
      </p:sp>
    </p:spTree>
    <p:extLst>
      <p:ext uri="{BB962C8B-B14F-4D97-AF65-F5344CB8AC3E}">
        <p14:creationId xmlns:p14="http://schemas.microsoft.com/office/powerpoint/2010/main" val="1484017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endParaRPr lang="en-US"/>
          </a:p>
          <a:p>
            <a:r>
              <a:rPr lang="en-US"/>
              <a:t>L</a:t>
            </a:r>
          </a:p>
        </p:txBody>
      </p:sp>
      <p:sp>
        <p:nvSpPr>
          <p:cNvPr id="4" name="Slide Number Placeholder 3"/>
          <p:cNvSpPr>
            <a:spLocks noGrp="1"/>
          </p:cNvSpPr>
          <p:nvPr>
            <p:ph type="sldNum" sz="quarter" idx="5"/>
          </p:nvPr>
        </p:nvSpPr>
        <p:spPr/>
        <p:txBody>
          <a:bodyPr/>
          <a:lstStyle/>
          <a:p>
            <a:fld id="{54D49C13-0095-A445-9CB3-7D576D1C98A2}" type="slidenum">
              <a:rPr lang="en-US" smtClean="0"/>
              <a:t>79</a:t>
            </a:fld>
            <a:endParaRPr lang="en-US"/>
          </a:p>
        </p:txBody>
      </p:sp>
    </p:spTree>
    <p:extLst>
      <p:ext uri="{BB962C8B-B14F-4D97-AF65-F5344CB8AC3E}">
        <p14:creationId xmlns:p14="http://schemas.microsoft.com/office/powerpoint/2010/main" val="1148458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a:t>
            </a:r>
          </a:p>
          <a:p>
            <a:r>
              <a:rPr lang="en-US"/>
              <a:t>A</a:t>
            </a:r>
          </a:p>
        </p:txBody>
      </p:sp>
      <p:sp>
        <p:nvSpPr>
          <p:cNvPr id="4" name="Slide Number Placeholder 3"/>
          <p:cNvSpPr>
            <a:spLocks noGrp="1"/>
          </p:cNvSpPr>
          <p:nvPr>
            <p:ph type="sldNum" sz="quarter" idx="5"/>
          </p:nvPr>
        </p:nvSpPr>
        <p:spPr/>
        <p:txBody>
          <a:bodyPr/>
          <a:lstStyle/>
          <a:p>
            <a:fld id="{54D49C13-0095-A445-9CB3-7D576D1C98A2}" type="slidenum">
              <a:rPr lang="en-US" smtClean="0"/>
              <a:t>82</a:t>
            </a:fld>
            <a:endParaRPr lang="en-US"/>
          </a:p>
        </p:txBody>
      </p:sp>
    </p:spTree>
    <p:extLst>
      <p:ext uri="{BB962C8B-B14F-4D97-AF65-F5344CB8AC3E}">
        <p14:creationId xmlns:p14="http://schemas.microsoft.com/office/powerpoint/2010/main" val="2202192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EFB3-7E9E-4D2F-B05A-583BE9CD574C}"/>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000DA1-5B0E-4BB1-ABAF-A8860A61E4A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82692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A86C-6338-4C28-9EB3-F1B3763AD9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E4BA49-B8DF-440B-8AF7-87E7025DD4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507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321B7-185F-4963-B5A1-B87BFCFCA698}"/>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DAF7FD-C44B-45A7-AE9D-DCBE9218933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1661322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51B4F-D2C1-4459-8857-B4D4792C3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E9FA7F-739D-43FB-935E-BAA1C5A2D73E}"/>
              </a:ext>
            </a:extLst>
          </p:cNvPr>
          <p:cNvSpPr>
            <a:spLocks noGrp="1"/>
          </p:cNvSpPr>
          <p:nvPr>
            <p:ph sz="half" idx="1"/>
          </p:nvPr>
        </p:nvSpPr>
        <p:spPr>
          <a:xfrm>
            <a:off x="455613" y="1600200"/>
            <a:ext cx="3695700" cy="1330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67A29D-062B-43B3-995F-D7599F664285}"/>
              </a:ext>
            </a:extLst>
          </p:cNvPr>
          <p:cNvSpPr>
            <a:spLocks noGrp="1"/>
          </p:cNvSpPr>
          <p:nvPr>
            <p:ph sz="half" idx="2"/>
          </p:nvPr>
        </p:nvSpPr>
        <p:spPr>
          <a:xfrm>
            <a:off x="4303713" y="1600200"/>
            <a:ext cx="3695700" cy="1330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101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60F74-741F-4CC9-9A51-B554804016BF}"/>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DDFFEB-45A0-42C8-BC83-6556ACCD400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8D69D1-438D-4904-A2BA-BF17EF13C503}"/>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28336C-A436-4553-994F-5A6215EB0AD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3ED031B-AF5F-4F8A-9E44-B14EE2A435E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1145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1348-9E4D-4F10-8958-CF9C0FE87EE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43072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511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1DCE-88CD-4A12-8EC8-56CD07CE3F8E}"/>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55BE26-1DA1-4983-83EC-579A3C65D35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ADF25B-F871-41E9-B466-284754DFCF4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51313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BC22-13D0-4676-94BB-4B6366E549D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16EC89-702E-4DD8-BA41-1F4142C3A1B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a:extLst>
              <a:ext uri="{FF2B5EF4-FFF2-40B4-BE49-F238E27FC236}">
                <a16:creationId xmlns:a16="http://schemas.microsoft.com/office/drawing/2014/main" id="{389A5D08-D2DC-4A8B-B032-852149B33DF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19734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53CCF-0937-41B0-B1B7-771D760F2C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05092A-0893-4226-B850-356A4F1B309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9928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11C85-0DB3-46DA-A70D-94C0D9343AE1}"/>
              </a:ext>
            </a:extLst>
          </p:cNvPr>
          <p:cNvSpPr>
            <a:spLocks noGrp="1"/>
          </p:cNvSpPr>
          <p:nvPr>
            <p:ph type="title" orient="vert"/>
          </p:nvPr>
        </p:nvSpPr>
        <p:spPr>
          <a:xfrm>
            <a:off x="6113463" y="952500"/>
            <a:ext cx="1885950" cy="1978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3F0F3A-BC34-4945-8DEC-A295E8DDE81E}"/>
              </a:ext>
            </a:extLst>
          </p:cNvPr>
          <p:cNvSpPr>
            <a:spLocks noGrp="1"/>
          </p:cNvSpPr>
          <p:nvPr>
            <p:ph type="body" orient="vert" idx="1"/>
          </p:nvPr>
        </p:nvSpPr>
        <p:spPr>
          <a:xfrm>
            <a:off x="455613" y="952500"/>
            <a:ext cx="5505450" cy="19780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4697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BB50-C71D-40D5-80B0-1CDC718E5678}"/>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2040DF-AF53-48DE-9FCD-3EECFDD4E26C}"/>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7319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586C1-F68C-4050-85AA-78D50BC0FD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D0663-CCB4-4CE5-B581-E19541C2A6D4}"/>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00874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528B7-4F36-4DD6-BF4C-CF76A2326B42}"/>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5F6F59-F999-474A-B532-0AD6E6ECE6C3}"/>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2500120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0F484-BA73-4A72-8BB4-384CF4D3A8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18A7F1-744B-466D-A420-FD722091C52D}"/>
              </a:ext>
            </a:extLst>
          </p:cNvPr>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AC2EEA-9E7E-438F-A36B-485E95B022A9}"/>
              </a:ext>
            </a:extLst>
          </p:cNvPr>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7926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3C73-FADE-4558-BA57-7182DD071A7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8A3F66-AF5A-4662-89B3-D177ADE1F333}"/>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2FB7A1C-3D76-49C3-9E70-66115151F57D}"/>
              </a:ext>
            </a:extLst>
          </p:cNvPr>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1C6F37-C471-4CFC-BC33-1C4002BE5EBC}"/>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7E79517-01A7-4130-8560-60E8895E09FD}"/>
              </a:ext>
            </a:extLst>
          </p:cNvPr>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8671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E073-D415-49FC-81C4-B7F66E6F7A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109705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00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054F-5420-4DCA-8B1A-CCF35864EDAF}"/>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133DDD-3C4A-4F08-8BDC-720800E97590}"/>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03317-83E8-4F7E-B361-2528D423D5FD}"/>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404342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91D2B-E87F-45D3-8C64-2A17DECD2F45}"/>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E4E6B-03D2-4872-ACC4-49417F957A72}"/>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a:extLst>
              <a:ext uri="{FF2B5EF4-FFF2-40B4-BE49-F238E27FC236}">
                <a16:creationId xmlns:a16="http://schemas.microsoft.com/office/drawing/2014/main" id="{91E4C2FA-9158-4398-BB7D-4C9C398D826A}"/>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5092970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0B89C-1D20-4B14-9B97-2B04983BC1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5E8154-A9CA-4E8E-A6C2-FD1FF3DAAA26}"/>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9619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914987-0058-41FD-ADA9-D6D0625D2D8E}"/>
              </a:ext>
            </a:extLst>
          </p:cNvPr>
          <p:cNvSpPr>
            <a:spLocks noGrp="1"/>
          </p:cNvSpPr>
          <p:nvPr>
            <p:ph type="title" orient="vert"/>
          </p:nvPr>
        </p:nvSpPr>
        <p:spPr>
          <a:xfrm>
            <a:off x="6500813" y="1825625"/>
            <a:ext cx="2014537" cy="43513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1551D1-0E90-41B3-9ADF-3501690C6F44}"/>
              </a:ext>
            </a:extLst>
          </p:cNvPr>
          <p:cNvSpPr>
            <a:spLocks noGrp="1"/>
          </p:cNvSpPr>
          <p:nvPr>
            <p:ph type="body" orient="vert" idx="1"/>
          </p:nvPr>
        </p:nvSpPr>
        <p:spPr>
          <a:xfrm>
            <a:off x="457200" y="1825625"/>
            <a:ext cx="5891213"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3245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0FA4-F4C8-4ADE-A1A8-2A72425CFDDC}"/>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845948-609A-49A1-B075-B7A3F0C7471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6">
            <a:extLst>
              <a:ext uri="{FF2B5EF4-FFF2-40B4-BE49-F238E27FC236}">
                <a16:creationId xmlns:a16="http://schemas.microsoft.com/office/drawing/2014/main" id="{67AB979E-97D0-4376-AFAB-A98F597D6BC6}"/>
              </a:ext>
            </a:extLst>
          </p:cNvPr>
          <p:cNvSpPr>
            <a:spLocks noGrp="1" noChangeArrowheads="1"/>
          </p:cNvSpPr>
          <p:nvPr>
            <p:ph type="sldNum" sz="quarter" idx="10"/>
          </p:nvPr>
        </p:nvSpPr>
        <p:spPr>
          <a:ln/>
        </p:spPr>
        <p:txBody>
          <a:bodyPr/>
          <a:lstStyle>
            <a:lvl1pPr>
              <a:defRPr/>
            </a:lvl1pPr>
          </a:lstStyle>
          <a:p>
            <a:fld id="{D880170A-0F14-4101-BE7D-35A76845B0B5}" type="slidenum">
              <a:rPr lang="en-US" altLang="en-US"/>
              <a:pPr/>
              <a:t>‹#›</a:t>
            </a:fld>
            <a:endParaRPr lang="en-US" altLang="en-US" dirty="0"/>
          </a:p>
        </p:txBody>
      </p:sp>
      <p:sp>
        <p:nvSpPr>
          <p:cNvPr id="5" name="Rectangle 52">
            <a:extLst>
              <a:ext uri="{FF2B5EF4-FFF2-40B4-BE49-F238E27FC236}">
                <a16:creationId xmlns:a16="http://schemas.microsoft.com/office/drawing/2014/main" id="{B3485665-3C10-47F0-B675-DC4741E6F812}"/>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6" name="Rectangle 53">
            <a:extLst>
              <a:ext uri="{FF2B5EF4-FFF2-40B4-BE49-F238E27FC236}">
                <a16:creationId xmlns:a16="http://schemas.microsoft.com/office/drawing/2014/main" id="{605DF9F9-0CDE-4466-A35E-9FD9940A2CC8}"/>
              </a:ext>
            </a:extLst>
          </p:cNvPr>
          <p:cNvSpPr>
            <a:spLocks noGrp="1" noChangeArrowheads="1"/>
          </p:cNvSpPr>
          <p:nvPr>
            <p:ph type="dt" sz="half" idx="12"/>
          </p:nvPr>
        </p:nvSpPr>
        <p:spPr>
          <a:ln/>
        </p:spPr>
        <p:txBody>
          <a:bodyPr/>
          <a:lstStyle>
            <a:lvl1pPr>
              <a:defRPr/>
            </a:lvl1pPr>
          </a:lstStyle>
          <a:p>
            <a:pPr>
              <a:defRPr/>
            </a:pPr>
            <a:fld id="{99567B03-874B-437B-A3AE-C5BC103B3A5A}" type="datetime4">
              <a:rPr lang="en-US" altLang="en-US"/>
              <a:pPr>
                <a:defRPr/>
              </a:pPr>
              <a:t>May 26, 2022</a:t>
            </a:fld>
            <a:endParaRPr lang="en-US" altLang="en-US" dirty="0"/>
          </a:p>
        </p:txBody>
      </p:sp>
    </p:spTree>
    <p:extLst>
      <p:ext uri="{BB962C8B-B14F-4D97-AF65-F5344CB8AC3E}">
        <p14:creationId xmlns:p14="http://schemas.microsoft.com/office/powerpoint/2010/main" val="16730753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99CA-3A97-49B3-B1E0-0E39D4C8B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FAF619-E585-498B-BDB6-0C73A4D98F3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A3935C-8B7B-4304-B1D7-6B22E3786252}"/>
              </a:ext>
            </a:extLst>
          </p:cNvPr>
          <p:cNvSpPr>
            <a:spLocks noGrp="1" noChangeArrowheads="1"/>
          </p:cNvSpPr>
          <p:nvPr>
            <p:ph type="sldNum" sz="quarter" idx="10"/>
          </p:nvPr>
        </p:nvSpPr>
        <p:spPr>
          <a:ln/>
        </p:spPr>
        <p:txBody>
          <a:bodyPr/>
          <a:lstStyle>
            <a:lvl1pPr>
              <a:defRPr/>
            </a:lvl1pPr>
          </a:lstStyle>
          <a:p>
            <a:fld id="{91D56884-2803-493D-B1F4-CEBD38C7192F}" type="slidenum">
              <a:rPr lang="en-US" altLang="en-US"/>
              <a:pPr/>
              <a:t>‹#›</a:t>
            </a:fld>
            <a:endParaRPr lang="en-US" altLang="en-US" dirty="0"/>
          </a:p>
        </p:txBody>
      </p:sp>
      <p:sp>
        <p:nvSpPr>
          <p:cNvPr id="5" name="Rectangle 52">
            <a:extLst>
              <a:ext uri="{FF2B5EF4-FFF2-40B4-BE49-F238E27FC236}">
                <a16:creationId xmlns:a16="http://schemas.microsoft.com/office/drawing/2014/main" id="{DCBAA089-4B33-4956-AE7B-DF625E4BB171}"/>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6" name="Rectangle 53">
            <a:extLst>
              <a:ext uri="{FF2B5EF4-FFF2-40B4-BE49-F238E27FC236}">
                <a16:creationId xmlns:a16="http://schemas.microsoft.com/office/drawing/2014/main" id="{F7A7B5F0-E666-426F-8680-723EBC1901E5}"/>
              </a:ext>
            </a:extLst>
          </p:cNvPr>
          <p:cNvSpPr>
            <a:spLocks noGrp="1" noChangeArrowheads="1"/>
          </p:cNvSpPr>
          <p:nvPr>
            <p:ph type="dt" sz="half" idx="12"/>
          </p:nvPr>
        </p:nvSpPr>
        <p:spPr>
          <a:ln/>
        </p:spPr>
        <p:txBody>
          <a:bodyPr/>
          <a:lstStyle>
            <a:lvl1pPr>
              <a:defRPr/>
            </a:lvl1pPr>
          </a:lstStyle>
          <a:p>
            <a:pPr>
              <a:defRPr/>
            </a:pPr>
            <a:fld id="{814FD408-660D-40F1-8E1E-5918E34ACEBC}" type="datetime4">
              <a:rPr lang="en-US" altLang="en-US"/>
              <a:pPr>
                <a:defRPr/>
              </a:pPr>
              <a:t>May 26, 2022</a:t>
            </a:fld>
            <a:endParaRPr lang="en-US" altLang="en-US" dirty="0"/>
          </a:p>
        </p:txBody>
      </p:sp>
    </p:spTree>
    <p:extLst>
      <p:ext uri="{BB962C8B-B14F-4D97-AF65-F5344CB8AC3E}">
        <p14:creationId xmlns:p14="http://schemas.microsoft.com/office/powerpoint/2010/main" val="24939358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8260-DBDD-4FC1-8080-5A25F8C44365}"/>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876705-E1BF-4BE2-B17C-A716D43DA7CC}"/>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6">
            <a:extLst>
              <a:ext uri="{FF2B5EF4-FFF2-40B4-BE49-F238E27FC236}">
                <a16:creationId xmlns:a16="http://schemas.microsoft.com/office/drawing/2014/main" id="{C0093A6B-E867-4CD4-889B-C9A3903A754F}"/>
              </a:ext>
            </a:extLst>
          </p:cNvPr>
          <p:cNvSpPr>
            <a:spLocks noGrp="1" noChangeArrowheads="1"/>
          </p:cNvSpPr>
          <p:nvPr>
            <p:ph type="sldNum" sz="quarter" idx="10"/>
          </p:nvPr>
        </p:nvSpPr>
        <p:spPr>
          <a:ln/>
        </p:spPr>
        <p:txBody>
          <a:bodyPr/>
          <a:lstStyle>
            <a:lvl1pPr>
              <a:defRPr/>
            </a:lvl1pPr>
          </a:lstStyle>
          <a:p>
            <a:fld id="{9CDA1174-5F0D-466E-824A-06DA069BD4F8}" type="slidenum">
              <a:rPr lang="en-US" altLang="en-US"/>
              <a:pPr/>
              <a:t>‹#›</a:t>
            </a:fld>
            <a:endParaRPr lang="en-US" altLang="en-US" dirty="0"/>
          </a:p>
        </p:txBody>
      </p:sp>
      <p:sp>
        <p:nvSpPr>
          <p:cNvPr id="5" name="Rectangle 52">
            <a:extLst>
              <a:ext uri="{FF2B5EF4-FFF2-40B4-BE49-F238E27FC236}">
                <a16:creationId xmlns:a16="http://schemas.microsoft.com/office/drawing/2014/main" id="{A161B9F7-F82C-484E-9CCD-55ABEB25C7D7}"/>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6" name="Rectangle 53">
            <a:extLst>
              <a:ext uri="{FF2B5EF4-FFF2-40B4-BE49-F238E27FC236}">
                <a16:creationId xmlns:a16="http://schemas.microsoft.com/office/drawing/2014/main" id="{41B8B7E5-E3EC-4273-A843-88CF80FAD88E}"/>
              </a:ext>
            </a:extLst>
          </p:cNvPr>
          <p:cNvSpPr>
            <a:spLocks noGrp="1" noChangeArrowheads="1"/>
          </p:cNvSpPr>
          <p:nvPr>
            <p:ph type="dt" sz="half" idx="12"/>
          </p:nvPr>
        </p:nvSpPr>
        <p:spPr>
          <a:ln/>
        </p:spPr>
        <p:txBody>
          <a:bodyPr/>
          <a:lstStyle>
            <a:lvl1pPr>
              <a:defRPr/>
            </a:lvl1pPr>
          </a:lstStyle>
          <a:p>
            <a:pPr>
              <a:defRPr/>
            </a:pPr>
            <a:fld id="{856D35B3-5E32-40BC-B6FC-BAC2AFA8C4AD}" type="datetime4">
              <a:rPr lang="en-US" altLang="en-US"/>
              <a:pPr>
                <a:defRPr/>
              </a:pPr>
              <a:t>May 26, 2022</a:t>
            </a:fld>
            <a:endParaRPr lang="en-US" altLang="en-US" dirty="0"/>
          </a:p>
        </p:txBody>
      </p:sp>
    </p:spTree>
    <p:extLst>
      <p:ext uri="{BB962C8B-B14F-4D97-AF65-F5344CB8AC3E}">
        <p14:creationId xmlns:p14="http://schemas.microsoft.com/office/powerpoint/2010/main" val="1143925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9E67-4239-41B5-B26F-4A61DA2076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071A5-9C68-41EC-9CE9-3D576EB36976}"/>
              </a:ext>
            </a:extLst>
          </p:cNvPr>
          <p:cNvSpPr>
            <a:spLocks noGrp="1"/>
          </p:cNvSpPr>
          <p:nvPr>
            <p:ph sz="half" idx="1"/>
          </p:nvPr>
        </p:nvSpPr>
        <p:spPr>
          <a:xfrm>
            <a:off x="457200" y="1736725"/>
            <a:ext cx="4038600" cy="18272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70CCDE-0564-452F-9CA8-BDB443314D64}"/>
              </a:ext>
            </a:extLst>
          </p:cNvPr>
          <p:cNvSpPr>
            <a:spLocks noGrp="1"/>
          </p:cNvSpPr>
          <p:nvPr>
            <p:ph sz="half" idx="2"/>
          </p:nvPr>
        </p:nvSpPr>
        <p:spPr>
          <a:xfrm>
            <a:off x="4648200" y="1736725"/>
            <a:ext cx="4038600" cy="18272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79C6EE54-EDEB-4AF6-BB5C-353FA51E128E}"/>
              </a:ext>
            </a:extLst>
          </p:cNvPr>
          <p:cNvSpPr>
            <a:spLocks noGrp="1" noChangeArrowheads="1"/>
          </p:cNvSpPr>
          <p:nvPr>
            <p:ph type="sldNum" sz="quarter" idx="10"/>
          </p:nvPr>
        </p:nvSpPr>
        <p:spPr>
          <a:ln/>
        </p:spPr>
        <p:txBody>
          <a:bodyPr/>
          <a:lstStyle>
            <a:lvl1pPr>
              <a:defRPr/>
            </a:lvl1pPr>
          </a:lstStyle>
          <a:p>
            <a:fld id="{335284FF-492A-4704-802F-89AE69CB338F}" type="slidenum">
              <a:rPr lang="en-US" altLang="en-US"/>
              <a:pPr/>
              <a:t>‹#›</a:t>
            </a:fld>
            <a:endParaRPr lang="en-US" altLang="en-US" dirty="0"/>
          </a:p>
        </p:txBody>
      </p:sp>
      <p:sp>
        <p:nvSpPr>
          <p:cNvPr id="6" name="Rectangle 52">
            <a:extLst>
              <a:ext uri="{FF2B5EF4-FFF2-40B4-BE49-F238E27FC236}">
                <a16:creationId xmlns:a16="http://schemas.microsoft.com/office/drawing/2014/main" id="{1EBC3DA7-AEA0-4DE8-9CC9-E7FDBF86DF12}"/>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7" name="Rectangle 53">
            <a:extLst>
              <a:ext uri="{FF2B5EF4-FFF2-40B4-BE49-F238E27FC236}">
                <a16:creationId xmlns:a16="http://schemas.microsoft.com/office/drawing/2014/main" id="{3340BD2A-BB85-4099-AA95-025F954CA8C4}"/>
              </a:ext>
            </a:extLst>
          </p:cNvPr>
          <p:cNvSpPr>
            <a:spLocks noGrp="1" noChangeArrowheads="1"/>
          </p:cNvSpPr>
          <p:nvPr>
            <p:ph type="dt" sz="half" idx="12"/>
          </p:nvPr>
        </p:nvSpPr>
        <p:spPr>
          <a:ln/>
        </p:spPr>
        <p:txBody>
          <a:bodyPr/>
          <a:lstStyle>
            <a:lvl1pPr>
              <a:defRPr/>
            </a:lvl1pPr>
          </a:lstStyle>
          <a:p>
            <a:pPr>
              <a:defRPr/>
            </a:pPr>
            <a:fld id="{E8B95170-4646-4B8D-8182-1EAAA7262C0D}" type="datetime4">
              <a:rPr lang="en-US" altLang="en-US"/>
              <a:pPr>
                <a:defRPr/>
              </a:pPr>
              <a:t>May 26, 2022</a:t>
            </a:fld>
            <a:endParaRPr lang="en-US" altLang="en-US" dirty="0"/>
          </a:p>
        </p:txBody>
      </p:sp>
    </p:spTree>
    <p:extLst>
      <p:ext uri="{BB962C8B-B14F-4D97-AF65-F5344CB8AC3E}">
        <p14:creationId xmlns:p14="http://schemas.microsoft.com/office/powerpoint/2010/main" val="33364788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324E-5F06-4C8D-A904-77423A5869DC}"/>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1E33F1-C3BA-4A34-BBB0-E3BD368FA3F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1715C76-F96C-4EED-9D08-270AEF317316}"/>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7858B-BFB0-4E09-B06D-3441147C1629}"/>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9DFB07E-777E-46C9-98C9-86131D13C11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E8B8D98B-924D-45DD-92B6-AFEADFD37C86}"/>
              </a:ext>
            </a:extLst>
          </p:cNvPr>
          <p:cNvSpPr>
            <a:spLocks noGrp="1" noChangeArrowheads="1"/>
          </p:cNvSpPr>
          <p:nvPr>
            <p:ph type="sldNum" sz="quarter" idx="10"/>
          </p:nvPr>
        </p:nvSpPr>
        <p:spPr>
          <a:ln/>
        </p:spPr>
        <p:txBody>
          <a:bodyPr/>
          <a:lstStyle>
            <a:lvl1pPr>
              <a:defRPr/>
            </a:lvl1pPr>
          </a:lstStyle>
          <a:p>
            <a:fld id="{0B067ED5-BAB5-4348-8A58-9491B9277A4D}" type="slidenum">
              <a:rPr lang="en-US" altLang="en-US"/>
              <a:pPr/>
              <a:t>‹#›</a:t>
            </a:fld>
            <a:endParaRPr lang="en-US" altLang="en-US" dirty="0"/>
          </a:p>
        </p:txBody>
      </p:sp>
      <p:sp>
        <p:nvSpPr>
          <p:cNvPr id="8" name="Rectangle 52">
            <a:extLst>
              <a:ext uri="{FF2B5EF4-FFF2-40B4-BE49-F238E27FC236}">
                <a16:creationId xmlns:a16="http://schemas.microsoft.com/office/drawing/2014/main" id="{3178E1D1-3EC2-4C08-9698-3DE0EC84E3FA}"/>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9" name="Rectangle 53">
            <a:extLst>
              <a:ext uri="{FF2B5EF4-FFF2-40B4-BE49-F238E27FC236}">
                <a16:creationId xmlns:a16="http://schemas.microsoft.com/office/drawing/2014/main" id="{0586BA9D-93B7-43CD-A9EB-0BBB1A5988CE}"/>
              </a:ext>
            </a:extLst>
          </p:cNvPr>
          <p:cNvSpPr>
            <a:spLocks noGrp="1" noChangeArrowheads="1"/>
          </p:cNvSpPr>
          <p:nvPr>
            <p:ph type="dt" sz="half" idx="12"/>
          </p:nvPr>
        </p:nvSpPr>
        <p:spPr>
          <a:ln/>
        </p:spPr>
        <p:txBody>
          <a:bodyPr/>
          <a:lstStyle>
            <a:lvl1pPr>
              <a:defRPr/>
            </a:lvl1pPr>
          </a:lstStyle>
          <a:p>
            <a:pPr>
              <a:defRPr/>
            </a:pPr>
            <a:fld id="{F8AECBC4-6A61-4135-A9FC-341FD903EDBC}" type="datetime4">
              <a:rPr lang="en-US" altLang="en-US"/>
              <a:pPr>
                <a:defRPr/>
              </a:pPr>
              <a:t>May 26, 2022</a:t>
            </a:fld>
            <a:endParaRPr lang="en-US" altLang="en-US" dirty="0"/>
          </a:p>
        </p:txBody>
      </p:sp>
    </p:spTree>
    <p:extLst>
      <p:ext uri="{BB962C8B-B14F-4D97-AF65-F5344CB8AC3E}">
        <p14:creationId xmlns:p14="http://schemas.microsoft.com/office/powerpoint/2010/main" val="614219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9C08F-8B94-4555-A6E4-E3A42C665853}"/>
              </a:ext>
            </a:extLst>
          </p:cNvPr>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10FAEA71-ADB5-40B8-9C50-CEDEC7D3E55C}"/>
              </a:ext>
            </a:extLst>
          </p:cNvPr>
          <p:cNvSpPr>
            <a:spLocks noGrp="1" noChangeArrowheads="1"/>
          </p:cNvSpPr>
          <p:nvPr>
            <p:ph type="sldNum" sz="quarter" idx="10"/>
          </p:nvPr>
        </p:nvSpPr>
        <p:spPr>
          <a:ln/>
        </p:spPr>
        <p:txBody>
          <a:bodyPr/>
          <a:lstStyle>
            <a:lvl1pPr>
              <a:defRPr/>
            </a:lvl1pPr>
          </a:lstStyle>
          <a:p>
            <a:fld id="{9C15D7C3-3F56-4201-B708-A65B9F8B9519}" type="slidenum">
              <a:rPr lang="en-US" altLang="en-US"/>
              <a:pPr/>
              <a:t>‹#›</a:t>
            </a:fld>
            <a:endParaRPr lang="en-US" altLang="en-US" dirty="0"/>
          </a:p>
        </p:txBody>
      </p:sp>
      <p:sp>
        <p:nvSpPr>
          <p:cNvPr id="4" name="Rectangle 52">
            <a:extLst>
              <a:ext uri="{FF2B5EF4-FFF2-40B4-BE49-F238E27FC236}">
                <a16:creationId xmlns:a16="http://schemas.microsoft.com/office/drawing/2014/main" id="{3BF17638-AB1C-47AE-9274-AE4680AB2EBA}"/>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5" name="Rectangle 53">
            <a:extLst>
              <a:ext uri="{FF2B5EF4-FFF2-40B4-BE49-F238E27FC236}">
                <a16:creationId xmlns:a16="http://schemas.microsoft.com/office/drawing/2014/main" id="{8F9B2AE6-1901-4606-A28D-61131F9E7607}"/>
              </a:ext>
            </a:extLst>
          </p:cNvPr>
          <p:cNvSpPr>
            <a:spLocks noGrp="1" noChangeArrowheads="1"/>
          </p:cNvSpPr>
          <p:nvPr>
            <p:ph type="dt" sz="half" idx="12"/>
          </p:nvPr>
        </p:nvSpPr>
        <p:spPr>
          <a:ln/>
        </p:spPr>
        <p:txBody>
          <a:bodyPr/>
          <a:lstStyle>
            <a:lvl1pPr>
              <a:defRPr/>
            </a:lvl1pPr>
          </a:lstStyle>
          <a:p>
            <a:pPr>
              <a:defRPr/>
            </a:pPr>
            <a:fld id="{A0547D1D-0912-4AC5-A300-3FC171B12D56}" type="datetime4">
              <a:rPr lang="en-US" altLang="en-US"/>
              <a:pPr>
                <a:defRPr/>
              </a:pPr>
              <a:t>May 26, 2022</a:t>
            </a:fld>
            <a:endParaRPr lang="en-US" altLang="en-US" dirty="0"/>
          </a:p>
        </p:txBody>
      </p:sp>
    </p:spTree>
    <p:extLst>
      <p:ext uri="{BB962C8B-B14F-4D97-AF65-F5344CB8AC3E}">
        <p14:creationId xmlns:p14="http://schemas.microsoft.com/office/powerpoint/2010/main" val="9450406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6483974-B391-4930-A167-5C3BCCDB8A44}"/>
              </a:ext>
            </a:extLst>
          </p:cNvPr>
          <p:cNvSpPr>
            <a:spLocks noGrp="1" noChangeArrowheads="1"/>
          </p:cNvSpPr>
          <p:nvPr>
            <p:ph type="sldNum" sz="quarter" idx="10"/>
          </p:nvPr>
        </p:nvSpPr>
        <p:spPr>
          <a:ln/>
        </p:spPr>
        <p:txBody>
          <a:bodyPr/>
          <a:lstStyle>
            <a:lvl1pPr>
              <a:defRPr/>
            </a:lvl1pPr>
          </a:lstStyle>
          <a:p>
            <a:fld id="{2CE8670E-4BB9-4FA4-A8F5-1745580BE95F}" type="slidenum">
              <a:rPr lang="en-US" altLang="en-US"/>
              <a:pPr/>
              <a:t>‹#›</a:t>
            </a:fld>
            <a:endParaRPr lang="en-US" altLang="en-US" dirty="0"/>
          </a:p>
        </p:txBody>
      </p:sp>
      <p:sp>
        <p:nvSpPr>
          <p:cNvPr id="3" name="Rectangle 52">
            <a:extLst>
              <a:ext uri="{FF2B5EF4-FFF2-40B4-BE49-F238E27FC236}">
                <a16:creationId xmlns:a16="http://schemas.microsoft.com/office/drawing/2014/main" id="{94D8F74E-4AB3-43A7-B0A1-904128EDDDD3}"/>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4" name="Rectangle 53">
            <a:extLst>
              <a:ext uri="{FF2B5EF4-FFF2-40B4-BE49-F238E27FC236}">
                <a16:creationId xmlns:a16="http://schemas.microsoft.com/office/drawing/2014/main" id="{93112382-8007-4FBB-A782-358BA4ACD1B7}"/>
              </a:ext>
            </a:extLst>
          </p:cNvPr>
          <p:cNvSpPr>
            <a:spLocks noGrp="1" noChangeArrowheads="1"/>
          </p:cNvSpPr>
          <p:nvPr>
            <p:ph type="dt" sz="half" idx="12"/>
          </p:nvPr>
        </p:nvSpPr>
        <p:spPr>
          <a:ln/>
        </p:spPr>
        <p:txBody>
          <a:bodyPr/>
          <a:lstStyle>
            <a:lvl1pPr>
              <a:defRPr/>
            </a:lvl1pPr>
          </a:lstStyle>
          <a:p>
            <a:pPr>
              <a:defRPr/>
            </a:pPr>
            <a:fld id="{2C40F11D-13EB-4423-A8B0-DD4BDEDD85B2}" type="datetime4">
              <a:rPr lang="en-US" altLang="en-US"/>
              <a:pPr>
                <a:defRPr/>
              </a:pPr>
              <a:t>May 26, 2022</a:t>
            </a:fld>
            <a:endParaRPr lang="en-US" altLang="en-US" dirty="0"/>
          </a:p>
        </p:txBody>
      </p:sp>
    </p:spTree>
    <p:extLst>
      <p:ext uri="{BB962C8B-B14F-4D97-AF65-F5344CB8AC3E}">
        <p14:creationId xmlns:p14="http://schemas.microsoft.com/office/powerpoint/2010/main" val="3627559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4CB1-FDE3-4187-A986-1CD9B46EAB59}"/>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256113-3E39-444A-94F6-3428146399C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17649C-32B5-492D-9A27-4F4561960B9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6">
            <a:extLst>
              <a:ext uri="{FF2B5EF4-FFF2-40B4-BE49-F238E27FC236}">
                <a16:creationId xmlns:a16="http://schemas.microsoft.com/office/drawing/2014/main" id="{F80F3512-AA14-4AAB-B1A0-73E17664F9CE}"/>
              </a:ext>
            </a:extLst>
          </p:cNvPr>
          <p:cNvSpPr>
            <a:spLocks noGrp="1" noChangeArrowheads="1"/>
          </p:cNvSpPr>
          <p:nvPr>
            <p:ph type="sldNum" sz="quarter" idx="10"/>
          </p:nvPr>
        </p:nvSpPr>
        <p:spPr>
          <a:ln/>
        </p:spPr>
        <p:txBody>
          <a:bodyPr/>
          <a:lstStyle>
            <a:lvl1pPr>
              <a:defRPr/>
            </a:lvl1pPr>
          </a:lstStyle>
          <a:p>
            <a:fld id="{74EB1278-E2A9-4C1D-A103-17B626722BD7}" type="slidenum">
              <a:rPr lang="en-US" altLang="en-US"/>
              <a:pPr/>
              <a:t>‹#›</a:t>
            </a:fld>
            <a:endParaRPr lang="en-US" altLang="en-US" dirty="0"/>
          </a:p>
        </p:txBody>
      </p:sp>
      <p:sp>
        <p:nvSpPr>
          <p:cNvPr id="6" name="Rectangle 52">
            <a:extLst>
              <a:ext uri="{FF2B5EF4-FFF2-40B4-BE49-F238E27FC236}">
                <a16:creationId xmlns:a16="http://schemas.microsoft.com/office/drawing/2014/main" id="{5E8A7739-C71B-49EA-A3C9-3BB4B0C174B5}"/>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7" name="Rectangle 53">
            <a:extLst>
              <a:ext uri="{FF2B5EF4-FFF2-40B4-BE49-F238E27FC236}">
                <a16:creationId xmlns:a16="http://schemas.microsoft.com/office/drawing/2014/main" id="{E1DB8637-E533-4074-8272-8BCD773A6146}"/>
              </a:ext>
            </a:extLst>
          </p:cNvPr>
          <p:cNvSpPr>
            <a:spLocks noGrp="1" noChangeArrowheads="1"/>
          </p:cNvSpPr>
          <p:nvPr>
            <p:ph type="dt" sz="half" idx="12"/>
          </p:nvPr>
        </p:nvSpPr>
        <p:spPr>
          <a:ln/>
        </p:spPr>
        <p:txBody>
          <a:bodyPr/>
          <a:lstStyle>
            <a:lvl1pPr>
              <a:defRPr/>
            </a:lvl1pPr>
          </a:lstStyle>
          <a:p>
            <a:pPr>
              <a:defRPr/>
            </a:pPr>
            <a:fld id="{F117398B-22DA-403B-8A24-D75FC1B4B9D9}" type="datetime4">
              <a:rPr lang="en-US" altLang="en-US"/>
              <a:pPr>
                <a:defRPr/>
              </a:pPr>
              <a:t>May 26, 2022</a:t>
            </a:fld>
            <a:endParaRPr lang="en-US" altLang="en-US" dirty="0"/>
          </a:p>
        </p:txBody>
      </p:sp>
    </p:spTree>
    <p:extLst>
      <p:ext uri="{BB962C8B-B14F-4D97-AF65-F5344CB8AC3E}">
        <p14:creationId xmlns:p14="http://schemas.microsoft.com/office/powerpoint/2010/main" val="3600780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2CBF-733D-4136-8959-F49D8A4F45F3}"/>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A4755D-92AE-4A7B-83ED-BF009B69132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a:extLst>
              <a:ext uri="{FF2B5EF4-FFF2-40B4-BE49-F238E27FC236}">
                <a16:creationId xmlns:a16="http://schemas.microsoft.com/office/drawing/2014/main" id="{7F18E26E-F7D1-49EB-97E2-7831E0A1F4F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6">
            <a:extLst>
              <a:ext uri="{FF2B5EF4-FFF2-40B4-BE49-F238E27FC236}">
                <a16:creationId xmlns:a16="http://schemas.microsoft.com/office/drawing/2014/main" id="{BA1C224F-93B3-4871-A54F-3145E2E21506}"/>
              </a:ext>
            </a:extLst>
          </p:cNvPr>
          <p:cNvSpPr>
            <a:spLocks noGrp="1" noChangeArrowheads="1"/>
          </p:cNvSpPr>
          <p:nvPr>
            <p:ph type="sldNum" sz="quarter" idx="10"/>
          </p:nvPr>
        </p:nvSpPr>
        <p:spPr>
          <a:ln/>
        </p:spPr>
        <p:txBody>
          <a:bodyPr/>
          <a:lstStyle>
            <a:lvl1pPr>
              <a:defRPr/>
            </a:lvl1pPr>
          </a:lstStyle>
          <a:p>
            <a:fld id="{E573C491-FBB4-4693-A364-F3A14A994750}" type="slidenum">
              <a:rPr lang="en-US" altLang="en-US"/>
              <a:pPr/>
              <a:t>‹#›</a:t>
            </a:fld>
            <a:endParaRPr lang="en-US" altLang="en-US" dirty="0"/>
          </a:p>
        </p:txBody>
      </p:sp>
      <p:sp>
        <p:nvSpPr>
          <p:cNvPr id="6" name="Rectangle 52">
            <a:extLst>
              <a:ext uri="{FF2B5EF4-FFF2-40B4-BE49-F238E27FC236}">
                <a16:creationId xmlns:a16="http://schemas.microsoft.com/office/drawing/2014/main" id="{7C4A651A-D6B4-4D8E-B297-0DF94F653400}"/>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7" name="Rectangle 53">
            <a:extLst>
              <a:ext uri="{FF2B5EF4-FFF2-40B4-BE49-F238E27FC236}">
                <a16:creationId xmlns:a16="http://schemas.microsoft.com/office/drawing/2014/main" id="{ECE541EA-BCCA-40CF-BA7B-4B7FE201B6C8}"/>
              </a:ext>
            </a:extLst>
          </p:cNvPr>
          <p:cNvSpPr>
            <a:spLocks noGrp="1" noChangeArrowheads="1"/>
          </p:cNvSpPr>
          <p:nvPr>
            <p:ph type="dt" sz="half" idx="12"/>
          </p:nvPr>
        </p:nvSpPr>
        <p:spPr>
          <a:ln/>
        </p:spPr>
        <p:txBody>
          <a:bodyPr/>
          <a:lstStyle>
            <a:lvl1pPr>
              <a:defRPr/>
            </a:lvl1pPr>
          </a:lstStyle>
          <a:p>
            <a:pPr>
              <a:defRPr/>
            </a:pPr>
            <a:fld id="{AC898531-7052-4ACE-9728-2DF7BB0958C8}" type="datetime4">
              <a:rPr lang="en-US" altLang="en-US"/>
              <a:pPr>
                <a:defRPr/>
              </a:pPr>
              <a:t>May 26, 2022</a:t>
            </a:fld>
            <a:endParaRPr lang="en-US" altLang="en-US" dirty="0"/>
          </a:p>
        </p:txBody>
      </p:sp>
    </p:spTree>
    <p:extLst>
      <p:ext uri="{BB962C8B-B14F-4D97-AF65-F5344CB8AC3E}">
        <p14:creationId xmlns:p14="http://schemas.microsoft.com/office/powerpoint/2010/main" val="23380223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2478-A9B4-4E70-9261-27FF56E80C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CE329B-1465-4054-815A-7A1E35027E9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780F8F62-546B-410A-A694-E2FD1CD03210}"/>
              </a:ext>
            </a:extLst>
          </p:cNvPr>
          <p:cNvSpPr>
            <a:spLocks noGrp="1" noChangeArrowheads="1"/>
          </p:cNvSpPr>
          <p:nvPr>
            <p:ph type="sldNum" sz="quarter" idx="10"/>
          </p:nvPr>
        </p:nvSpPr>
        <p:spPr>
          <a:ln/>
        </p:spPr>
        <p:txBody>
          <a:bodyPr/>
          <a:lstStyle>
            <a:lvl1pPr>
              <a:defRPr/>
            </a:lvl1pPr>
          </a:lstStyle>
          <a:p>
            <a:fld id="{8D4B8F6F-121F-49F8-8AA2-9634B70E87E7}" type="slidenum">
              <a:rPr lang="en-US" altLang="en-US"/>
              <a:pPr/>
              <a:t>‹#›</a:t>
            </a:fld>
            <a:endParaRPr lang="en-US" altLang="en-US" dirty="0"/>
          </a:p>
        </p:txBody>
      </p:sp>
      <p:sp>
        <p:nvSpPr>
          <p:cNvPr id="5" name="Rectangle 52">
            <a:extLst>
              <a:ext uri="{FF2B5EF4-FFF2-40B4-BE49-F238E27FC236}">
                <a16:creationId xmlns:a16="http://schemas.microsoft.com/office/drawing/2014/main" id="{6A852101-FE95-4474-BB10-395C0CBE2C4F}"/>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6" name="Rectangle 53">
            <a:extLst>
              <a:ext uri="{FF2B5EF4-FFF2-40B4-BE49-F238E27FC236}">
                <a16:creationId xmlns:a16="http://schemas.microsoft.com/office/drawing/2014/main" id="{07158CDC-1C6A-4AB2-9616-5E11C9F8275F}"/>
              </a:ext>
            </a:extLst>
          </p:cNvPr>
          <p:cNvSpPr>
            <a:spLocks noGrp="1" noChangeArrowheads="1"/>
          </p:cNvSpPr>
          <p:nvPr>
            <p:ph type="dt" sz="half" idx="12"/>
          </p:nvPr>
        </p:nvSpPr>
        <p:spPr>
          <a:ln/>
        </p:spPr>
        <p:txBody>
          <a:bodyPr/>
          <a:lstStyle>
            <a:lvl1pPr>
              <a:defRPr/>
            </a:lvl1pPr>
          </a:lstStyle>
          <a:p>
            <a:pPr>
              <a:defRPr/>
            </a:pPr>
            <a:fld id="{86166FBE-AC8E-41C9-95A4-3F33EF93DEB9}" type="datetime4">
              <a:rPr lang="en-US" altLang="en-US"/>
              <a:pPr>
                <a:defRPr/>
              </a:pPr>
              <a:t>May 26, 2022</a:t>
            </a:fld>
            <a:endParaRPr lang="en-US" altLang="en-US" dirty="0"/>
          </a:p>
        </p:txBody>
      </p:sp>
    </p:spTree>
    <p:extLst>
      <p:ext uri="{BB962C8B-B14F-4D97-AF65-F5344CB8AC3E}">
        <p14:creationId xmlns:p14="http://schemas.microsoft.com/office/powerpoint/2010/main" val="29318092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8C45FB-2F07-4EF0-BE46-23159135BC0E}"/>
              </a:ext>
            </a:extLst>
          </p:cNvPr>
          <p:cNvSpPr>
            <a:spLocks noGrp="1"/>
          </p:cNvSpPr>
          <p:nvPr>
            <p:ph type="title" orient="vert"/>
          </p:nvPr>
        </p:nvSpPr>
        <p:spPr>
          <a:xfrm>
            <a:off x="6629400" y="684213"/>
            <a:ext cx="2057400" cy="28797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C095D5-608D-4C3F-AF37-D5D1E5D1333F}"/>
              </a:ext>
            </a:extLst>
          </p:cNvPr>
          <p:cNvSpPr>
            <a:spLocks noGrp="1"/>
          </p:cNvSpPr>
          <p:nvPr>
            <p:ph type="body" orient="vert" idx="1"/>
          </p:nvPr>
        </p:nvSpPr>
        <p:spPr>
          <a:xfrm>
            <a:off x="457200" y="684213"/>
            <a:ext cx="6019800" cy="28797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4D05835-464A-49B2-924B-EBC3CB0D4717}"/>
              </a:ext>
            </a:extLst>
          </p:cNvPr>
          <p:cNvSpPr>
            <a:spLocks noGrp="1" noChangeArrowheads="1"/>
          </p:cNvSpPr>
          <p:nvPr>
            <p:ph type="sldNum" sz="quarter" idx="10"/>
          </p:nvPr>
        </p:nvSpPr>
        <p:spPr>
          <a:ln/>
        </p:spPr>
        <p:txBody>
          <a:bodyPr/>
          <a:lstStyle>
            <a:lvl1pPr>
              <a:defRPr/>
            </a:lvl1pPr>
          </a:lstStyle>
          <a:p>
            <a:fld id="{9785BC96-3498-4D70-B8E6-9EE294BBC047}" type="slidenum">
              <a:rPr lang="en-US" altLang="en-US"/>
              <a:pPr/>
              <a:t>‹#›</a:t>
            </a:fld>
            <a:endParaRPr lang="en-US" altLang="en-US" dirty="0"/>
          </a:p>
        </p:txBody>
      </p:sp>
      <p:sp>
        <p:nvSpPr>
          <p:cNvPr id="5" name="Rectangle 52">
            <a:extLst>
              <a:ext uri="{FF2B5EF4-FFF2-40B4-BE49-F238E27FC236}">
                <a16:creationId xmlns:a16="http://schemas.microsoft.com/office/drawing/2014/main" id="{56879546-952B-48BC-BDC2-E42139D19EF0}"/>
              </a:ext>
            </a:extLst>
          </p:cNvPr>
          <p:cNvSpPr>
            <a:spLocks noGrp="1" noChangeArrowheads="1"/>
          </p:cNvSpPr>
          <p:nvPr>
            <p:ph type="ftr" sz="quarter" idx="11"/>
          </p:nvPr>
        </p:nvSpPr>
        <p:spPr>
          <a:ln/>
        </p:spPr>
        <p:txBody>
          <a:bodyPr/>
          <a:lstStyle>
            <a:lvl1pPr>
              <a:defRPr/>
            </a:lvl1pPr>
          </a:lstStyle>
          <a:p>
            <a:pPr>
              <a:defRPr/>
            </a:pPr>
            <a:r>
              <a:rPr lang="en-US" altLang="en-US" dirty="0"/>
              <a:t>|     © 2011 Kaiser Foundation Health Plan, Inc. For internal use only.</a:t>
            </a:r>
          </a:p>
        </p:txBody>
      </p:sp>
      <p:sp>
        <p:nvSpPr>
          <p:cNvPr id="6" name="Rectangle 53">
            <a:extLst>
              <a:ext uri="{FF2B5EF4-FFF2-40B4-BE49-F238E27FC236}">
                <a16:creationId xmlns:a16="http://schemas.microsoft.com/office/drawing/2014/main" id="{66D2FE51-75F0-4946-AA63-642087B83671}"/>
              </a:ext>
            </a:extLst>
          </p:cNvPr>
          <p:cNvSpPr>
            <a:spLocks noGrp="1" noChangeArrowheads="1"/>
          </p:cNvSpPr>
          <p:nvPr>
            <p:ph type="dt" sz="half" idx="12"/>
          </p:nvPr>
        </p:nvSpPr>
        <p:spPr>
          <a:ln/>
        </p:spPr>
        <p:txBody>
          <a:bodyPr/>
          <a:lstStyle>
            <a:lvl1pPr>
              <a:defRPr/>
            </a:lvl1pPr>
          </a:lstStyle>
          <a:p>
            <a:pPr>
              <a:defRPr/>
            </a:pPr>
            <a:fld id="{910076FE-7E7F-46A9-93BF-3C4BC82C1E0D}" type="datetime4">
              <a:rPr lang="en-US" altLang="en-US"/>
              <a:pPr>
                <a:defRPr/>
              </a:pPr>
              <a:t>May 26, 2022</a:t>
            </a:fld>
            <a:endParaRPr lang="en-US" altLang="en-US" dirty="0"/>
          </a:p>
        </p:txBody>
      </p:sp>
    </p:spTree>
    <p:extLst>
      <p:ext uri="{BB962C8B-B14F-4D97-AF65-F5344CB8AC3E}">
        <p14:creationId xmlns:p14="http://schemas.microsoft.com/office/powerpoint/2010/main" val="20604736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F78F3-2593-4802-AEE6-9337808FF35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1C3C46-DBD7-4030-87D6-87D28C810C10}"/>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943318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9A36-862A-4933-9F8E-CE48CBED3C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19D14A-86C3-451C-953B-0D12E08495E0}"/>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331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EC46-FD8E-4514-AC4E-B68A126A83D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1754A8-D158-4452-A6DE-808695AB8041}"/>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33118650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44E4-9CB7-4DCF-B50C-846321DB4B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E728C0-F629-440B-98B4-1CD417BE6B58}"/>
              </a:ext>
            </a:extLst>
          </p:cNvPr>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EEA3A-6066-4753-B27D-16FE08750533}"/>
              </a:ext>
            </a:extLst>
          </p:cNvPr>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28746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AD84-4112-45C9-8664-E016573A877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975DA-4CBF-4064-844D-4BAECC48C869}"/>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BB8E32-ED64-4263-81B0-847EED6470FA}"/>
              </a:ext>
            </a:extLst>
          </p:cNvPr>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4D3796-EE6A-4C56-AC25-E51E7206F0E6}"/>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F908827-C600-4D08-BF69-7496F9D20377}"/>
              </a:ext>
            </a:extLst>
          </p:cNvPr>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2944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697F8-8036-48BF-8B62-1A986DD24A0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55023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1798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347A1-1A7B-4821-89F0-421B4EFED92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2CD361-CBB9-4117-8943-89359BD0478A}"/>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972016-73A0-4E89-A4A6-C61E91BD6341}"/>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791794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C801D-AD97-4D78-B238-6E00E69B4E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EE6362-E989-4B15-8DDB-64931CA819AD}"/>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a:extLst>
              <a:ext uri="{FF2B5EF4-FFF2-40B4-BE49-F238E27FC236}">
                <a16:creationId xmlns:a16="http://schemas.microsoft.com/office/drawing/2014/main" id="{7D3616C2-7255-4A8C-B390-62DB0A5E6AA3}"/>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3530282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4622F-B4F0-40B1-8AA3-A3558B6F28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6839A0-62A3-45F0-917F-14E10C78B580}"/>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8971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308914-3F48-4384-81DB-2283CE22B8C4}"/>
              </a:ext>
            </a:extLst>
          </p:cNvPr>
          <p:cNvSpPr>
            <a:spLocks noGrp="1"/>
          </p:cNvSpPr>
          <p:nvPr>
            <p:ph type="title" orient="vert"/>
          </p:nvPr>
        </p:nvSpPr>
        <p:spPr>
          <a:xfrm>
            <a:off x="6858000" y="1825625"/>
            <a:ext cx="2286000" cy="43513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625E9-755A-461C-8B7B-DFC6FA7922F0}"/>
              </a:ext>
            </a:extLst>
          </p:cNvPr>
          <p:cNvSpPr>
            <a:spLocks noGrp="1"/>
          </p:cNvSpPr>
          <p:nvPr>
            <p:ph type="body" orient="vert" idx="1"/>
          </p:nvPr>
        </p:nvSpPr>
        <p:spPr>
          <a:xfrm>
            <a:off x="0" y="1825625"/>
            <a:ext cx="670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5410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470520" name="Picture 56" descr="purple_titlebar">
            <a:extLst>
              <a:ext uri="{FF2B5EF4-FFF2-40B4-BE49-F238E27FC236}">
                <a16:creationId xmlns:a16="http://schemas.microsoft.com/office/drawing/2014/main" id="{8E2D73FE-B538-41C8-BF8C-1AABBF4BC0A5}"/>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104775"/>
            <a:ext cx="91440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8">
            <a:extLst>
              <a:ext uri="{FF2B5EF4-FFF2-40B4-BE49-F238E27FC236}">
                <a16:creationId xmlns:a16="http://schemas.microsoft.com/office/drawing/2014/main" id="{B1CB56CF-9746-438E-BA33-97D0E1BC69D1}"/>
              </a:ext>
            </a:extLst>
          </p:cNvPr>
          <p:cNvGrpSpPr>
            <a:grpSpLocks/>
          </p:cNvGrpSpPr>
          <p:nvPr userDrawn="1"/>
        </p:nvGrpSpPr>
        <p:grpSpPr bwMode="auto">
          <a:xfrm>
            <a:off x="6669088" y="6400800"/>
            <a:ext cx="1989137" cy="223838"/>
            <a:chOff x="2205" y="2084"/>
            <a:chExt cx="1349" cy="152"/>
          </a:xfrm>
        </p:grpSpPr>
        <p:sp>
          <p:nvSpPr>
            <p:cNvPr id="1033" name="Freeform 9">
              <a:extLst>
                <a:ext uri="{FF2B5EF4-FFF2-40B4-BE49-F238E27FC236}">
                  <a16:creationId xmlns:a16="http://schemas.microsoft.com/office/drawing/2014/main" id="{6ED5BF44-93D0-4099-9FEE-0DCD99571B43}"/>
                </a:ext>
              </a:extLst>
            </p:cNvPr>
            <p:cNvSpPr>
              <a:spLocks/>
            </p:cNvSpPr>
            <p:nvPr/>
          </p:nvSpPr>
          <p:spPr bwMode="black">
            <a:xfrm>
              <a:off x="2295" y="2127"/>
              <a:ext cx="21" cy="71"/>
            </a:xfrm>
            <a:custGeom>
              <a:avLst/>
              <a:gdLst>
                <a:gd name="T0" fmla="*/ 9 w 9"/>
                <a:gd name="T1" fmla="*/ 2 h 30"/>
                <a:gd name="T2" fmla="*/ 5 w 9"/>
                <a:gd name="T3" fmla="*/ 0 h 30"/>
                <a:gd name="T4" fmla="*/ 0 w 9"/>
                <a:gd name="T5" fmla="*/ 71 h 30"/>
                <a:gd name="T6" fmla="*/ 19 w 9"/>
                <a:gd name="T7" fmla="*/ 21 h 30"/>
                <a:gd name="T8" fmla="*/ 9 w 9"/>
                <a:gd name="T9" fmla="*/ 2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30">
                  <a:moveTo>
                    <a:pt x="4" y="1"/>
                  </a:moveTo>
                  <a:cubicBezTo>
                    <a:pt x="4" y="1"/>
                    <a:pt x="3" y="0"/>
                    <a:pt x="2" y="0"/>
                  </a:cubicBezTo>
                  <a:cubicBezTo>
                    <a:pt x="0" y="30"/>
                    <a:pt x="0" y="30"/>
                    <a:pt x="0" y="30"/>
                  </a:cubicBezTo>
                  <a:cubicBezTo>
                    <a:pt x="8" y="9"/>
                    <a:pt x="8" y="9"/>
                    <a:pt x="8" y="9"/>
                  </a:cubicBezTo>
                  <a:cubicBezTo>
                    <a:pt x="9" y="6"/>
                    <a:pt x="7" y="3"/>
                    <a:pt x="4"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4" name="Freeform 10">
              <a:extLst>
                <a:ext uri="{FF2B5EF4-FFF2-40B4-BE49-F238E27FC236}">
                  <a16:creationId xmlns:a16="http://schemas.microsoft.com/office/drawing/2014/main" id="{2113056F-03A9-4047-967E-FDA0CAAA84E5}"/>
                </a:ext>
              </a:extLst>
            </p:cNvPr>
            <p:cNvSpPr>
              <a:spLocks/>
            </p:cNvSpPr>
            <p:nvPr/>
          </p:nvSpPr>
          <p:spPr bwMode="black">
            <a:xfrm>
              <a:off x="2276" y="2122"/>
              <a:ext cx="21" cy="76"/>
            </a:xfrm>
            <a:custGeom>
              <a:avLst/>
              <a:gdLst>
                <a:gd name="T0" fmla="*/ 0 w 9"/>
                <a:gd name="T1" fmla="*/ 2 h 32"/>
                <a:gd name="T2" fmla="*/ 9 w 9"/>
                <a:gd name="T3" fmla="*/ 76 h 32"/>
                <a:gd name="T4" fmla="*/ 21 w 9"/>
                <a:gd name="T5" fmla="*/ 2 h 32"/>
                <a:gd name="T6" fmla="*/ 0 w 9"/>
                <a:gd name="T7" fmla="*/ 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32">
                  <a:moveTo>
                    <a:pt x="0" y="1"/>
                  </a:moveTo>
                  <a:cubicBezTo>
                    <a:pt x="4" y="32"/>
                    <a:pt x="4" y="32"/>
                    <a:pt x="4" y="32"/>
                  </a:cubicBezTo>
                  <a:cubicBezTo>
                    <a:pt x="9" y="1"/>
                    <a:pt x="9" y="1"/>
                    <a:pt x="9" y="1"/>
                  </a:cubicBezTo>
                  <a:cubicBezTo>
                    <a:pt x="6" y="1"/>
                    <a:pt x="3" y="0"/>
                    <a:pt x="0"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5" name="Freeform 11">
              <a:extLst>
                <a:ext uri="{FF2B5EF4-FFF2-40B4-BE49-F238E27FC236}">
                  <a16:creationId xmlns:a16="http://schemas.microsoft.com/office/drawing/2014/main" id="{7D8CF344-5F3D-45E1-A62B-71C0A6CEAB8A}"/>
                </a:ext>
              </a:extLst>
            </p:cNvPr>
            <p:cNvSpPr>
              <a:spLocks/>
            </p:cNvSpPr>
            <p:nvPr/>
          </p:nvSpPr>
          <p:spPr bwMode="black">
            <a:xfrm>
              <a:off x="2257" y="2127"/>
              <a:ext cx="21" cy="71"/>
            </a:xfrm>
            <a:custGeom>
              <a:avLst/>
              <a:gdLst>
                <a:gd name="T0" fmla="*/ 9 w 9"/>
                <a:gd name="T1" fmla="*/ 2 h 30"/>
                <a:gd name="T2" fmla="*/ 2 w 9"/>
                <a:gd name="T3" fmla="*/ 21 h 30"/>
                <a:gd name="T4" fmla="*/ 21 w 9"/>
                <a:gd name="T5" fmla="*/ 71 h 30"/>
                <a:gd name="T6" fmla="*/ 16 w 9"/>
                <a:gd name="T7" fmla="*/ 0 h 30"/>
                <a:gd name="T8" fmla="*/ 9 w 9"/>
                <a:gd name="T9" fmla="*/ 2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30">
                  <a:moveTo>
                    <a:pt x="4" y="1"/>
                  </a:moveTo>
                  <a:cubicBezTo>
                    <a:pt x="2" y="3"/>
                    <a:pt x="0" y="6"/>
                    <a:pt x="1" y="9"/>
                  </a:cubicBezTo>
                  <a:cubicBezTo>
                    <a:pt x="9" y="30"/>
                    <a:pt x="9" y="30"/>
                    <a:pt x="9" y="30"/>
                  </a:cubicBezTo>
                  <a:cubicBezTo>
                    <a:pt x="7" y="0"/>
                    <a:pt x="7" y="0"/>
                    <a:pt x="7" y="0"/>
                  </a:cubicBezTo>
                  <a:cubicBezTo>
                    <a:pt x="6" y="0"/>
                    <a:pt x="5" y="1"/>
                    <a:pt x="4"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6" name="Freeform 12">
              <a:extLst>
                <a:ext uri="{FF2B5EF4-FFF2-40B4-BE49-F238E27FC236}">
                  <a16:creationId xmlns:a16="http://schemas.microsoft.com/office/drawing/2014/main" id="{49CF1E28-7A6C-4922-9A5C-8D26E4D1BB4A}"/>
                </a:ext>
              </a:extLst>
            </p:cNvPr>
            <p:cNvSpPr>
              <a:spLocks/>
            </p:cNvSpPr>
            <p:nvPr/>
          </p:nvSpPr>
          <p:spPr bwMode="black">
            <a:xfrm>
              <a:off x="2231" y="2136"/>
              <a:ext cx="36" cy="64"/>
            </a:xfrm>
            <a:custGeom>
              <a:avLst/>
              <a:gdLst>
                <a:gd name="T0" fmla="*/ 0 w 15"/>
                <a:gd name="T1" fmla="*/ 0 h 27"/>
                <a:gd name="T2" fmla="*/ 36 w 15"/>
                <a:gd name="T3" fmla="*/ 64 h 27"/>
                <a:gd name="T4" fmla="*/ 22 w 15"/>
                <a:gd name="T5" fmla="*/ 9 h 27"/>
                <a:gd name="T6" fmla="*/ 0 w 15"/>
                <a:gd name="T7" fmla="*/ 0 h 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7">
                  <a:moveTo>
                    <a:pt x="0" y="0"/>
                  </a:moveTo>
                  <a:cubicBezTo>
                    <a:pt x="5" y="9"/>
                    <a:pt x="10" y="18"/>
                    <a:pt x="15" y="27"/>
                  </a:cubicBezTo>
                  <a:cubicBezTo>
                    <a:pt x="14" y="19"/>
                    <a:pt x="12" y="7"/>
                    <a:pt x="9" y="4"/>
                  </a:cubicBezTo>
                  <a:cubicBezTo>
                    <a:pt x="6" y="0"/>
                    <a:pt x="0" y="0"/>
                    <a:pt x="0" y="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7" name="Freeform 13">
              <a:extLst>
                <a:ext uri="{FF2B5EF4-FFF2-40B4-BE49-F238E27FC236}">
                  <a16:creationId xmlns:a16="http://schemas.microsoft.com/office/drawing/2014/main" id="{A6ACE4B5-4CAD-47F2-8BDD-D742FEB6F6D7}"/>
                </a:ext>
              </a:extLst>
            </p:cNvPr>
            <p:cNvSpPr>
              <a:spLocks/>
            </p:cNvSpPr>
            <p:nvPr/>
          </p:nvSpPr>
          <p:spPr bwMode="black">
            <a:xfrm>
              <a:off x="2210" y="2136"/>
              <a:ext cx="50" cy="67"/>
            </a:xfrm>
            <a:custGeom>
              <a:avLst/>
              <a:gdLst>
                <a:gd name="T0" fmla="*/ 0 w 21"/>
                <a:gd name="T1" fmla="*/ 12 h 28"/>
                <a:gd name="T2" fmla="*/ 50 w 21"/>
                <a:gd name="T3" fmla="*/ 67 h 28"/>
                <a:gd name="T4" fmla="*/ 19 w 21"/>
                <a:gd name="T5" fmla="*/ 0 h 28"/>
                <a:gd name="T6" fmla="*/ 0 w 21"/>
                <a:gd name="T7" fmla="*/ 12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28">
                  <a:moveTo>
                    <a:pt x="0" y="5"/>
                  </a:moveTo>
                  <a:cubicBezTo>
                    <a:pt x="21" y="28"/>
                    <a:pt x="21" y="28"/>
                    <a:pt x="21" y="28"/>
                  </a:cubicBezTo>
                  <a:cubicBezTo>
                    <a:pt x="8" y="0"/>
                    <a:pt x="8" y="0"/>
                    <a:pt x="8" y="0"/>
                  </a:cubicBezTo>
                  <a:cubicBezTo>
                    <a:pt x="5" y="0"/>
                    <a:pt x="2" y="2"/>
                    <a:pt x="0" y="5"/>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8" name="Freeform 14">
              <a:extLst>
                <a:ext uri="{FF2B5EF4-FFF2-40B4-BE49-F238E27FC236}">
                  <a16:creationId xmlns:a16="http://schemas.microsoft.com/office/drawing/2014/main" id="{7C131D99-F6A9-4613-A111-4674651D7911}"/>
                </a:ext>
              </a:extLst>
            </p:cNvPr>
            <p:cNvSpPr>
              <a:spLocks/>
            </p:cNvSpPr>
            <p:nvPr/>
          </p:nvSpPr>
          <p:spPr bwMode="black">
            <a:xfrm>
              <a:off x="2304" y="2148"/>
              <a:ext cx="31" cy="52"/>
            </a:xfrm>
            <a:custGeom>
              <a:avLst/>
              <a:gdLst>
                <a:gd name="T0" fmla="*/ 7 w 13"/>
                <a:gd name="T1" fmla="*/ 14 h 22"/>
                <a:gd name="T2" fmla="*/ 0 w 13"/>
                <a:gd name="T3" fmla="*/ 52 h 22"/>
                <a:gd name="T4" fmla="*/ 31 w 13"/>
                <a:gd name="T5" fmla="*/ 0 h 22"/>
                <a:gd name="T6" fmla="*/ 7 w 13"/>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2">
                  <a:moveTo>
                    <a:pt x="3" y="6"/>
                  </a:moveTo>
                  <a:cubicBezTo>
                    <a:pt x="0" y="22"/>
                    <a:pt x="0" y="22"/>
                    <a:pt x="0" y="22"/>
                  </a:cubicBezTo>
                  <a:cubicBezTo>
                    <a:pt x="4" y="15"/>
                    <a:pt x="9" y="7"/>
                    <a:pt x="13" y="0"/>
                  </a:cubicBezTo>
                  <a:cubicBezTo>
                    <a:pt x="9" y="0"/>
                    <a:pt x="5" y="1"/>
                    <a:pt x="3" y="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39" name="Freeform 15">
              <a:extLst>
                <a:ext uri="{FF2B5EF4-FFF2-40B4-BE49-F238E27FC236}">
                  <a16:creationId xmlns:a16="http://schemas.microsoft.com/office/drawing/2014/main" id="{BAB4DDF7-CFC6-41A0-93DF-8879A0A572DF}"/>
                </a:ext>
              </a:extLst>
            </p:cNvPr>
            <p:cNvSpPr>
              <a:spLocks/>
            </p:cNvSpPr>
            <p:nvPr/>
          </p:nvSpPr>
          <p:spPr bwMode="black">
            <a:xfrm>
              <a:off x="2312" y="2148"/>
              <a:ext cx="44" cy="57"/>
            </a:xfrm>
            <a:custGeom>
              <a:avLst/>
              <a:gdLst>
                <a:gd name="T0" fmla="*/ 25 w 19"/>
                <a:gd name="T1" fmla="*/ 0 h 24"/>
                <a:gd name="T2" fmla="*/ 0 w 19"/>
                <a:gd name="T3" fmla="*/ 57 h 24"/>
                <a:gd name="T4" fmla="*/ 44 w 19"/>
                <a:gd name="T5" fmla="*/ 7 h 24"/>
                <a:gd name="T6" fmla="*/ 25 w 19"/>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
                  <a:moveTo>
                    <a:pt x="11" y="0"/>
                  </a:moveTo>
                  <a:cubicBezTo>
                    <a:pt x="0" y="24"/>
                    <a:pt x="0" y="24"/>
                    <a:pt x="0" y="24"/>
                  </a:cubicBezTo>
                  <a:cubicBezTo>
                    <a:pt x="19" y="3"/>
                    <a:pt x="19" y="3"/>
                    <a:pt x="19" y="3"/>
                  </a:cubicBezTo>
                  <a:cubicBezTo>
                    <a:pt x="17" y="1"/>
                    <a:pt x="14" y="0"/>
                    <a:pt x="11" y="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0" name="Freeform 16">
              <a:extLst>
                <a:ext uri="{FF2B5EF4-FFF2-40B4-BE49-F238E27FC236}">
                  <a16:creationId xmlns:a16="http://schemas.microsoft.com/office/drawing/2014/main" id="{378AA857-DD14-48CE-A074-0E9F1326B70F}"/>
                </a:ext>
              </a:extLst>
            </p:cNvPr>
            <p:cNvSpPr>
              <a:spLocks/>
            </p:cNvSpPr>
            <p:nvPr/>
          </p:nvSpPr>
          <p:spPr bwMode="black">
            <a:xfrm>
              <a:off x="2205" y="2148"/>
              <a:ext cx="47" cy="62"/>
            </a:xfrm>
            <a:custGeom>
              <a:avLst/>
              <a:gdLst>
                <a:gd name="T0" fmla="*/ 0 w 20"/>
                <a:gd name="T1" fmla="*/ 24 h 26"/>
                <a:gd name="T2" fmla="*/ 47 w 20"/>
                <a:gd name="T3" fmla="*/ 62 h 26"/>
                <a:gd name="T4" fmla="*/ 5 w 20"/>
                <a:gd name="T5" fmla="*/ 0 h 26"/>
                <a:gd name="T6" fmla="*/ 0 w 20"/>
                <a:gd name="T7" fmla="*/ 24 h 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6">
                  <a:moveTo>
                    <a:pt x="0" y="10"/>
                  </a:moveTo>
                  <a:cubicBezTo>
                    <a:pt x="6" y="15"/>
                    <a:pt x="13" y="21"/>
                    <a:pt x="20" y="26"/>
                  </a:cubicBezTo>
                  <a:cubicBezTo>
                    <a:pt x="2" y="0"/>
                    <a:pt x="2" y="0"/>
                    <a:pt x="2" y="0"/>
                  </a:cubicBezTo>
                  <a:cubicBezTo>
                    <a:pt x="0" y="3"/>
                    <a:pt x="0" y="7"/>
                    <a:pt x="0" y="1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1" name="Freeform 17">
              <a:extLst>
                <a:ext uri="{FF2B5EF4-FFF2-40B4-BE49-F238E27FC236}">
                  <a16:creationId xmlns:a16="http://schemas.microsoft.com/office/drawing/2014/main" id="{3D3A6690-A35C-4B56-A928-4C1A85563BD5}"/>
                </a:ext>
              </a:extLst>
            </p:cNvPr>
            <p:cNvSpPr>
              <a:spLocks/>
            </p:cNvSpPr>
            <p:nvPr/>
          </p:nvSpPr>
          <p:spPr bwMode="black">
            <a:xfrm>
              <a:off x="2321" y="2158"/>
              <a:ext cx="45" cy="52"/>
            </a:xfrm>
            <a:custGeom>
              <a:avLst/>
              <a:gdLst>
                <a:gd name="T0" fmla="*/ 43 w 19"/>
                <a:gd name="T1" fmla="*/ 5 h 22"/>
                <a:gd name="T2" fmla="*/ 38 w 19"/>
                <a:gd name="T3" fmla="*/ 0 h 22"/>
                <a:gd name="T4" fmla="*/ 0 w 19"/>
                <a:gd name="T5" fmla="*/ 52 h 22"/>
                <a:gd name="T6" fmla="*/ 45 w 19"/>
                <a:gd name="T7" fmla="*/ 17 h 22"/>
                <a:gd name="T8" fmla="*/ 43 w 19"/>
                <a:gd name="T9" fmla="*/ 5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2">
                  <a:moveTo>
                    <a:pt x="18" y="2"/>
                  </a:moveTo>
                  <a:cubicBezTo>
                    <a:pt x="17" y="1"/>
                    <a:pt x="17" y="0"/>
                    <a:pt x="16" y="0"/>
                  </a:cubicBezTo>
                  <a:cubicBezTo>
                    <a:pt x="0" y="22"/>
                    <a:pt x="0" y="22"/>
                    <a:pt x="0" y="22"/>
                  </a:cubicBezTo>
                  <a:cubicBezTo>
                    <a:pt x="6" y="17"/>
                    <a:pt x="12" y="12"/>
                    <a:pt x="19" y="7"/>
                  </a:cubicBezTo>
                  <a:cubicBezTo>
                    <a:pt x="19" y="5"/>
                    <a:pt x="18" y="3"/>
                    <a:pt x="18" y="2"/>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2" name="Freeform 18">
              <a:extLst>
                <a:ext uri="{FF2B5EF4-FFF2-40B4-BE49-F238E27FC236}">
                  <a16:creationId xmlns:a16="http://schemas.microsoft.com/office/drawing/2014/main" id="{99164A56-51DD-4244-9335-1E40D7BEA152}"/>
                </a:ext>
              </a:extLst>
            </p:cNvPr>
            <p:cNvSpPr>
              <a:spLocks/>
            </p:cNvSpPr>
            <p:nvPr/>
          </p:nvSpPr>
          <p:spPr bwMode="black">
            <a:xfrm>
              <a:off x="2205" y="2177"/>
              <a:ext cx="40" cy="40"/>
            </a:xfrm>
            <a:custGeom>
              <a:avLst/>
              <a:gdLst>
                <a:gd name="T0" fmla="*/ 0 w 17"/>
                <a:gd name="T1" fmla="*/ 21 h 17"/>
                <a:gd name="T2" fmla="*/ 40 w 17"/>
                <a:gd name="T3" fmla="*/ 40 h 17"/>
                <a:gd name="T4" fmla="*/ 0 w 17"/>
                <a:gd name="T5" fmla="*/ 0 h 17"/>
                <a:gd name="T6" fmla="*/ 0 w 17"/>
                <a:gd name="T7" fmla="*/ 21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9"/>
                  </a:moveTo>
                  <a:cubicBezTo>
                    <a:pt x="17" y="17"/>
                    <a:pt x="17" y="17"/>
                    <a:pt x="17" y="17"/>
                  </a:cubicBezTo>
                  <a:cubicBezTo>
                    <a:pt x="12" y="11"/>
                    <a:pt x="6" y="5"/>
                    <a:pt x="0" y="0"/>
                  </a:cubicBezTo>
                  <a:lnTo>
                    <a:pt x="0" y="9"/>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3" name="Freeform 19">
              <a:extLst>
                <a:ext uri="{FF2B5EF4-FFF2-40B4-BE49-F238E27FC236}">
                  <a16:creationId xmlns:a16="http://schemas.microsoft.com/office/drawing/2014/main" id="{AA69C1A3-F8BE-4B44-B3F7-104B2B15C7B9}"/>
                </a:ext>
              </a:extLst>
            </p:cNvPr>
            <p:cNvSpPr>
              <a:spLocks/>
            </p:cNvSpPr>
            <p:nvPr/>
          </p:nvSpPr>
          <p:spPr bwMode="black">
            <a:xfrm>
              <a:off x="2326" y="2179"/>
              <a:ext cx="40" cy="38"/>
            </a:xfrm>
            <a:custGeom>
              <a:avLst/>
              <a:gdLst>
                <a:gd name="T0" fmla="*/ 40 w 17"/>
                <a:gd name="T1" fmla="*/ 19 h 16"/>
                <a:gd name="T2" fmla="*/ 40 w 17"/>
                <a:gd name="T3" fmla="*/ 0 h 16"/>
                <a:gd name="T4" fmla="*/ 0 w 17"/>
                <a:gd name="T5" fmla="*/ 38 h 16"/>
                <a:gd name="T6" fmla="*/ 40 w 17"/>
                <a:gd name="T7" fmla="*/ 19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6">
                  <a:moveTo>
                    <a:pt x="17" y="8"/>
                  </a:moveTo>
                  <a:cubicBezTo>
                    <a:pt x="17" y="0"/>
                    <a:pt x="17" y="0"/>
                    <a:pt x="17" y="0"/>
                  </a:cubicBezTo>
                  <a:cubicBezTo>
                    <a:pt x="0" y="16"/>
                    <a:pt x="0" y="16"/>
                    <a:pt x="0" y="16"/>
                  </a:cubicBezTo>
                  <a:cubicBezTo>
                    <a:pt x="6" y="13"/>
                    <a:pt x="11" y="11"/>
                    <a:pt x="17" y="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4" name="Freeform 20">
              <a:extLst>
                <a:ext uri="{FF2B5EF4-FFF2-40B4-BE49-F238E27FC236}">
                  <a16:creationId xmlns:a16="http://schemas.microsoft.com/office/drawing/2014/main" id="{A04914CF-E1C9-42E5-8E23-9407319280FA}"/>
                </a:ext>
              </a:extLst>
            </p:cNvPr>
            <p:cNvSpPr>
              <a:spLocks/>
            </p:cNvSpPr>
            <p:nvPr/>
          </p:nvSpPr>
          <p:spPr bwMode="black">
            <a:xfrm>
              <a:off x="2205" y="2200"/>
              <a:ext cx="38" cy="24"/>
            </a:xfrm>
            <a:custGeom>
              <a:avLst/>
              <a:gdLst>
                <a:gd name="T0" fmla="*/ 0 w 16"/>
                <a:gd name="T1" fmla="*/ 17 h 10"/>
                <a:gd name="T2" fmla="*/ 38 w 16"/>
                <a:gd name="T3" fmla="*/ 24 h 10"/>
                <a:gd name="T4" fmla="*/ 0 w 16"/>
                <a:gd name="T5" fmla="*/ 0 h 10"/>
                <a:gd name="T6" fmla="*/ 0 w 16"/>
                <a:gd name="T7" fmla="*/ 17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0">
                  <a:moveTo>
                    <a:pt x="0" y="7"/>
                  </a:moveTo>
                  <a:cubicBezTo>
                    <a:pt x="5" y="8"/>
                    <a:pt x="11" y="9"/>
                    <a:pt x="16" y="10"/>
                  </a:cubicBezTo>
                  <a:cubicBezTo>
                    <a:pt x="0" y="0"/>
                    <a:pt x="0" y="0"/>
                    <a:pt x="0" y="0"/>
                  </a:cubicBezTo>
                  <a:lnTo>
                    <a:pt x="0" y="7"/>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5" name="Freeform 21">
              <a:extLst>
                <a:ext uri="{FF2B5EF4-FFF2-40B4-BE49-F238E27FC236}">
                  <a16:creationId xmlns:a16="http://schemas.microsoft.com/office/drawing/2014/main" id="{352AF0CC-229A-4A1C-8809-D5FD7567CFC1}"/>
                </a:ext>
              </a:extLst>
            </p:cNvPr>
            <p:cNvSpPr>
              <a:spLocks/>
            </p:cNvSpPr>
            <p:nvPr/>
          </p:nvSpPr>
          <p:spPr bwMode="black">
            <a:xfrm>
              <a:off x="2330" y="2203"/>
              <a:ext cx="36" cy="21"/>
            </a:xfrm>
            <a:custGeom>
              <a:avLst/>
              <a:gdLst>
                <a:gd name="T0" fmla="*/ 36 w 15"/>
                <a:gd name="T1" fmla="*/ 14 h 9"/>
                <a:gd name="T2" fmla="*/ 36 w 15"/>
                <a:gd name="T3" fmla="*/ 0 h 9"/>
                <a:gd name="T4" fmla="*/ 0 w 15"/>
                <a:gd name="T5" fmla="*/ 21 h 9"/>
                <a:gd name="T6" fmla="*/ 36 w 15"/>
                <a:gd name="T7" fmla="*/ 14 h 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9">
                  <a:moveTo>
                    <a:pt x="15" y="6"/>
                  </a:moveTo>
                  <a:cubicBezTo>
                    <a:pt x="15" y="0"/>
                    <a:pt x="15" y="0"/>
                    <a:pt x="15" y="0"/>
                  </a:cubicBezTo>
                  <a:cubicBezTo>
                    <a:pt x="10" y="3"/>
                    <a:pt x="5" y="6"/>
                    <a:pt x="0" y="9"/>
                  </a:cubicBezTo>
                  <a:lnTo>
                    <a:pt x="15" y="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6" name="Freeform 22">
              <a:extLst>
                <a:ext uri="{FF2B5EF4-FFF2-40B4-BE49-F238E27FC236}">
                  <a16:creationId xmlns:a16="http://schemas.microsoft.com/office/drawing/2014/main" id="{733EE220-BF82-462B-9B92-56C663D76FD6}"/>
                </a:ext>
              </a:extLst>
            </p:cNvPr>
            <p:cNvSpPr>
              <a:spLocks/>
            </p:cNvSpPr>
            <p:nvPr/>
          </p:nvSpPr>
          <p:spPr bwMode="black">
            <a:xfrm>
              <a:off x="2205" y="2219"/>
              <a:ext cx="36" cy="14"/>
            </a:xfrm>
            <a:custGeom>
              <a:avLst/>
              <a:gdLst>
                <a:gd name="T0" fmla="*/ 0 w 36"/>
                <a:gd name="T1" fmla="*/ 14 h 14"/>
                <a:gd name="T2" fmla="*/ 36 w 36"/>
                <a:gd name="T3" fmla="*/ 14 h 14"/>
                <a:gd name="T4" fmla="*/ 0 w 36"/>
                <a:gd name="T5" fmla="*/ 0 h 14"/>
                <a:gd name="T6" fmla="*/ 0 w 36"/>
                <a:gd name="T7" fmla="*/ 14 h 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4">
                  <a:moveTo>
                    <a:pt x="0" y="14"/>
                  </a:moveTo>
                  <a:lnTo>
                    <a:pt x="36" y="14"/>
                  </a:lnTo>
                  <a:lnTo>
                    <a:pt x="0" y="0"/>
                  </a:lnTo>
                  <a:lnTo>
                    <a:pt x="0" y="14"/>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7" name="Freeform 23">
              <a:extLst>
                <a:ext uri="{FF2B5EF4-FFF2-40B4-BE49-F238E27FC236}">
                  <a16:creationId xmlns:a16="http://schemas.microsoft.com/office/drawing/2014/main" id="{894AE964-700F-4167-9C29-3FE7B2608977}"/>
                </a:ext>
              </a:extLst>
            </p:cNvPr>
            <p:cNvSpPr>
              <a:spLocks/>
            </p:cNvSpPr>
            <p:nvPr/>
          </p:nvSpPr>
          <p:spPr bwMode="black">
            <a:xfrm>
              <a:off x="2330" y="2219"/>
              <a:ext cx="36" cy="14"/>
            </a:xfrm>
            <a:custGeom>
              <a:avLst/>
              <a:gdLst>
                <a:gd name="T0" fmla="*/ 36 w 15"/>
                <a:gd name="T1" fmla="*/ 14 h 6"/>
                <a:gd name="T2" fmla="*/ 36 w 15"/>
                <a:gd name="T3" fmla="*/ 0 h 6"/>
                <a:gd name="T4" fmla="*/ 0 w 15"/>
                <a:gd name="T5" fmla="*/ 14 h 6"/>
                <a:gd name="T6" fmla="*/ 36 w 15"/>
                <a:gd name="T7" fmla="*/ 14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6">
                  <a:moveTo>
                    <a:pt x="15" y="6"/>
                  </a:moveTo>
                  <a:cubicBezTo>
                    <a:pt x="15" y="0"/>
                    <a:pt x="15" y="0"/>
                    <a:pt x="15" y="0"/>
                  </a:cubicBezTo>
                  <a:cubicBezTo>
                    <a:pt x="10" y="3"/>
                    <a:pt x="5" y="4"/>
                    <a:pt x="0" y="6"/>
                  </a:cubicBezTo>
                  <a:lnTo>
                    <a:pt x="15" y="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8" name="Freeform 24">
              <a:extLst>
                <a:ext uri="{FF2B5EF4-FFF2-40B4-BE49-F238E27FC236}">
                  <a16:creationId xmlns:a16="http://schemas.microsoft.com/office/drawing/2014/main" id="{8A2BB9B2-9DD2-4FDE-B1C1-4E9D3ECF8F5D}"/>
                </a:ext>
              </a:extLst>
            </p:cNvPr>
            <p:cNvSpPr>
              <a:spLocks/>
            </p:cNvSpPr>
            <p:nvPr/>
          </p:nvSpPr>
          <p:spPr bwMode="black">
            <a:xfrm>
              <a:off x="2321" y="2106"/>
              <a:ext cx="33" cy="42"/>
            </a:xfrm>
            <a:custGeom>
              <a:avLst/>
              <a:gdLst>
                <a:gd name="T0" fmla="*/ 31 w 14"/>
                <a:gd name="T1" fmla="*/ 23 h 18"/>
                <a:gd name="T2" fmla="*/ 0 w 14"/>
                <a:gd name="T3" fmla="*/ 21 h 18"/>
                <a:gd name="T4" fmla="*/ 31 w 14"/>
                <a:gd name="T5" fmla="*/ 23 h 18"/>
                <a:gd name="T6" fmla="*/ 0 60000 65536"/>
                <a:gd name="T7" fmla="*/ 0 60000 65536"/>
                <a:gd name="T8" fmla="*/ 0 60000 65536"/>
              </a:gdLst>
              <a:ahLst/>
              <a:cxnLst>
                <a:cxn ang="T6">
                  <a:pos x="T0" y="T1"/>
                </a:cxn>
                <a:cxn ang="T7">
                  <a:pos x="T2" y="T3"/>
                </a:cxn>
                <a:cxn ang="T8">
                  <a:pos x="T4" y="T5"/>
                </a:cxn>
              </a:cxnLst>
              <a:rect l="0" t="0" r="r" b="b"/>
              <a:pathLst>
                <a:path w="14" h="18">
                  <a:moveTo>
                    <a:pt x="13" y="10"/>
                  </a:moveTo>
                  <a:cubicBezTo>
                    <a:pt x="13" y="0"/>
                    <a:pt x="0" y="0"/>
                    <a:pt x="0" y="9"/>
                  </a:cubicBezTo>
                  <a:cubicBezTo>
                    <a:pt x="0" y="18"/>
                    <a:pt x="14" y="18"/>
                    <a:pt x="13" y="1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49" name="Freeform 25">
              <a:extLst>
                <a:ext uri="{FF2B5EF4-FFF2-40B4-BE49-F238E27FC236}">
                  <a16:creationId xmlns:a16="http://schemas.microsoft.com/office/drawing/2014/main" id="{B0C257A4-BFAC-4B83-AA13-9052F443D906}"/>
                </a:ext>
              </a:extLst>
            </p:cNvPr>
            <p:cNvSpPr>
              <a:spLocks/>
            </p:cNvSpPr>
            <p:nvPr/>
          </p:nvSpPr>
          <p:spPr bwMode="black">
            <a:xfrm>
              <a:off x="2352" y="2127"/>
              <a:ext cx="0" cy="2"/>
            </a:xfrm>
            <a:custGeom>
              <a:avLst/>
              <a:gdLst>
                <a:gd name="T0" fmla="*/ 0 h 1"/>
                <a:gd name="T1" fmla="*/ 2 h 1"/>
                <a:gd name="T2" fmla="*/ 2 h 1"/>
                <a:gd name="T3" fmla="*/ 0 h 1"/>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
                  <a:moveTo>
                    <a:pt x="0" y="0"/>
                  </a:moveTo>
                  <a:cubicBezTo>
                    <a:pt x="0" y="0"/>
                    <a:pt x="0" y="1"/>
                    <a:pt x="0" y="1"/>
                  </a:cubicBezTo>
                  <a:cubicBezTo>
                    <a:pt x="0" y="1"/>
                    <a:pt x="0" y="1"/>
                    <a:pt x="0" y="1"/>
                  </a:cubicBezTo>
                  <a:lnTo>
                    <a:pt x="0"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0" name="Freeform 26">
              <a:extLst>
                <a:ext uri="{FF2B5EF4-FFF2-40B4-BE49-F238E27FC236}">
                  <a16:creationId xmlns:a16="http://schemas.microsoft.com/office/drawing/2014/main" id="{AECB2DE9-D955-4550-960A-3D43B42320C5}"/>
                </a:ext>
              </a:extLst>
            </p:cNvPr>
            <p:cNvSpPr>
              <a:spLocks/>
            </p:cNvSpPr>
            <p:nvPr/>
          </p:nvSpPr>
          <p:spPr bwMode="black">
            <a:xfrm>
              <a:off x="2217" y="2096"/>
              <a:ext cx="33" cy="43"/>
            </a:xfrm>
            <a:custGeom>
              <a:avLst/>
              <a:gdLst>
                <a:gd name="T0" fmla="*/ 33 w 14"/>
                <a:gd name="T1" fmla="*/ 22 h 18"/>
                <a:gd name="T2" fmla="*/ 0 w 14"/>
                <a:gd name="T3" fmla="*/ 22 h 18"/>
                <a:gd name="T4" fmla="*/ 33 w 14"/>
                <a:gd name="T5" fmla="*/ 22 h 18"/>
                <a:gd name="T6" fmla="*/ 0 60000 65536"/>
                <a:gd name="T7" fmla="*/ 0 60000 65536"/>
                <a:gd name="T8" fmla="*/ 0 60000 65536"/>
              </a:gdLst>
              <a:ahLst/>
              <a:cxnLst>
                <a:cxn ang="T6">
                  <a:pos x="T0" y="T1"/>
                </a:cxn>
                <a:cxn ang="T7">
                  <a:pos x="T2" y="T3"/>
                </a:cxn>
                <a:cxn ang="T8">
                  <a:pos x="T4" y="T5"/>
                </a:cxn>
              </a:cxnLst>
              <a:rect l="0" t="0" r="r" b="b"/>
              <a:pathLst>
                <a:path w="14" h="18">
                  <a:moveTo>
                    <a:pt x="14" y="9"/>
                  </a:moveTo>
                  <a:cubicBezTo>
                    <a:pt x="14" y="0"/>
                    <a:pt x="0" y="0"/>
                    <a:pt x="0" y="9"/>
                  </a:cubicBezTo>
                  <a:cubicBezTo>
                    <a:pt x="0" y="18"/>
                    <a:pt x="14" y="18"/>
                    <a:pt x="14" y="9"/>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1" name="Freeform 27">
              <a:extLst>
                <a:ext uri="{FF2B5EF4-FFF2-40B4-BE49-F238E27FC236}">
                  <a16:creationId xmlns:a16="http://schemas.microsoft.com/office/drawing/2014/main" id="{C0E3511B-620D-4DA2-B2A2-F41260933449}"/>
                </a:ext>
              </a:extLst>
            </p:cNvPr>
            <p:cNvSpPr>
              <a:spLocks/>
            </p:cNvSpPr>
            <p:nvPr/>
          </p:nvSpPr>
          <p:spPr bwMode="black">
            <a:xfrm>
              <a:off x="2269" y="2084"/>
              <a:ext cx="35" cy="38"/>
            </a:xfrm>
            <a:custGeom>
              <a:avLst/>
              <a:gdLst>
                <a:gd name="T0" fmla="*/ 16 w 15"/>
                <a:gd name="T1" fmla="*/ 38 h 16"/>
                <a:gd name="T2" fmla="*/ 35 w 15"/>
                <a:gd name="T3" fmla="*/ 19 h 16"/>
                <a:gd name="T4" fmla="*/ 16 w 15"/>
                <a:gd name="T5" fmla="*/ 0 h 16"/>
                <a:gd name="T6" fmla="*/ 0 w 15"/>
                <a:gd name="T7" fmla="*/ 19 h 16"/>
                <a:gd name="T8" fmla="*/ 16 w 15"/>
                <a:gd name="T9" fmla="*/ 38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16">
                  <a:moveTo>
                    <a:pt x="7" y="16"/>
                  </a:moveTo>
                  <a:cubicBezTo>
                    <a:pt x="13" y="16"/>
                    <a:pt x="15" y="12"/>
                    <a:pt x="15" y="8"/>
                  </a:cubicBezTo>
                  <a:cubicBezTo>
                    <a:pt x="15" y="2"/>
                    <a:pt x="12" y="0"/>
                    <a:pt x="7" y="0"/>
                  </a:cubicBezTo>
                  <a:cubicBezTo>
                    <a:pt x="3" y="0"/>
                    <a:pt x="0" y="3"/>
                    <a:pt x="0" y="8"/>
                  </a:cubicBezTo>
                  <a:cubicBezTo>
                    <a:pt x="0" y="11"/>
                    <a:pt x="1" y="15"/>
                    <a:pt x="7" y="1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2" name="Rectangle 28">
              <a:extLst>
                <a:ext uri="{FF2B5EF4-FFF2-40B4-BE49-F238E27FC236}">
                  <a16:creationId xmlns:a16="http://schemas.microsoft.com/office/drawing/2014/main" id="{14DEB320-6769-4FE2-8BBD-F41330A1AB02}"/>
                </a:ext>
              </a:extLst>
            </p:cNvPr>
            <p:cNvSpPr>
              <a:spLocks noChangeArrowheads="1"/>
            </p:cNvSpPr>
            <p:nvPr/>
          </p:nvSpPr>
          <p:spPr bwMode="black">
            <a:xfrm>
              <a:off x="2552" y="2148"/>
              <a:ext cx="15" cy="85"/>
            </a:xfrm>
            <a:prstGeom prst="rect">
              <a:avLst/>
            </a:prstGeom>
            <a:solidFill>
              <a:srgbClr val="216A8B"/>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053" name="Freeform 29">
              <a:extLst>
                <a:ext uri="{FF2B5EF4-FFF2-40B4-BE49-F238E27FC236}">
                  <a16:creationId xmlns:a16="http://schemas.microsoft.com/office/drawing/2014/main" id="{FFEE6A6F-147B-41B0-8BCA-95937E8BA2A3}"/>
                </a:ext>
              </a:extLst>
            </p:cNvPr>
            <p:cNvSpPr>
              <a:spLocks noEditPoints="1"/>
            </p:cNvSpPr>
            <p:nvPr/>
          </p:nvSpPr>
          <p:spPr bwMode="black">
            <a:xfrm>
              <a:off x="2423" y="2148"/>
              <a:ext cx="125" cy="85"/>
            </a:xfrm>
            <a:custGeom>
              <a:avLst/>
              <a:gdLst>
                <a:gd name="T0" fmla="*/ 75 w 125"/>
                <a:gd name="T1" fmla="*/ 50 h 85"/>
                <a:gd name="T2" fmla="*/ 87 w 125"/>
                <a:gd name="T3" fmla="*/ 14 h 85"/>
                <a:gd name="T4" fmla="*/ 87 w 125"/>
                <a:gd name="T5" fmla="*/ 14 h 85"/>
                <a:gd name="T6" fmla="*/ 99 w 125"/>
                <a:gd name="T7" fmla="*/ 50 h 85"/>
                <a:gd name="T8" fmla="*/ 75 w 125"/>
                <a:gd name="T9" fmla="*/ 50 h 85"/>
                <a:gd name="T10" fmla="*/ 77 w 125"/>
                <a:gd name="T11" fmla="*/ 0 h 85"/>
                <a:gd name="T12" fmla="*/ 54 w 125"/>
                <a:gd name="T13" fmla="*/ 74 h 85"/>
                <a:gd name="T14" fmla="*/ 28 w 125"/>
                <a:gd name="T15" fmla="*/ 43 h 85"/>
                <a:gd name="T16" fmla="*/ 61 w 125"/>
                <a:gd name="T17" fmla="*/ 0 h 85"/>
                <a:gd name="T18" fmla="*/ 44 w 125"/>
                <a:gd name="T19" fmla="*/ 0 h 85"/>
                <a:gd name="T20" fmla="*/ 14 w 125"/>
                <a:gd name="T21" fmla="*/ 40 h 85"/>
                <a:gd name="T22" fmla="*/ 14 w 125"/>
                <a:gd name="T23" fmla="*/ 0 h 85"/>
                <a:gd name="T24" fmla="*/ 0 w 125"/>
                <a:gd name="T25" fmla="*/ 0 h 85"/>
                <a:gd name="T26" fmla="*/ 0 w 125"/>
                <a:gd name="T27" fmla="*/ 85 h 85"/>
                <a:gd name="T28" fmla="*/ 14 w 125"/>
                <a:gd name="T29" fmla="*/ 85 h 85"/>
                <a:gd name="T30" fmla="*/ 14 w 125"/>
                <a:gd name="T31" fmla="*/ 43 h 85"/>
                <a:gd name="T32" fmla="*/ 44 w 125"/>
                <a:gd name="T33" fmla="*/ 85 h 85"/>
                <a:gd name="T34" fmla="*/ 49 w 125"/>
                <a:gd name="T35" fmla="*/ 85 h 85"/>
                <a:gd name="T36" fmla="*/ 49 w 125"/>
                <a:gd name="T37" fmla="*/ 85 h 85"/>
                <a:gd name="T38" fmla="*/ 63 w 125"/>
                <a:gd name="T39" fmla="*/ 85 h 85"/>
                <a:gd name="T40" fmla="*/ 70 w 125"/>
                <a:gd name="T41" fmla="*/ 62 h 85"/>
                <a:gd name="T42" fmla="*/ 101 w 125"/>
                <a:gd name="T43" fmla="*/ 62 h 85"/>
                <a:gd name="T44" fmla="*/ 110 w 125"/>
                <a:gd name="T45" fmla="*/ 85 h 85"/>
                <a:gd name="T46" fmla="*/ 125 w 125"/>
                <a:gd name="T47" fmla="*/ 85 h 85"/>
                <a:gd name="T48" fmla="*/ 96 w 125"/>
                <a:gd name="T49" fmla="*/ 0 h 85"/>
                <a:gd name="T50" fmla="*/ 77 w 125"/>
                <a:gd name="T51" fmla="*/ 0 h 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5">
                  <a:moveTo>
                    <a:pt x="75" y="50"/>
                  </a:moveTo>
                  <a:lnTo>
                    <a:pt x="87" y="14"/>
                  </a:lnTo>
                  <a:lnTo>
                    <a:pt x="99" y="50"/>
                  </a:lnTo>
                  <a:lnTo>
                    <a:pt x="75" y="50"/>
                  </a:lnTo>
                  <a:close/>
                  <a:moveTo>
                    <a:pt x="77" y="0"/>
                  </a:moveTo>
                  <a:lnTo>
                    <a:pt x="54" y="74"/>
                  </a:lnTo>
                  <a:lnTo>
                    <a:pt x="28" y="43"/>
                  </a:lnTo>
                  <a:lnTo>
                    <a:pt x="61" y="0"/>
                  </a:lnTo>
                  <a:lnTo>
                    <a:pt x="44" y="0"/>
                  </a:lnTo>
                  <a:lnTo>
                    <a:pt x="14" y="40"/>
                  </a:lnTo>
                  <a:lnTo>
                    <a:pt x="14" y="0"/>
                  </a:lnTo>
                  <a:lnTo>
                    <a:pt x="0" y="0"/>
                  </a:lnTo>
                  <a:lnTo>
                    <a:pt x="0" y="85"/>
                  </a:lnTo>
                  <a:lnTo>
                    <a:pt x="14" y="85"/>
                  </a:lnTo>
                  <a:lnTo>
                    <a:pt x="14" y="43"/>
                  </a:lnTo>
                  <a:lnTo>
                    <a:pt x="44" y="85"/>
                  </a:lnTo>
                  <a:lnTo>
                    <a:pt x="49" y="85"/>
                  </a:lnTo>
                  <a:lnTo>
                    <a:pt x="63" y="85"/>
                  </a:lnTo>
                  <a:lnTo>
                    <a:pt x="70" y="62"/>
                  </a:lnTo>
                  <a:lnTo>
                    <a:pt x="101" y="62"/>
                  </a:lnTo>
                  <a:lnTo>
                    <a:pt x="110" y="85"/>
                  </a:lnTo>
                  <a:lnTo>
                    <a:pt x="125" y="85"/>
                  </a:lnTo>
                  <a:lnTo>
                    <a:pt x="96" y="0"/>
                  </a:lnTo>
                  <a:lnTo>
                    <a:pt x="77"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4" name="Freeform 30">
              <a:extLst>
                <a:ext uri="{FF2B5EF4-FFF2-40B4-BE49-F238E27FC236}">
                  <a16:creationId xmlns:a16="http://schemas.microsoft.com/office/drawing/2014/main" id="{5D3A500D-EA39-4972-B233-F354F21034C8}"/>
                </a:ext>
              </a:extLst>
            </p:cNvPr>
            <p:cNvSpPr>
              <a:spLocks/>
            </p:cNvSpPr>
            <p:nvPr/>
          </p:nvSpPr>
          <p:spPr bwMode="black">
            <a:xfrm>
              <a:off x="3006" y="2148"/>
              <a:ext cx="80" cy="85"/>
            </a:xfrm>
            <a:custGeom>
              <a:avLst/>
              <a:gdLst>
                <a:gd name="T0" fmla="*/ 40 w 34"/>
                <a:gd name="T1" fmla="*/ 61 h 36"/>
                <a:gd name="T2" fmla="*/ 24 w 34"/>
                <a:gd name="T3" fmla="*/ 0 h 36"/>
                <a:gd name="T4" fmla="*/ 0 w 34"/>
                <a:gd name="T5" fmla="*/ 0 h 36"/>
                <a:gd name="T6" fmla="*/ 0 w 34"/>
                <a:gd name="T7" fmla="*/ 85 h 36"/>
                <a:gd name="T8" fmla="*/ 14 w 34"/>
                <a:gd name="T9" fmla="*/ 85 h 36"/>
                <a:gd name="T10" fmla="*/ 14 w 34"/>
                <a:gd name="T11" fmla="*/ 12 h 36"/>
                <a:gd name="T12" fmla="*/ 33 w 34"/>
                <a:gd name="T13" fmla="*/ 85 h 36"/>
                <a:gd name="T14" fmla="*/ 47 w 34"/>
                <a:gd name="T15" fmla="*/ 85 h 36"/>
                <a:gd name="T16" fmla="*/ 66 w 34"/>
                <a:gd name="T17" fmla="*/ 12 h 36"/>
                <a:gd name="T18" fmla="*/ 66 w 34"/>
                <a:gd name="T19" fmla="*/ 85 h 36"/>
                <a:gd name="T20" fmla="*/ 80 w 34"/>
                <a:gd name="T21" fmla="*/ 85 h 36"/>
                <a:gd name="T22" fmla="*/ 80 w 34"/>
                <a:gd name="T23" fmla="*/ 0 h 36"/>
                <a:gd name="T24" fmla="*/ 54 w 34"/>
                <a:gd name="T25" fmla="*/ 0 h 36"/>
                <a:gd name="T26" fmla="*/ 40 w 34"/>
                <a:gd name="T27" fmla="*/ 61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 h="36">
                  <a:moveTo>
                    <a:pt x="17" y="26"/>
                  </a:moveTo>
                  <a:cubicBezTo>
                    <a:pt x="10" y="0"/>
                    <a:pt x="10" y="0"/>
                    <a:pt x="10" y="0"/>
                  </a:cubicBezTo>
                  <a:cubicBezTo>
                    <a:pt x="0" y="0"/>
                    <a:pt x="0" y="0"/>
                    <a:pt x="0" y="0"/>
                  </a:cubicBezTo>
                  <a:cubicBezTo>
                    <a:pt x="0" y="36"/>
                    <a:pt x="0" y="36"/>
                    <a:pt x="0" y="36"/>
                  </a:cubicBezTo>
                  <a:cubicBezTo>
                    <a:pt x="3" y="36"/>
                    <a:pt x="6" y="36"/>
                    <a:pt x="6" y="36"/>
                  </a:cubicBezTo>
                  <a:cubicBezTo>
                    <a:pt x="6" y="5"/>
                    <a:pt x="6" y="5"/>
                    <a:pt x="6" y="5"/>
                  </a:cubicBezTo>
                  <a:cubicBezTo>
                    <a:pt x="14" y="36"/>
                    <a:pt x="14" y="36"/>
                    <a:pt x="14" y="36"/>
                  </a:cubicBezTo>
                  <a:cubicBezTo>
                    <a:pt x="14" y="36"/>
                    <a:pt x="16" y="36"/>
                    <a:pt x="20" y="36"/>
                  </a:cubicBezTo>
                  <a:cubicBezTo>
                    <a:pt x="20" y="36"/>
                    <a:pt x="28" y="5"/>
                    <a:pt x="28" y="5"/>
                  </a:cubicBezTo>
                  <a:cubicBezTo>
                    <a:pt x="28" y="36"/>
                    <a:pt x="28" y="36"/>
                    <a:pt x="28" y="36"/>
                  </a:cubicBezTo>
                  <a:cubicBezTo>
                    <a:pt x="34" y="36"/>
                    <a:pt x="34" y="36"/>
                    <a:pt x="34" y="36"/>
                  </a:cubicBezTo>
                  <a:cubicBezTo>
                    <a:pt x="34" y="0"/>
                    <a:pt x="34" y="0"/>
                    <a:pt x="34" y="0"/>
                  </a:cubicBezTo>
                  <a:cubicBezTo>
                    <a:pt x="23" y="0"/>
                    <a:pt x="23" y="0"/>
                    <a:pt x="23" y="0"/>
                  </a:cubicBezTo>
                  <a:lnTo>
                    <a:pt x="17" y="2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5" name="Freeform 31">
              <a:extLst>
                <a:ext uri="{FF2B5EF4-FFF2-40B4-BE49-F238E27FC236}">
                  <a16:creationId xmlns:a16="http://schemas.microsoft.com/office/drawing/2014/main" id="{969F9059-8E3A-4FB0-950A-200833400DA5}"/>
                </a:ext>
              </a:extLst>
            </p:cNvPr>
            <p:cNvSpPr>
              <a:spLocks noEditPoints="1"/>
            </p:cNvSpPr>
            <p:nvPr/>
          </p:nvSpPr>
          <p:spPr bwMode="black">
            <a:xfrm>
              <a:off x="3093" y="2148"/>
              <a:ext cx="78" cy="85"/>
            </a:xfrm>
            <a:custGeom>
              <a:avLst/>
              <a:gdLst>
                <a:gd name="T0" fmla="*/ 26 w 78"/>
                <a:gd name="T1" fmla="*/ 50 h 85"/>
                <a:gd name="T2" fmla="*/ 38 w 78"/>
                <a:gd name="T3" fmla="*/ 14 h 85"/>
                <a:gd name="T4" fmla="*/ 38 w 78"/>
                <a:gd name="T5" fmla="*/ 14 h 85"/>
                <a:gd name="T6" fmla="*/ 50 w 78"/>
                <a:gd name="T7" fmla="*/ 50 h 85"/>
                <a:gd name="T8" fmla="*/ 26 w 78"/>
                <a:gd name="T9" fmla="*/ 50 h 85"/>
                <a:gd name="T10" fmla="*/ 29 w 78"/>
                <a:gd name="T11" fmla="*/ 0 h 85"/>
                <a:gd name="T12" fmla="*/ 0 w 78"/>
                <a:gd name="T13" fmla="*/ 85 h 85"/>
                <a:gd name="T14" fmla="*/ 14 w 78"/>
                <a:gd name="T15" fmla="*/ 85 h 85"/>
                <a:gd name="T16" fmla="*/ 21 w 78"/>
                <a:gd name="T17" fmla="*/ 62 h 85"/>
                <a:gd name="T18" fmla="*/ 55 w 78"/>
                <a:gd name="T19" fmla="*/ 62 h 85"/>
                <a:gd name="T20" fmla="*/ 62 w 78"/>
                <a:gd name="T21" fmla="*/ 85 h 85"/>
                <a:gd name="T22" fmla="*/ 78 w 78"/>
                <a:gd name="T23" fmla="*/ 85 h 85"/>
                <a:gd name="T24" fmla="*/ 47 w 78"/>
                <a:gd name="T25" fmla="*/ 0 h 85"/>
                <a:gd name="T26" fmla="*/ 29 w 78"/>
                <a:gd name="T27" fmla="*/ 0 h 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8" h="85">
                  <a:moveTo>
                    <a:pt x="26" y="50"/>
                  </a:moveTo>
                  <a:lnTo>
                    <a:pt x="38" y="14"/>
                  </a:lnTo>
                  <a:lnTo>
                    <a:pt x="50" y="50"/>
                  </a:lnTo>
                  <a:lnTo>
                    <a:pt x="26" y="50"/>
                  </a:lnTo>
                  <a:close/>
                  <a:moveTo>
                    <a:pt x="29" y="0"/>
                  </a:moveTo>
                  <a:lnTo>
                    <a:pt x="0" y="85"/>
                  </a:lnTo>
                  <a:lnTo>
                    <a:pt x="14" y="85"/>
                  </a:lnTo>
                  <a:lnTo>
                    <a:pt x="21" y="62"/>
                  </a:lnTo>
                  <a:lnTo>
                    <a:pt x="55" y="62"/>
                  </a:lnTo>
                  <a:lnTo>
                    <a:pt x="62" y="85"/>
                  </a:lnTo>
                  <a:lnTo>
                    <a:pt x="78" y="85"/>
                  </a:lnTo>
                  <a:lnTo>
                    <a:pt x="47" y="0"/>
                  </a:lnTo>
                  <a:lnTo>
                    <a:pt x="29"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6" name="Freeform 32">
              <a:extLst>
                <a:ext uri="{FF2B5EF4-FFF2-40B4-BE49-F238E27FC236}">
                  <a16:creationId xmlns:a16="http://schemas.microsoft.com/office/drawing/2014/main" id="{EEF45DDE-1BC8-49A9-90D5-A33933A19C8D}"/>
                </a:ext>
              </a:extLst>
            </p:cNvPr>
            <p:cNvSpPr>
              <a:spLocks/>
            </p:cNvSpPr>
            <p:nvPr/>
          </p:nvSpPr>
          <p:spPr bwMode="black">
            <a:xfrm>
              <a:off x="3176" y="2148"/>
              <a:ext cx="68" cy="85"/>
            </a:xfrm>
            <a:custGeom>
              <a:avLst/>
              <a:gdLst>
                <a:gd name="T0" fmla="*/ 54 w 29"/>
                <a:gd name="T1" fmla="*/ 66 h 36"/>
                <a:gd name="T2" fmla="*/ 21 w 29"/>
                <a:gd name="T3" fmla="*/ 0 h 36"/>
                <a:gd name="T4" fmla="*/ 0 w 29"/>
                <a:gd name="T5" fmla="*/ 0 h 36"/>
                <a:gd name="T6" fmla="*/ 0 w 29"/>
                <a:gd name="T7" fmla="*/ 85 h 36"/>
                <a:gd name="T8" fmla="*/ 14 w 29"/>
                <a:gd name="T9" fmla="*/ 85 h 36"/>
                <a:gd name="T10" fmla="*/ 14 w 29"/>
                <a:gd name="T11" fmla="*/ 21 h 36"/>
                <a:gd name="T12" fmla="*/ 47 w 29"/>
                <a:gd name="T13" fmla="*/ 85 h 36"/>
                <a:gd name="T14" fmla="*/ 68 w 29"/>
                <a:gd name="T15" fmla="*/ 85 h 36"/>
                <a:gd name="T16" fmla="*/ 68 w 29"/>
                <a:gd name="T17" fmla="*/ 0 h 36"/>
                <a:gd name="T18" fmla="*/ 54 w 29"/>
                <a:gd name="T19" fmla="*/ 0 h 36"/>
                <a:gd name="T20" fmla="*/ 54 w 29"/>
                <a:gd name="T21" fmla="*/ 66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 h="36">
                  <a:moveTo>
                    <a:pt x="23" y="28"/>
                  </a:moveTo>
                  <a:cubicBezTo>
                    <a:pt x="9" y="0"/>
                    <a:pt x="9" y="0"/>
                    <a:pt x="9" y="0"/>
                  </a:cubicBezTo>
                  <a:cubicBezTo>
                    <a:pt x="0" y="0"/>
                    <a:pt x="0" y="0"/>
                    <a:pt x="0" y="0"/>
                  </a:cubicBezTo>
                  <a:cubicBezTo>
                    <a:pt x="0" y="36"/>
                    <a:pt x="0" y="36"/>
                    <a:pt x="0" y="36"/>
                  </a:cubicBezTo>
                  <a:cubicBezTo>
                    <a:pt x="3" y="36"/>
                    <a:pt x="6" y="36"/>
                    <a:pt x="6" y="36"/>
                  </a:cubicBezTo>
                  <a:cubicBezTo>
                    <a:pt x="6" y="9"/>
                    <a:pt x="6" y="9"/>
                    <a:pt x="6" y="9"/>
                  </a:cubicBezTo>
                  <a:cubicBezTo>
                    <a:pt x="20" y="36"/>
                    <a:pt x="20" y="36"/>
                    <a:pt x="20" y="36"/>
                  </a:cubicBezTo>
                  <a:cubicBezTo>
                    <a:pt x="29" y="36"/>
                    <a:pt x="29" y="36"/>
                    <a:pt x="29" y="36"/>
                  </a:cubicBezTo>
                  <a:cubicBezTo>
                    <a:pt x="29" y="0"/>
                    <a:pt x="29" y="0"/>
                    <a:pt x="29" y="0"/>
                  </a:cubicBezTo>
                  <a:cubicBezTo>
                    <a:pt x="23" y="0"/>
                    <a:pt x="23" y="0"/>
                    <a:pt x="23" y="0"/>
                  </a:cubicBezTo>
                  <a:lnTo>
                    <a:pt x="23" y="28"/>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7" name="Freeform 33">
              <a:extLst>
                <a:ext uri="{FF2B5EF4-FFF2-40B4-BE49-F238E27FC236}">
                  <a16:creationId xmlns:a16="http://schemas.microsoft.com/office/drawing/2014/main" id="{F0251309-FEA0-465B-A9FE-2B1EF7F038E8}"/>
                </a:ext>
              </a:extLst>
            </p:cNvPr>
            <p:cNvSpPr>
              <a:spLocks/>
            </p:cNvSpPr>
            <p:nvPr/>
          </p:nvSpPr>
          <p:spPr bwMode="black">
            <a:xfrm>
              <a:off x="3459" y="2148"/>
              <a:ext cx="50" cy="85"/>
            </a:xfrm>
            <a:custGeom>
              <a:avLst/>
              <a:gdLst>
                <a:gd name="T0" fmla="*/ 50 w 21"/>
                <a:gd name="T1" fmla="*/ 73 h 36"/>
                <a:gd name="T2" fmla="*/ 14 w 21"/>
                <a:gd name="T3" fmla="*/ 73 h 36"/>
                <a:gd name="T4" fmla="*/ 14 w 21"/>
                <a:gd name="T5" fmla="*/ 50 h 36"/>
                <a:gd name="T6" fmla="*/ 40 w 21"/>
                <a:gd name="T7" fmla="*/ 50 h 36"/>
                <a:gd name="T8" fmla="*/ 40 w 21"/>
                <a:gd name="T9" fmla="*/ 35 h 36"/>
                <a:gd name="T10" fmla="*/ 14 w 21"/>
                <a:gd name="T11" fmla="*/ 35 h 36"/>
                <a:gd name="T12" fmla="*/ 14 w 21"/>
                <a:gd name="T13" fmla="*/ 12 h 36"/>
                <a:gd name="T14" fmla="*/ 48 w 21"/>
                <a:gd name="T15" fmla="*/ 12 h 36"/>
                <a:gd name="T16" fmla="*/ 48 w 21"/>
                <a:gd name="T17" fmla="*/ 0 h 36"/>
                <a:gd name="T18" fmla="*/ 0 w 21"/>
                <a:gd name="T19" fmla="*/ 0 h 36"/>
                <a:gd name="T20" fmla="*/ 0 w 21"/>
                <a:gd name="T21" fmla="*/ 85 h 36"/>
                <a:gd name="T22" fmla="*/ 50 w 21"/>
                <a:gd name="T23" fmla="*/ 85 h 36"/>
                <a:gd name="T24" fmla="*/ 50 w 21"/>
                <a:gd name="T25" fmla="*/ 73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6">
                  <a:moveTo>
                    <a:pt x="21" y="31"/>
                  </a:moveTo>
                  <a:cubicBezTo>
                    <a:pt x="6" y="31"/>
                    <a:pt x="6" y="31"/>
                    <a:pt x="6" y="31"/>
                  </a:cubicBezTo>
                  <a:cubicBezTo>
                    <a:pt x="6" y="21"/>
                    <a:pt x="6" y="21"/>
                    <a:pt x="6" y="21"/>
                  </a:cubicBezTo>
                  <a:cubicBezTo>
                    <a:pt x="17" y="21"/>
                    <a:pt x="17" y="21"/>
                    <a:pt x="17" y="21"/>
                  </a:cubicBezTo>
                  <a:cubicBezTo>
                    <a:pt x="17" y="15"/>
                    <a:pt x="17" y="15"/>
                    <a:pt x="17" y="15"/>
                  </a:cubicBezTo>
                  <a:cubicBezTo>
                    <a:pt x="6" y="15"/>
                    <a:pt x="6" y="15"/>
                    <a:pt x="6" y="15"/>
                  </a:cubicBezTo>
                  <a:cubicBezTo>
                    <a:pt x="6" y="5"/>
                    <a:pt x="6" y="5"/>
                    <a:pt x="6" y="5"/>
                  </a:cubicBezTo>
                  <a:cubicBezTo>
                    <a:pt x="8" y="5"/>
                    <a:pt x="20" y="5"/>
                    <a:pt x="20" y="5"/>
                  </a:cubicBezTo>
                  <a:cubicBezTo>
                    <a:pt x="20" y="0"/>
                    <a:pt x="20" y="0"/>
                    <a:pt x="20" y="0"/>
                  </a:cubicBezTo>
                  <a:cubicBezTo>
                    <a:pt x="16" y="0"/>
                    <a:pt x="0" y="0"/>
                    <a:pt x="0" y="0"/>
                  </a:cubicBezTo>
                  <a:cubicBezTo>
                    <a:pt x="0" y="36"/>
                    <a:pt x="0" y="36"/>
                    <a:pt x="0" y="36"/>
                  </a:cubicBezTo>
                  <a:cubicBezTo>
                    <a:pt x="21" y="36"/>
                    <a:pt x="21" y="36"/>
                    <a:pt x="21" y="36"/>
                  </a:cubicBezTo>
                  <a:lnTo>
                    <a:pt x="21" y="31"/>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8" name="Freeform 34">
              <a:extLst>
                <a:ext uri="{FF2B5EF4-FFF2-40B4-BE49-F238E27FC236}">
                  <a16:creationId xmlns:a16="http://schemas.microsoft.com/office/drawing/2014/main" id="{BEC6138C-D453-40CA-BDC8-42A182983016}"/>
                </a:ext>
              </a:extLst>
            </p:cNvPr>
            <p:cNvSpPr>
              <a:spLocks/>
            </p:cNvSpPr>
            <p:nvPr/>
          </p:nvSpPr>
          <p:spPr bwMode="black">
            <a:xfrm>
              <a:off x="3258" y="2148"/>
              <a:ext cx="194" cy="85"/>
            </a:xfrm>
            <a:custGeom>
              <a:avLst/>
              <a:gdLst>
                <a:gd name="T0" fmla="*/ 116 w 82"/>
                <a:gd name="T1" fmla="*/ 0 h 36"/>
                <a:gd name="T2" fmla="*/ 116 w 82"/>
                <a:gd name="T3" fmla="*/ 0 h 36"/>
                <a:gd name="T4" fmla="*/ 114 w 82"/>
                <a:gd name="T5" fmla="*/ 0 h 36"/>
                <a:gd name="T6" fmla="*/ 114 w 82"/>
                <a:gd name="T7" fmla="*/ 66 h 36"/>
                <a:gd name="T8" fmla="*/ 80 w 82"/>
                <a:gd name="T9" fmla="*/ 0 h 36"/>
                <a:gd name="T10" fmla="*/ 62 w 82"/>
                <a:gd name="T11" fmla="*/ 0 h 36"/>
                <a:gd name="T12" fmla="*/ 62 w 82"/>
                <a:gd name="T13" fmla="*/ 73 h 36"/>
                <a:gd name="T14" fmla="*/ 17 w 82"/>
                <a:gd name="T15" fmla="*/ 73 h 36"/>
                <a:gd name="T16" fmla="*/ 17 w 82"/>
                <a:gd name="T17" fmla="*/ 50 h 36"/>
                <a:gd name="T18" fmla="*/ 43 w 82"/>
                <a:gd name="T19" fmla="*/ 50 h 36"/>
                <a:gd name="T20" fmla="*/ 43 w 82"/>
                <a:gd name="T21" fmla="*/ 35 h 36"/>
                <a:gd name="T22" fmla="*/ 17 w 82"/>
                <a:gd name="T23" fmla="*/ 35 h 36"/>
                <a:gd name="T24" fmla="*/ 17 w 82"/>
                <a:gd name="T25" fmla="*/ 12 h 36"/>
                <a:gd name="T26" fmla="*/ 47 w 82"/>
                <a:gd name="T27" fmla="*/ 12 h 36"/>
                <a:gd name="T28" fmla="*/ 47 w 82"/>
                <a:gd name="T29" fmla="*/ 0 h 36"/>
                <a:gd name="T30" fmla="*/ 0 w 82"/>
                <a:gd name="T31" fmla="*/ 0 h 36"/>
                <a:gd name="T32" fmla="*/ 0 w 82"/>
                <a:gd name="T33" fmla="*/ 85 h 36"/>
                <a:gd name="T34" fmla="*/ 73 w 82"/>
                <a:gd name="T35" fmla="*/ 85 h 36"/>
                <a:gd name="T36" fmla="*/ 73 w 82"/>
                <a:gd name="T37" fmla="*/ 85 h 36"/>
                <a:gd name="T38" fmla="*/ 73 w 82"/>
                <a:gd name="T39" fmla="*/ 21 h 36"/>
                <a:gd name="T40" fmla="*/ 109 w 82"/>
                <a:gd name="T41" fmla="*/ 85 h 36"/>
                <a:gd name="T42" fmla="*/ 128 w 82"/>
                <a:gd name="T43" fmla="*/ 85 h 36"/>
                <a:gd name="T44" fmla="*/ 128 w 82"/>
                <a:gd name="T45" fmla="*/ 12 h 36"/>
                <a:gd name="T46" fmla="*/ 154 w 82"/>
                <a:gd name="T47" fmla="*/ 12 h 36"/>
                <a:gd name="T48" fmla="*/ 154 w 82"/>
                <a:gd name="T49" fmla="*/ 85 h 36"/>
                <a:gd name="T50" fmla="*/ 168 w 82"/>
                <a:gd name="T51" fmla="*/ 85 h 36"/>
                <a:gd name="T52" fmla="*/ 168 w 82"/>
                <a:gd name="T53" fmla="*/ 12 h 36"/>
                <a:gd name="T54" fmla="*/ 194 w 82"/>
                <a:gd name="T55" fmla="*/ 12 h 36"/>
                <a:gd name="T56" fmla="*/ 194 w 82"/>
                <a:gd name="T57" fmla="*/ 0 h 36"/>
                <a:gd name="T58" fmla="*/ 116 w 82"/>
                <a:gd name="T59" fmla="*/ 0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2" h="36">
                  <a:moveTo>
                    <a:pt x="49" y="0"/>
                  </a:moveTo>
                  <a:cubicBezTo>
                    <a:pt x="49" y="0"/>
                    <a:pt x="49" y="0"/>
                    <a:pt x="49" y="0"/>
                  </a:cubicBezTo>
                  <a:cubicBezTo>
                    <a:pt x="48" y="0"/>
                    <a:pt x="48" y="0"/>
                    <a:pt x="48" y="0"/>
                  </a:cubicBezTo>
                  <a:cubicBezTo>
                    <a:pt x="48" y="28"/>
                    <a:pt x="48" y="28"/>
                    <a:pt x="48" y="28"/>
                  </a:cubicBezTo>
                  <a:cubicBezTo>
                    <a:pt x="34" y="0"/>
                    <a:pt x="34" y="0"/>
                    <a:pt x="34" y="0"/>
                  </a:cubicBezTo>
                  <a:cubicBezTo>
                    <a:pt x="26" y="0"/>
                    <a:pt x="26" y="0"/>
                    <a:pt x="26" y="0"/>
                  </a:cubicBezTo>
                  <a:cubicBezTo>
                    <a:pt x="26" y="31"/>
                    <a:pt x="26" y="31"/>
                    <a:pt x="26" y="31"/>
                  </a:cubicBezTo>
                  <a:cubicBezTo>
                    <a:pt x="7" y="31"/>
                    <a:pt x="7" y="31"/>
                    <a:pt x="7" y="31"/>
                  </a:cubicBezTo>
                  <a:cubicBezTo>
                    <a:pt x="7" y="21"/>
                    <a:pt x="7" y="21"/>
                    <a:pt x="7" y="21"/>
                  </a:cubicBezTo>
                  <a:cubicBezTo>
                    <a:pt x="18" y="21"/>
                    <a:pt x="18" y="21"/>
                    <a:pt x="18" y="21"/>
                  </a:cubicBezTo>
                  <a:cubicBezTo>
                    <a:pt x="18" y="15"/>
                    <a:pt x="18" y="15"/>
                    <a:pt x="18" y="15"/>
                  </a:cubicBezTo>
                  <a:cubicBezTo>
                    <a:pt x="7" y="15"/>
                    <a:pt x="7" y="15"/>
                    <a:pt x="7" y="15"/>
                  </a:cubicBezTo>
                  <a:cubicBezTo>
                    <a:pt x="7" y="5"/>
                    <a:pt x="7" y="5"/>
                    <a:pt x="7" y="5"/>
                  </a:cubicBezTo>
                  <a:cubicBezTo>
                    <a:pt x="8" y="5"/>
                    <a:pt x="20" y="5"/>
                    <a:pt x="20" y="5"/>
                  </a:cubicBezTo>
                  <a:cubicBezTo>
                    <a:pt x="20" y="0"/>
                    <a:pt x="20" y="0"/>
                    <a:pt x="20" y="0"/>
                  </a:cubicBezTo>
                  <a:cubicBezTo>
                    <a:pt x="17" y="0"/>
                    <a:pt x="0" y="0"/>
                    <a:pt x="0" y="0"/>
                  </a:cubicBezTo>
                  <a:cubicBezTo>
                    <a:pt x="0" y="36"/>
                    <a:pt x="0" y="36"/>
                    <a:pt x="0" y="36"/>
                  </a:cubicBezTo>
                  <a:cubicBezTo>
                    <a:pt x="31" y="36"/>
                    <a:pt x="31" y="36"/>
                    <a:pt x="31" y="36"/>
                  </a:cubicBezTo>
                  <a:cubicBezTo>
                    <a:pt x="31" y="36"/>
                    <a:pt x="31" y="36"/>
                    <a:pt x="31" y="36"/>
                  </a:cubicBezTo>
                  <a:cubicBezTo>
                    <a:pt x="31" y="9"/>
                    <a:pt x="31" y="9"/>
                    <a:pt x="31" y="9"/>
                  </a:cubicBezTo>
                  <a:cubicBezTo>
                    <a:pt x="46" y="36"/>
                    <a:pt x="46" y="36"/>
                    <a:pt x="46" y="36"/>
                  </a:cubicBezTo>
                  <a:cubicBezTo>
                    <a:pt x="54" y="36"/>
                    <a:pt x="54" y="36"/>
                    <a:pt x="54" y="36"/>
                  </a:cubicBezTo>
                  <a:cubicBezTo>
                    <a:pt x="54" y="5"/>
                    <a:pt x="54" y="5"/>
                    <a:pt x="54" y="5"/>
                  </a:cubicBezTo>
                  <a:cubicBezTo>
                    <a:pt x="58" y="5"/>
                    <a:pt x="62" y="5"/>
                    <a:pt x="65" y="5"/>
                  </a:cubicBezTo>
                  <a:cubicBezTo>
                    <a:pt x="65" y="36"/>
                    <a:pt x="65" y="36"/>
                    <a:pt x="65" y="36"/>
                  </a:cubicBezTo>
                  <a:cubicBezTo>
                    <a:pt x="71" y="36"/>
                    <a:pt x="71" y="36"/>
                    <a:pt x="71" y="36"/>
                  </a:cubicBezTo>
                  <a:cubicBezTo>
                    <a:pt x="71" y="5"/>
                    <a:pt x="71" y="5"/>
                    <a:pt x="71" y="5"/>
                  </a:cubicBezTo>
                  <a:cubicBezTo>
                    <a:pt x="82" y="5"/>
                    <a:pt x="82" y="5"/>
                    <a:pt x="82" y="5"/>
                  </a:cubicBezTo>
                  <a:cubicBezTo>
                    <a:pt x="82" y="0"/>
                    <a:pt x="82" y="0"/>
                    <a:pt x="82" y="0"/>
                  </a:cubicBezTo>
                  <a:lnTo>
                    <a:pt x="49"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59" name="Freeform 35">
              <a:extLst>
                <a:ext uri="{FF2B5EF4-FFF2-40B4-BE49-F238E27FC236}">
                  <a16:creationId xmlns:a16="http://schemas.microsoft.com/office/drawing/2014/main" id="{BBBA916D-7624-4714-AC95-322804EC82F5}"/>
                </a:ext>
              </a:extLst>
            </p:cNvPr>
            <p:cNvSpPr>
              <a:spLocks noEditPoints="1"/>
            </p:cNvSpPr>
            <p:nvPr/>
          </p:nvSpPr>
          <p:spPr bwMode="black">
            <a:xfrm>
              <a:off x="2874" y="2148"/>
              <a:ext cx="120" cy="85"/>
            </a:xfrm>
            <a:custGeom>
              <a:avLst/>
              <a:gdLst>
                <a:gd name="T0" fmla="*/ 75 w 51"/>
                <a:gd name="T1" fmla="*/ 35 h 36"/>
                <a:gd name="T2" fmla="*/ 75 w 51"/>
                <a:gd name="T3" fmla="*/ 35 h 36"/>
                <a:gd name="T4" fmla="*/ 75 w 51"/>
                <a:gd name="T5" fmla="*/ 12 h 36"/>
                <a:gd name="T6" fmla="*/ 87 w 51"/>
                <a:gd name="T7" fmla="*/ 12 h 36"/>
                <a:gd name="T8" fmla="*/ 104 w 51"/>
                <a:gd name="T9" fmla="*/ 24 h 36"/>
                <a:gd name="T10" fmla="*/ 87 w 51"/>
                <a:gd name="T11" fmla="*/ 35 h 36"/>
                <a:gd name="T12" fmla="*/ 75 w 51"/>
                <a:gd name="T13" fmla="*/ 35 h 36"/>
                <a:gd name="T14" fmla="*/ 111 w 51"/>
                <a:gd name="T15" fmla="*/ 43 h 36"/>
                <a:gd name="T16" fmla="*/ 118 w 51"/>
                <a:gd name="T17" fmla="*/ 24 h 36"/>
                <a:gd name="T18" fmla="*/ 111 w 51"/>
                <a:gd name="T19" fmla="*/ 7 h 36"/>
                <a:gd name="T20" fmla="*/ 85 w 51"/>
                <a:gd name="T21" fmla="*/ 0 h 36"/>
                <a:gd name="T22" fmla="*/ 61 w 51"/>
                <a:gd name="T23" fmla="*/ 0 h 36"/>
                <a:gd name="T24" fmla="*/ 61 w 51"/>
                <a:gd name="T25" fmla="*/ 35 h 36"/>
                <a:gd name="T26" fmla="*/ 61 w 51"/>
                <a:gd name="T27" fmla="*/ 35 h 36"/>
                <a:gd name="T28" fmla="*/ 61 w 51"/>
                <a:gd name="T29" fmla="*/ 73 h 36"/>
                <a:gd name="T30" fmla="*/ 16 w 51"/>
                <a:gd name="T31" fmla="*/ 73 h 36"/>
                <a:gd name="T32" fmla="*/ 16 w 51"/>
                <a:gd name="T33" fmla="*/ 50 h 36"/>
                <a:gd name="T34" fmla="*/ 42 w 51"/>
                <a:gd name="T35" fmla="*/ 50 h 36"/>
                <a:gd name="T36" fmla="*/ 42 w 51"/>
                <a:gd name="T37" fmla="*/ 35 h 36"/>
                <a:gd name="T38" fmla="*/ 16 w 51"/>
                <a:gd name="T39" fmla="*/ 35 h 36"/>
                <a:gd name="T40" fmla="*/ 16 w 51"/>
                <a:gd name="T41" fmla="*/ 12 h 36"/>
                <a:gd name="T42" fmla="*/ 47 w 51"/>
                <a:gd name="T43" fmla="*/ 12 h 36"/>
                <a:gd name="T44" fmla="*/ 47 w 51"/>
                <a:gd name="T45" fmla="*/ 0 h 36"/>
                <a:gd name="T46" fmla="*/ 0 w 51"/>
                <a:gd name="T47" fmla="*/ 0 h 36"/>
                <a:gd name="T48" fmla="*/ 0 w 51"/>
                <a:gd name="T49" fmla="*/ 85 h 36"/>
                <a:gd name="T50" fmla="*/ 75 w 51"/>
                <a:gd name="T51" fmla="*/ 85 h 36"/>
                <a:gd name="T52" fmla="*/ 75 w 51"/>
                <a:gd name="T53" fmla="*/ 50 h 36"/>
                <a:gd name="T54" fmla="*/ 82 w 51"/>
                <a:gd name="T55" fmla="*/ 50 h 36"/>
                <a:gd name="T56" fmla="*/ 104 w 51"/>
                <a:gd name="T57" fmla="*/ 85 h 36"/>
                <a:gd name="T58" fmla="*/ 120 w 51"/>
                <a:gd name="T59" fmla="*/ 85 h 36"/>
                <a:gd name="T60" fmla="*/ 99 w 51"/>
                <a:gd name="T61" fmla="*/ 47 h 36"/>
                <a:gd name="T62" fmla="*/ 111 w 51"/>
                <a:gd name="T63" fmla="*/ 43 h 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1" h="36">
                  <a:moveTo>
                    <a:pt x="32" y="15"/>
                  </a:moveTo>
                  <a:cubicBezTo>
                    <a:pt x="32" y="15"/>
                    <a:pt x="32" y="15"/>
                    <a:pt x="32" y="15"/>
                  </a:cubicBezTo>
                  <a:cubicBezTo>
                    <a:pt x="32" y="5"/>
                    <a:pt x="32" y="5"/>
                    <a:pt x="32" y="5"/>
                  </a:cubicBezTo>
                  <a:cubicBezTo>
                    <a:pt x="37" y="5"/>
                    <a:pt x="37" y="5"/>
                    <a:pt x="37" y="5"/>
                  </a:cubicBezTo>
                  <a:cubicBezTo>
                    <a:pt x="42" y="5"/>
                    <a:pt x="44" y="7"/>
                    <a:pt x="44" y="10"/>
                  </a:cubicBezTo>
                  <a:cubicBezTo>
                    <a:pt x="44" y="14"/>
                    <a:pt x="42" y="15"/>
                    <a:pt x="37" y="15"/>
                  </a:cubicBezTo>
                  <a:lnTo>
                    <a:pt x="32" y="15"/>
                  </a:lnTo>
                  <a:close/>
                  <a:moveTo>
                    <a:pt x="47" y="18"/>
                  </a:moveTo>
                  <a:cubicBezTo>
                    <a:pt x="49" y="16"/>
                    <a:pt x="50" y="14"/>
                    <a:pt x="50" y="10"/>
                  </a:cubicBezTo>
                  <a:cubicBezTo>
                    <a:pt x="50" y="7"/>
                    <a:pt x="49" y="4"/>
                    <a:pt x="47" y="3"/>
                  </a:cubicBezTo>
                  <a:cubicBezTo>
                    <a:pt x="44" y="1"/>
                    <a:pt x="41" y="0"/>
                    <a:pt x="36" y="0"/>
                  </a:cubicBezTo>
                  <a:cubicBezTo>
                    <a:pt x="26" y="0"/>
                    <a:pt x="26" y="0"/>
                    <a:pt x="26" y="0"/>
                  </a:cubicBezTo>
                  <a:cubicBezTo>
                    <a:pt x="26" y="15"/>
                    <a:pt x="26" y="15"/>
                    <a:pt x="26" y="15"/>
                  </a:cubicBezTo>
                  <a:cubicBezTo>
                    <a:pt x="26" y="15"/>
                    <a:pt x="26" y="15"/>
                    <a:pt x="26" y="15"/>
                  </a:cubicBezTo>
                  <a:cubicBezTo>
                    <a:pt x="26" y="31"/>
                    <a:pt x="26" y="31"/>
                    <a:pt x="26" y="31"/>
                  </a:cubicBezTo>
                  <a:cubicBezTo>
                    <a:pt x="7" y="31"/>
                    <a:pt x="7" y="31"/>
                    <a:pt x="7" y="31"/>
                  </a:cubicBezTo>
                  <a:cubicBezTo>
                    <a:pt x="7" y="21"/>
                    <a:pt x="7" y="21"/>
                    <a:pt x="7" y="21"/>
                  </a:cubicBezTo>
                  <a:cubicBezTo>
                    <a:pt x="18" y="21"/>
                    <a:pt x="18" y="21"/>
                    <a:pt x="18" y="21"/>
                  </a:cubicBezTo>
                  <a:cubicBezTo>
                    <a:pt x="18" y="15"/>
                    <a:pt x="18" y="15"/>
                    <a:pt x="18" y="15"/>
                  </a:cubicBezTo>
                  <a:cubicBezTo>
                    <a:pt x="7" y="15"/>
                    <a:pt x="7" y="15"/>
                    <a:pt x="7" y="15"/>
                  </a:cubicBezTo>
                  <a:cubicBezTo>
                    <a:pt x="7" y="5"/>
                    <a:pt x="7" y="5"/>
                    <a:pt x="7" y="5"/>
                  </a:cubicBezTo>
                  <a:cubicBezTo>
                    <a:pt x="8" y="5"/>
                    <a:pt x="20" y="5"/>
                    <a:pt x="20" y="5"/>
                  </a:cubicBezTo>
                  <a:cubicBezTo>
                    <a:pt x="20" y="0"/>
                    <a:pt x="20" y="0"/>
                    <a:pt x="20" y="0"/>
                  </a:cubicBezTo>
                  <a:cubicBezTo>
                    <a:pt x="17" y="0"/>
                    <a:pt x="0" y="0"/>
                    <a:pt x="0" y="0"/>
                  </a:cubicBezTo>
                  <a:cubicBezTo>
                    <a:pt x="0" y="36"/>
                    <a:pt x="0" y="36"/>
                    <a:pt x="0" y="36"/>
                  </a:cubicBezTo>
                  <a:cubicBezTo>
                    <a:pt x="32" y="36"/>
                    <a:pt x="32" y="36"/>
                    <a:pt x="32" y="36"/>
                  </a:cubicBezTo>
                  <a:cubicBezTo>
                    <a:pt x="32" y="21"/>
                    <a:pt x="32" y="21"/>
                    <a:pt x="32" y="21"/>
                  </a:cubicBezTo>
                  <a:cubicBezTo>
                    <a:pt x="35" y="21"/>
                    <a:pt x="35" y="21"/>
                    <a:pt x="35" y="21"/>
                  </a:cubicBezTo>
                  <a:cubicBezTo>
                    <a:pt x="38" y="25"/>
                    <a:pt x="44" y="36"/>
                    <a:pt x="44" y="36"/>
                  </a:cubicBezTo>
                  <a:cubicBezTo>
                    <a:pt x="51" y="36"/>
                    <a:pt x="51" y="36"/>
                    <a:pt x="51" y="36"/>
                  </a:cubicBezTo>
                  <a:cubicBezTo>
                    <a:pt x="42" y="20"/>
                    <a:pt x="42" y="20"/>
                    <a:pt x="42" y="20"/>
                  </a:cubicBezTo>
                  <a:cubicBezTo>
                    <a:pt x="44" y="20"/>
                    <a:pt x="45" y="19"/>
                    <a:pt x="47" y="1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60" name="Freeform 36">
              <a:extLst>
                <a:ext uri="{FF2B5EF4-FFF2-40B4-BE49-F238E27FC236}">
                  <a16:creationId xmlns:a16="http://schemas.microsoft.com/office/drawing/2014/main" id="{9AF6C799-4718-4580-8052-BBEAEAB0726F}"/>
                </a:ext>
              </a:extLst>
            </p:cNvPr>
            <p:cNvSpPr>
              <a:spLocks noEditPoints="1"/>
            </p:cNvSpPr>
            <p:nvPr/>
          </p:nvSpPr>
          <p:spPr bwMode="black">
            <a:xfrm>
              <a:off x="2642" y="2148"/>
              <a:ext cx="121" cy="85"/>
            </a:xfrm>
            <a:custGeom>
              <a:avLst/>
              <a:gdLst>
                <a:gd name="T0" fmla="*/ 76 w 51"/>
                <a:gd name="T1" fmla="*/ 35 h 36"/>
                <a:gd name="T2" fmla="*/ 76 w 51"/>
                <a:gd name="T3" fmla="*/ 35 h 36"/>
                <a:gd name="T4" fmla="*/ 76 w 51"/>
                <a:gd name="T5" fmla="*/ 12 h 36"/>
                <a:gd name="T6" fmla="*/ 88 w 51"/>
                <a:gd name="T7" fmla="*/ 12 h 36"/>
                <a:gd name="T8" fmla="*/ 102 w 51"/>
                <a:gd name="T9" fmla="*/ 24 h 36"/>
                <a:gd name="T10" fmla="*/ 88 w 51"/>
                <a:gd name="T11" fmla="*/ 35 h 36"/>
                <a:gd name="T12" fmla="*/ 76 w 51"/>
                <a:gd name="T13" fmla="*/ 35 h 36"/>
                <a:gd name="T14" fmla="*/ 109 w 51"/>
                <a:gd name="T15" fmla="*/ 43 h 36"/>
                <a:gd name="T16" fmla="*/ 119 w 51"/>
                <a:gd name="T17" fmla="*/ 24 h 36"/>
                <a:gd name="T18" fmla="*/ 109 w 51"/>
                <a:gd name="T19" fmla="*/ 7 h 36"/>
                <a:gd name="T20" fmla="*/ 85 w 51"/>
                <a:gd name="T21" fmla="*/ 0 h 36"/>
                <a:gd name="T22" fmla="*/ 59 w 51"/>
                <a:gd name="T23" fmla="*/ 0 h 36"/>
                <a:gd name="T24" fmla="*/ 59 w 51"/>
                <a:gd name="T25" fmla="*/ 35 h 36"/>
                <a:gd name="T26" fmla="*/ 59 w 51"/>
                <a:gd name="T27" fmla="*/ 35 h 36"/>
                <a:gd name="T28" fmla="*/ 59 w 51"/>
                <a:gd name="T29" fmla="*/ 73 h 36"/>
                <a:gd name="T30" fmla="*/ 14 w 51"/>
                <a:gd name="T31" fmla="*/ 73 h 36"/>
                <a:gd name="T32" fmla="*/ 14 w 51"/>
                <a:gd name="T33" fmla="*/ 50 h 36"/>
                <a:gd name="T34" fmla="*/ 40 w 51"/>
                <a:gd name="T35" fmla="*/ 50 h 36"/>
                <a:gd name="T36" fmla="*/ 40 w 51"/>
                <a:gd name="T37" fmla="*/ 35 h 36"/>
                <a:gd name="T38" fmla="*/ 14 w 51"/>
                <a:gd name="T39" fmla="*/ 35 h 36"/>
                <a:gd name="T40" fmla="*/ 14 w 51"/>
                <a:gd name="T41" fmla="*/ 12 h 36"/>
                <a:gd name="T42" fmla="*/ 47 w 51"/>
                <a:gd name="T43" fmla="*/ 12 h 36"/>
                <a:gd name="T44" fmla="*/ 47 w 51"/>
                <a:gd name="T45" fmla="*/ 0 h 36"/>
                <a:gd name="T46" fmla="*/ 0 w 51"/>
                <a:gd name="T47" fmla="*/ 0 h 36"/>
                <a:gd name="T48" fmla="*/ 0 w 51"/>
                <a:gd name="T49" fmla="*/ 85 h 36"/>
                <a:gd name="T50" fmla="*/ 76 w 51"/>
                <a:gd name="T51" fmla="*/ 85 h 36"/>
                <a:gd name="T52" fmla="*/ 76 w 51"/>
                <a:gd name="T53" fmla="*/ 50 h 36"/>
                <a:gd name="T54" fmla="*/ 83 w 51"/>
                <a:gd name="T55" fmla="*/ 50 h 36"/>
                <a:gd name="T56" fmla="*/ 104 w 51"/>
                <a:gd name="T57" fmla="*/ 85 h 36"/>
                <a:gd name="T58" fmla="*/ 121 w 51"/>
                <a:gd name="T59" fmla="*/ 85 h 36"/>
                <a:gd name="T60" fmla="*/ 97 w 51"/>
                <a:gd name="T61" fmla="*/ 47 h 36"/>
                <a:gd name="T62" fmla="*/ 109 w 51"/>
                <a:gd name="T63" fmla="*/ 43 h 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1" h="36">
                  <a:moveTo>
                    <a:pt x="32" y="15"/>
                  </a:moveTo>
                  <a:cubicBezTo>
                    <a:pt x="32" y="15"/>
                    <a:pt x="32" y="15"/>
                    <a:pt x="32" y="15"/>
                  </a:cubicBezTo>
                  <a:cubicBezTo>
                    <a:pt x="32" y="5"/>
                    <a:pt x="32" y="5"/>
                    <a:pt x="32" y="5"/>
                  </a:cubicBezTo>
                  <a:cubicBezTo>
                    <a:pt x="37" y="5"/>
                    <a:pt x="37" y="5"/>
                    <a:pt x="37" y="5"/>
                  </a:cubicBezTo>
                  <a:cubicBezTo>
                    <a:pt x="42" y="5"/>
                    <a:pt x="43" y="7"/>
                    <a:pt x="43" y="10"/>
                  </a:cubicBezTo>
                  <a:cubicBezTo>
                    <a:pt x="43" y="14"/>
                    <a:pt x="42" y="15"/>
                    <a:pt x="37" y="15"/>
                  </a:cubicBezTo>
                  <a:lnTo>
                    <a:pt x="32" y="15"/>
                  </a:lnTo>
                  <a:close/>
                  <a:moveTo>
                    <a:pt x="46" y="18"/>
                  </a:moveTo>
                  <a:cubicBezTo>
                    <a:pt x="48" y="16"/>
                    <a:pt x="50" y="14"/>
                    <a:pt x="50" y="10"/>
                  </a:cubicBezTo>
                  <a:cubicBezTo>
                    <a:pt x="50" y="7"/>
                    <a:pt x="48" y="4"/>
                    <a:pt x="46" y="3"/>
                  </a:cubicBezTo>
                  <a:cubicBezTo>
                    <a:pt x="44" y="1"/>
                    <a:pt x="41" y="0"/>
                    <a:pt x="36" y="0"/>
                  </a:cubicBezTo>
                  <a:cubicBezTo>
                    <a:pt x="25" y="0"/>
                    <a:pt x="25" y="0"/>
                    <a:pt x="25" y="0"/>
                  </a:cubicBezTo>
                  <a:cubicBezTo>
                    <a:pt x="25" y="15"/>
                    <a:pt x="25" y="15"/>
                    <a:pt x="25" y="15"/>
                  </a:cubicBezTo>
                  <a:cubicBezTo>
                    <a:pt x="25" y="15"/>
                    <a:pt x="25" y="15"/>
                    <a:pt x="25" y="15"/>
                  </a:cubicBezTo>
                  <a:cubicBezTo>
                    <a:pt x="25" y="31"/>
                    <a:pt x="25" y="31"/>
                    <a:pt x="25" y="31"/>
                  </a:cubicBezTo>
                  <a:cubicBezTo>
                    <a:pt x="6" y="31"/>
                    <a:pt x="6" y="31"/>
                    <a:pt x="6" y="31"/>
                  </a:cubicBezTo>
                  <a:cubicBezTo>
                    <a:pt x="6" y="21"/>
                    <a:pt x="6" y="21"/>
                    <a:pt x="6" y="21"/>
                  </a:cubicBezTo>
                  <a:cubicBezTo>
                    <a:pt x="17" y="21"/>
                    <a:pt x="17" y="21"/>
                    <a:pt x="17" y="21"/>
                  </a:cubicBezTo>
                  <a:cubicBezTo>
                    <a:pt x="17" y="15"/>
                    <a:pt x="17" y="15"/>
                    <a:pt x="17" y="15"/>
                  </a:cubicBezTo>
                  <a:cubicBezTo>
                    <a:pt x="6" y="15"/>
                    <a:pt x="6" y="15"/>
                    <a:pt x="6" y="15"/>
                  </a:cubicBezTo>
                  <a:cubicBezTo>
                    <a:pt x="6" y="5"/>
                    <a:pt x="6" y="5"/>
                    <a:pt x="6" y="5"/>
                  </a:cubicBezTo>
                  <a:cubicBezTo>
                    <a:pt x="8" y="5"/>
                    <a:pt x="20" y="5"/>
                    <a:pt x="20" y="5"/>
                  </a:cubicBezTo>
                  <a:cubicBezTo>
                    <a:pt x="20" y="0"/>
                    <a:pt x="20" y="0"/>
                    <a:pt x="20" y="0"/>
                  </a:cubicBezTo>
                  <a:cubicBezTo>
                    <a:pt x="16" y="0"/>
                    <a:pt x="0" y="0"/>
                    <a:pt x="0" y="0"/>
                  </a:cubicBezTo>
                  <a:cubicBezTo>
                    <a:pt x="0" y="36"/>
                    <a:pt x="0" y="36"/>
                    <a:pt x="0" y="36"/>
                  </a:cubicBezTo>
                  <a:cubicBezTo>
                    <a:pt x="32" y="36"/>
                    <a:pt x="32" y="36"/>
                    <a:pt x="32" y="36"/>
                  </a:cubicBezTo>
                  <a:cubicBezTo>
                    <a:pt x="32" y="21"/>
                    <a:pt x="32" y="21"/>
                    <a:pt x="32" y="21"/>
                  </a:cubicBezTo>
                  <a:cubicBezTo>
                    <a:pt x="35" y="21"/>
                    <a:pt x="35" y="21"/>
                    <a:pt x="35" y="21"/>
                  </a:cubicBezTo>
                  <a:cubicBezTo>
                    <a:pt x="38" y="25"/>
                    <a:pt x="44" y="36"/>
                    <a:pt x="44" y="36"/>
                  </a:cubicBezTo>
                  <a:cubicBezTo>
                    <a:pt x="51" y="36"/>
                    <a:pt x="51" y="36"/>
                    <a:pt x="51" y="36"/>
                  </a:cubicBezTo>
                  <a:cubicBezTo>
                    <a:pt x="41" y="20"/>
                    <a:pt x="41" y="20"/>
                    <a:pt x="41" y="20"/>
                  </a:cubicBezTo>
                  <a:cubicBezTo>
                    <a:pt x="43" y="20"/>
                    <a:pt x="45" y="19"/>
                    <a:pt x="46" y="1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61" name="Freeform 37">
              <a:extLst>
                <a:ext uri="{FF2B5EF4-FFF2-40B4-BE49-F238E27FC236}">
                  <a16:creationId xmlns:a16="http://schemas.microsoft.com/office/drawing/2014/main" id="{1A68D6A0-2749-497F-B8F4-0F66E4C65FA7}"/>
                </a:ext>
              </a:extLst>
            </p:cNvPr>
            <p:cNvSpPr>
              <a:spLocks noEditPoints="1"/>
            </p:cNvSpPr>
            <p:nvPr/>
          </p:nvSpPr>
          <p:spPr bwMode="black">
            <a:xfrm>
              <a:off x="2807" y="2148"/>
              <a:ext cx="59" cy="85"/>
            </a:xfrm>
            <a:custGeom>
              <a:avLst/>
              <a:gdLst>
                <a:gd name="T0" fmla="*/ 28 w 25"/>
                <a:gd name="T1" fmla="*/ 38 h 36"/>
                <a:gd name="T2" fmla="*/ 17 w 25"/>
                <a:gd name="T3" fmla="*/ 38 h 36"/>
                <a:gd name="T4" fmla="*/ 17 w 25"/>
                <a:gd name="T5" fmla="*/ 12 h 36"/>
                <a:gd name="T6" fmla="*/ 28 w 25"/>
                <a:gd name="T7" fmla="*/ 12 h 36"/>
                <a:gd name="T8" fmla="*/ 42 w 25"/>
                <a:gd name="T9" fmla="*/ 26 h 36"/>
                <a:gd name="T10" fmla="*/ 28 w 25"/>
                <a:gd name="T11" fmla="*/ 38 h 36"/>
                <a:gd name="T12" fmla="*/ 50 w 25"/>
                <a:gd name="T13" fmla="*/ 7 h 36"/>
                <a:gd name="T14" fmla="*/ 26 w 25"/>
                <a:gd name="T15" fmla="*/ 0 h 36"/>
                <a:gd name="T16" fmla="*/ 0 w 25"/>
                <a:gd name="T17" fmla="*/ 0 h 36"/>
                <a:gd name="T18" fmla="*/ 0 w 25"/>
                <a:gd name="T19" fmla="*/ 50 h 36"/>
                <a:gd name="T20" fmla="*/ 0 w 25"/>
                <a:gd name="T21" fmla="*/ 85 h 36"/>
                <a:gd name="T22" fmla="*/ 17 w 25"/>
                <a:gd name="T23" fmla="*/ 85 h 36"/>
                <a:gd name="T24" fmla="*/ 17 w 25"/>
                <a:gd name="T25" fmla="*/ 50 h 36"/>
                <a:gd name="T26" fmla="*/ 26 w 25"/>
                <a:gd name="T27" fmla="*/ 50 h 36"/>
                <a:gd name="T28" fmla="*/ 50 w 25"/>
                <a:gd name="T29" fmla="*/ 43 h 36"/>
                <a:gd name="T30" fmla="*/ 59 w 25"/>
                <a:gd name="T31" fmla="*/ 26 h 36"/>
                <a:gd name="T32" fmla="*/ 50 w 25"/>
                <a:gd name="T33" fmla="*/ 7 h 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 h="36">
                  <a:moveTo>
                    <a:pt x="12" y="16"/>
                  </a:moveTo>
                  <a:cubicBezTo>
                    <a:pt x="7" y="16"/>
                    <a:pt x="7" y="16"/>
                    <a:pt x="7" y="16"/>
                  </a:cubicBezTo>
                  <a:cubicBezTo>
                    <a:pt x="7" y="5"/>
                    <a:pt x="7" y="5"/>
                    <a:pt x="7" y="5"/>
                  </a:cubicBezTo>
                  <a:cubicBezTo>
                    <a:pt x="12" y="5"/>
                    <a:pt x="12" y="5"/>
                    <a:pt x="12" y="5"/>
                  </a:cubicBezTo>
                  <a:cubicBezTo>
                    <a:pt x="17" y="5"/>
                    <a:pt x="18" y="7"/>
                    <a:pt x="18" y="11"/>
                  </a:cubicBezTo>
                  <a:cubicBezTo>
                    <a:pt x="18" y="14"/>
                    <a:pt x="16" y="16"/>
                    <a:pt x="12" y="16"/>
                  </a:cubicBezTo>
                  <a:close/>
                  <a:moveTo>
                    <a:pt x="21" y="3"/>
                  </a:moveTo>
                  <a:cubicBezTo>
                    <a:pt x="19" y="1"/>
                    <a:pt x="16" y="0"/>
                    <a:pt x="11" y="0"/>
                  </a:cubicBezTo>
                  <a:cubicBezTo>
                    <a:pt x="0" y="0"/>
                    <a:pt x="0" y="0"/>
                    <a:pt x="0" y="0"/>
                  </a:cubicBezTo>
                  <a:cubicBezTo>
                    <a:pt x="0" y="21"/>
                    <a:pt x="0" y="21"/>
                    <a:pt x="0" y="21"/>
                  </a:cubicBezTo>
                  <a:cubicBezTo>
                    <a:pt x="0" y="36"/>
                    <a:pt x="0" y="36"/>
                    <a:pt x="0" y="36"/>
                  </a:cubicBezTo>
                  <a:cubicBezTo>
                    <a:pt x="7" y="36"/>
                    <a:pt x="7" y="36"/>
                    <a:pt x="7" y="36"/>
                  </a:cubicBezTo>
                  <a:cubicBezTo>
                    <a:pt x="7" y="21"/>
                    <a:pt x="7" y="21"/>
                    <a:pt x="7" y="21"/>
                  </a:cubicBezTo>
                  <a:cubicBezTo>
                    <a:pt x="11" y="21"/>
                    <a:pt x="11" y="21"/>
                    <a:pt x="11" y="21"/>
                  </a:cubicBezTo>
                  <a:cubicBezTo>
                    <a:pt x="16" y="21"/>
                    <a:pt x="19" y="20"/>
                    <a:pt x="21" y="18"/>
                  </a:cubicBezTo>
                  <a:cubicBezTo>
                    <a:pt x="23" y="17"/>
                    <a:pt x="25" y="14"/>
                    <a:pt x="25" y="11"/>
                  </a:cubicBezTo>
                  <a:cubicBezTo>
                    <a:pt x="25" y="7"/>
                    <a:pt x="23" y="4"/>
                    <a:pt x="21" y="3"/>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62" name="Freeform 38">
              <a:extLst>
                <a:ext uri="{FF2B5EF4-FFF2-40B4-BE49-F238E27FC236}">
                  <a16:creationId xmlns:a16="http://schemas.microsoft.com/office/drawing/2014/main" id="{81109A31-6FDA-47C1-A4A7-F7562E7141AD}"/>
                </a:ext>
              </a:extLst>
            </p:cNvPr>
            <p:cNvSpPr>
              <a:spLocks/>
            </p:cNvSpPr>
            <p:nvPr/>
          </p:nvSpPr>
          <p:spPr bwMode="black">
            <a:xfrm>
              <a:off x="2578" y="2146"/>
              <a:ext cx="55" cy="87"/>
            </a:xfrm>
            <a:custGeom>
              <a:avLst/>
              <a:gdLst>
                <a:gd name="T0" fmla="*/ 33 w 23"/>
                <a:gd name="T1" fmla="*/ 38 h 37"/>
                <a:gd name="T2" fmla="*/ 14 w 23"/>
                <a:gd name="T3" fmla="*/ 24 h 37"/>
                <a:gd name="T4" fmla="*/ 31 w 23"/>
                <a:gd name="T5" fmla="*/ 12 h 37"/>
                <a:gd name="T6" fmla="*/ 50 w 23"/>
                <a:gd name="T7" fmla="*/ 16 h 37"/>
                <a:gd name="T8" fmla="*/ 50 w 23"/>
                <a:gd name="T9" fmla="*/ 5 h 37"/>
                <a:gd name="T10" fmla="*/ 31 w 23"/>
                <a:gd name="T11" fmla="*/ 0 h 37"/>
                <a:gd name="T12" fmla="*/ 0 w 23"/>
                <a:gd name="T13" fmla="*/ 26 h 37"/>
                <a:gd name="T14" fmla="*/ 24 w 23"/>
                <a:gd name="T15" fmla="*/ 49 h 37"/>
                <a:gd name="T16" fmla="*/ 41 w 23"/>
                <a:gd name="T17" fmla="*/ 63 h 37"/>
                <a:gd name="T18" fmla="*/ 24 w 23"/>
                <a:gd name="T19" fmla="*/ 75 h 37"/>
                <a:gd name="T20" fmla="*/ 0 w 23"/>
                <a:gd name="T21" fmla="*/ 71 h 37"/>
                <a:gd name="T22" fmla="*/ 0 w 23"/>
                <a:gd name="T23" fmla="*/ 82 h 37"/>
                <a:gd name="T24" fmla="*/ 22 w 23"/>
                <a:gd name="T25" fmla="*/ 87 h 37"/>
                <a:gd name="T26" fmla="*/ 55 w 23"/>
                <a:gd name="T27" fmla="*/ 63 h 37"/>
                <a:gd name="T28" fmla="*/ 33 w 23"/>
                <a:gd name="T29" fmla="*/ 38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3" h="37">
                  <a:moveTo>
                    <a:pt x="14" y="16"/>
                  </a:moveTo>
                  <a:cubicBezTo>
                    <a:pt x="9" y="14"/>
                    <a:pt x="6" y="13"/>
                    <a:pt x="6" y="10"/>
                  </a:cubicBezTo>
                  <a:cubicBezTo>
                    <a:pt x="6" y="8"/>
                    <a:pt x="9" y="5"/>
                    <a:pt x="13" y="5"/>
                  </a:cubicBezTo>
                  <a:cubicBezTo>
                    <a:pt x="16" y="5"/>
                    <a:pt x="19" y="6"/>
                    <a:pt x="21" y="7"/>
                  </a:cubicBezTo>
                  <a:cubicBezTo>
                    <a:pt x="21" y="2"/>
                    <a:pt x="21" y="2"/>
                    <a:pt x="21" y="2"/>
                  </a:cubicBezTo>
                  <a:cubicBezTo>
                    <a:pt x="19" y="1"/>
                    <a:pt x="16" y="0"/>
                    <a:pt x="13" y="0"/>
                  </a:cubicBezTo>
                  <a:cubicBezTo>
                    <a:pt x="5" y="0"/>
                    <a:pt x="0" y="5"/>
                    <a:pt x="0" y="11"/>
                  </a:cubicBezTo>
                  <a:cubicBezTo>
                    <a:pt x="0" y="16"/>
                    <a:pt x="4" y="19"/>
                    <a:pt x="10" y="21"/>
                  </a:cubicBezTo>
                  <a:cubicBezTo>
                    <a:pt x="15" y="23"/>
                    <a:pt x="17" y="24"/>
                    <a:pt x="17" y="27"/>
                  </a:cubicBezTo>
                  <a:cubicBezTo>
                    <a:pt x="17" y="30"/>
                    <a:pt x="14" y="32"/>
                    <a:pt x="10" y="32"/>
                  </a:cubicBezTo>
                  <a:cubicBezTo>
                    <a:pt x="6" y="32"/>
                    <a:pt x="2" y="31"/>
                    <a:pt x="0" y="30"/>
                  </a:cubicBezTo>
                  <a:cubicBezTo>
                    <a:pt x="0" y="35"/>
                    <a:pt x="0" y="35"/>
                    <a:pt x="0" y="35"/>
                  </a:cubicBezTo>
                  <a:cubicBezTo>
                    <a:pt x="2" y="37"/>
                    <a:pt x="6" y="37"/>
                    <a:pt x="9" y="37"/>
                  </a:cubicBezTo>
                  <a:cubicBezTo>
                    <a:pt x="19" y="37"/>
                    <a:pt x="23" y="32"/>
                    <a:pt x="23" y="27"/>
                  </a:cubicBezTo>
                  <a:cubicBezTo>
                    <a:pt x="23" y="21"/>
                    <a:pt x="20" y="18"/>
                    <a:pt x="14" y="1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63" name="Freeform 39">
              <a:extLst>
                <a:ext uri="{FF2B5EF4-FFF2-40B4-BE49-F238E27FC236}">
                  <a16:creationId xmlns:a16="http://schemas.microsoft.com/office/drawing/2014/main" id="{3D232F39-60B1-48ED-99E3-43A8C2D584FE}"/>
                </a:ext>
              </a:extLst>
            </p:cNvPr>
            <p:cNvSpPr>
              <a:spLocks noEditPoints="1"/>
            </p:cNvSpPr>
            <p:nvPr/>
          </p:nvSpPr>
          <p:spPr bwMode="black">
            <a:xfrm>
              <a:off x="3518" y="2200"/>
              <a:ext cx="36" cy="36"/>
            </a:xfrm>
            <a:custGeom>
              <a:avLst/>
              <a:gdLst>
                <a:gd name="T0" fmla="*/ 14 w 15"/>
                <a:gd name="T1" fmla="*/ 17 h 15"/>
                <a:gd name="T2" fmla="*/ 14 w 15"/>
                <a:gd name="T3" fmla="*/ 12 h 15"/>
                <a:gd name="T4" fmla="*/ 19 w 15"/>
                <a:gd name="T5" fmla="*/ 12 h 15"/>
                <a:gd name="T6" fmla="*/ 24 w 15"/>
                <a:gd name="T7" fmla="*/ 14 h 15"/>
                <a:gd name="T8" fmla="*/ 19 w 15"/>
                <a:gd name="T9" fmla="*/ 17 h 15"/>
                <a:gd name="T10" fmla="*/ 14 w 15"/>
                <a:gd name="T11" fmla="*/ 17 h 15"/>
                <a:gd name="T12" fmla="*/ 14 w 15"/>
                <a:gd name="T13" fmla="*/ 19 h 15"/>
                <a:gd name="T14" fmla="*/ 19 w 15"/>
                <a:gd name="T15" fmla="*/ 19 h 15"/>
                <a:gd name="T16" fmla="*/ 24 w 15"/>
                <a:gd name="T17" fmla="*/ 29 h 15"/>
                <a:gd name="T18" fmla="*/ 26 w 15"/>
                <a:gd name="T19" fmla="*/ 29 h 15"/>
                <a:gd name="T20" fmla="*/ 22 w 15"/>
                <a:gd name="T21" fmla="*/ 19 h 15"/>
                <a:gd name="T22" fmla="*/ 26 w 15"/>
                <a:gd name="T23" fmla="*/ 14 h 15"/>
                <a:gd name="T24" fmla="*/ 19 w 15"/>
                <a:gd name="T25" fmla="*/ 10 h 15"/>
                <a:gd name="T26" fmla="*/ 12 w 15"/>
                <a:gd name="T27" fmla="*/ 10 h 15"/>
                <a:gd name="T28" fmla="*/ 12 w 15"/>
                <a:gd name="T29" fmla="*/ 29 h 15"/>
                <a:gd name="T30" fmla="*/ 14 w 15"/>
                <a:gd name="T31" fmla="*/ 29 h 15"/>
                <a:gd name="T32" fmla="*/ 14 w 15"/>
                <a:gd name="T33" fmla="*/ 19 h 15"/>
                <a:gd name="T34" fmla="*/ 19 w 15"/>
                <a:gd name="T35" fmla="*/ 36 h 15"/>
                <a:gd name="T36" fmla="*/ 36 w 15"/>
                <a:gd name="T37" fmla="*/ 19 h 15"/>
                <a:gd name="T38" fmla="*/ 19 w 15"/>
                <a:gd name="T39" fmla="*/ 0 h 15"/>
                <a:gd name="T40" fmla="*/ 0 w 15"/>
                <a:gd name="T41" fmla="*/ 19 h 15"/>
                <a:gd name="T42" fmla="*/ 19 w 15"/>
                <a:gd name="T43" fmla="*/ 36 h 15"/>
                <a:gd name="T44" fmla="*/ 5 w 15"/>
                <a:gd name="T45" fmla="*/ 19 h 15"/>
                <a:gd name="T46" fmla="*/ 19 w 15"/>
                <a:gd name="T47" fmla="*/ 5 h 15"/>
                <a:gd name="T48" fmla="*/ 34 w 15"/>
                <a:gd name="T49" fmla="*/ 19 h 15"/>
                <a:gd name="T50" fmla="*/ 19 w 15"/>
                <a:gd name="T51" fmla="*/ 34 h 15"/>
                <a:gd name="T52" fmla="*/ 5 w 15"/>
                <a:gd name="T53" fmla="*/ 19 h 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 h="15">
                  <a:moveTo>
                    <a:pt x="6" y="7"/>
                  </a:moveTo>
                  <a:cubicBezTo>
                    <a:pt x="6" y="5"/>
                    <a:pt x="6" y="5"/>
                    <a:pt x="6" y="5"/>
                  </a:cubicBezTo>
                  <a:cubicBezTo>
                    <a:pt x="8" y="5"/>
                    <a:pt x="8" y="5"/>
                    <a:pt x="8" y="5"/>
                  </a:cubicBezTo>
                  <a:cubicBezTo>
                    <a:pt x="9" y="5"/>
                    <a:pt x="10" y="5"/>
                    <a:pt x="10" y="6"/>
                  </a:cubicBezTo>
                  <a:cubicBezTo>
                    <a:pt x="10" y="7"/>
                    <a:pt x="9" y="7"/>
                    <a:pt x="8" y="7"/>
                  </a:cubicBezTo>
                  <a:lnTo>
                    <a:pt x="6" y="7"/>
                  </a:lnTo>
                  <a:close/>
                  <a:moveTo>
                    <a:pt x="6" y="8"/>
                  </a:moveTo>
                  <a:cubicBezTo>
                    <a:pt x="8" y="8"/>
                    <a:pt x="8" y="8"/>
                    <a:pt x="8" y="8"/>
                  </a:cubicBezTo>
                  <a:cubicBezTo>
                    <a:pt x="10" y="12"/>
                    <a:pt x="10" y="12"/>
                    <a:pt x="10" y="12"/>
                  </a:cubicBezTo>
                  <a:cubicBezTo>
                    <a:pt x="11" y="12"/>
                    <a:pt x="11" y="12"/>
                    <a:pt x="11" y="12"/>
                  </a:cubicBezTo>
                  <a:cubicBezTo>
                    <a:pt x="9" y="8"/>
                    <a:pt x="9" y="8"/>
                    <a:pt x="9" y="8"/>
                  </a:cubicBezTo>
                  <a:cubicBezTo>
                    <a:pt x="10" y="8"/>
                    <a:pt x="11" y="7"/>
                    <a:pt x="11" y="6"/>
                  </a:cubicBezTo>
                  <a:cubicBezTo>
                    <a:pt x="11" y="4"/>
                    <a:pt x="10" y="4"/>
                    <a:pt x="8" y="4"/>
                  </a:cubicBezTo>
                  <a:cubicBezTo>
                    <a:pt x="5" y="4"/>
                    <a:pt x="5" y="4"/>
                    <a:pt x="5" y="4"/>
                  </a:cubicBezTo>
                  <a:cubicBezTo>
                    <a:pt x="5" y="12"/>
                    <a:pt x="5" y="12"/>
                    <a:pt x="5" y="12"/>
                  </a:cubicBezTo>
                  <a:cubicBezTo>
                    <a:pt x="6" y="12"/>
                    <a:pt x="6" y="12"/>
                    <a:pt x="6" y="12"/>
                  </a:cubicBezTo>
                  <a:lnTo>
                    <a:pt x="6" y="8"/>
                  </a:lnTo>
                  <a:close/>
                  <a:moveTo>
                    <a:pt x="8" y="15"/>
                  </a:moveTo>
                  <a:cubicBezTo>
                    <a:pt x="12" y="15"/>
                    <a:pt x="15" y="12"/>
                    <a:pt x="15" y="8"/>
                  </a:cubicBezTo>
                  <a:cubicBezTo>
                    <a:pt x="15" y="4"/>
                    <a:pt x="12" y="0"/>
                    <a:pt x="8" y="0"/>
                  </a:cubicBezTo>
                  <a:cubicBezTo>
                    <a:pt x="4" y="0"/>
                    <a:pt x="0" y="4"/>
                    <a:pt x="0" y="8"/>
                  </a:cubicBezTo>
                  <a:cubicBezTo>
                    <a:pt x="0" y="12"/>
                    <a:pt x="4" y="15"/>
                    <a:pt x="8" y="15"/>
                  </a:cubicBezTo>
                  <a:close/>
                  <a:moveTo>
                    <a:pt x="2" y="8"/>
                  </a:moveTo>
                  <a:cubicBezTo>
                    <a:pt x="2" y="4"/>
                    <a:pt x="4" y="2"/>
                    <a:pt x="8" y="2"/>
                  </a:cubicBezTo>
                  <a:cubicBezTo>
                    <a:pt x="11" y="2"/>
                    <a:pt x="14" y="4"/>
                    <a:pt x="14" y="8"/>
                  </a:cubicBezTo>
                  <a:cubicBezTo>
                    <a:pt x="14" y="11"/>
                    <a:pt x="11" y="14"/>
                    <a:pt x="8" y="14"/>
                  </a:cubicBezTo>
                  <a:cubicBezTo>
                    <a:pt x="4" y="14"/>
                    <a:pt x="2" y="11"/>
                    <a:pt x="2" y="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1028" name="Line 42">
            <a:extLst>
              <a:ext uri="{FF2B5EF4-FFF2-40B4-BE49-F238E27FC236}">
                <a16:creationId xmlns:a16="http://schemas.microsoft.com/office/drawing/2014/main" id="{BFCC7DFA-4B14-4903-94CB-C9F05A23D51D}"/>
              </a:ext>
            </a:extLst>
          </p:cNvPr>
          <p:cNvSpPr>
            <a:spLocks noChangeShapeType="1"/>
          </p:cNvSpPr>
          <p:nvPr userDrawn="1"/>
        </p:nvSpPr>
        <p:spPr bwMode="gray">
          <a:xfrm>
            <a:off x="0" y="6172200"/>
            <a:ext cx="91440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dirty="0"/>
          </a:p>
        </p:txBody>
      </p:sp>
      <p:sp>
        <p:nvSpPr>
          <p:cNvPr id="1470470" name="Rectangle 6">
            <a:extLst>
              <a:ext uri="{FF2B5EF4-FFF2-40B4-BE49-F238E27FC236}">
                <a16:creationId xmlns:a16="http://schemas.microsoft.com/office/drawing/2014/main" id="{1E4E46AF-C595-41E6-8C47-FF66B0C2A044}"/>
              </a:ext>
            </a:extLst>
          </p:cNvPr>
          <p:cNvSpPr>
            <a:spLocks noGrp="1" noChangeArrowheads="1"/>
          </p:cNvSpPr>
          <p:nvPr>
            <p:ph type="body" idx="1"/>
          </p:nvPr>
        </p:nvSpPr>
        <p:spPr bwMode="gray">
          <a:xfrm>
            <a:off x="455613" y="1600200"/>
            <a:ext cx="7543800" cy="133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70471" name="Rectangle 7">
            <a:extLst>
              <a:ext uri="{FF2B5EF4-FFF2-40B4-BE49-F238E27FC236}">
                <a16:creationId xmlns:a16="http://schemas.microsoft.com/office/drawing/2014/main" id="{6C927586-6540-433F-945A-4291E988D746}"/>
              </a:ext>
            </a:extLst>
          </p:cNvPr>
          <p:cNvSpPr>
            <a:spLocks noGrp="1" noChangeArrowheads="1"/>
          </p:cNvSpPr>
          <p:nvPr>
            <p:ph type="title"/>
          </p:nvPr>
        </p:nvSpPr>
        <p:spPr bwMode="gray">
          <a:xfrm>
            <a:off x="455613" y="952500"/>
            <a:ext cx="754380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en-US" altLang="en-US"/>
              <a:t>Click to edit Master title style</a:t>
            </a:r>
          </a:p>
        </p:txBody>
      </p:sp>
      <p:sp>
        <p:nvSpPr>
          <p:cNvPr id="1031" name="Line 40">
            <a:extLst>
              <a:ext uri="{FF2B5EF4-FFF2-40B4-BE49-F238E27FC236}">
                <a16:creationId xmlns:a16="http://schemas.microsoft.com/office/drawing/2014/main" id="{6CE00A2D-3A99-4FA8-B37B-137943372E45}"/>
              </a:ext>
            </a:extLst>
          </p:cNvPr>
          <p:cNvSpPr>
            <a:spLocks noChangeShapeType="1"/>
          </p:cNvSpPr>
          <p:nvPr userDrawn="1"/>
        </p:nvSpPr>
        <p:spPr bwMode="gray">
          <a:xfrm>
            <a:off x="0" y="2166938"/>
            <a:ext cx="91440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dirty="0"/>
          </a:p>
        </p:txBody>
      </p:sp>
      <p:pic>
        <p:nvPicPr>
          <p:cNvPr id="1470524" name="Picture 60" descr="PED10d008_96">
            <a:extLst>
              <a:ext uri="{FF2B5EF4-FFF2-40B4-BE49-F238E27FC236}">
                <a16:creationId xmlns:a16="http://schemas.microsoft.com/office/drawing/2014/main" id="{E141BAA9-E841-4798-82FD-9AAF093C48D8}"/>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2192338"/>
            <a:ext cx="9144000" cy="399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470520"/>
                                        </p:tgtEl>
                                        <p:attrNameLst>
                                          <p:attrName>style.visibility</p:attrName>
                                        </p:attrNameLst>
                                      </p:cBhvr>
                                      <p:to>
                                        <p:strVal val="visible"/>
                                      </p:to>
                                    </p:set>
                                    <p:animEffect transition="in" filter="wipe(left)">
                                      <p:cBhvr>
                                        <p:cTn id="7" dur="1000"/>
                                        <p:tgtEl>
                                          <p:spTgt spid="1470520"/>
                                        </p:tgtEl>
                                      </p:cBhvr>
                                    </p:animEffect>
                                  </p:childTnLst>
                                </p:cTn>
                              </p:par>
                              <p:par>
                                <p:cTn id="8" presetID="22" presetClass="entr" presetSubtype="2" fill="hold" nodeType="withEffect">
                                  <p:stCondLst>
                                    <p:cond delay="0"/>
                                  </p:stCondLst>
                                  <p:childTnLst>
                                    <p:set>
                                      <p:cBhvr>
                                        <p:cTn id="9" dur="1" fill="hold">
                                          <p:stCondLst>
                                            <p:cond delay="0"/>
                                          </p:stCondLst>
                                        </p:cTn>
                                        <p:tgtEl>
                                          <p:spTgt spid="1470524"/>
                                        </p:tgtEl>
                                        <p:attrNameLst>
                                          <p:attrName>style.visibility</p:attrName>
                                        </p:attrNameLst>
                                      </p:cBhvr>
                                      <p:to>
                                        <p:strVal val="visible"/>
                                      </p:to>
                                    </p:set>
                                    <p:animEffect transition="in" filter="wipe(right)">
                                      <p:cBhvr>
                                        <p:cTn id="10" dur="1000"/>
                                        <p:tgtEl>
                                          <p:spTgt spid="147052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470471"/>
                                        </p:tgtEl>
                                        <p:attrNameLst>
                                          <p:attrName>style.visibility</p:attrName>
                                        </p:attrNameLst>
                                      </p:cBhvr>
                                      <p:to>
                                        <p:strVal val="visible"/>
                                      </p:to>
                                    </p:set>
                                    <p:animEffect transition="in" filter="fade">
                                      <p:cBhvr>
                                        <p:cTn id="13" dur="500"/>
                                        <p:tgtEl>
                                          <p:spTgt spid="1470471"/>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470470">
                                            <p:txEl>
                                              <p:pRg st="0" end="0"/>
                                            </p:txEl>
                                          </p:spTgt>
                                        </p:tgtEl>
                                        <p:attrNameLst>
                                          <p:attrName>style.visibility</p:attrName>
                                        </p:attrNameLst>
                                      </p:cBhvr>
                                      <p:to>
                                        <p:strVal val="visible"/>
                                      </p:to>
                                    </p:set>
                                    <p:animEffect transition="in" filter="fade">
                                      <p:cBhvr>
                                        <p:cTn id="16" dur="500"/>
                                        <p:tgtEl>
                                          <p:spTgt spid="1470470">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70470">
                                            <p:txEl>
                                              <p:pRg st="1" end="1"/>
                                            </p:txEl>
                                          </p:spTgt>
                                        </p:tgtEl>
                                        <p:attrNameLst>
                                          <p:attrName>style.visibility</p:attrName>
                                        </p:attrNameLst>
                                      </p:cBhvr>
                                      <p:to>
                                        <p:strVal val="visible"/>
                                      </p:to>
                                    </p:set>
                                    <p:animEffect transition="in" filter="fade">
                                      <p:cBhvr>
                                        <p:cTn id="19" dur="500"/>
                                        <p:tgtEl>
                                          <p:spTgt spid="1470470">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70470">
                                            <p:txEl>
                                              <p:pRg st="2" end="2"/>
                                            </p:txEl>
                                          </p:spTgt>
                                        </p:tgtEl>
                                        <p:attrNameLst>
                                          <p:attrName>style.visibility</p:attrName>
                                        </p:attrNameLst>
                                      </p:cBhvr>
                                      <p:to>
                                        <p:strVal val="visible"/>
                                      </p:to>
                                    </p:set>
                                    <p:animEffect transition="in" filter="fade">
                                      <p:cBhvr>
                                        <p:cTn id="22" dur="500"/>
                                        <p:tgtEl>
                                          <p:spTgt spid="1470470">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70470">
                                            <p:txEl>
                                              <p:pRg st="3" end="3"/>
                                            </p:txEl>
                                          </p:spTgt>
                                        </p:tgtEl>
                                        <p:attrNameLst>
                                          <p:attrName>style.visibility</p:attrName>
                                        </p:attrNameLst>
                                      </p:cBhvr>
                                      <p:to>
                                        <p:strVal val="visible"/>
                                      </p:to>
                                    </p:set>
                                    <p:animEffect transition="in" filter="fade">
                                      <p:cBhvr>
                                        <p:cTn id="25" dur="500"/>
                                        <p:tgtEl>
                                          <p:spTgt spid="1470470">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70470">
                                            <p:txEl>
                                              <p:pRg st="4" end="4"/>
                                            </p:txEl>
                                          </p:spTgt>
                                        </p:tgtEl>
                                        <p:attrNameLst>
                                          <p:attrName>style.visibility</p:attrName>
                                        </p:attrNameLst>
                                      </p:cBhvr>
                                      <p:to>
                                        <p:strVal val="visible"/>
                                      </p:to>
                                    </p:set>
                                    <p:animEffect transition="in" filter="fade">
                                      <p:cBhvr>
                                        <p:cTn id="28" dur="500"/>
                                        <p:tgtEl>
                                          <p:spTgt spid="14704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0470" grpId="0" build="p">
        <p:tmplLst>
          <p:tmpl lvl="1">
            <p:tnLst>
              <p:par>
                <p:cTn presetID="10" presetClass="entr" presetSubtype="0" fill="hold" nodeType="withEffect">
                  <p:stCondLst>
                    <p:cond delay="500"/>
                  </p:stCondLst>
                  <p:childTnLst>
                    <p:set>
                      <p:cBhvr>
                        <p:cTn dur="1" fill="hold">
                          <p:stCondLst>
                            <p:cond delay="0"/>
                          </p:stCondLst>
                        </p:cTn>
                        <p:tgtEl>
                          <p:spTgt spid="1470470"/>
                        </p:tgtEl>
                        <p:attrNameLst>
                          <p:attrName>style.visibility</p:attrName>
                        </p:attrNameLst>
                      </p:cBhvr>
                      <p:to>
                        <p:strVal val="visible"/>
                      </p:to>
                    </p:set>
                    <p:animEffect transition="in" filter="fade">
                      <p:cBhvr>
                        <p:cTn dur="500"/>
                        <p:tgtEl>
                          <p:spTgt spid="1470470"/>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470470"/>
                        </p:tgtEl>
                        <p:attrNameLst>
                          <p:attrName>style.visibility</p:attrName>
                        </p:attrNameLst>
                      </p:cBhvr>
                      <p:to>
                        <p:strVal val="visible"/>
                      </p:to>
                    </p:set>
                    <p:animEffect transition="in" filter="fade">
                      <p:cBhvr>
                        <p:cTn dur="500"/>
                        <p:tgtEl>
                          <p:spTgt spid="1470470"/>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470470"/>
                        </p:tgtEl>
                        <p:attrNameLst>
                          <p:attrName>style.visibility</p:attrName>
                        </p:attrNameLst>
                      </p:cBhvr>
                      <p:to>
                        <p:strVal val="visible"/>
                      </p:to>
                    </p:set>
                    <p:animEffect transition="in" filter="fade">
                      <p:cBhvr>
                        <p:cTn dur="500"/>
                        <p:tgtEl>
                          <p:spTgt spid="1470470"/>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470470"/>
                        </p:tgtEl>
                        <p:attrNameLst>
                          <p:attrName>style.visibility</p:attrName>
                        </p:attrNameLst>
                      </p:cBhvr>
                      <p:to>
                        <p:strVal val="visible"/>
                      </p:to>
                    </p:set>
                    <p:animEffect transition="in" filter="fade">
                      <p:cBhvr>
                        <p:cTn dur="500"/>
                        <p:tgtEl>
                          <p:spTgt spid="1470470"/>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470470"/>
                        </p:tgtEl>
                        <p:attrNameLst>
                          <p:attrName>style.visibility</p:attrName>
                        </p:attrNameLst>
                      </p:cBhvr>
                      <p:to>
                        <p:strVal val="visible"/>
                      </p:to>
                    </p:set>
                    <p:animEffect transition="in" filter="fade">
                      <p:cBhvr>
                        <p:cTn dur="500"/>
                        <p:tgtEl>
                          <p:spTgt spid="1470470"/>
                        </p:tgtEl>
                      </p:cBhvr>
                    </p:animEffect>
                  </p:childTnLst>
                </p:cTn>
              </p:par>
            </p:tnLst>
          </p:tmpl>
        </p:tmplLst>
      </p:bldP>
      <p:bldP spid="1470471" grpId="0"/>
    </p:bldLst>
  </p:timing>
  <p:txStyles>
    <p:titleStyle>
      <a:lvl1pPr algn="l" rtl="0" eaLnBrk="0" fontAlgn="base" hangingPunct="0">
        <a:lnSpc>
          <a:spcPct val="90000"/>
        </a:lnSpc>
        <a:spcBef>
          <a:spcPct val="30000"/>
        </a:spcBef>
        <a:spcAft>
          <a:spcPct val="0"/>
        </a:spcAft>
        <a:defRPr sz="3400" b="1" kern="1200">
          <a:solidFill>
            <a:schemeClr val="bg1"/>
          </a:solidFill>
          <a:latin typeface="+mj-lt"/>
          <a:ea typeface="+mj-ea"/>
          <a:cs typeface="+mj-cs"/>
        </a:defRPr>
      </a:lvl1pPr>
      <a:lvl2pPr algn="l" rtl="0" eaLnBrk="0" fontAlgn="base" hangingPunct="0">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5pPr>
      <a:lvl6pPr marL="457200" algn="l" rtl="0" fontAlgn="base">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6pPr>
      <a:lvl7pPr marL="914400" algn="l" rtl="0" fontAlgn="base">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7pPr>
      <a:lvl8pPr marL="1371600" algn="l" rtl="0" fontAlgn="base">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8pPr>
      <a:lvl9pPr marL="1828800" algn="l" rtl="0" fontAlgn="base">
        <a:lnSpc>
          <a:spcPct val="90000"/>
        </a:lnSpc>
        <a:spcBef>
          <a:spcPct val="30000"/>
        </a:spcBef>
        <a:spcAft>
          <a:spcPct val="0"/>
        </a:spcAft>
        <a:defRPr sz="3400" b="1">
          <a:solidFill>
            <a:schemeClr val="bg1"/>
          </a:solidFill>
          <a:latin typeface="Arial Narrow" panose="020B0606020202030204" pitchFamily="34" charset="0"/>
          <a:cs typeface="Arial" panose="020B0604020202020204" pitchFamily="34" charset="0"/>
        </a:defRPr>
      </a:lvl9pPr>
    </p:titleStyle>
    <p:bodyStyle>
      <a:lvl1pPr marL="285750" indent="-285750" algn="l" rtl="0" eaLnBrk="0" fontAlgn="base" hangingPunct="0">
        <a:lnSpc>
          <a:spcPct val="90000"/>
        </a:lnSpc>
        <a:spcBef>
          <a:spcPct val="0"/>
        </a:spcBef>
        <a:spcAft>
          <a:spcPct val="0"/>
        </a:spcAft>
        <a:buClr>
          <a:schemeClr val="tx2"/>
        </a:buClr>
        <a:buFont typeface="Wingdings" panose="05000000000000000000" pitchFamily="2" charset="2"/>
        <a:defRPr kern="1200">
          <a:solidFill>
            <a:schemeClr val="bg1"/>
          </a:solidFill>
          <a:latin typeface="+mn-lt"/>
          <a:ea typeface="+mn-ea"/>
          <a:cs typeface="+mn-cs"/>
        </a:defRPr>
      </a:lvl1pPr>
      <a:lvl2pPr marL="742950" indent="-285750" algn="l" rtl="0" eaLnBrk="0" fontAlgn="base" hangingPunct="0">
        <a:lnSpc>
          <a:spcPct val="90000"/>
        </a:lnSpc>
        <a:spcBef>
          <a:spcPct val="0"/>
        </a:spcBef>
        <a:spcAft>
          <a:spcPct val="0"/>
        </a:spcAft>
        <a:buClr>
          <a:schemeClr val="tx2"/>
        </a:buClr>
        <a:buFont typeface="Wingdings" panose="05000000000000000000" pitchFamily="2" charset="2"/>
        <a:defRPr kern="1200">
          <a:solidFill>
            <a:schemeClr val="bg1"/>
          </a:solidFill>
          <a:latin typeface="+mn-lt"/>
          <a:ea typeface="+mn-ea"/>
          <a:cs typeface="+mn-cs"/>
        </a:defRPr>
      </a:lvl2pPr>
      <a:lvl3pPr marL="1143000" indent="-228600" algn="l" rtl="0" eaLnBrk="0" fontAlgn="base" hangingPunct="0">
        <a:lnSpc>
          <a:spcPct val="90000"/>
        </a:lnSpc>
        <a:spcBef>
          <a:spcPct val="0"/>
        </a:spcBef>
        <a:spcAft>
          <a:spcPct val="0"/>
        </a:spcAft>
        <a:buClr>
          <a:schemeClr val="tx2"/>
        </a:buClr>
        <a:buFont typeface="Wingdings" panose="05000000000000000000" pitchFamily="2" charset="2"/>
        <a:defRPr kern="1200">
          <a:solidFill>
            <a:schemeClr val="bg1"/>
          </a:solidFill>
          <a:latin typeface="+mn-lt"/>
          <a:ea typeface="+mn-ea"/>
          <a:cs typeface="+mn-cs"/>
        </a:defRPr>
      </a:lvl3pPr>
      <a:lvl4pPr marL="1600200" indent="-228600" algn="l" rtl="0" eaLnBrk="0" fontAlgn="base" hangingPunct="0">
        <a:lnSpc>
          <a:spcPct val="90000"/>
        </a:lnSpc>
        <a:spcBef>
          <a:spcPct val="0"/>
        </a:spcBef>
        <a:spcAft>
          <a:spcPct val="0"/>
        </a:spcAft>
        <a:buClr>
          <a:schemeClr val="tx2"/>
        </a:buClr>
        <a:buFont typeface="Wingdings" panose="05000000000000000000" pitchFamily="2" charset="2"/>
        <a:defRPr kern="1200">
          <a:solidFill>
            <a:schemeClr val="bg1"/>
          </a:solidFill>
          <a:latin typeface="+mn-lt"/>
          <a:ea typeface="+mn-ea"/>
          <a:cs typeface="+mn-cs"/>
        </a:defRPr>
      </a:lvl4pPr>
      <a:lvl5pPr marL="2057400" indent="-228600" algn="l" rtl="0" eaLnBrk="0" fontAlgn="base" hangingPunct="0">
        <a:lnSpc>
          <a:spcPct val="90000"/>
        </a:lnSpc>
        <a:spcBef>
          <a:spcPct val="0"/>
        </a:spcBef>
        <a:spcAft>
          <a:spcPct val="0"/>
        </a:spcAft>
        <a:buClr>
          <a:schemeClr val="tx2"/>
        </a:buClr>
        <a:buFont typeface="Wingdings" panose="05000000000000000000" pitchFamily="2" charset="2"/>
        <a:defRPr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11" descr="purple_large_segue_bar">
            <a:extLst>
              <a:ext uri="{FF2B5EF4-FFF2-40B4-BE49-F238E27FC236}">
                <a16:creationId xmlns:a16="http://schemas.microsoft.com/office/drawing/2014/main" id="{D30A6228-B2F1-4678-967B-FEB0D966F95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525" y="109538"/>
            <a:ext cx="9153525" cy="651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5" name="Group 3">
            <a:extLst>
              <a:ext uri="{FF2B5EF4-FFF2-40B4-BE49-F238E27FC236}">
                <a16:creationId xmlns:a16="http://schemas.microsoft.com/office/drawing/2014/main" id="{431C57E7-1D73-4737-B661-8B8BCAA6CC42}"/>
              </a:ext>
            </a:extLst>
          </p:cNvPr>
          <p:cNvGrpSpPr>
            <a:grpSpLocks/>
          </p:cNvGrpSpPr>
          <p:nvPr userDrawn="1"/>
        </p:nvGrpSpPr>
        <p:grpSpPr bwMode="auto">
          <a:xfrm>
            <a:off x="-9525" y="4513263"/>
            <a:ext cx="9153525" cy="2232025"/>
            <a:chOff x="0" y="2598"/>
            <a:chExt cx="5760" cy="1290"/>
          </a:xfrm>
        </p:grpSpPr>
        <p:sp>
          <p:nvSpPr>
            <p:cNvPr id="3077" name="Rectangle 4">
              <a:extLst>
                <a:ext uri="{FF2B5EF4-FFF2-40B4-BE49-F238E27FC236}">
                  <a16:creationId xmlns:a16="http://schemas.microsoft.com/office/drawing/2014/main" id="{B0EE6F33-1E08-41C1-A1A8-EC46DC1A9FA2}"/>
                </a:ext>
              </a:extLst>
            </p:cNvPr>
            <p:cNvSpPr>
              <a:spLocks noChangeArrowheads="1"/>
            </p:cNvSpPr>
            <p:nvPr/>
          </p:nvSpPr>
          <p:spPr bwMode="gray">
            <a:xfrm>
              <a:off x="0" y="2598"/>
              <a:ext cx="5760" cy="1290"/>
            </a:xfrm>
            <a:prstGeom prst="rect">
              <a:avLst/>
            </a:prstGeom>
            <a:solidFill>
              <a:srgbClr val="3A3A6E"/>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3078" name="Line 5">
              <a:extLst>
                <a:ext uri="{FF2B5EF4-FFF2-40B4-BE49-F238E27FC236}">
                  <a16:creationId xmlns:a16="http://schemas.microsoft.com/office/drawing/2014/main" id="{A331BB38-CA82-44D7-BA86-9303B6EA1A76}"/>
                </a:ext>
              </a:extLst>
            </p:cNvPr>
            <p:cNvSpPr>
              <a:spLocks noChangeShapeType="1"/>
            </p:cNvSpPr>
            <p:nvPr/>
          </p:nvSpPr>
          <p:spPr bwMode="gray">
            <a:xfrm>
              <a:off x="0" y="2598"/>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dirty="0"/>
            </a:p>
          </p:txBody>
        </p:sp>
        <p:sp>
          <p:nvSpPr>
            <p:cNvPr id="3079" name="Line 6">
              <a:extLst>
                <a:ext uri="{FF2B5EF4-FFF2-40B4-BE49-F238E27FC236}">
                  <a16:creationId xmlns:a16="http://schemas.microsoft.com/office/drawing/2014/main" id="{F417CB02-E15F-482C-93AC-47099AA8DB68}"/>
                </a:ext>
              </a:extLst>
            </p:cNvPr>
            <p:cNvSpPr>
              <a:spLocks noChangeShapeType="1"/>
            </p:cNvSpPr>
            <p:nvPr userDrawn="1"/>
          </p:nvSpPr>
          <p:spPr bwMode="gray">
            <a:xfrm>
              <a:off x="0" y="3888"/>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dirty="0"/>
            </a:p>
          </p:txBody>
        </p:sp>
      </p:grpSp>
      <p:sp>
        <p:nvSpPr>
          <p:cNvPr id="1595399" name="Rectangle 7">
            <a:extLst>
              <a:ext uri="{FF2B5EF4-FFF2-40B4-BE49-F238E27FC236}">
                <a16:creationId xmlns:a16="http://schemas.microsoft.com/office/drawing/2014/main" id="{7EA68952-FC46-4288-8B27-B499622AF219}"/>
              </a:ext>
            </a:extLst>
          </p:cNvPr>
          <p:cNvSpPr>
            <a:spLocks noGrp="1" noChangeArrowheads="1"/>
          </p:cNvSpPr>
          <p:nvPr>
            <p:ph type="title"/>
          </p:nvPr>
        </p:nvSpPr>
        <p:spPr bwMode="gray">
          <a:xfrm>
            <a:off x="457200" y="3619500"/>
            <a:ext cx="754380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en-US" altLang="en-US"/>
              <a:t>Segue Slide (No Photo)</a:t>
            </a: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595399"/>
                                        </p:tgtEl>
                                        <p:attrNameLst>
                                          <p:attrName>style.visibility</p:attrName>
                                        </p:attrNameLst>
                                      </p:cBhvr>
                                      <p:to>
                                        <p:strVal val="visible"/>
                                      </p:to>
                                    </p:set>
                                    <p:animEffect transition="in" filter="fade">
                                      <p:cBhvr>
                                        <p:cTn id="7" dur="500"/>
                                        <p:tgtEl>
                                          <p:spTgt spid="1595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5399" grpId="0"/>
    </p:bldLst>
  </p:timing>
  <p:txStyles>
    <p:titleStyle>
      <a:lvl1pPr algn="l" rtl="0" eaLnBrk="0" fontAlgn="base" hangingPunct="0">
        <a:lnSpc>
          <a:spcPct val="90000"/>
        </a:lnSpc>
        <a:spcBef>
          <a:spcPct val="0"/>
        </a:spcBef>
        <a:spcAft>
          <a:spcPct val="0"/>
        </a:spcAft>
        <a:defRPr sz="3400" b="1" kern="1200">
          <a:solidFill>
            <a:schemeClr val="bg1"/>
          </a:solidFill>
          <a:latin typeface="+mj-lt"/>
          <a:ea typeface="+mj-ea"/>
          <a:cs typeface="+mj-cs"/>
        </a:defRPr>
      </a:lvl1pPr>
      <a:lvl2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098" name="Picture 51" descr="purple_thin">
            <a:extLst>
              <a:ext uri="{FF2B5EF4-FFF2-40B4-BE49-F238E27FC236}">
                <a16:creationId xmlns:a16="http://schemas.microsoft.com/office/drawing/2014/main" id="{16352C6C-290F-41C4-B50D-2B9EC074AED5}"/>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11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a:extLst>
              <a:ext uri="{FF2B5EF4-FFF2-40B4-BE49-F238E27FC236}">
                <a16:creationId xmlns:a16="http://schemas.microsoft.com/office/drawing/2014/main" id="{05AAF118-7805-4252-B39F-5F7C0A86C2D2}"/>
              </a:ext>
            </a:extLst>
          </p:cNvPr>
          <p:cNvSpPr>
            <a:spLocks noGrp="1" noChangeArrowheads="1"/>
          </p:cNvSpPr>
          <p:nvPr>
            <p:ph type="title"/>
          </p:nvPr>
        </p:nvSpPr>
        <p:spPr bwMode="gray">
          <a:xfrm>
            <a:off x="457200" y="684213"/>
            <a:ext cx="82296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en-US" altLang="en-US"/>
              <a:t>Content Slide</a:t>
            </a:r>
          </a:p>
        </p:txBody>
      </p:sp>
      <p:sp>
        <p:nvSpPr>
          <p:cNvPr id="4100" name="Rectangle 4">
            <a:extLst>
              <a:ext uri="{FF2B5EF4-FFF2-40B4-BE49-F238E27FC236}">
                <a16:creationId xmlns:a16="http://schemas.microsoft.com/office/drawing/2014/main" id="{FDC717F7-A2FC-4490-A9DB-1E1241596D3E}"/>
              </a:ext>
            </a:extLst>
          </p:cNvPr>
          <p:cNvSpPr>
            <a:spLocks noGrp="1" noChangeArrowheads="1"/>
          </p:cNvSpPr>
          <p:nvPr>
            <p:ph type="body" idx="1"/>
          </p:nvPr>
        </p:nvSpPr>
        <p:spPr bwMode="gray">
          <a:xfrm>
            <a:off x="457200" y="1736725"/>
            <a:ext cx="8229600" cy="182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529862" name="Rectangle 6">
            <a:extLst>
              <a:ext uri="{FF2B5EF4-FFF2-40B4-BE49-F238E27FC236}">
                <a16:creationId xmlns:a16="http://schemas.microsoft.com/office/drawing/2014/main" id="{26FC00DD-F2DF-41D2-91C6-0F5AB6F80BA4}"/>
              </a:ext>
            </a:extLst>
          </p:cNvPr>
          <p:cNvSpPr>
            <a:spLocks noGrp="1" noChangeArrowheads="1"/>
          </p:cNvSpPr>
          <p:nvPr>
            <p:ph type="sldNum" sz="quarter" idx="4"/>
          </p:nvPr>
        </p:nvSpPr>
        <p:spPr bwMode="gray">
          <a:xfrm>
            <a:off x="76200" y="6477000"/>
            <a:ext cx="4667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lgn="r" eaLnBrk="1" hangingPunct="1">
              <a:defRPr sz="900">
                <a:solidFill>
                  <a:srgbClr val="414636"/>
                </a:solidFill>
              </a:defRPr>
            </a:lvl1pPr>
          </a:lstStyle>
          <a:p>
            <a:fld id="{9918167B-CC41-4EA9-9514-785F065B44D7}" type="slidenum">
              <a:rPr lang="en-US" altLang="en-US"/>
              <a:pPr/>
              <a:t>‹#›</a:t>
            </a:fld>
            <a:endParaRPr lang="en-US" altLang="en-US" dirty="0"/>
          </a:p>
        </p:txBody>
      </p:sp>
      <p:grpSp>
        <p:nvGrpSpPr>
          <p:cNvPr id="4102" name="Group 8">
            <a:extLst>
              <a:ext uri="{FF2B5EF4-FFF2-40B4-BE49-F238E27FC236}">
                <a16:creationId xmlns:a16="http://schemas.microsoft.com/office/drawing/2014/main" id="{BEE0BB93-F883-4FDD-A846-BAD52250FC63}"/>
              </a:ext>
            </a:extLst>
          </p:cNvPr>
          <p:cNvGrpSpPr>
            <a:grpSpLocks/>
          </p:cNvGrpSpPr>
          <p:nvPr userDrawn="1"/>
        </p:nvGrpSpPr>
        <p:grpSpPr bwMode="auto">
          <a:xfrm>
            <a:off x="6669088" y="6400800"/>
            <a:ext cx="1989137" cy="223838"/>
            <a:chOff x="2205" y="2084"/>
            <a:chExt cx="1349" cy="152"/>
          </a:xfrm>
        </p:grpSpPr>
        <p:sp>
          <p:nvSpPr>
            <p:cNvPr id="4105" name="Freeform 9">
              <a:extLst>
                <a:ext uri="{FF2B5EF4-FFF2-40B4-BE49-F238E27FC236}">
                  <a16:creationId xmlns:a16="http://schemas.microsoft.com/office/drawing/2014/main" id="{4064F59F-4D0F-40E8-A8EC-4548D1D3C0B9}"/>
                </a:ext>
              </a:extLst>
            </p:cNvPr>
            <p:cNvSpPr>
              <a:spLocks/>
            </p:cNvSpPr>
            <p:nvPr/>
          </p:nvSpPr>
          <p:spPr bwMode="black">
            <a:xfrm>
              <a:off x="2295" y="2127"/>
              <a:ext cx="21" cy="71"/>
            </a:xfrm>
            <a:custGeom>
              <a:avLst/>
              <a:gdLst>
                <a:gd name="T0" fmla="*/ 9 w 9"/>
                <a:gd name="T1" fmla="*/ 2 h 30"/>
                <a:gd name="T2" fmla="*/ 5 w 9"/>
                <a:gd name="T3" fmla="*/ 0 h 30"/>
                <a:gd name="T4" fmla="*/ 0 w 9"/>
                <a:gd name="T5" fmla="*/ 71 h 30"/>
                <a:gd name="T6" fmla="*/ 19 w 9"/>
                <a:gd name="T7" fmla="*/ 21 h 30"/>
                <a:gd name="T8" fmla="*/ 9 w 9"/>
                <a:gd name="T9" fmla="*/ 2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30">
                  <a:moveTo>
                    <a:pt x="4" y="1"/>
                  </a:moveTo>
                  <a:cubicBezTo>
                    <a:pt x="4" y="1"/>
                    <a:pt x="3" y="0"/>
                    <a:pt x="2" y="0"/>
                  </a:cubicBezTo>
                  <a:cubicBezTo>
                    <a:pt x="0" y="30"/>
                    <a:pt x="0" y="30"/>
                    <a:pt x="0" y="30"/>
                  </a:cubicBezTo>
                  <a:cubicBezTo>
                    <a:pt x="8" y="9"/>
                    <a:pt x="8" y="9"/>
                    <a:pt x="8" y="9"/>
                  </a:cubicBezTo>
                  <a:cubicBezTo>
                    <a:pt x="9" y="6"/>
                    <a:pt x="7" y="3"/>
                    <a:pt x="4"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06" name="Freeform 10">
              <a:extLst>
                <a:ext uri="{FF2B5EF4-FFF2-40B4-BE49-F238E27FC236}">
                  <a16:creationId xmlns:a16="http://schemas.microsoft.com/office/drawing/2014/main" id="{5CB4FF8C-D05A-4A6F-95D5-00AC2741D5D1}"/>
                </a:ext>
              </a:extLst>
            </p:cNvPr>
            <p:cNvSpPr>
              <a:spLocks/>
            </p:cNvSpPr>
            <p:nvPr/>
          </p:nvSpPr>
          <p:spPr bwMode="black">
            <a:xfrm>
              <a:off x="2276" y="2122"/>
              <a:ext cx="21" cy="76"/>
            </a:xfrm>
            <a:custGeom>
              <a:avLst/>
              <a:gdLst>
                <a:gd name="T0" fmla="*/ 0 w 9"/>
                <a:gd name="T1" fmla="*/ 2 h 32"/>
                <a:gd name="T2" fmla="*/ 9 w 9"/>
                <a:gd name="T3" fmla="*/ 76 h 32"/>
                <a:gd name="T4" fmla="*/ 21 w 9"/>
                <a:gd name="T5" fmla="*/ 2 h 32"/>
                <a:gd name="T6" fmla="*/ 0 w 9"/>
                <a:gd name="T7" fmla="*/ 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32">
                  <a:moveTo>
                    <a:pt x="0" y="1"/>
                  </a:moveTo>
                  <a:cubicBezTo>
                    <a:pt x="4" y="32"/>
                    <a:pt x="4" y="32"/>
                    <a:pt x="4" y="32"/>
                  </a:cubicBezTo>
                  <a:cubicBezTo>
                    <a:pt x="9" y="1"/>
                    <a:pt x="9" y="1"/>
                    <a:pt x="9" y="1"/>
                  </a:cubicBezTo>
                  <a:cubicBezTo>
                    <a:pt x="6" y="1"/>
                    <a:pt x="3" y="0"/>
                    <a:pt x="0"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07" name="Freeform 11">
              <a:extLst>
                <a:ext uri="{FF2B5EF4-FFF2-40B4-BE49-F238E27FC236}">
                  <a16:creationId xmlns:a16="http://schemas.microsoft.com/office/drawing/2014/main" id="{6804340A-4F70-4609-AAC3-5334407AAB62}"/>
                </a:ext>
              </a:extLst>
            </p:cNvPr>
            <p:cNvSpPr>
              <a:spLocks/>
            </p:cNvSpPr>
            <p:nvPr/>
          </p:nvSpPr>
          <p:spPr bwMode="black">
            <a:xfrm>
              <a:off x="2257" y="2127"/>
              <a:ext cx="21" cy="71"/>
            </a:xfrm>
            <a:custGeom>
              <a:avLst/>
              <a:gdLst>
                <a:gd name="T0" fmla="*/ 9 w 9"/>
                <a:gd name="T1" fmla="*/ 2 h 30"/>
                <a:gd name="T2" fmla="*/ 2 w 9"/>
                <a:gd name="T3" fmla="*/ 21 h 30"/>
                <a:gd name="T4" fmla="*/ 21 w 9"/>
                <a:gd name="T5" fmla="*/ 71 h 30"/>
                <a:gd name="T6" fmla="*/ 16 w 9"/>
                <a:gd name="T7" fmla="*/ 0 h 30"/>
                <a:gd name="T8" fmla="*/ 9 w 9"/>
                <a:gd name="T9" fmla="*/ 2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30">
                  <a:moveTo>
                    <a:pt x="4" y="1"/>
                  </a:moveTo>
                  <a:cubicBezTo>
                    <a:pt x="2" y="3"/>
                    <a:pt x="0" y="6"/>
                    <a:pt x="1" y="9"/>
                  </a:cubicBezTo>
                  <a:cubicBezTo>
                    <a:pt x="9" y="30"/>
                    <a:pt x="9" y="30"/>
                    <a:pt x="9" y="30"/>
                  </a:cubicBezTo>
                  <a:cubicBezTo>
                    <a:pt x="7" y="0"/>
                    <a:pt x="7" y="0"/>
                    <a:pt x="7" y="0"/>
                  </a:cubicBezTo>
                  <a:cubicBezTo>
                    <a:pt x="6" y="0"/>
                    <a:pt x="5" y="1"/>
                    <a:pt x="4" y="1"/>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08" name="Freeform 12">
              <a:extLst>
                <a:ext uri="{FF2B5EF4-FFF2-40B4-BE49-F238E27FC236}">
                  <a16:creationId xmlns:a16="http://schemas.microsoft.com/office/drawing/2014/main" id="{81656B7A-679D-446F-BE14-DD8756A90D18}"/>
                </a:ext>
              </a:extLst>
            </p:cNvPr>
            <p:cNvSpPr>
              <a:spLocks/>
            </p:cNvSpPr>
            <p:nvPr/>
          </p:nvSpPr>
          <p:spPr bwMode="black">
            <a:xfrm>
              <a:off x="2231" y="2136"/>
              <a:ext cx="36" cy="64"/>
            </a:xfrm>
            <a:custGeom>
              <a:avLst/>
              <a:gdLst>
                <a:gd name="T0" fmla="*/ 0 w 15"/>
                <a:gd name="T1" fmla="*/ 0 h 27"/>
                <a:gd name="T2" fmla="*/ 36 w 15"/>
                <a:gd name="T3" fmla="*/ 64 h 27"/>
                <a:gd name="T4" fmla="*/ 22 w 15"/>
                <a:gd name="T5" fmla="*/ 9 h 27"/>
                <a:gd name="T6" fmla="*/ 0 w 15"/>
                <a:gd name="T7" fmla="*/ 0 h 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7">
                  <a:moveTo>
                    <a:pt x="0" y="0"/>
                  </a:moveTo>
                  <a:cubicBezTo>
                    <a:pt x="5" y="9"/>
                    <a:pt x="10" y="18"/>
                    <a:pt x="15" y="27"/>
                  </a:cubicBezTo>
                  <a:cubicBezTo>
                    <a:pt x="14" y="19"/>
                    <a:pt x="12" y="7"/>
                    <a:pt x="9" y="4"/>
                  </a:cubicBezTo>
                  <a:cubicBezTo>
                    <a:pt x="6" y="0"/>
                    <a:pt x="0" y="0"/>
                    <a:pt x="0" y="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09" name="Freeform 13">
              <a:extLst>
                <a:ext uri="{FF2B5EF4-FFF2-40B4-BE49-F238E27FC236}">
                  <a16:creationId xmlns:a16="http://schemas.microsoft.com/office/drawing/2014/main" id="{8F02EE3E-7D52-4FDC-A6EC-50AD3485AC58}"/>
                </a:ext>
              </a:extLst>
            </p:cNvPr>
            <p:cNvSpPr>
              <a:spLocks/>
            </p:cNvSpPr>
            <p:nvPr/>
          </p:nvSpPr>
          <p:spPr bwMode="black">
            <a:xfrm>
              <a:off x="2210" y="2136"/>
              <a:ext cx="50" cy="67"/>
            </a:xfrm>
            <a:custGeom>
              <a:avLst/>
              <a:gdLst>
                <a:gd name="T0" fmla="*/ 0 w 21"/>
                <a:gd name="T1" fmla="*/ 12 h 28"/>
                <a:gd name="T2" fmla="*/ 50 w 21"/>
                <a:gd name="T3" fmla="*/ 67 h 28"/>
                <a:gd name="T4" fmla="*/ 19 w 21"/>
                <a:gd name="T5" fmla="*/ 0 h 28"/>
                <a:gd name="T6" fmla="*/ 0 w 21"/>
                <a:gd name="T7" fmla="*/ 12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28">
                  <a:moveTo>
                    <a:pt x="0" y="5"/>
                  </a:moveTo>
                  <a:cubicBezTo>
                    <a:pt x="21" y="28"/>
                    <a:pt x="21" y="28"/>
                    <a:pt x="21" y="28"/>
                  </a:cubicBezTo>
                  <a:cubicBezTo>
                    <a:pt x="8" y="0"/>
                    <a:pt x="8" y="0"/>
                    <a:pt x="8" y="0"/>
                  </a:cubicBezTo>
                  <a:cubicBezTo>
                    <a:pt x="5" y="0"/>
                    <a:pt x="2" y="2"/>
                    <a:pt x="0" y="5"/>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0" name="Freeform 14">
              <a:extLst>
                <a:ext uri="{FF2B5EF4-FFF2-40B4-BE49-F238E27FC236}">
                  <a16:creationId xmlns:a16="http://schemas.microsoft.com/office/drawing/2014/main" id="{0A057ABE-55EB-44C9-A744-8A05128ED70B}"/>
                </a:ext>
              </a:extLst>
            </p:cNvPr>
            <p:cNvSpPr>
              <a:spLocks/>
            </p:cNvSpPr>
            <p:nvPr/>
          </p:nvSpPr>
          <p:spPr bwMode="black">
            <a:xfrm>
              <a:off x="2304" y="2148"/>
              <a:ext cx="31" cy="52"/>
            </a:xfrm>
            <a:custGeom>
              <a:avLst/>
              <a:gdLst>
                <a:gd name="T0" fmla="*/ 7 w 13"/>
                <a:gd name="T1" fmla="*/ 14 h 22"/>
                <a:gd name="T2" fmla="*/ 0 w 13"/>
                <a:gd name="T3" fmla="*/ 52 h 22"/>
                <a:gd name="T4" fmla="*/ 31 w 13"/>
                <a:gd name="T5" fmla="*/ 0 h 22"/>
                <a:gd name="T6" fmla="*/ 7 w 13"/>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2">
                  <a:moveTo>
                    <a:pt x="3" y="6"/>
                  </a:moveTo>
                  <a:cubicBezTo>
                    <a:pt x="0" y="22"/>
                    <a:pt x="0" y="22"/>
                    <a:pt x="0" y="22"/>
                  </a:cubicBezTo>
                  <a:cubicBezTo>
                    <a:pt x="4" y="15"/>
                    <a:pt x="9" y="7"/>
                    <a:pt x="13" y="0"/>
                  </a:cubicBezTo>
                  <a:cubicBezTo>
                    <a:pt x="9" y="0"/>
                    <a:pt x="5" y="1"/>
                    <a:pt x="3" y="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1" name="Freeform 15">
              <a:extLst>
                <a:ext uri="{FF2B5EF4-FFF2-40B4-BE49-F238E27FC236}">
                  <a16:creationId xmlns:a16="http://schemas.microsoft.com/office/drawing/2014/main" id="{D7501134-F7A9-4950-A718-0005678CCF84}"/>
                </a:ext>
              </a:extLst>
            </p:cNvPr>
            <p:cNvSpPr>
              <a:spLocks/>
            </p:cNvSpPr>
            <p:nvPr/>
          </p:nvSpPr>
          <p:spPr bwMode="black">
            <a:xfrm>
              <a:off x="2312" y="2148"/>
              <a:ext cx="44" cy="57"/>
            </a:xfrm>
            <a:custGeom>
              <a:avLst/>
              <a:gdLst>
                <a:gd name="T0" fmla="*/ 25 w 19"/>
                <a:gd name="T1" fmla="*/ 0 h 24"/>
                <a:gd name="T2" fmla="*/ 0 w 19"/>
                <a:gd name="T3" fmla="*/ 57 h 24"/>
                <a:gd name="T4" fmla="*/ 44 w 19"/>
                <a:gd name="T5" fmla="*/ 7 h 24"/>
                <a:gd name="T6" fmla="*/ 25 w 19"/>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
                  <a:moveTo>
                    <a:pt x="11" y="0"/>
                  </a:moveTo>
                  <a:cubicBezTo>
                    <a:pt x="0" y="24"/>
                    <a:pt x="0" y="24"/>
                    <a:pt x="0" y="24"/>
                  </a:cubicBezTo>
                  <a:cubicBezTo>
                    <a:pt x="19" y="3"/>
                    <a:pt x="19" y="3"/>
                    <a:pt x="19" y="3"/>
                  </a:cubicBezTo>
                  <a:cubicBezTo>
                    <a:pt x="17" y="1"/>
                    <a:pt x="14" y="0"/>
                    <a:pt x="11" y="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2" name="Freeform 16">
              <a:extLst>
                <a:ext uri="{FF2B5EF4-FFF2-40B4-BE49-F238E27FC236}">
                  <a16:creationId xmlns:a16="http://schemas.microsoft.com/office/drawing/2014/main" id="{6A4FF475-1C22-448D-841B-EBF33CD92D52}"/>
                </a:ext>
              </a:extLst>
            </p:cNvPr>
            <p:cNvSpPr>
              <a:spLocks/>
            </p:cNvSpPr>
            <p:nvPr/>
          </p:nvSpPr>
          <p:spPr bwMode="black">
            <a:xfrm>
              <a:off x="2205" y="2148"/>
              <a:ext cx="47" cy="62"/>
            </a:xfrm>
            <a:custGeom>
              <a:avLst/>
              <a:gdLst>
                <a:gd name="T0" fmla="*/ 0 w 20"/>
                <a:gd name="T1" fmla="*/ 24 h 26"/>
                <a:gd name="T2" fmla="*/ 47 w 20"/>
                <a:gd name="T3" fmla="*/ 62 h 26"/>
                <a:gd name="T4" fmla="*/ 5 w 20"/>
                <a:gd name="T5" fmla="*/ 0 h 26"/>
                <a:gd name="T6" fmla="*/ 0 w 20"/>
                <a:gd name="T7" fmla="*/ 24 h 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6">
                  <a:moveTo>
                    <a:pt x="0" y="10"/>
                  </a:moveTo>
                  <a:cubicBezTo>
                    <a:pt x="6" y="15"/>
                    <a:pt x="13" y="21"/>
                    <a:pt x="20" y="26"/>
                  </a:cubicBezTo>
                  <a:cubicBezTo>
                    <a:pt x="2" y="0"/>
                    <a:pt x="2" y="0"/>
                    <a:pt x="2" y="0"/>
                  </a:cubicBezTo>
                  <a:cubicBezTo>
                    <a:pt x="0" y="3"/>
                    <a:pt x="0" y="7"/>
                    <a:pt x="0" y="1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3" name="Freeform 17">
              <a:extLst>
                <a:ext uri="{FF2B5EF4-FFF2-40B4-BE49-F238E27FC236}">
                  <a16:creationId xmlns:a16="http://schemas.microsoft.com/office/drawing/2014/main" id="{1C8EAEEC-4918-4580-A667-0A3E91EEEFC6}"/>
                </a:ext>
              </a:extLst>
            </p:cNvPr>
            <p:cNvSpPr>
              <a:spLocks/>
            </p:cNvSpPr>
            <p:nvPr/>
          </p:nvSpPr>
          <p:spPr bwMode="black">
            <a:xfrm>
              <a:off x="2321" y="2158"/>
              <a:ext cx="45" cy="52"/>
            </a:xfrm>
            <a:custGeom>
              <a:avLst/>
              <a:gdLst>
                <a:gd name="T0" fmla="*/ 43 w 19"/>
                <a:gd name="T1" fmla="*/ 5 h 22"/>
                <a:gd name="T2" fmla="*/ 38 w 19"/>
                <a:gd name="T3" fmla="*/ 0 h 22"/>
                <a:gd name="T4" fmla="*/ 0 w 19"/>
                <a:gd name="T5" fmla="*/ 52 h 22"/>
                <a:gd name="T6" fmla="*/ 45 w 19"/>
                <a:gd name="T7" fmla="*/ 17 h 22"/>
                <a:gd name="T8" fmla="*/ 43 w 19"/>
                <a:gd name="T9" fmla="*/ 5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2">
                  <a:moveTo>
                    <a:pt x="18" y="2"/>
                  </a:moveTo>
                  <a:cubicBezTo>
                    <a:pt x="17" y="1"/>
                    <a:pt x="17" y="0"/>
                    <a:pt x="16" y="0"/>
                  </a:cubicBezTo>
                  <a:cubicBezTo>
                    <a:pt x="0" y="22"/>
                    <a:pt x="0" y="22"/>
                    <a:pt x="0" y="22"/>
                  </a:cubicBezTo>
                  <a:cubicBezTo>
                    <a:pt x="6" y="17"/>
                    <a:pt x="12" y="12"/>
                    <a:pt x="19" y="7"/>
                  </a:cubicBezTo>
                  <a:cubicBezTo>
                    <a:pt x="19" y="5"/>
                    <a:pt x="18" y="3"/>
                    <a:pt x="18" y="2"/>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4" name="Freeform 18">
              <a:extLst>
                <a:ext uri="{FF2B5EF4-FFF2-40B4-BE49-F238E27FC236}">
                  <a16:creationId xmlns:a16="http://schemas.microsoft.com/office/drawing/2014/main" id="{22CF41F0-A050-48FD-8598-805954C3822A}"/>
                </a:ext>
              </a:extLst>
            </p:cNvPr>
            <p:cNvSpPr>
              <a:spLocks/>
            </p:cNvSpPr>
            <p:nvPr/>
          </p:nvSpPr>
          <p:spPr bwMode="black">
            <a:xfrm>
              <a:off x="2205" y="2177"/>
              <a:ext cx="40" cy="40"/>
            </a:xfrm>
            <a:custGeom>
              <a:avLst/>
              <a:gdLst>
                <a:gd name="T0" fmla="*/ 0 w 17"/>
                <a:gd name="T1" fmla="*/ 21 h 17"/>
                <a:gd name="T2" fmla="*/ 40 w 17"/>
                <a:gd name="T3" fmla="*/ 40 h 17"/>
                <a:gd name="T4" fmla="*/ 0 w 17"/>
                <a:gd name="T5" fmla="*/ 0 h 17"/>
                <a:gd name="T6" fmla="*/ 0 w 17"/>
                <a:gd name="T7" fmla="*/ 21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9"/>
                  </a:moveTo>
                  <a:cubicBezTo>
                    <a:pt x="17" y="17"/>
                    <a:pt x="17" y="17"/>
                    <a:pt x="17" y="17"/>
                  </a:cubicBezTo>
                  <a:cubicBezTo>
                    <a:pt x="12" y="11"/>
                    <a:pt x="6" y="5"/>
                    <a:pt x="0" y="0"/>
                  </a:cubicBezTo>
                  <a:lnTo>
                    <a:pt x="0" y="9"/>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5" name="Freeform 19">
              <a:extLst>
                <a:ext uri="{FF2B5EF4-FFF2-40B4-BE49-F238E27FC236}">
                  <a16:creationId xmlns:a16="http://schemas.microsoft.com/office/drawing/2014/main" id="{57588818-9F98-47C7-AA00-59950E0F82C2}"/>
                </a:ext>
              </a:extLst>
            </p:cNvPr>
            <p:cNvSpPr>
              <a:spLocks/>
            </p:cNvSpPr>
            <p:nvPr/>
          </p:nvSpPr>
          <p:spPr bwMode="black">
            <a:xfrm>
              <a:off x="2326" y="2179"/>
              <a:ext cx="40" cy="38"/>
            </a:xfrm>
            <a:custGeom>
              <a:avLst/>
              <a:gdLst>
                <a:gd name="T0" fmla="*/ 40 w 17"/>
                <a:gd name="T1" fmla="*/ 19 h 16"/>
                <a:gd name="T2" fmla="*/ 40 w 17"/>
                <a:gd name="T3" fmla="*/ 0 h 16"/>
                <a:gd name="T4" fmla="*/ 0 w 17"/>
                <a:gd name="T5" fmla="*/ 38 h 16"/>
                <a:gd name="T6" fmla="*/ 40 w 17"/>
                <a:gd name="T7" fmla="*/ 19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6">
                  <a:moveTo>
                    <a:pt x="17" y="8"/>
                  </a:moveTo>
                  <a:cubicBezTo>
                    <a:pt x="17" y="0"/>
                    <a:pt x="17" y="0"/>
                    <a:pt x="17" y="0"/>
                  </a:cubicBezTo>
                  <a:cubicBezTo>
                    <a:pt x="0" y="16"/>
                    <a:pt x="0" y="16"/>
                    <a:pt x="0" y="16"/>
                  </a:cubicBezTo>
                  <a:cubicBezTo>
                    <a:pt x="6" y="13"/>
                    <a:pt x="11" y="11"/>
                    <a:pt x="17" y="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6" name="Freeform 20">
              <a:extLst>
                <a:ext uri="{FF2B5EF4-FFF2-40B4-BE49-F238E27FC236}">
                  <a16:creationId xmlns:a16="http://schemas.microsoft.com/office/drawing/2014/main" id="{3CF02F41-057A-4F40-8849-F91BEF5E3CEE}"/>
                </a:ext>
              </a:extLst>
            </p:cNvPr>
            <p:cNvSpPr>
              <a:spLocks/>
            </p:cNvSpPr>
            <p:nvPr/>
          </p:nvSpPr>
          <p:spPr bwMode="black">
            <a:xfrm>
              <a:off x="2205" y="2200"/>
              <a:ext cx="38" cy="24"/>
            </a:xfrm>
            <a:custGeom>
              <a:avLst/>
              <a:gdLst>
                <a:gd name="T0" fmla="*/ 0 w 16"/>
                <a:gd name="T1" fmla="*/ 17 h 10"/>
                <a:gd name="T2" fmla="*/ 38 w 16"/>
                <a:gd name="T3" fmla="*/ 24 h 10"/>
                <a:gd name="T4" fmla="*/ 0 w 16"/>
                <a:gd name="T5" fmla="*/ 0 h 10"/>
                <a:gd name="T6" fmla="*/ 0 w 16"/>
                <a:gd name="T7" fmla="*/ 17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0">
                  <a:moveTo>
                    <a:pt x="0" y="7"/>
                  </a:moveTo>
                  <a:cubicBezTo>
                    <a:pt x="5" y="8"/>
                    <a:pt x="11" y="9"/>
                    <a:pt x="16" y="10"/>
                  </a:cubicBezTo>
                  <a:cubicBezTo>
                    <a:pt x="0" y="0"/>
                    <a:pt x="0" y="0"/>
                    <a:pt x="0" y="0"/>
                  </a:cubicBezTo>
                  <a:lnTo>
                    <a:pt x="0" y="7"/>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7" name="Freeform 21">
              <a:extLst>
                <a:ext uri="{FF2B5EF4-FFF2-40B4-BE49-F238E27FC236}">
                  <a16:creationId xmlns:a16="http://schemas.microsoft.com/office/drawing/2014/main" id="{D257E8A5-E51A-4B3E-B36A-1CBF921AD26D}"/>
                </a:ext>
              </a:extLst>
            </p:cNvPr>
            <p:cNvSpPr>
              <a:spLocks/>
            </p:cNvSpPr>
            <p:nvPr/>
          </p:nvSpPr>
          <p:spPr bwMode="black">
            <a:xfrm>
              <a:off x="2330" y="2203"/>
              <a:ext cx="36" cy="21"/>
            </a:xfrm>
            <a:custGeom>
              <a:avLst/>
              <a:gdLst>
                <a:gd name="T0" fmla="*/ 36 w 15"/>
                <a:gd name="T1" fmla="*/ 14 h 9"/>
                <a:gd name="T2" fmla="*/ 36 w 15"/>
                <a:gd name="T3" fmla="*/ 0 h 9"/>
                <a:gd name="T4" fmla="*/ 0 w 15"/>
                <a:gd name="T5" fmla="*/ 21 h 9"/>
                <a:gd name="T6" fmla="*/ 36 w 15"/>
                <a:gd name="T7" fmla="*/ 14 h 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9">
                  <a:moveTo>
                    <a:pt x="15" y="6"/>
                  </a:moveTo>
                  <a:cubicBezTo>
                    <a:pt x="15" y="0"/>
                    <a:pt x="15" y="0"/>
                    <a:pt x="15" y="0"/>
                  </a:cubicBezTo>
                  <a:cubicBezTo>
                    <a:pt x="10" y="3"/>
                    <a:pt x="5" y="6"/>
                    <a:pt x="0" y="9"/>
                  </a:cubicBezTo>
                  <a:lnTo>
                    <a:pt x="15" y="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8" name="Freeform 22">
              <a:extLst>
                <a:ext uri="{FF2B5EF4-FFF2-40B4-BE49-F238E27FC236}">
                  <a16:creationId xmlns:a16="http://schemas.microsoft.com/office/drawing/2014/main" id="{55194FFB-1E51-46C0-A4F2-0BD632D1EFD2}"/>
                </a:ext>
              </a:extLst>
            </p:cNvPr>
            <p:cNvSpPr>
              <a:spLocks/>
            </p:cNvSpPr>
            <p:nvPr/>
          </p:nvSpPr>
          <p:spPr bwMode="black">
            <a:xfrm>
              <a:off x="2205" y="2219"/>
              <a:ext cx="36" cy="14"/>
            </a:xfrm>
            <a:custGeom>
              <a:avLst/>
              <a:gdLst>
                <a:gd name="T0" fmla="*/ 0 w 36"/>
                <a:gd name="T1" fmla="*/ 14 h 14"/>
                <a:gd name="T2" fmla="*/ 36 w 36"/>
                <a:gd name="T3" fmla="*/ 14 h 14"/>
                <a:gd name="T4" fmla="*/ 0 w 36"/>
                <a:gd name="T5" fmla="*/ 0 h 14"/>
                <a:gd name="T6" fmla="*/ 0 w 36"/>
                <a:gd name="T7" fmla="*/ 14 h 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4">
                  <a:moveTo>
                    <a:pt x="0" y="14"/>
                  </a:moveTo>
                  <a:lnTo>
                    <a:pt x="36" y="14"/>
                  </a:lnTo>
                  <a:lnTo>
                    <a:pt x="0" y="0"/>
                  </a:lnTo>
                  <a:lnTo>
                    <a:pt x="0" y="14"/>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19" name="Freeform 23">
              <a:extLst>
                <a:ext uri="{FF2B5EF4-FFF2-40B4-BE49-F238E27FC236}">
                  <a16:creationId xmlns:a16="http://schemas.microsoft.com/office/drawing/2014/main" id="{312826E4-4FDB-4B29-B471-FC3120F57DE4}"/>
                </a:ext>
              </a:extLst>
            </p:cNvPr>
            <p:cNvSpPr>
              <a:spLocks/>
            </p:cNvSpPr>
            <p:nvPr/>
          </p:nvSpPr>
          <p:spPr bwMode="black">
            <a:xfrm>
              <a:off x="2330" y="2219"/>
              <a:ext cx="36" cy="14"/>
            </a:xfrm>
            <a:custGeom>
              <a:avLst/>
              <a:gdLst>
                <a:gd name="T0" fmla="*/ 36 w 15"/>
                <a:gd name="T1" fmla="*/ 14 h 6"/>
                <a:gd name="T2" fmla="*/ 36 w 15"/>
                <a:gd name="T3" fmla="*/ 0 h 6"/>
                <a:gd name="T4" fmla="*/ 0 w 15"/>
                <a:gd name="T5" fmla="*/ 14 h 6"/>
                <a:gd name="T6" fmla="*/ 36 w 15"/>
                <a:gd name="T7" fmla="*/ 14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6">
                  <a:moveTo>
                    <a:pt x="15" y="6"/>
                  </a:moveTo>
                  <a:cubicBezTo>
                    <a:pt x="15" y="0"/>
                    <a:pt x="15" y="0"/>
                    <a:pt x="15" y="0"/>
                  </a:cubicBezTo>
                  <a:cubicBezTo>
                    <a:pt x="10" y="3"/>
                    <a:pt x="5" y="4"/>
                    <a:pt x="0" y="6"/>
                  </a:cubicBezTo>
                  <a:lnTo>
                    <a:pt x="15" y="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0" name="Freeform 24">
              <a:extLst>
                <a:ext uri="{FF2B5EF4-FFF2-40B4-BE49-F238E27FC236}">
                  <a16:creationId xmlns:a16="http://schemas.microsoft.com/office/drawing/2014/main" id="{314B0B8B-F9D4-4D61-9860-F274CF9207A3}"/>
                </a:ext>
              </a:extLst>
            </p:cNvPr>
            <p:cNvSpPr>
              <a:spLocks/>
            </p:cNvSpPr>
            <p:nvPr/>
          </p:nvSpPr>
          <p:spPr bwMode="black">
            <a:xfrm>
              <a:off x="2321" y="2106"/>
              <a:ext cx="33" cy="42"/>
            </a:xfrm>
            <a:custGeom>
              <a:avLst/>
              <a:gdLst>
                <a:gd name="T0" fmla="*/ 31 w 14"/>
                <a:gd name="T1" fmla="*/ 23 h 18"/>
                <a:gd name="T2" fmla="*/ 0 w 14"/>
                <a:gd name="T3" fmla="*/ 21 h 18"/>
                <a:gd name="T4" fmla="*/ 31 w 14"/>
                <a:gd name="T5" fmla="*/ 23 h 18"/>
                <a:gd name="T6" fmla="*/ 0 60000 65536"/>
                <a:gd name="T7" fmla="*/ 0 60000 65536"/>
                <a:gd name="T8" fmla="*/ 0 60000 65536"/>
              </a:gdLst>
              <a:ahLst/>
              <a:cxnLst>
                <a:cxn ang="T6">
                  <a:pos x="T0" y="T1"/>
                </a:cxn>
                <a:cxn ang="T7">
                  <a:pos x="T2" y="T3"/>
                </a:cxn>
                <a:cxn ang="T8">
                  <a:pos x="T4" y="T5"/>
                </a:cxn>
              </a:cxnLst>
              <a:rect l="0" t="0" r="r" b="b"/>
              <a:pathLst>
                <a:path w="14" h="18">
                  <a:moveTo>
                    <a:pt x="13" y="10"/>
                  </a:moveTo>
                  <a:cubicBezTo>
                    <a:pt x="13" y="0"/>
                    <a:pt x="0" y="0"/>
                    <a:pt x="0" y="9"/>
                  </a:cubicBezTo>
                  <a:cubicBezTo>
                    <a:pt x="0" y="18"/>
                    <a:pt x="14" y="18"/>
                    <a:pt x="13" y="10"/>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1" name="Freeform 25">
              <a:extLst>
                <a:ext uri="{FF2B5EF4-FFF2-40B4-BE49-F238E27FC236}">
                  <a16:creationId xmlns:a16="http://schemas.microsoft.com/office/drawing/2014/main" id="{C07F59DE-991A-4AC1-8D79-F5218F707336}"/>
                </a:ext>
              </a:extLst>
            </p:cNvPr>
            <p:cNvSpPr>
              <a:spLocks/>
            </p:cNvSpPr>
            <p:nvPr/>
          </p:nvSpPr>
          <p:spPr bwMode="black">
            <a:xfrm>
              <a:off x="2352" y="2127"/>
              <a:ext cx="0" cy="2"/>
            </a:xfrm>
            <a:custGeom>
              <a:avLst/>
              <a:gdLst>
                <a:gd name="T0" fmla="*/ 0 h 1"/>
                <a:gd name="T1" fmla="*/ 2 h 1"/>
                <a:gd name="T2" fmla="*/ 2 h 1"/>
                <a:gd name="T3" fmla="*/ 0 h 1"/>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
                  <a:moveTo>
                    <a:pt x="0" y="0"/>
                  </a:moveTo>
                  <a:cubicBezTo>
                    <a:pt x="0" y="0"/>
                    <a:pt x="0" y="1"/>
                    <a:pt x="0" y="1"/>
                  </a:cubicBezTo>
                  <a:cubicBezTo>
                    <a:pt x="0" y="1"/>
                    <a:pt x="0" y="1"/>
                    <a:pt x="0" y="1"/>
                  </a:cubicBezTo>
                  <a:lnTo>
                    <a:pt x="0"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2" name="Freeform 26">
              <a:extLst>
                <a:ext uri="{FF2B5EF4-FFF2-40B4-BE49-F238E27FC236}">
                  <a16:creationId xmlns:a16="http://schemas.microsoft.com/office/drawing/2014/main" id="{2152E70D-734B-4836-B75B-070BD217DAD0}"/>
                </a:ext>
              </a:extLst>
            </p:cNvPr>
            <p:cNvSpPr>
              <a:spLocks/>
            </p:cNvSpPr>
            <p:nvPr/>
          </p:nvSpPr>
          <p:spPr bwMode="black">
            <a:xfrm>
              <a:off x="2217" y="2096"/>
              <a:ext cx="33" cy="43"/>
            </a:xfrm>
            <a:custGeom>
              <a:avLst/>
              <a:gdLst>
                <a:gd name="T0" fmla="*/ 33 w 14"/>
                <a:gd name="T1" fmla="*/ 22 h 18"/>
                <a:gd name="T2" fmla="*/ 0 w 14"/>
                <a:gd name="T3" fmla="*/ 22 h 18"/>
                <a:gd name="T4" fmla="*/ 33 w 14"/>
                <a:gd name="T5" fmla="*/ 22 h 18"/>
                <a:gd name="T6" fmla="*/ 0 60000 65536"/>
                <a:gd name="T7" fmla="*/ 0 60000 65536"/>
                <a:gd name="T8" fmla="*/ 0 60000 65536"/>
              </a:gdLst>
              <a:ahLst/>
              <a:cxnLst>
                <a:cxn ang="T6">
                  <a:pos x="T0" y="T1"/>
                </a:cxn>
                <a:cxn ang="T7">
                  <a:pos x="T2" y="T3"/>
                </a:cxn>
                <a:cxn ang="T8">
                  <a:pos x="T4" y="T5"/>
                </a:cxn>
              </a:cxnLst>
              <a:rect l="0" t="0" r="r" b="b"/>
              <a:pathLst>
                <a:path w="14" h="18">
                  <a:moveTo>
                    <a:pt x="14" y="9"/>
                  </a:moveTo>
                  <a:cubicBezTo>
                    <a:pt x="14" y="0"/>
                    <a:pt x="0" y="0"/>
                    <a:pt x="0" y="9"/>
                  </a:cubicBezTo>
                  <a:cubicBezTo>
                    <a:pt x="0" y="18"/>
                    <a:pt x="14" y="18"/>
                    <a:pt x="14" y="9"/>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3" name="Freeform 27">
              <a:extLst>
                <a:ext uri="{FF2B5EF4-FFF2-40B4-BE49-F238E27FC236}">
                  <a16:creationId xmlns:a16="http://schemas.microsoft.com/office/drawing/2014/main" id="{1DF2CE33-0E5B-49BD-A9D2-EC5F3FCA8495}"/>
                </a:ext>
              </a:extLst>
            </p:cNvPr>
            <p:cNvSpPr>
              <a:spLocks/>
            </p:cNvSpPr>
            <p:nvPr/>
          </p:nvSpPr>
          <p:spPr bwMode="black">
            <a:xfrm>
              <a:off x="2269" y="2084"/>
              <a:ext cx="35" cy="38"/>
            </a:xfrm>
            <a:custGeom>
              <a:avLst/>
              <a:gdLst>
                <a:gd name="T0" fmla="*/ 16 w 15"/>
                <a:gd name="T1" fmla="*/ 38 h 16"/>
                <a:gd name="T2" fmla="*/ 35 w 15"/>
                <a:gd name="T3" fmla="*/ 19 h 16"/>
                <a:gd name="T4" fmla="*/ 16 w 15"/>
                <a:gd name="T5" fmla="*/ 0 h 16"/>
                <a:gd name="T6" fmla="*/ 0 w 15"/>
                <a:gd name="T7" fmla="*/ 19 h 16"/>
                <a:gd name="T8" fmla="*/ 16 w 15"/>
                <a:gd name="T9" fmla="*/ 38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16">
                  <a:moveTo>
                    <a:pt x="7" y="16"/>
                  </a:moveTo>
                  <a:cubicBezTo>
                    <a:pt x="13" y="16"/>
                    <a:pt x="15" y="12"/>
                    <a:pt x="15" y="8"/>
                  </a:cubicBezTo>
                  <a:cubicBezTo>
                    <a:pt x="15" y="2"/>
                    <a:pt x="12" y="0"/>
                    <a:pt x="7" y="0"/>
                  </a:cubicBezTo>
                  <a:cubicBezTo>
                    <a:pt x="3" y="0"/>
                    <a:pt x="0" y="3"/>
                    <a:pt x="0" y="8"/>
                  </a:cubicBezTo>
                  <a:cubicBezTo>
                    <a:pt x="0" y="11"/>
                    <a:pt x="1" y="15"/>
                    <a:pt x="7" y="1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4" name="Rectangle 28">
              <a:extLst>
                <a:ext uri="{FF2B5EF4-FFF2-40B4-BE49-F238E27FC236}">
                  <a16:creationId xmlns:a16="http://schemas.microsoft.com/office/drawing/2014/main" id="{BC9AF855-3269-49D8-A760-CF0850711156}"/>
                </a:ext>
              </a:extLst>
            </p:cNvPr>
            <p:cNvSpPr>
              <a:spLocks noChangeArrowheads="1"/>
            </p:cNvSpPr>
            <p:nvPr/>
          </p:nvSpPr>
          <p:spPr bwMode="black">
            <a:xfrm>
              <a:off x="2552" y="2148"/>
              <a:ext cx="15" cy="85"/>
            </a:xfrm>
            <a:prstGeom prst="rect">
              <a:avLst/>
            </a:prstGeom>
            <a:solidFill>
              <a:srgbClr val="216A8B"/>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4125" name="Freeform 29">
              <a:extLst>
                <a:ext uri="{FF2B5EF4-FFF2-40B4-BE49-F238E27FC236}">
                  <a16:creationId xmlns:a16="http://schemas.microsoft.com/office/drawing/2014/main" id="{F41231A4-E6C8-4061-AF2F-7AB320724A06}"/>
                </a:ext>
              </a:extLst>
            </p:cNvPr>
            <p:cNvSpPr>
              <a:spLocks noEditPoints="1"/>
            </p:cNvSpPr>
            <p:nvPr/>
          </p:nvSpPr>
          <p:spPr bwMode="black">
            <a:xfrm>
              <a:off x="2423" y="2148"/>
              <a:ext cx="125" cy="85"/>
            </a:xfrm>
            <a:custGeom>
              <a:avLst/>
              <a:gdLst>
                <a:gd name="T0" fmla="*/ 75 w 125"/>
                <a:gd name="T1" fmla="*/ 50 h 85"/>
                <a:gd name="T2" fmla="*/ 87 w 125"/>
                <a:gd name="T3" fmla="*/ 14 h 85"/>
                <a:gd name="T4" fmla="*/ 87 w 125"/>
                <a:gd name="T5" fmla="*/ 14 h 85"/>
                <a:gd name="T6" fmla="*/ 99 w 125"/>
                <a:gd name="T7" fmla="*/ 50 h 85"/>
                <a:gd name="T8" fmla="*/ 75 w 125"/>
                <a:gd name="T9" fmla="*/ 50 h 85"/>
                <a:gd name="T10" fmla="*/ 77 w 125"/>
                <a:gd name="T11" fmla="*/ 0 h 85"/>
                <a:gd name="T12" fmla="*/ 54 w 125"/>
                <a:gd name="T13" fmla="*/ 74 h 85"/>
                <a:gd name="T14" fmla="*/ 28 w 125"/>
                <a:gd name="T15" fmla="*/ 43 h 85"/>
                <a:gd name="T16" fmla="*/ 61 w 125"/>
                <a:gd name="T17" fmla="*/ 0 h 85"/>
                <a:gd name="T18" fmla="*/ 44 w 125"/>
                <a:gd name="T19" fmla="*/ 0 h 85"/>
                <a:gd name="T20" fmla="*/ 14 w 125"/>
                <a:gd name="T21" fmla="*/ 40 h 85"/>
                <a:gd name="T22" fmla="*/ 14 w 125"/>
                <a:gd name="T23" fmla="*/ 0 h 85"/>
                <a:gd name="T24" fmla="*/ 0 w 125"/>
                <a:gd name="T25" fmla="*/ 0 h 85"/>
                <a:gd name="T26" fmla="*/ 0 w 125"/>
                <a:gd name="T27" fmla="*/ 85 h 85"/>
                <a:gd name="T28" fmla="*/ 14 w 125"/>
                <a:gd name="T29" fmla="*/ 85 h 85"/>
                <a:gd name="T30" fmla="*/ 14 w 125"/>
                <a:gd name="T31" fmla="*/ 43 h 85"/>
                <a:gd name="T32" fmla="*/ 44 w 125"/>
                <a:gd name="T33" fmla="*/ 85 h 85"/>
                <a:gd name="T34" fmla="*/ 49 w 125"/>
                <a:gd name="T35" fmla="*/ 85 h 85"/>
                <a:gd name="T36" fmla="*/ 49 w 125"/>
                <a:gd name="T37" fmla="*/ 85 h 85"/>
                <a:gd name="T38" fmla="*/ 63 w 125"/>
                <a:gd name="T39" fmla="*/ 85 h 85"/>
                <a:gd name="T40" fmla="*/ 70 w 125"/>
                <a:gd name="T41" fmla="*/ 62 h 85"/>
                <a:gd name="T42" fmla="*/ 101 w 125"/>
                <a:gd name="T43" fmla="*/ 62 h 85"/>
                <a:gd name="T44" fmla="*/ 110 w 125"/>
                <a:gd name="T45" fmla="*/ 85 h 85"/>
                <a:gd name="T46" fmla="*/ 125 w 125"/>
                <a:gd name="T47" fmla="*/ 85 h 85"/>
                <a:gd name="T48" fmla="*/ 96 w 125"/>
                <a:gd name="T49" fmla="*/ 0 h 85"/>
                <a:gd name="T50" fmla="*/ 77 w 125"/>
                <a:gd name="T51" fmla="*/ 0 h 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5">
                  <a:moveTo>
                    <a:pt x="75" y="50"/>
                  </a:moveTo>
                  <a:lnTo>
                    <a:pt x="87" y="14"/>
                  </a:lnTo>
                  <a:lnTo>
                    <a:pt x="99" y="50"/>
                  </a:lnTo>
                  <a:lnTo>
                    <a:pt x="75" y="50"/>
                  </a:lnTo>
                  <a:close/>
                  <a:moveTo>
                    <a:pt x="77" y="0"/>
                  </a:moveTo>
                  <a:lnTo>
                    <a:pt x="54" y="74"/>
                  </a:lnTo>
                  <a:lnTo>
                    <a:pt x="28" y="43"/>
                  </a:lnTo>
                  <a:lnTo>
                    <a:pt x="61" y="0"/>
                  </a:lnTo>
                  <a:lnTo>
                    <a:pt x="44" y="0"/>
                  </a:lnTo>
                  <a:lnTo>
                    <a:pt x="14" y="40"/>
                  </a:lnTo>
                  <a:lnTo>
                    <a:pt x="14" y="0"/>
                  </a:lnTo>
                  <a:lnTo>
                    <a:pt x="0" y="0"/>
                  </a:lnTo>
                  <a:lnTo>
                    <a:pt x="0" y="85"/>
                  </a:lnTo>
                  <a:lnTo>
                    <a:pt x="14" y="85"/>
                  </a:lnTo>
                  <a:lnTo>
                    <a:pt x="14" y="43"/>
                  </a:lnTo>
                  <a:lnTo>
                    <a:pt x="44" y="85"/>
                  </a:lnTo>
                  <a:lnTo>
                    <a:pt x="49" y="85"/>
                  </a:lnTo>
                  <a:lnTo>
                    <a:pt x="63" y="85"/>
                  </a:lnTo>
                  <a:lnTo>
                    <a:pt x="70" y="62"/>
                  </a:lnTo>
                  <a:lnTo>
                    <a:pt x="101" y="62"/>
                  </a:lnTo>
                  <a:lnTo>
                    <a:pt x="110" y="85"/>
                  </a:lnTo>
                  <a:lnTo>
                    <a:pt x="125" y="85"/>
                  </a:lnTo>
                  <a:lnTo>
                    <a:pt x="96" y="0"/>
                  </a:lnTo>
                  <a:lnTo>
                    <a:pt x="77"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6" name="Freeform 30">
              <a:extLst>
                <a:ext uri="{FF2B5EF4-FFF2-40B4-BE49-F238E27FC236}">
                  <a16:creationId xmlns:a16="http://schemas.microsoft.com/office/drawing/2014/main" id="{60734AE6-B7D8-41D4-A1F9-9D713AF0FF9D}"/>
                </a:ext>
              </a:extLst>
            </p:cNvPr>
            <p:cNvSpPr>
              <a:spLocks/>
            </p:cNvSpPr>
            <p:nvPr/>
          </p:nvSpPr>
          <p:spPr bwMode="black">
            <a:xfrm>
              <a:off x="3006" y="2148"/>
              <a:ext cx="80" cy="85"/>
            </a:xfrm>
            <a:custGeom>
              <a:avLst/>
              <a:gdLst>
                <a:gd name="T0" fmla="*/ 40 w 34"/>
                <a:gd name="T1" fmla="*/ 61 h 36"/>
                <a:gd name="T2" fmla="*/ 24 w 34"/>
                <a:gd name="T3" fmla="*/ 0 h 36"/>
                <a:gd name="T4" fmla="*/ 0 w 34"/>
                <a:gd name="T5" fmla="*/ 0 h 36"/>
                <a:gd name="T6" fmla="*/ 0 w 34"/>
                <a:gd name="T7" fmla="*/ 85 h 36"/>
                <a:gd name="T8" fmla="*/ 14 w 34"/>
                <a:gd name="T9" fmla="*/ 85 h 36"/>
                <a:gd name="T10" fmla="*/ 14 w 34"/>
                <a:gd name="T11" fmla="*/ 12 h 36"/>
                <a:gd name="T12" fmla="*/ 33 w 34"/>
                <a:gd name="T13" fmla="*/ 85 h 36"/>
                <a:gd name="T14" fmla="*/ 47 w 34"/>
                <a:gd name="T15" fmla="*/ 85 h 36"/>
                <a:gd name="T16" fmla="*/ 66 w 34"/>
                <a:gd name="T17" fmla="*/ 12 h 36"/>
                <a:gd name="T18" fmla="*/ 66 w 34"/>
                <a:gd name="T19" fmla="*/ 85 h 36"/>
                <a:gd name="T20" fmla="*/ 80 w 34"/>
                <a:gd name="T21" fmla="*/ 85 h 36"/>
                <a:gd name="T22" fmla="*/ 80 w 34"/>
                <a:gd name="T23" fmla="*/ 0 h 36"/>
                <a:gd name="T24" fmla="*/ 54 w 34"/>
                <a:gd name="T25" fmla="*/ 0 h 36"/>
                <a:gd name="T26" fmla="*/ 40 w 34"/>
                <a:gd name="T27" fmla="*/ 61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 h="36">
                  <a:moveTo>
                    <a:pt x="17" y="26"/>
                  </a:moveTo>
                  <a:cubicBezTo>
                    <a:pt x="10" y="0"/>
                    <a:pt x="10" y="0"/>
                    <a:pt x="10" y="0"/>
                  </a:cubicBezTo>
                  <a:cubicBezTo>
                    <a:pt x="0" y="0"/>
                    <a:pt x="0" y="0"/>
                    <a:pt x="0" y="0"/>
                  </a:cubicBezTo>
                  <a:cubicBezTo>
                    <a:pt x="0" y="36"/>
                    <a:pt x="0" y="36"/>
                    <a:pt x="0" y="36"/>
                  </a:cubicBezTo>
                  <a:cubicBezTo>
                    <a:pt x="3" y="36"/>
                    <a:pt x="6" y="36"/>
                    <a:pt x="6" y="36"/>
                  </a:cubicBezTo>
                  <a:cubicBezTo>
                    <a:pt x="6" y="5"/>
                    <a:pt x="6" y="5"/>
                    <a:pt x="6" y="5"/>
                  </a:cubicBezTo>
                  <a:cubicBezTo>
                    <a:pt x="14" y="36"/>
                    <a:pt x="14" y="36"/>
                    <a:pt x="14" y="36"/>
                  </a:cubicBezTo>
                  <a:cubicBezTo>
                    <a:pt x="14" y="36"/>
                    <a:pt x="16" y="36"/>
                    <a:pt x="20" y="36"/>
                  </a:cubicBezTo>
                  <a:cubicBezTo>
                    <a:pt x="20" y="36"/>
                    <a:pt x="28" y="5"/>
                    <a:pt x="28" y="5"/>
                  </a:cubicBezTo>
                  <a:cubicBezTo>
                    <a:pt x="28" y="36"/>
                    <a:pt x="28" y="36"/>
                    <a:pt x="28" y="36"/>
                  </a:cubicBezTo>
                  <a:cubicBezTo>
                    <a:pt x="34" y="36"/>
                    <a:pt x="34" y="36"/>
                    <a:pt x="34" y="36"/>
                  </a:cubicBezTo>
                  <a:cubicBezTo>
                    <a:pt x="34" y="0"/>
                    <a:pt x="34" y="0"/>
                    <a:pt x="34" y="0"/>
                  </a:cubicBezTo>
                  <a:cubicBezTo>
                    <a:pt x="23" y="0"/>
                    <a:pt x="23" y="0"/>
                    <a:pt x="23" y="0"/>
                  </a:cubicBezTo>
                  <a:lnTo>
                    <a:pt x="17" y="26"/>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7" name="Freeform 31">
              <a:extLst>
                <a:ext uri="{FF2B5EF4-FFF2-40B4-BE49-F238E27FC236}">
                  <a16:creationId xmlns:a16="http://schemas.microsoft.com/office/drawing/2014/main" id="{42A614DA-2EAD-47CE-BA7B-0BCC31170FFA}"/>
                </a:ext>
              </a:extLst>
            </p:cNvPr>
            <p:cNvSpPr>
              <a:spLocks noEditPoints="1"/>
            </p:cNvSpPr>
            <p:nvPr/>
          </p:nvSpPr>
          <p:spPr bwMode="black">
            <a:xfrm>
              <a:off x="3093" y="2148"/>
              <a:ext cx="78" cy="85"/>
            </a:xfrm>
            <a:custGeom>
              <a:avLst/>
              <a:gdLst>
                <a:gd name="T0" fmla="*/ 26 w 78"/>
                <a:gd name="T1" fmla="*/ 50 h 85"/>
                <a:gd name="T2" fmla="*/ 38 w 78"/>
                <a:gd name="T3" fmla="*/ 14 h 85"/>
                <a:gd name="T4" fmla="*/ 38 w 78"/>
                <a:gd name="T5" fmla="*/ 14 h 85"/>
                <a:gd name="T6" fmla="*/ 50 w 78"/>
                <a:gd name="T7" fmla="*/ 50 h 85"/>
                <a:gd name="T8" fmla="*/ 26 w 78"/>
                <a:gd name="T9" fmla="*/ 50 h 85"/>
                <a:gd name="T10" fmla="*/ 29 w 78"/>
                <a:gd name="T11" fmla="*/ 0 h 85"/>
                <a:gd name="T12" fmla="*/ 0 w 78"/>
                <a:gd name="T13" fmla="*/ 85 h 85"/>
                <a:gd name="T14" fmla="*/ 14 w 78"/>
                <a:gd name="T15" fmla="*/ 85 h 85"/>
                <a:gd name="T16" fmla="*/ 21 w 78"/>
                <a:gd name="T17" fmla="*/ 62 h 85"/>
                <a:gd name="T18" fmla="*/ 55 w 78"/>
                <a:gd name="T19" fmla="*/ 62 h 85"/>
                <a:gd name="T20" fmla="*/ 62 w 78"/>
                <a:gd name="T21" fmla="*/ 85 h 85"/>
                <a:gd name="T22" fmla="*/ 78 w 78"/>
                <a:gd name="T23" fmla="*/ 85 h 85"/>
                <a:gd name="T24" fmla="*/ 47 w 78"/>
                <a:gd name="T25" fmla="*/ 0 h 85"/>
                <a:gd name="T26" fmla="*/ 29 w 78"/>
                <a:gd name="T27" fmla="*/ 0 h 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8" h="85">
                  <a:moveTo>
                    <a:pt x="26" y="50"/>
                  </a:moveTo>
                  <a:lnTo>
                    <a:pt x="38" y="14"/>
                  </a:lnTo>
                  <a:lnTo>
                    <a:pt x="50" y="50"/>
                  </a:lnTo>
                  <a:lnTo>
                    <a:pt x="26" y="50"/>
                  </a:lnTo>
                  <a:close/>
                  <a:moveTo>
                    <a:pt x="29" y="0"/>
                  </a:moveTo>
                  <a:lnTo>
                    <a:pt x="0" y="85"/>
                  </a:lnTo>
                  <a:lnTo>
                    <a:pt x="14" y="85"/>
                  </a:lnTo>
                  <a:lnTo>
                    <a:pt x="21" y="62"/>
                  </a:lnTo>
                  <a:lnTo>
                    <a:pt x="55" y="62"/>
                  </a:lnTo>
                  <a:lnTo>
                    <a:pt x="62" y="85"/>
                  </a:lnTo>
                  <a:lnTo>
                    <a:pt x="78" y="85"/>
                  </a:lnTo>
                  <a:lnTo>
                    <a:pt x="47" y="0"/>
                  </a:lnTo>
                  <a:lnTo>
                    <a:pt x="29"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8" name="Freeform 32">
              <a:extLst>
                <a:ext uri="{FF2B5EF4-FFF2-40B4-BE49-F238E27FC236}">
                  <a16:creationId xmlns:a16="http://schemas.microsoft.com/office/drawing/2014/main" id="{72078E8E-BDB3-4246-832F-4F3058D13507}"/>
                </a:ext>
              </a:extLst>
            </p:cNvPr>
            <p:cNvSpPr>
              <a:spLocks/>
            </p:cNvSpPr>
            <p:nvPr/>
          </p:nvSpPr>
          <p:spPr bwMode="black">
            <a:xfrm>
              <a:off x="3176" y="2148"/>
              <a:ext cx="68" cy="85"/>
            </a:xfrm>
            <a:custGeom>
              <a:avLst/>
              <a:gdLst>
                <a:gd name="T0" fmla="*/ 54 w 29"/>
                <a:gd name="T1" fmla="*/ 66 h 36"/>
                <a:gd name="T2" fmla="*/ 21 w 29"/>
                <a:gd name="T3" fmla="*/ 0 h 36"/>
                <a:gd name="T4" fmla="*/ 0 w 29"/>
                <a:gd name="T5" fmla="*/ 0 h 36"/>
                <a:gd name="T6" fmla="*/ 0 w 29"/>
                <a:gd name="T7" fmla="*/ 85 h 36"/>
                <a:gd name="T8" fmla="*/ 14 w 29"/>
                <a:gd name="T9" fmla="*/ 85 h 36"/>
                <a:gd name="T10" fmla="*/ 14 w 29"/>
                <a:gd name="T11" fmla="*/ 21 h 36"/>
                <a:gd name="T12" fmla="*/ 47 w 29"/>
                <a:gd name="T13" fmla="*/ 85 h 36"/>
                <a:gd name="T14" fmla="*/ 68 w 29"/>
                <a:gd name="T15" fmla="*/ 85 h 36"/>
                <a:gd name="T16" fmla="*/ 68 w 29"/>
                <a:gd name="T17" fmla="*/ 0 h 36"/>
                <a:gd name="T18" fmla="*/ 54 w 29"/>
                <a:gd name="T19" fmla="*/ 0 h 36"/>
                <a:gd name="T20" fmla="*/ 54 w 29"/>
                <a:gd name="T21" fmla="*/ 66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 h="36">
                  <a:moveTo>
                    <a:pt x="23" y="28"/>
                  </a:moveTo>
                  <a:cubicBezTo>
                    <a:pt x="9" y="0"/>
                    <a:pt x="9" y="0"/>
                    <a:pt x="9" y="0"/>
                  </a:cubicBezTo>
                  <a:cubicBezTo>
                    <a:pt x="0" y="0"/>
                    <a:pt x="0" y="0"/>
                    <a:pt x="0" y="0"/>
                  </a:cubicBezTo>
                  <a:cubicBezTo>
                    <a:pt x="0" y="36"/>
                    <a:pt x="0" y="36"/>
                    <a:pt x="0" y="36"/>
                  </a:cubicBezTo>
                  <a:cubicBezTo>
                    <a:pt x="3" y="36"/>
                    <a:pt x="6" y="36"/>
                    <a:pt x="6" y="36"/>
                  </a:cubicBezTo>
                  <a:cubicBezTo>
                    <a:pt x="6" y="9"/>
                    <a:pt x="6" y="9"/>
                    <a:pt x="6" y="9"/>
                  </a:cubicBezTo>
                  <a:cubicBezTo>
                    <a:pt x="20" y="36"/>
                    <a:pt x="20" y="36"/>
                    <a:pt x="20" y="36"/>
                  </a:cubicBezTo>
                  <a:cubicBezTo>
                    <a:pt x="29" y="36"/>
                    <a:pt x="29" y="36"/>
                    <a:pt x="29" y="36"/>
                  </a:cubicBezTo>
                  <a:cubicBezTo>
                    <a:pt x="29" y="0"/>
                    <a:pt x="29" y="0"/>
                    <a:pt x="29" y="0"/>
                  </a:cubicBezTo>
                  <a:cubicBezTo>
                    <a:pt x="23" y="0"/>
                    <a:pt x="23" y="0"/>
                    <a:pt x="23" y="0"/>
                  </a:cubicBezTo>
                  <a:lnTo>
                    <a:pt x="23" y="28"/>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29" name="Freeform 33">
              <a:extLst>
                <a:ext uri="{FF2B5EF4-FFF2-40B4-BE49-F238E27FC236}">
                  <a16:creationId xmlns:a16="http://schemas.microsoft.com/office/drawing/2014/main" id="{4BE88B7D-E5C3-4452-A9D8-A90CCFEA154B}"/>
                </a:ext>
              </a:extLst>
            </p:cNvPr>
            <p:cNvSpPr>
              <a:spLocks/>
            </p:cNvSpPr>
            <p:nvPr/>
          </p:nvSpPr>
          <p:spPr bwMode="black">
            <a:xfrm>
              <a:off x="3459" y="2148"/>
              <a:ext cx="50" cy="85"/>
            </a:xfrm>
            <a:custGeom>
              <a:avLst/>
              <a:gdLst>
                <a:gd name="T0" fmla="*/ 50 w 21"/>
                <a:gd name="T1" fmla="*/ 73 h 36"/>
                <a:gd name="T2" fmla="*/ 14 w 21"/>
                <a:gd name="T3" fmla="*/ 73 h 36"/>
                <a:gd name="T4" fmla="*/ 14 w 21"/>
                <a:gd name="T5" fmla="*/ 50 h 36"/>
                <a:gd name="T6" fmla="*/ 40 w 21"/>
                <a:gd name="T7" fmla="*/ 50 h 36"/>
                <a:gd name="T8" fmla="*/ 40 w 21"/>
                <a:gd name="T9" fmla="*/ 35 h 36"/>
                <a:gd name="T10" fmla="*/ 14 w 21"/>
                <a:gd name="T11" fmla="*/ 35 h 36"/>
                <a:gd name="T12" fmla="*/ 14 w 21"/>
                <a:gd name="T13" fmla="*/ 12 h 36"/>
                <a:gd name="T14" fmla="*/ 48 w 21"/>
                <a:gd name="T15" fmla="*/ 12 h 36"/>
                <a:gd name="T16" fmla="*/ 48 w 21"/>
                <a:gd name="T17" fmla="*/ 0 h 36"/>
                <a:gd name="T18" fmla="*/ 0 w 21"/>
                <a:gd name="T19" fmla="*/ 0 h 36"/>
                <a:gd name="T20" fmla="*/ 0 w 21"/>
                <a:gd name="T21" fmla="*/ 85 h 36"/>
                <a:gd name="T22" fmla="*/ 50 w 21"/>
                <a:gd name="T23" fmla="*/ 85 h 36"/>
                <a:gd name="T24" fmla="*/ 50 w 21"/>
                <a:gd name="T25" fmla="*/ 73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6">
                  <a:moveTo>
                    <a:pt x="21" y="31"/>
                  </a:moveTo>
                  <a:cubicBezTo>
                    <a:pt x="6" y="31"/>
                    <a:pt x="6" y="31"/>
                    <a:pt x="6" y="31"/>
                  </a:cubicBezTo>
                  <a:cubicBezTo>
                    <a:pt x="6" y="21"/>
                    <a:pt x="6" y="21"/>
                    <a:pt x="6" y="21"/>
                  </a:cubicBezTo>
                  <a:cubicBezTo>
                    <a:pt x="17" y="21"/>
                    <a:pt x="17" y="21"/>
                    <a:pt x="17" y="21"/>
                  </a:cubicBezTo>
                  <a:cubicBezTo>
                    <a:pt x="17" y="15"/>
                    <a:pt x="17" y="15"/>
                    <a:pt x="17" y="15"/>
                  </a:cubicBezTo>
                  <a:cubicBezTo>
                    <a:pt x="6" y="15"/>
                    <a:pt x="6" y="15"/>
                    <a:pt x="6" y="15"/>
                  </a:cubicBezTo>
                  <a:cubicBezTo>
                    <a:pt x="6" y="5"/>
                    <a:pt x="6" y="5"/>
                    <a:pt x="6" y="5"/>
                  </a:cubicBezTo>
                  <a:cubicBezTo>
                    <a:pt x="8" y="5"/>
                    <a:pt x="20" y="5"/>
                    <a:pt x="20" y="5"/>
                  </a:cubicBezTo>
                  <a:cubicBezTo>
                    <a:pt x="20" y="0"/>
                    <a:pt x="20" y="0"/>
                    <a:pt x="20" y="0"/>
                  </a:cubicBezTo>
                  <a:cubicBezTo>
                    <a:pt x="16" y="0"/>
                    <a:pt x="0" y="0"/>
                    <a:pt x="0" y="0"/>
                  </a:cubicBezTo>
                  <a:cubicBezTo>
                    <a:pt x="0" y="36"/>
                    <a:pt x="0" y="36"/>
                    <a:pt x="0" y="36"/>
                  </a:cubicBezTo>
                  <a:cubicBezTo>
                    <a:pt x="21" y="36"/>
                    <a:pt x="21" y="36"/>
                    <a:pt x="21" y="36"/>
                  </a:cubicBezTo>
                  <a:lnTo>
                    <a:pt x="21" y="31"/>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0" name="Freeform 34">
              <a:extLst>
                <a:ext uri="{FF2B5EF4-FFF2-40B4-BE49-F238E27FC236}">
                  <a16:creationId xmlns:a16="http://schemas.microsoft.com/office/drawing/2014/main" id="{8E525062-7487-47FE-885B-1D5F038BDAA1}"/>
                </a:ext>
              </a:extLst>
            </p:cNvPr>
            <p:cNvSpPr>
              <a:spLocks/>
            </p:cNvSpPr>
            <p:nvPr/>
          </p:nvSpPr>
          <p:spPr bwMode="black">
            <a:xfrm>
              <a:off x="3258" y="2148"/>
              <a:ext cx="194" cy="85"/>
            </a:xfrm>
            <a:custGeom>
              <a:avLst/>
              <a:gdLst>
                <a:gd name="T0" fmla="*/ 116 w 82"/>
                <a:gd name="T1" fmla="*/ 0 h 36"/>
                <a:gd name="T2" fmla="*/ 116 w 82"/>
                <a:gd name="T3" fmla="*/ 0 h 36"/>
                <a:gd name="T4" fmla="*/ 114 w 82"/>
                <a:gd name="T5" fmla="*/ 0 h 36"/>
                <a:gd name="T6" fmla="*/ 114 w 82"/>
                <a:gd name="T7" fmla="*/ 66 h 36"/>
                <a:gd name="T8" fmla="*/ 80 w 82"/>
                <a:gd name="T9" fmla="*/ 0 h 36"/>
                <a:gd name="T10" fmla="*/ 62 w 82"/>
                <a:gd name="T11" fmla="*/ 0 h 36"/>
                <a:gd name="T12" fmla="*/ 62 w 82"/>
                <a:gd name="T13" fmla="*/ 73 h 36"/>
                <a:gd name="T14" fmla="*/ 17 w 82"/>
                <a:gd name="T15" fmla="*/ 73 h 36"/>
                <a:gd name="T16" fmla="*/ 17 w 82"/>
                <a:gd name="T17" fmla="*/ 50 h 36"/>
                <a:gd name="T18" fmla="*/ 43 w 82"/>
                <a:gd name="T19" fmla="*/ 50 h 36"/>
                <a:gd name="T20" fmla="*/ 43 w 82"/>
                <a:gd name="T21" fmla="*/ 35 h 36"/>
                <a:gd name="T22" fmla="*/ 17 w 82"/>
                <a:gd name="T23" fmla="*/ 35 h 36"/>
                <a:gd name="T24" fmla="*/ 17 w 82"/>
                <a:gd name="T25" fmla="*/ 12 h 36"/>
                <a:gd name="T26" fmla="*/ 47 w 82"/>
                <a:gd name="T27" fmla="*/ 12 h 36"/>
                <a:gd name="T28" fmla="*/ 47 w 82"/>
                <a:gd name="T29" fmla="*/ 0 h 36"/>
                <a:gd name="T30" fmla="*/ 0 w 82"/>
                <a:gd name="T31" fmla="*/ 0 h 36"/>
                <a:gd name="T32" fmla="*/ 0 w 82"/>
                <a:gd name="T33" fmla="*/ 85 h 36"/>
                <a:gd name="T34" fmla="*/ 73 w 82"/>
                <a:gd name="T35" fmla="*/ 85 h 36"/>
                <a:gd name="T36" fmla="*/ 73 w 82"/>
                <a:gd name="T37" fmla="*/ 85 h 36"/>
                <a:gd name="T38" fmla="*/ 73 w 82"/>
                <a:gd name="T39" fmla="*/ 21 h 36"/>
                <a:gd name="T40" fmla="*/ 109 w 82"/>
                <a:gd name="T41" fmla="*/ 85 h 36"/>
                <a:gd name="T42" fmla="*/ 128 w 82"/>
                <a:gd name="T43" fmla="*/ 85 h 36"/>
                <a:gd name="T44" fmla="*/ 128 w 82"/>
                <a:gd name="T45" fmla="*/ 12 h 36"/>
                <a:gd name="T46" fmla="*/ 154 w 82"/>
                <a:gd name="T47" fmla="*/ 12 h 36"/>
                <a:gd name="T48" fmla="*/ 154 w 82"/>
                <a:gd name="T49" fmla="*/ 85 h 36"/>
                <a:gd name="T50" fmla="*/ 168 w 82"/>
                <a:gd name="T51" fmla="*/ 85 h 36"/>
                <a:gd name="T52" fmla="*/ 168 w 82"/>
                <a:gd name="T53" fmla="*/ 12 h 36"/>
                <a:gd name="T54" fmla="*/ 194 w 82"/>
                <a:gd name="T55" fmla="*/ 12 h 36"/>
                <a:gd name="T56" fmla="*/ 194 w 82"/>
                <a:gd name="T57" fmla="*/ 0 h 36"/>
                <a:gd name="T58" fmla="*/ 116 w 82"/>
                <a:gd name="T59" fmla="*/ 0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2" h="36">
                  <a:moveTo>
                    <a:pt x="49" y="0"/>
                  </a:moveTo>
                  <a:cubicBezTo>
                    <a:pt x="49" y="0"/>
                    <a:pt x="49" y="0"/>
                    <a:pt x="49" y="0"/>
                  </a:cubicBezTo>
                  <a:cubicBezTo>
                    <a:pt x="48" y="0"/>
                    <a:pt x="48" y="0"/>
                    <a:pt x="48" y="0"/>
                  </a:cubicBezTo>
                  <a:cubicBezTo>
                    <a:pt x="48" y="28"/>
                    <a:pt x="48" y="28"/>
                    <a:pt x="48" y="28"/>
                  </a:cubicBezTo>
                  <a:cubicBezTo>
                    <a:pt x="34" y="0"/>
                    <a:pt x="34" y="0"/>
                    <a:pt x="34" y="0"/>
                  </a:cubicBezTo>
                  <a:cubicBezTo>
                    <a:pt x="26" y="0"/>
                    <a:pt x="26" y="0"/>
                    <a:pt x="26" y="0"/>
                  </a:cubicBezTo>
                  <a:cubicBezTo>
                    <a:pt x="26" y="31"/>
                    <a:pt x="26" y="31"/>
                    <a:pt x="26" y="31"/>
                  </a:cubicBezTo>
                  <a:cubicBezTo>
                    <a:pt x="7" y="31"/>
                    <a:pt x="7" y="31"/>
                    <a:pt x="7" y="31"/>
                  </a:cubicBezTo>
                  <a:cubicBezTo>
                    <a:pt x="7" y="21"/>
                    <a:pt x="7" y="21"/>
                    <a:pt x="7" y="21"/>
                  </a:cubicBezTo>
                  <a:cubicBezTo>
                    <a:pt x="18" y="21"/>
                    <a:pt x="18" y="21"/>
                    <a:pt x="18" y="21"/>
                  </a:cubicBezTo>
                  <a:cubicBezTo>
                    <a:pt x="18" y="15"/>
                    <a:pt x="18" y="15"/>
                    <a:pt x="18" y="15"/>
                  </a:cubicBezTo>
                  <a:cubicBezTo>
                    <a:pt x="7" y="15"/>
                    <a:pt x="7" y="15"/>
                    <a:pt x="7" y="15"/>
                  </a:cubicBezTo>
                  <a:cubicBezTo>
                    <a:pt x="7" y="5"/>
                    <a:pt x="7" y="5"/>
                    <a:pt x="7" y="5"/>
                  </a:cubicBezTo>
                  <a:cubicBezTo>
                    <a:pt x="8" y="5"/>
                    <a:pt x="20" y="5"/>
                    <a:pt x="20" y="5"/>
                  </a:cubicBezTo>
                  <a:cubicBezTo>
                    <a:pt x="20" y="0"/>
                    <a:pt x="20" y="0"/>
                    <a:pt x="20" y="0"/>
                  </a:cubicBezTo>
                  <a:cubicBezTo>
                    <a:pt x="17" y="0"/>
                    <a:pt x="0" y="0"/>
                    <a:pt x="0" y="0"/>
                  </a:cubicBezTo>
                  <a:cubicBezTo>
                    <a:pt x="0" y="36"/>
                    <a:pt x="0" y="36"/>
                    <a:pt x="0" y="36"/>
                  </a:cubicBezTo>
                  <a:cubicBezTo>
                    <a:pt x="31" y="36"/>
                    <a:pt x="31" y="36"/>
                    <a:pt x="31" y="36"/>
                  </a:cubicBezTo>
                  <a:cubicBezTo>
                    <a:pt x="31" y="36"/>
                    <a:pt x="31" y="36"/>
                    <a:pt x="31" y="36"/>
                  </a:cubicBezTo>
                  <a:cubicBezTo>
                    <a:pt x="31" y="9"/>
                    <a:pt x="31" y="9"/>
                    <a:pt x="31" y="9"/>
                  </a:cubicBezTo>
                  <a:cubicBezTo>
                    <a:pt x="46" y="36"/>
                    <a:pt x="46" y="36"/>
                    <a:pt x="46" y="36"/>
                  </a:cubicBezTo>
                  <a:cubicBezTo>
                    <a:pt x="54" y="36"/>
                    <a:pt x="54" y="36"/>
                    <a:pt x="54" y="36"/>
                  </a:cubicBezTo>
                  <a:cubicBezTo>
                    <a:pt x="54" y="5"/>
                    <a:pt x="54" y="5"/>
                    <a:pt x="54" y="5"/>
                  </a:cubicBezTo>
                  <a:cubicBezTo>
                    <a:pt x="58" y="5"/>
                    <a:pt x="62" y="5"/>
                    <a:pt x="65" y="5"/>
                  </a:cubicBezTo>
                  <a:cubicBezTo>
                    <a:pt x="65" y="36"/>
                    <a:pt x="65" y="36"/>
                    <a:pt x="65" y="36"/>
                  </a:cubicBezTo>
                  <a:cubicBezTo>
                    <a:pt x="71" y="36"/>
                    <a:pt x="71" y="36"/>
                    <a:pt x="71" y="36"/>
                  </a:cubicBezTo>
                  <a:cubicBezTo>
                    <a:pt x="71" y="5"/>
                    <a:pt x="71" y="5"/>
                    <a:pt x="71" y="5"/>
                  </a:cubicBezTo>
                  <a:cubicBezTo>
                    <a:pt x="82" y="5"/>
                    <a:pt x="82" y="5"/>
                    <a:pt x="82" y="5"/>
                  </a:cubicBezTo>
                  <a:cubicBezTo>
                    <a:pt x="82" y="0"/>
                    <a:pt x="82" y="0"/>
                    <a:pt x="82" y="0"/>
                  </a:cubicBezTo>
                  <a:lnTo>
                    <a:pt x="49" y="0"/>
                  </a:ln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1" name="Freeform 35">
              <a:extLst>
                <a:ext uri="{FF2B5EF4-FFF2-40B4-BE49-F238E27FC236}">
                  <a16:creationId xmlns:a16="http://schemas.microsoft.com/office/drawing/2014/main" id="{E550D2AF-23A5-4375-AD09-3BC0D1C54861}"/>
                </a:ext>
              </a:extLst>
            </p:cNvPr>
            <p:cNvSpPr>
              <a:spLocks noEditPoints="1"/>
            </p:cNvSpPr>
            <p:nvPr/>
          </p:nvSpPr>
          <p:spPr bwMode="black">
            <a:xfrm>
              <a:off x="2874" y="2148"/>
              <a:ext cx="120" cy="85"/>
            </a:xfrm>
            <a:custGeom>
              <a:avLst/>
              <a:gdLst>
                <a:gd name="T0" fmla="*/ 75 w 51"/>
                <a:gd name="T1" fmla="*/ 35 h 36"/>
                <a:gd name="T2" fmla="*/ 75 w 51"/>
                <a:gd name="T3" fmla="*/ 35 h 36"/>
                <a:gd name="T4" fmla="*/ 75 w 51"/>
                <a:gd name="T5" fmla="*/ 12 h 36"/>
                <a:gd name="T6" fmla="*/ 87 w 51"/>
                <a:gd name="T7" fmla="*/ 12 h 36"/>
                <a:gd name="T8" fmla="*/ 104 w 51"/>
                <a:gd name="T9" fmla="*/ 24 h 36"/>
                <a:gd name="T10" fmla="*/ 87 w 51"/>
                <a:gd name="T11" fmla="*/ 35 h 36"/>
                <a:gd name="T12" fmla="*/ 75 w 51"/>
                <a:gd name="T13" fmla="*/ 35 h 36"/>
                <a:gd name="T14" fmla="*/ 111 w 51"/>
                <a:gd name="T15" fmla="*/ 43 h 36"/>
                <a:gd name="T16" fmla="*/ 118 w 51"/>
                <a:gd name="T17" fmla="*/ 24 h 36"/>
                <a:gd name="T18" fmla="*/ 111 w 51"/>
                <a:gd name="T19" fmla="*/ 7 h 36"/>
                <a:gd name="T20" fmla="*/ 85 w 51"/>
                <a:gd name="T21" fmla="*/ 0 h 36"/>
                <a:gd name="T22" fmla="*/ 61 w 51"/>
                <a:gd name="T23" fmla="*/ 0 h 36"/>
                <a:gd name="T24" fmla="*/ 61 w 51"/>
                <a:gd name="T25" fmla="*/ 35 h 36"/>
                <a:gd name="T26" fmla="*/ 61 w 51"/>
                <a:gd name="T27" fmla="*/ 35 h 36"/>
                <a:gd name="T28" fmla="*/ 61 w 51"/>
                <a:gd name="T29" fmla="*/ 73 h 36"/>
                <a:gd name="T30" fmla="*/ 16 w 51"/>
                <a:gd name="T31" fmla="*/ 73 h 36"/>
                <a:gd name="T32" fmla="*/ 16 w 51"/>
                <a:gd name="T33" fmla="*/ 50 h 36"/>
                <a:gd name="T34" fmla="*/ 42 w 51"/>
                <a:gd name="T35" fmla="*/ 50 h 36"/>
                <a:gd name="T36" fmla="*/ 42 w 51"/>
                <a:gd name="T37" fmla="*/ 35 h 36"/>
                <a:gd name="T38" fmla="*/ 16 w 51"/>
                <a:gd name="T39" fmla="*/ 35 h 36"/>
                <a:gd name="T40" fmla="*/ 16 w 51"/>
                <a:gd name="T41" fmla="*/ 12 h 36"/>
                <a:gd name="T42" fmla="*/ 47 w 51"/>
                <a:gd name="T43" fmla="*/ 12 h 36"/>
                <a:gd name="T44" fmla="*/ 47 w 51"/>
                <a:gd name="T45" fmla="*/ 0 h 36"/>
                <a:gd name="T46" fmla="*/ 0 w 51"/>
                <a:gd name="T47" fmla="*/ 0 h 36"/>
                <a:gd name="T48" fmla="*/ 0 w 51"/>
                <a:gd name="T49" fmla="*/ 85 h 36"/>
                <a:gd name="T50" fmla="*/ 75 w 51"/>
                <a:gd name="T51" fmla="*/ 85 h 36"/>
                <a:gd name="T52" fmla="*/ 75 w 51"/>
                <a:gd name="T53" fmla="*/ 50 h 36"/>
                <a:gd name="T54" fmla="*/ 82 w 51"/>
                <a:gd name="T55" fmla="*/ 50 h 36"/>
                <a:gd name="T56" fmla="*/ 104 w 51"/>
                <a:gd name="T57" fmla="*/ 85 h 36"/>
                <a:gd name="T58" fmla="*/ 120 w 51"/>
                <a:gd name="T59" fmla="*/ 85 h 36"/>
                <a:gd name="T60" fmla="*/ 99 w 51"/>
                <a:gd name="T61" fmla="*/ 47 h 36"/>
                <a:gd name="T62" fmla="*/ 111 w 51"/>
                <a:gd name="T63" fmla="*/ 43 h 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1" h="36">
                  <a:moveTo>
                    <a:pt x="32" y="15"/>
                  </a:moveTo>
                  <a:cubicBezTo>
                    <a:pt x="32" y="15"/>
                    <a:pt x="32" y="15"/>
                    <a:pt x="32" y="15"/>
                  </a:cubicBezTo>
                  <a:cubicBezTo>
                    <a:pt x="32" y="5"/>
                    <a:pt x="32" y="5"/>
                    <a:pt x="32" y="5"/>
                  </a:cubicBezTo>
                  <a:cubicBezTo>
                    <a:pt x="37" y="5"/>
                    <a:pt x="37" y="5"/>
                    <a:pt x="37" y="5"/>
                  </a:cubicBezTo>
                  <a:cubicBezTo>
                    <a:pt x="42" y="5"/>
                    <a:pt x="44" y="7"/>
                    <a:pt x="44" y="10"/>
                  </a:cubicBezTo>
                  <a:cubicBezTo>
                    <a:pt x="44" y="14"/>
                    <a:pt x="42" y="15"/>
                    <a:pt x="37" y="15"/>
                  </a:cubicBezTo>
                  <a:lnTo>
                    <a:pt x="32" y="15"/>
                  </a:lnTo>
                  <a:close/>
                  <a:moveTo>
                    <a:pt x="47" y="18"/>
                  </a:moveTo>
                  <a:cubicBezTo>
                    <a:pt x="49" y="16"/>
                    <a:pt x="50" y="14"/>
                    <a:pt x="50" y="10"/>
                  </a:cubicBezTo>
                  <a:cubicBezTo>
                    <a:pt x="50" y="7"/>
                    <a:pt x="49" y="4"/>
                    <a:pt x="47" y="3"/>
                  </a:cubicBezTo>
                  <a:cubicBezTo>
                    <a:pt x="44" y="1"/>
                    <a:pt x="41" y="0"/>
                    <a:pt x="36" y="0"/>
                  </a:cubicBezTo>
                  <a:cubicBezTo>
                    <a:pt x="26" y="0"/>
                    <a:pt x="26" y="0"/>
                    <a:pt x="26" y="0"/>
                  </a:cubicBezTo>
                  <a:cubicBezTo>
                    <a:pt x="26" y="15"/>
                    <a:pt x="26" y="15"/>
                    <a:pt x="26" y="15"/>
                  </a:cubicBezTo>
                  <a:cubicBezTo>
                    <a:pt x="26" y="15"/>
                    <a:pt x="26" y="15"/>
                    <a:pt x="26" y="15"/>
                  </a:cubicBezTo>
                  <a:cubicBezTo>
                    <a:pt x="26" y="31"/>
                    <a:pt x="26" y="31"/>
                    <a:pt x="26" y="31"/>
                  </a:cubicBezTo>
                  <a:cubicBezTo>
                    <a:pt x="7" y="31"/>
                    <a:pt x="7" y="31"/>
                    <a:pt x="7" y="31"/>
                  </a:cubicBezTo>
                  <a:cubicBezTo>
                    <a:pt x="7" y="21"/>
                    <a:pt x="7" y="21"/>
                    <a:pt x="7" y="21"/>
                  </a:cubicBezTo>
                  <a:cubicBezTo>
                    <a:pt x="18" y="21"/>
                    <a:pt x="18" y="21"/>
                    <a:pt x="18" y="21"/>
                  </a:cubicBezTo>
                  <a:cubicBezTo>
                    <a:pt x="18" y="15"/>
                    <a:pt x="18" y="15"/>
                    <a:pt x="18" y="15"/>
                  </a:cubicBezTo>
                  <a:cubicBezTo>
                    <a:pt x="7" y="15"/>
                    <a:pt x="7" y="15"/>
                    <a:pt x="7" y="15"/>
                  </a:cubicBezTo>
                  <a:cubicBezTo>
                    <a:pt x="7" y="5"/>
                    <a:pt x="7" y="5"/>
                    <a:pt x="7" y="5"/>
                  </a:cubicBezTo>
                  <a:cubicBezTo>
                    <a:pt x="8" y="5"/>
                    <a:pt x="20" y="5"/>
                    <a:pt x="20" y="5"/>
                  </a:cubicBezTo>
                  <a:cubicBezTo>
                    <a:pt x="20" y="0"/>
                    <a:pt x="20" y="0"/>
                    <a:pt x="20" y="0"/>
                  </a:cubicBezTo>
                  <a:cubicBezTo>
                    <a:pt x="17" y="0"/>
                    <a:pt x="0" y="0"/>
                    <a:pt x="0" y="0"/>
                  </a:cubicBezTo>
                  <a:cubicBezTo>
                    <a:pt x="0" y="36"/>
                    <a:pt x="0" y="36"/>
                    <a:pt x="0" y="36"/>
                  </a:cubicBezTo>
                  <a:cubicBezTo>
                    <a:pt x="32" y="36"/>
                    <a:pt x="32" y="36"/>
                    <a:pt x="32" y="36"/>
                  </a:cubicBezTo>
                  <a:cubicBezTo>
                    <a:pt x="32" y="21"/>
                    <a:pt x="32" y="21"/>
                    <a:pt x="32" y="21"/>
                  </a:cubicBezTo>
                  <a:cubicBezTo>
                    <a:pt x="35" y="21"/>
                    <a:pt x="35" y="21"/>
                    <a:pt x="35" y="21"/>
                  </a:cubicBezTo>
                  <a:cubicBezTo>
                    <a:pt x="38" y="25"/>
                    <a:pt x="44" y="36"/>
                    <a:pt x="44" y="36"/>
                  </a:cubicBezTo>
                  <a:cubicBezTo>
                    <a:pt x="51" y="36"/>
                    <a:pt x="51" y="36"/>
                    <a:pt x="51" y="36"/>
                  </a:cubicBezTo>
                  <a:cubicBezTo>
                    <a:pt x="42" y="20"/>
                    <a:pt x="42" y="20"/>
                    <a:pt x="42" y="20"/>
                  </a:cubicBezTo>
                  <a:cubicBezTo>
                    <a:pt x="44" y="20"/>
                    <a:pt x="45" y="19"/>
                    <a:pt x="47" y="1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2" name="Freeform 36">
              <a:extLst>
                <a:ext uri="{FF2B5EF4-FFF2-40B4-BE49-F238E27FC236}">
                  <a16:creationId xmlns:a16="http://schemas.microsoft.com/office/drawing/2014/main" id="{4299BB8E-441A-48B3-867F-6D48263A3E37}"/>
                </a:ext>
              </a:extLst>
            </p:cNvPr>
            <p:cNvSpPr>
              <a:spLocks noEditPoints="1"/>
            </p:cNvSpPr>
            <p:nvPr/>
          </p:nvSpPr>
          <p:spPr bwMode="black">
            <a:xfrm>
              <a:off x="2642" y="2148"/>
              <a:ext cx="121" cy="85"/>
            </a:xfrm>
            <a:custGeom>
              <a:avLst/>
              <a:gdLst>
                <a:gd name="T0" fmla="*/ 76 w 51"/>
                <a:gd name="T1" fmla="*/ 35 h 36"/>
                <a:gd name="T2" fmla="*/ 76 w 51"/>
                <a:gd name="T3" fmla="*/ 35 h 36"/>
                <a:gd name="T4" fmla="*/ 76 w 51"/>
                <a:gd name="T5" fmla="*/ 12 h 36"/>
                <a:gd name="T6" fmla="*/ 88 w 51"/>
                <a:gd name="T7" fmla="*/ 12 h 36"/>
                <a:gd name="T8" fmla="*/ 102 w 51"/>
                <a:gd name="T9" fmla="*/ 24 h 36"/>
                <a:gd name="T10" fmla="*/ 88 w 51"/>
                <a:gd name="T11" fmla="*/ 35 h 36"/>
                <a:gd name="T12" fmla="*/ 76 w 51"/>
                <a:gd name="T13" fmla="*/ 35 h 36"/>
                <a:gd name="T14" fmla="*/ 109 w 51"/>
                <a:gd name="T15" fmla="*/ 43 h 36"/>
                <a:gd name="T16" fmla="*/ 119 w 51"/>
                <a:gd name="T17" fmla="*/ 24 h 36"/>
                <a:gd name="T18" fmla="*/ 109 w 51"/>
                <a:gd name="T19" fmla="*/ 7 h 36"/>
                <a:gd name="T20" fmla="*/ 85 w 51"/>
                <a:gd name="T21" fmla="*/ 0 h 36"/>
                <a:gd name="T22" fmla="*/ 59 w 51"/>
                <a:gd name="T23" fmla="*/ 0 h 36"/>
                <a:gd name="T24" fmla="*/ 59 w 51"/>
                <a:gd name="T25" fmla="*/ 35 h 36"/>
                <a:gd name="T26" fmla="*/ 59 w 51"/>
                <a:gd name="T27" fmla="*/ 35 h 36"/>
                <a:gd name="T28" fmla="*/ 59 w 51"/>
                <a:gd name="T29" fmla="*/ 73 h 36"/>
                <a:gd name="T30" fmla="*/ 14 w 51"/>
                <a:gd name="T31" fmla="*/ 73 h 36"/>
                <a:gd name="T32" fmla="*/ 14 w 51"/>
                <a:gd name="T33" fmla="*/ 50 h 36"/>
                <a:gd name="T34" fmla="*/ 40 w 51"/>
                <a:gd name="T35" fmla="*/ 50 h 36"/>
                <a:gd name="T36" fmla="*/ 40 w 51"/>
                <a:gd name="T37" fmla="*/ 35 h 36"/>
                <a:gd name="T38" fmla="*/ 14 w 51"/>
                <a:gd name="T39" fmla="*/ 35 h 36"/>
                <a:gd name="T40" fmla="*/ 14 w 51"/>
                <a:gd name="T41" fmla="*/ 12 h 36"/>
                <a:gd name="T42" fmla="*/ 47 w 51"/>
                <a:gd name="T43" fmla="*/ 12 h 36"/>
                <a:gd name="T44" fmla="*/ 47 w 51"/>
                <a:gd name="T45" fmla="*/ 0 h 36"/>
                <a:gd name="T46" fmla="*/ 0 w 51"/>
                <a:gd name="T47" fmla="*/ 0 h 36"/>
                <a:gd name="T48" fmla="*/ 0 w 51"/>
                <a:gd name="T49" fmla="*/ 85 h 36"/>
                <a:gd name="T50" fmla="*/ 76 w 51"/>
                <a:gd name="T51" fmla="*/ 85 h 36"/>
                <a:gd name="T52" fmla="*/ 76 w 51"/>
                <a:gd name="T53" fmla="*/ 50 h 36"/>
                <a:gd name="T54" fmla="*/ 83 w 51"/>
                <a:gd name="T55" fmla="*/ 50 h 36"/>
                <a:gd name="T56" fmla="*/ 104 w 51"/>
                <a:gd name="T57" fmla="*/ 85 h 36"/>
                <a:gd name="T58" fmla="*/ 121 w 51"/>
                <a:gd name="T59" fmla="*/ 85 h 36"/>
                <a:gd name="T60" fmla="*/ 97 w 51"/>
                <a:gd name="T61" fmla="*/ 47 h 36"/>
                <a:gd name="T62" fmla="*/ 109 w 51"/>
                <a:gd name="T63" fmla="*/ 43 h 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1" h="36">
                  <a:moveTo>
                    <a:pt x="32" y="15"/>
                  </a:moveTo>
                  <a:cubicBezTo>
                    <a:pt x="32" y="15"/>
                    <a:pt x="32" y="15"/>
                    <a:pt x="32" y="15"/>
                  </a:cubicBezTo>
                  <a:cubicBezTo>
                    <a:pt x="32" y="5"/>
                    <a:pt x="32" y="5"/>
                    <a:pt x="32" y="5"/>
                  </a:cubicBezTo>
                  <a:cubicBezTo>
                    <a:pt x="37" y="5"/>
                    <a:pt x="37" y="5"/>
                    <a:pt x="37" y="5"/>
                  </a:cubicBezTo>
                  <a:cubicBezTo>
                    <a:pt x="42" y="5"/>
                    <a:pt x="43" y="7"/>
                    <a:pt x="43" y="10"/>
                  </a:cubicBezTo>
                  <a:cubicBezTo>
                    <a:pt x="43" y="14"/>
                    <a:pt x="42" y="15"/>
                    <a:pt x="37" y="15"/>
                  </a:cubicBezTo>
                  <a:lnTo>
                    <a:pt x="32" y="15"/>
                  </a:lnTo>
                  <a:close/>
                  <a:moveTo>
                    <a:pt x="46" y="18"/>
                  </a:moveTo>
                  <a:cubicBezTo>
                    <a:pt x="48" y="16"/>
                    <a:pt x="50" y="14"/>
                    <a:pt x="50" y="10"/>
                  </a:cubicBezTo>
                  <a:cubicBezTo>
                    <a:pt x="50" y="7"/>
                    <a:pt x="48" y="4"/>
                    <a:pt x="46" y="3"/>
                  </a:cubicBezTo>
                  <a:cubicBezTo>
                    <a:pt x="44" y="1"/>
                    <a:pt x="41" y="0"/>
                    <a:pt x="36" y="0"/>
                  </a:cubicBezTo>
                  <a:cubicBezTo>
                    <a:pt x="25" y="0"/>
                    <a:pt x="25" y="0"/>
                    <a:pt x="25" y="0"/>
                  </a:cubicBezTo>
                  <a:cubicBezTo>
                    <a:pt x="25" y="15"/>
                    <a:pt x="25" y="15"/>
                    <a:pt x="25" y="15"/>
                  </a:cubicBezTo>
                  <a:cubicBezTo>
                    <a:pt x="25" y="15"/>
                    <a:pt x="25" y="15"/>
                    <a:pt x="25" y="15"/>
                  </a:cubicBezTo>
                  <a:cubicBezTo>
                    <a:pt x="25" y="31"/>
                    <a:pt x="25" y="31"/>
                    <a:pt x="25" y="31"/>
                  </a:cubicBezTo>
                  <a:cubicBezTo>
                    <a:pt x="6" y="31"/>
                    <a:pt x="6" y="31"/>
                    <a:pt x="6" y="31"/>
                  </a:cubicBezTo>
                  <a:cubicBezTo>
                    <a:pt x="6" y="21"/>
                    <a:pt x="6" y="21"/>
                    <a:pt x="6" y="21"/>
                  </a:cubicBezTo>
                  <a:cubicBezTo>
                    <a:pt x="17" y="21"/>
                    <a:pt x="17" y="21"/>
                    <a:pt x="17" y="21"/>
                  </a:cubicBezTo>
                  <a:cubicBezTo>
                    <a:pt x="17" y="15"/>
                    <a:pt x="17" y="15"/>
                    <a:pt x="17" y="15"/>
                  </a:cubicBezTo>
                  <a:cubicBezTo>
                    <a:pt x="6" y="15"/>
                    <a:pt x="6" y="15"/>
                    <a:pt x="6" y="15"/>
                  </a:cubicBezTo>
                  <a:cubicBezTo>
                    <a:pt x="6" y="5"/>
                    <a:pt x="6" y="5"/>
                    <a:pt x="6" y="5"/>
                  </a:cubicBezTo>
                  <a:cubicBezTo>
                    <a:pt x="8" y="5"/>
                    <a:pt x="20" y="5"/>
                    <a:pt x="20" y="5"/>
                  </a:cubicBezTo>
                  <a:cubicBezTo>
                    <a:pt x="20" y="0"/>
                    <a:pt x="20" y="0"/>
                    <a:pt x="20" y="0"/>
                  </a:cubicBezTo>
                  <a:cubicBezTo>
                    <a:pt x="16" y="0"/>
                    <a:pt x="0" y="0"/>
                    <a:pt x="0" y="0"/>
                  </a:cubicBezTo>
                  <a:cubicBezTo>
                    <a:pt x="0" y="36"/>
                    <a:pt x="0" y="36"/>
                    <a:pt x="0" y="36"/>
                  </a:cubicBezTo>
                  <a:cubicBezTo>
                    <a:pt x="32" y="36"/>
                    <a:pt x="32" y="36"/>
                    <a:pt x="32" y="36"/>
                  </a:cubicBezTo>
                  <a:cubicBezTo>
                    <a:pt x="32" y="21"/>
                    <a:pt x="32" y="21"/>
                    <a:pt x="32" y="21"/>
                  </a:cubicBezTo>
                  <a:cubicBezTo>
                    <a:pt x="35" y="21"/>
                    <a:pt x="35" y="21"/>
                    <a:pt x="35" y="21"/>
                  </a:cubicBezTo>
                  <a:cubicBezTo>
                    <a:pt x="38" y="25"/>
                    <a:pt x="44" y="36"/>
                    <a:pt x="44" y="36"/>
                  </a:cubicBezTo>
                  <a:cubicBezTo>
                    <a:pt x="51" y="36"/>
                    <a:pt x="51" y="36"/>
                    <a:pt x="51" y="36"/>
                  </a:cubicBezTo>
                  <a:cubicBezTo>
                    <a:pt x="41" y="20"/>
                    <a:pt x="41" y="20"/>
                    <a:pt x="41" y="20"/>
                  </a:cubicBezTo>
                  <a:cubicBezTo>
                    <a:pt x="43" y="20"/>
                    <a:pt x="45" y="19"/>
                    <a:pt x="46" y="1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3" name="Freeform 37">
              <a:extLst>
                <a:ext uri="{FF2B5EF4-FFF2-40B4-BE49-F238E27FC236}">
                  <a16:creationId xmlns:a16="http://schemas.microsoft.com/office/drawing/2014/main" id="{4035A63F-C64C-4F59-AB7E-3F409C26C7B7}"/>
                </a:ext>
              </a:extLst>
            </p:cNvPr>
            <p:cNvSpPr>
              <a:spLocks noEditPoints="1"/>
            </p:cNvSpPr>
            <p:nvPr/>
          </p:nvSpPr>
          <p:spPr bwMode="black">
            <a:xfrm>
              <a:off x="2807" y="2148"/>
              <a:ext cx="59" cy="85"/>
            </a:xfrm>
            <a:custGeom>
              <a:avLst/>
              <a:gdLst>
                <a:gd name="T0" fmla="*/ 28 w 25"/>
                <a:gd name="T1" fmla="*/ 38 h 36"/>
                <a:gd name="T2" fmla="*/ 17 w 25"/>
                <a:gd name="T3" fmla="*/ 38 h 36"/>
                <a:gd name="T4" fmla="*/ 17 w 25"/>
                <a:gd name="T5" fmla="*/ 12 h 36"/>
                <a:gd name="T6" fmla="*/ 28 w 25"/>
                <a:gd name="T7" fmla="*/ 12 h 36"/>
                <a:gd name="T8" fmla="*/ 42 w 25"/>
                <a:gd name="T9" fmla="*/ 26 h 36"/>
                <a:gd name="T10" fmla="*/ 28 w 25"/>
                <a:gd name="T11" fmla="*/ 38 h 36"/>
                <a:gd name="T12" fmla="*/ 50 w 25"/>
                <a:gd name="T13" fmla="*/ 7 h 36"/>
                <a:gd name="T14" fmla="*/ 26 w 25"/>
                <a:gd name="T15" fmla="*/ 0 h 36"/>
                <a:gd name="T16" fmla="*/ 0 w 25"/>
                <a:gd name="T17" fmla="*/ 0 h 36"/>
                <a:gd name="T18" fmla="*/ 0 w 25"/>
                <a:gd name="T19" fmla="*/ 50 h 36"/>
                <a:gd name="T20" fmla="*/ 0 w 25"/>
                <a:gd name="T21" fmla="*/ 85 h 36"/>
                <a:gd name="T22" fmla="*/ 17 w 25"/>
                <a:gd name="T23" fmla="*/ 85 h 36"/>
                <a:gd name="T24" fmla="*/ 17 w 25"/>
                <a:gd name="T25" fmla="*/ 50 h 36"/>
                <a:gd name="T26" fmla="*/ 26 w 25"/>
                <a:gd name="T27" fmla="*/ 50 h 36"/>
                <a:gd name="T28" fmla="*/ 50 w 25"/>
                <a:gd name="T29" fmla="*/ 43 h 36"/>
                <a:gd name="T30" fmla="*/ 59 w 25"/>
                <a:gd name="T31" fmla="*/ 26 h 36"/>
                <a:gd name="T32" fmla="*/ 50 w 25"/>
                <a:gd name="T33" fmla="*/ 7 h 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 h="36">
                  <a:moveTo>
                    <a:pt x="12" y="16"/>
                  </a:moveTo>
                  <a:cubicBezTo>
                    <a:pt x="7" y="16"/>
                    <a:pt x="7" y="16"/>
                    <a:pt x="7" y="16"/>
                  </a:cubicBezTo>
                  <a:cubicBezTo>
                    <a:pt x="7" y="5"/>
                    <a:pt x="7" y="5"/>
                    <a:pt x="7" y="5"/>
                  </a:cubicBezTo>
                  <a:cubicBezTo>
                    <a:pt x="12" y="5"/>
                    <a:pt x="12" y="5"/>
                    <a:pt x="12" y="5"/>
                  </a:cubicBezTo>
                  <a:cubicBezTo>
                    <a:pt x="17" y="5"/>
                    <a:pt x="18" y="7"/>
                    <a:pt x="18" y="11"/>
                  </a:cubicBezTo>
                  <a:cubicBezTo>
                    <a:pt x="18" y="14"/>
                    <a:pt x="16" y="16"/>
                    <a:pt x="12" y="16"/>
                  </a:cubicBezTo>
                  <a:close/>
                  <a:moveTo>
                    <a:pt x="21" y="3"/>
                  </a:moveTo>
                  <a:cubicBezTo>
                    <a:pt x="19" y="1"/>
                    <a:pt x="16" y="0"/>
                    <a:pt x="11" y="0"/>
                  </a:cubicBezTo>
                  <a:cubicBezTo>
                    <a:pt x="0" y="0"/>
                    <a:pt x="0" y="0"/>
                    <a:pt x="0" y="0"/>
                  </a:cubicBezTo>
                  <a:cubicBezTo>
                    <a:pt x="0" y="21"/>
                    <a:pt x="0" y="21"/>
                    <a:pt x="0" y="21"/>
                  </a:cubicBezTo>
                  <a:cubicBezTo>
                    <a:pt x="0" y="36"/>
                    <a:pt x="0" y="36"/>
                    <a:pt x="0" y="36"/>
                  </a:cubicBezTo>
                  <a:cubicBezTo>
                    <a:pt x="7" y="36"/>
                    <a:pt x="7" y="36"/>
                    <a:pt x="7" y="36"/>
                  </a:cubicBezTo>
                  <a:cubicBezTo>
                    <a:pt x="7" y="21"/>
                    <a:pt x="7" y="21"/>
                    <a:pt x="7" y="21"/>
                  </a:cubicBezTo>
                  <a:cubicBezTo>
                    <a:pt x="11" y="21"/>
                    <a:pt x="11" y="21"/>
                    <a:pt x="11" y="21"/>
                  </a:cubicBezTo>
                  <a:cubicBezTo>
                    <a:pt x="16" y="21"/>
                    <a:pt x="19" y="20"/>
                    <a:pt x="21" y="18"/>
                  </a:cubicBezTo>
                  <a:cubicBezTo>
                    <a:pt x="23" y="17"/>
                    <a:pt x="25" y="14"/>
                    <a:pt x="25" y="11"/>
                  </a:cubicBezTo>
                  <a:cubicBezTo>
                    <a:pt x="25" y="7"/>
                    <a:pt x="23" y="4"/>
                    <a:pt x="21" y="3"/>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4" name="Freeform 38">
              <a:extLst>
                <a:ext uri="{FF2B5EF4-FFF2-40B4-BE49-F238E27FC236}">
                  <a16:creationId xmlns:a16="http://schemas.microsoft.com/office/drawing/2014/main" id="{B92F5290-A06E-4788-AD35-B7CA37C69195}"/>
                </a:ext>
              </a:extLst>
            </p:cNvPr>
            <p:cNvSpPr>
              <a:spLocks/>
            </p:cNvSpPr>
            <p:nvPr/>
          </p:nvSpPr>
          <p:spPr bwMode="black">
            <a:xfrm>
              <a:off x="2578" y="2146"/>
              <a:ext cx="55" cy="87"/>
            </a:xfrm>
            <a:custGeom>
              <a:avLst/>
              <a:gdLst>
                <a:gd name="T0" fmla="*/ 33 w 23"/>
                <a:gd name="T1" fmla="*/ 38 h 37"/>
                <a:gd name="T2" fmla="*/ 14 w 23"/>
                <a:gd name="T3" fmla="*/ 24 h 37"/>
                <a:gd name="T4" fmla="*/ 31 w 23"/>
                <a:gd name="T5" fmla="*/ 12 h 37"/>
                <a:gd name="T6" fmla="*/ 50 w 23"/>
                <a:gd name="T7" fmla="*/ 16 h 37"/>
                <a:gd name="T8" fmla="*/ 50 w 23"/>
                <a:gd name="T9" fmla="*/ 5 h 37"/>
                <a:gd name="T10" fmla="*/ 31 w 23"/>
                <a:gd name="T11" fmla="*/ 0 h 37"/>
                <a:gd name="T12" fmla="*/ 0 w 23"/>
                <a:gd name="T13" fmla="*/ 26 h 37"/>
                <a:gd name="T14" fmla="*/ 24 w 23"/>
                <a:gd name="T15" fmla="*/ 49 h 37"/>
                <a:gd name="T16" fmla="*/ 41 w 23"/>
                <a:gd name="T17" fmla="*/ 63 h 37"/>
                <a:gd name="T18" fmla="*/ 24 w 23"/>
                <a:gd name="T19" fmla="*/ 75 h 37"/>
                <a:gd name="T20" fmla="*/ 0 w 23"/>
                <a:gd name="T21" fmla="*/ 71 h 37"/>
                <a:gd name="T22" fmla="*/ 0 w 23"/>
                <a:gd name="T23" fmla="*/ 82 h 37"/>
                <a:gd name="T24" fmla="*/ 22 w 23"/>
                <a:gd name="T25" fmla="*/ 87 h 37"/>
                <a:gd name="T26" fmla="*/ 55 w 23"/>
                <a:gd name="T27" fmla="*/ 63 h 37"/>
                <a:gd name="T28" fmla="*/ 33 w 23"/>
                <a:gd name="T29" fmla="*/ 38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3" h="37">
                  <a:moveTo>
                    <a:pt x="14" y="16"/>
                  </a:moveTo>
                  <a:cubicBezTo>
                    <a:pt x="9" y="14"/>
                    <a:pt x="6" y="13"/>
                    <a:pt x="6" y="10"/>
                  </a:cubicBezTo>
                  <a:cubicBezTo>
                    <a:pt x="6" y="8"/>
                    <a:pt x="9" y="5"/>
                    <a:pt x="13" y="5"/>
                  </a:cubicBezTo>
                  <a:cubicBezTo>
                    <a:pt x="16" y="5"/>
                    <a:pt x="19" y="6"/>
                    <a:pt x="21" y="7"/>
                  </a:cubicBezTo>
                  <a:cubicBezTo>
                    <a:pt x="21" y="2"/>
                    <a:pt x="21" y="2"/>
                    <a:pt x="21" y="2"/>
                  </a:cubicBezTo>
                  <a:cubicBezTo>
                    <a:pt x="19" y="1"/>
                    <a:pt x="16" y="0"/>
                    <a:pt x="13" y="0"/>
                  </a:cubicBezTo>
                  <a:cubicBezTo>
                    <a:pt x="5" y="0"/>
                    <a:pt x="0" y="5"/>
                    <a:pt x="0" y="11"/>
                  </a:cubicBezTo>
                  <a:cubicBezTo>
                    <a:pt x="0" y="16"/>
                    <a:pt x="4" y="19"/>
                    <a:pt x="10" y="21"/>
                  </a:cubicBezTo>
                  <a:cubicBezTo>
                    <a:pt x="15" y="23"/>
                    <a:pt x="17" y="24"/>
                    <a:pt x="17" y="27"/>
                  </a:cubicBezTo>
                  <a:cubicBezTo>
                    <a:pt x="17" y="30"/>
                    <a:pt x="14" y="32"/>
                    <a:pt x="10" y="32"/>
                  </a:cubicBezTo>
                  <a:cubicBezTo>
                    <a:pt x="6" y="32"/>
                    <a:pt x="2" y="31"/>
                    <a:pt x="0" y="30"/>
                  </a:cubicBezTo>
                  <a:cubicBezTo>
                    <a:pt x="0" y="35"/>
                    <a:pt x="0" y="35"/>
                    <a:pt x="0" y="35"/>
                  </a:cubicBezTo>
                  <a:cubicBezTo>
                    <a:pt x="2" y="37"/>
                    <a:pt x="6" y="37"/>
                    <a:pt x="9" y="37"/>
                  </a:cubicBezTo>
                  <a:cubicBezTo>
                    <a:pt x="19" y="37"/>
                    <a:pt x="23" y="32"/>
                    <a:pt x="23" y="27"/>
                  </a:cubicBezTo>
                  <a:cubicBezTo>
                    <a:pt x="23" y="21"/>
                    <a:pt x="20" y="18"/>
                    <a:pt x="14" y="16"/>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135" name="Freeform 39">
              <a:extLst>
                <a:ext uri="{FF2B5EF4-FFF2-40B4-BE49-F238E27FC236}">
                  <a16:creationId xmlns:a16="http://schemas.microsoft.com/office/drawing/2014/main" id="{225D8F78-0F4E-4633-B6D9-DD22D1558E87}"/>
                </a:ext>
              </a:extLst>
            </p:cNvPr>
            <p:cNvSpPr>
              <a:spLocks noEditPoints="1"/>
            </p:cNvSpPr>
            <p:nvPr/>
          </p:nvSpPr>
          <p:spPr bwMode="black">
            <a:xfrm>
              <a:off x="3518" y="2200"/>
              <a:ext cx="36" cy="36"/>
            </a:xfrm>
            <a:custGeom>
              <a:avLst/>
              <a:gdLst>
                <a:gd name="T0" fmla="*/ 14 w 15"/>
                <a:gd name="T1" fmla="*/ 17 h 15"/>
                <a:gd name="T2" fmla="*/ 14 w 15"/>
                <a:gd name="T3" fmla="*/ 12 h 15"/>
                <a:gd name="T4" fmla="*/ 19 w 15"/>
                <a:gd name="T5" fmla="*/ 12 h 15"/>
                <a:gd name="T6" fmla="*/ 24 w 15"/>
                <a:gd name="T7" fmla="*/ 14 h 15"/>
                <a:gd name="T8" fmla="*/ 19 w 15"/>
                <a:gd name="T9" fmla="*/ 17 h 15"/>
                <a:gd name="T10" fmla="*/ 14 w 15"/>
                <a:gd name="T11" fmla="*/ 17 h 15"/>
                <a:gd name="T12" fmla="*/ 14 w 15"/>
                <a:gd name="T13" fmla="*/ 19 h 15"/>
                <a:gd name="T14" fmla="*/ 19 w 15"/>
                <a:gd name="T15" fmla="*/ 19 h 15"/>
                <a:gd name="T16" fmla="*/ 24 w 15"/>
                <a:gd name="T17" fmla="*/ 29 h 15"/>
                <a:gd name="T18" fmla="*/ 26 w 15"/>
                <a:gd name="T19" fmla="*/ 29 h 15"/>
                <a:gd name="T20" fmla="*/ 22 w 15"/>
                <a:gd name="T21" fmla="*/ 19 h 15"/>
                <a:gd name="T22" fmla="*/ 26 w 15"/>
                <a:gd name="T23" fmla="*/ 14 h 15"/>
                <a:gd name="T24" fmla="*/ 19 w 15"/>
                <a:gd name="T25" fmla="*/ 10 h 15"/>
                <a:gd name="T26" fmla="*/ 12 w 15"/>
                <a:gd name="T27" fmla="*/ 10 h 15"/>
                <a:gd name="T28" fmla="*/ 12 w 15"/>
                <a:gd name="T29" fmla="*/ 29 h 15"/>
                <a:gd name="T30" fmla="*/ 14 w 15"/>
                <a:gd name="T31" fmla="*/ 29 h 15"/>
                <a:gd name="T32" fmla="*/ 14 w 15"/>
                <a:gd name="T33" fmla="*/ 19 h 15"/>
                <a:gd name="T34" fmla="*/ 19 w 15"/>
                <a:gd name="T35" fmla="*/ 36 h 15"/>
                <a:gd name="T36" fmla="*/ 36 w 15"/>
                <a:gd name="T37" fmla="*/ 19 h 15"/>
                <a:gd name="T38" fmla="*/ 19 w 15"/>
                <a:gd name="T39" fmla="*/ 0 h 15"/>
                <a:gd name="T40" fmla="*/ 0 w 15"/>
                <a:gd name="T41" fmla="*/ 19 h 15"/>
                <a:gd name="T42" fmla="*/ 19 w 15"/>
                <a:gd name="T43" fmla="*/ 36 h 15"/>
                <a:gd name="T44" fmla="*/ 5 w 15"/>
                <a:gd name="T45" fmla="*/ 19 h 15"/>
                <a:gd name="T46" fmla="*/ 19 w 15"/>
                <a:gd name="T47" fmla="*/ 5 h 15"/>
                <a:gd name="T48" fmla="*/ 34 w 15"/>
                <a:gd name="T49" fmla="*/ 19 h 15"/>
                <a:gd name="T50" fmla="*/ 19 w 15"/>
                <a:gd name="T51" fmla="*/ 34 h 15"/>
                <a:gd name="T52" fmla="*/ 5 w 15"/>
                <a:gd name="T53" fmla="*/ 19 h 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 h="15">
                  <a:moveTo>
                    <a:pt x="6" y="7"/>
                  </a:moveTo>
                  <a:cubicBezTo>
                    <a:pt x="6" y="5"/>
                    <a:pt x="6" y="5"/>
                    <a:pt x="6" y="5"/>
                  </a:cubicBezTo>
                  <a:cubicBezTo>
                    <a:pt x="8" y="5"/>
                    <a:pt x="8" y="5"/>
                    <a:pt x="8" y="5"/>
                  </a:cubicBezTo>
                  <a:cubicBezTo>
                    <a:pt x="9" y="5"/>
                    <a:pt x="10" y="5"/>
                    <a:pt x="10" y="6"/>
                  </a:cubicBezTo>
                  <a:cubicBezTo>
                    <a:pt x="10" y="7"/>
                    <a:pt x="9" y="7"/>
                    <a:pt x="8" y="7"/>
                  </a:cubicBezTo>
                  <a:lnTo>
                    <a:pt x="6" y="7"/>
                  </a:lnTo>
                  <a:close/>
                  <a:moveTo>
                    <a:pt x="6" y="8"/>
                  </a:moveTo>
                  <a:cubicBezTo>
                    <a:pt x="8" y="8"/>
                    <a:pt x="8" y="8"/>
                    <a:pt x="8" y="8"/>
                  </a:cubicBezTo>
                  <a:cubicBezTo>
                    <a:pt x="10" y="12"/>
                    <a:pt x="10" y="12"/>
                    <a:pt x="10" y="12"/>
                  </a:cubicBezTo>
                  <a:cubicBezTo>
                    <a:pt x="11" y="12"/>
                    <a:pt x="11" y="12"/>
                    <a:pt x="11" y="12"/>
                  </a:cubicBezTo>
                  <a:cubicBezTo>
                    <a:pt x="9" y="8"/>
                    <a:pt x="9" y="8"/>
                    <a:pt x="9" y="8"/>
                  </a:cubicBezTo>
                  <a:cubicBezTo>
                    <a:pt x="10" y="8"/>
                    <a:pt x="11" y="7"/>
                    <a:pt x="11" y="6"/>
                  </a:cubicBezTo>
                  <a:cubicBezTo>
                    <a:pt x="11" y="4"/>
                    <a:pt x="10" y="4"/>
                    <a:pt x="8" y="4"/>
                  </a:cubicBezTo>
                  <a:cubicBezTo>
                    <a:pt x="5" y="4"/>
                    <a:pt x="5" y="4"/>
                    <a:pt x="5" y="4"/>
                  </a:cubicBezTo>
                  <a:cubicBezTo>
                    <a:pt x="5" y="12"/>
                    <a:pt x="5" y="12"/>
                    <a:pt x="5" y="12"/>
                  </a:cubicBezTo>
                  <a:cubicBezTo>
                    <a:pt x="6" y="12"/>
                    <a:pt x="6" y="12"/>
                    <a:pt x="6" y="12"/>
                  </a:cubicBezTo>
                  <a:lnTo>
                    <a:pt x="6" y="8"/>
                  </a:lnTo>
                  <a:close/>
                  <a:moveTo>
                    <a:pt x="8" y="15"/>
                  </a:moveTo>
                  <a:cubicBezTo>
                    <a:pt x="12" y="15"/>
                    <a:pt x="15" y="12"/>
                    <a:pt x="15" y="8"/>
                  </a:cubicBezTo>
                  <a:cubicBezTo>
                    <a:pt x="15" y="4"/>
                    <a:pt x="12" y="0"/>
                    <a:pt x="8" y="0"/>
                  </a:cubicBezTo>
                  <a:cubicBezTo>
                    <a:pt x="4" y="0"/>
                    <a:pt x="0" y="4"/>
                    <a:pt x="0" y="8"/>
                  </a:cubicBezTo>
                  <a:cubicBezTo>
                    <a:pt x="0" y="12"/>
                    <a:pt x="4" y="15"/>
                    <a:pt x="8" y="15"/>
                  </a:cubicBezTo>
                  <a:close/>
                  <a:moveTo>
                    <a:pt x="2" y="8"/>
                  </a:moveTo>
                  <a:cubicBezTo>
                    <a:pt x="2" y="4"/>
                    <a:pt x="4" y="2"/>
                    <a:pt x="8" y="2"/>
                  </a:cubicBezTo>
                  <a:cubicBezTo>
                    <a:pt x="11" y="2"/>
                    <a:pt x="14" y="4"/>
                    <a:pt x="14" y="8"/>
                  </a:cubicBezTo>
                  <a:cubicBezTo>
                    <a:pt x="14" y="11"/>
                    <a:pt x="11" y="14"/>
                    <a:pt x="8" y="14"/>
                  </a:cubicBezTo>
                  <a:cubicBezTo>
                    <a:pt x="4" y="14"/>
                    <a:pt x="2" y="11"/>
                    <a:pt x="2" y="8"/>
                  </a:cubicBezTo>
                  <a:close/>
                </a:path>
              </a:pathLst>
            </a:custGeom>
            <a:solidFill>
              <a:srgbClr val="216A8B"/>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1529908" name="Rectangle 52">
            <a:extLst>
              <a:ext uri="{FF2B5EF4-FFF2-40B4-BE49-F238E27FC236}">
                <a16:creationId xmlns:a16="http://schemas.microsoft.com/office/drawing/2014/main" id="{505ABE01-8B27-4ED1-8B91-0723B4A8B5D4}"/>
              </a:ext>
            </a:extLst>
          </p:cNvPr>
          <p:cNvSpPr>
            <a:spLocks noGrp="1" noChangeArrowheads="1"/>
          </p:cNvSpPr>
          <p:nvPr>
            <p:ph type="ftr" sz="quarter" idx="3"/>
          </p:nvPr>
        </p:nvSpPr>
        <p:spPr bwMode="gray">
          <a:xfrm>
            <a:off x="1428750" y="6477000"/>
            <a:ext cx="441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lgn="l" eaLnBrk="1" hangingPunct="1">
              <a:defRPr sz="900">
                <a:solidFill>
                  <a:schemeClr val="bg2"/>
                </a:solidFill>
                <a:cs typeface="+mn-cs"/>
              </a:defRPr>
            </a:lvl1pPr>
          </a:lstStyle>
          <a:p>
            <a:pPr>
              <a:defRPr/>
            </a:pPr>
            <a:r>
              <a:rPr lang="en-US" altLang="en-US" dirty="0"/>
              <a:t>|     © 2011 Kaiser Foundation Health Plan, Inc. For internal use only.</a:t>
            </a:r>
          </a:p>
        </p:txBody>
      </p:sp>
      <p:sp>
        <p:nvSpPr>
          <p:cNvPr id="1529909" name="Rectangle 53">
            <a:extLst>
              <a:ext uri="{FF2B5EF4-FFF2-40B4-BE49-F238E27FC236}">
                <a16:creationId xmlns:a16="http://schemas.microsoft.com/office/drawing/2014/main" id="{B330DDCC-7095-44FD-80E0-5265C23A30B7}"/>
              </a:ext>
            </a:extLst>
          </p:cNvPr>
          <p:cNvSpPr>
            <a:spLocks noGrp="1" noChangeArrowheads="1"/>
          </p:cNvSpPr>
          <p:nvPr>
            <p:ph type="dt" sz="half" idx="2"/>
          </p:nvPr>
        </p:nvSpPr>
        <p:spPr bwMode="gray">
          <a:xfrm>
            <a:off x="457200" y="6477000"/>
            <a:ext cx="12763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lgn="l" eaLnBrk="1" hangingPunct="1">
              <a:defRPr sz="900" smtClean="0">
                <a:solidFill>
                  <a:schemeClr val="bg2"/>
                </a:solidFill>
                <a:cs typeface="+mn-cs"/>
              </a:defRPr>
            </a:lvl1pPr>
          </a:lstStyle>
          <a:p>
            <a:pPr>
              <a:defRPr/>
            </a:pPr>
            <a:fld id="{9F62791E-C9CA-4DDE-A19D-F85D56609A56}" type="datetime4">
              <a:rPr lang="en-US" altLang="en-US"/>
              <a:pPr>
                <a:defRPr/>
              </a:pPr>
              <a:t>May 26, 2022</a:t>
            </a:fld>
            <a:endParaRPr lang="en-US" altLang="en-US" dirty="0"/>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p:txStyles>
    <p:titleStyle>
      <a:lvl1pPr algn="l" rtl="0" eaLnBrk="0" fontAlgn="base" hangingPunct="0">
        <a:lnSpc>
          <a:spcPct val="90000"/>
        </a:lnSpc>
        <a:spcBef>
          <a:spcPct val="0"/>
        </a:spcBef>
        <a:spcAft>
          <a:spcPct val="0"/>
        </a:spcAft>
        <a:defRPr sz="34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p:titleStyle>
    <p:bodyStyle>
      <a:lvl1pPr marL="285750" indent="-285750" algn="l" rtl="0" eaLnBrk="0" fontAlgn="base" hangingPunct="0">
        <a:lnSpc>
          <a:spcPct val="95000"/>
        </a:lnSpc>
        <a:spcBef>
          <a:spcPct val="35000"/>
        </a:spcBef>
        <a:spcAft>
          <a:spcPct val="0"/>
        </a:spcAft>
        <a:buClr>
          <a:schemeClr val="accent2"/>
        </a:buClr>
        <a:buFont typeface="Wingdings" panose="05000000000000000000" pitchFamily="2" charset="2"/>
        <a:buChar char="§"/>
        <a:defRPr sz="2400" kern="1200">
          <a:solidFill>
            <a:schemeClr val="tx1"/>
          </a:solidFill>
          <a:latin typeface="+mn-lt"/>
          <a:ea typeface="+mn-ea"/>
          <a:cs typeface="+mn-cs"/>
        </a:defRPr>
      </a:lvl1pPr>
      <a:lvl2pPr marL="742950" indent="-285750" algn="l" rtl="0" eaLnBrk="0" fontAlgn="base" hangingPunct="0">
        <a:lnSpc>
          <a:spcPct val="95000"/>
        </a:lnSpc>
        <a:spcBef>
          <a:spcPct val="35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5000"/>
        </a:lnSpc>
        <a:spcBef>
          <a:spcPct val="35000"/>
        </a:spcBef>
        <a:spcAft>
          <a:spcPct val="0"/>
        </a:spcAft>
        <a:buClr>
          <a:schemeClr val="accent2"/>
        </a:buClr>
        <a:buFont typeface="Wingdings" panose="05000000000000000000" pitchFamily="2" charset="2"/>
        <a:buChar char="§"/>
        <a:defRPr kern="1200">
          <a:solidFill>
            <a:schemeClr val="tx1"/>
          </a:solidFill>
          <a:latin typeface="+mn-lt"/>
          <a:ea typeface="+mn-ea"/>
          <a:cs typeface="+mn-cs"/>
        </a:defRPr>
      </a:lvl3pPr>
      <a:lvl4pPr marL="1600200" indent="-228600" algn="l" rtl="0" eaLnBrk="0" fontAlgn="base" hangingPunct="0">
        <a:lnSpc>
          <a:spcPct val="95000"/>
        </a:lnSpc>
        <a:spcBef>
          <a:spcPct val="35000"/>
        </a:spcBef>
        <a:spcAft>
          <a:spcPct val="0"/>
        </a:spcAft>
        <a:buClr>
          <a:schemeClr val="accent2"/>
        </a:buClr>
        <a:buChar char="–"/>
        <a:defRPr sz="1600" kern="1200">
          <a:solidFill>
            <a:schemeClr val="tx1"/>
          </a:solidFill>
          <a:latin typeface="+mn-lt"/>
          <a:ea typeface="+mn-ea"/>
          <a:cs typeface="+mn-cs"/>
        </a:defRPr>
      </a:lvl4pPr>
      <a:lvl5pPr marL="2057400" indent="-228600" algn="l" rtl="0" eaLnBrk="0" fontAlgn="base" hangingPunct="0">
        <a:lnSpc>
          <a:spcPct val="95000"/>
        </a:lnSpc>
        <a:spcBef>
          <a:spcPct val="35000"/>
        </a:spcBef>
        <a:spcAft>
          <a:spcPct val="0"/>
        </a:spcAft>
        <a:buClr>
          <a:schemeClr val="accent2"/>
        </a:buCl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0B4461B-BC55-47A0-93A8-07564F8128B6}"/>
              </a:ext>
            </a:extLst>
          </p:cNvPr>
          <p:cNvSpPr>
            <a:spLocks noChangeArrowheads="1"/>
          </p:cNvSpPr>
          <p:nvPr userDrawn="1"/>
        </p:nvSpPr>
        <p:spPr bwMode="auto">
          <a:xfrm>
            <a:off x="0" y="0"/>
            <a:ext cx="9144000" cy="685800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5123" name="Rectangle 3">
            <a:extLst>
              <a:ext uri="{FF2B5EF4-FFF2-40B4-BE49-F238E27FC236}">
                <a16:creationId xmlns:a16="http://schemas.microsoft.com/office/drawing/2014/main" id="{111B62C2-DA54-42D3-B810-997691523634}"/>
              </a:ext>
            </a:extLst>
          </p:cNvPr>
          <p:cNvSpPr>
            <a:spLocks noGrp="1" noChangeArrowheads="1"/>
          </p:cNvSpPr>
          <p:nvPr>
            <p:ph type="title"/>
          </p:nvPr>
        </p:nvSpPr>
        <p:spPr bwMode="gray">
          <a:xfrm>
            <a:off x="0" y="3121025"/>
            <a:ext cx="91440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endParaRPr lang="en-US" altLang="en-US"/>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rtl="0" eaLnBrk="0" fontAlgn="base" hangingPunct="0">
        <a:lnSpc>
          <a:spcPct val="90000"/>
        </a:lnSpc>
        <a:spcBef>
          <a:spcPct val="0"/>
        </a:spcBef>
        <a:spcAft>
          <a:spcPct val="0"/>
        </a:spcAft>
        <a:defRPr sz="4800" b="1" kern="1200">
          <a:solidFill>
            <a:srgbClr val="216A8B"/>
          </a:solidFill>
          <a:latin typeface="+mj-lt"/>
          <a:ea typeface="+mj-ea"/>
          <a:cs typeface="+mj-cs"/>
        </a:defRPr>
      </a:lvl1pPr>
      <a:lvl2pPr algn="l" rtl="0" eaLnBrk="0" fontAlgn="base" hangingPunct="0">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4800" b="1">
          <a:solidFill>
            <a:srgbClr val="216A8B"/>
          </a:solidFill>
          <a:latin typeface="Arial Narrow" panose="020B0606020202030204" pitchFamily="34" charset="0"/>
          <a:cs typeface="Arial" panose="020B0604020202020204" pitchFamily="34" charset="0"/>
        </a:defRPr>
      </a:lvl9pPr>
    </p:titleStyle>
    <p:bodyStyle>
      <a:lvl1pPr algn="l" rtl="0" eaLnBrk="0" fontAlgn="base" hangingPunct="0">
        <a:lnSpc>
          <a:spcPct val="90000"/>
        </a:lnSpc>
        <a:spcBef>
          <a:spcPct val="0"/>
        </a:spcBef>
        <a:spcAft>
          <a:spcPct val="0"/>
        </a:spcAft>
        <a:buClr>
          <a:srgbClr val="216A8B"/>
        </a:buClr>
        <a:defRPr sz="2000" kern="1200">
          <a:solidFill>
            <a:schemeClr val="bg1"/>
          </a:solidFill>
          <a:latin typeface="+mn-lt"/>
          <a:ea typeface="+mn-ea"/>
          <a:cs typeface="+mn-cs"/>
        </a:defRPr>
      </a:lvl1pPr>
      <a:lvl2pPr marL="457200" algn="l" rtl="0" eaLnBrk="0" fontAlgn="base" hangingPunct="0">
        <a:lnSpc>
          <a:spcPct val="90000"/>
        </a:lnSpc>
        <a:spcBef>
          <a:spcPct val="0"/>
        </a:spcBef>
        <a:spcAft>
          <a:spcPct val="0"/>
        </a:spcAft>
        <a:buClr>
          <a:srgbClr val="216A8B"/>
        </a:buClr>
        <a:defRPr sz="2000" kern="1200">
          <a:solidFill>
            <a:schemeClr val="bg2"/>
          </a:solidFill>
          <a:latin typeface="+mn-lt"/>
          <a:ea typeface="+mn-ea"/>
          <a:cs typeface="+mn-cs"/>
        </a:defRPr>
      </a:lvl2pPr>
      <a:lvl3pPr marL="914400" algn="l" rtl="0" eaLnBrk="0" fontAlgn="base" hangingPunct="0">
        <a:lnSpc>
          <a:spcPct val="90000"/>
        </a:lnSpc>
        <a:spcBef>
          <a:spcPct val="0"/>
        </a:spcBef>
        <a:spcAft>
          <a:spcPct val="0"/>
        </a:spcAft>
        <a:buClr>
          <a:srgbClr val="216A8B"/>
        </a:buClr>
        <a:defRPr sz="2000" kern="1200">
          <a:solidFill>
            <a:schemeClr val="bg2"/>
          </a:solidFill>
          <a:latin typeface="+mn-lt"/>
          <a:ea typeface="+mn-ea"/>
          <a:cs typeface="+mn-cs"/>
        </a:defRPr>
      </a:lvl3pPr>
      <a:lvl4pPr marL="1371600" algn="l" rtl="0" eaLnBrk="0" fontAlgn="base" hangingPunct="0">
        <a:lnSpc>
          <a:spcPct val="90000"/>
        </a:lnSpc>
        <a:spcBef>
          <a:spcPct val="0"/>
        </a:spcBef>
        <a:spcAft>
          <a:spcPct val="0"/>
        </a:spcAft>
        <a:buClr>
          <a:srgbClr val="216A8B"/>
        </a:buClr>
        <a:defRPr sz="2000" kern="1200">
          <a:solidFill>
            <a:schemeClr val="bg2"/>
          </a:solidFill>
          <a:latin typeface="+mn-lt"/>
          <a:ea typeface="+mn-ea"/>
          <a:cs typeface="+mn-cs"/>
        </a:defRPr>
      </a:lvl4pPr>
      <a:lvl5pPr marL="1828800" algn="l" rtl="0" eaLnBrk="0" fontAlgn="base" hangingPunct="0">
        <a:lnSpc>
          <a:spcPct val="90000"/>
        </a:lnSpc>
        <a:spcBef>
          <a:spcPct val="0"/>
        </a:spcBef>
        <a:spcAft>
          <a:spcPct val="0"/>
        </a:spcAft>
        <a:buClr>
          <a:srgbClr val="216A8B"/>
        </a:buClr>
        <a:defRPr sz="20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hyperlink" Target="https://neonatalsepsiscalculator.kaiserpermanente.org/" TargetMode="External"/><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CC4C35B6-BE02-4A21-870F-D4311FA67888}"/>
              </a:ext>
            </a:extLst>
          </p:cNvPr>
          <p:cNvSpPr txBox="1">
            <a:spLocks noChangeArrowheads="1"/>
          </p:cNvSpPr>
          <p:nvPr/>
        </p:nvSpPr>
        <p:spPr bwMode="gray">
          <a:xfrm>
            <a:off x="800100" y="1633159"/>
            <a:ext cx="754380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l" rtl="0" eaLnBrk="0" fontAlgn="base" hangingPunct="0">
              <a:lnSpc>
                <a:spcPct val="90000"/>
              </a:lnSpc>
              <a:spcBef>
                <a:spcPct val="0"/>
              </a:spcBef>
              <a:spcAft>
                <a:spcPct val="0"/>
              </a:spcAft>
              <a:defRPr sz="3400" b="1" kern="1200">
                <a:solidFill>
                  <a:schemeClr val="bg1"/>
                </a:solidFill>
                <a:latin typeface="+mj-lt"/>
                <a:ea typeface="+mj-ea"/>
                <a:cs typeface="+mj-cs"/>
              </a:defRPr>
            </a:lvl1pPr>
            <a:lvl2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chemeClr val="bg1"/>
                </a:solidFill>
                <a:latin typeface="Arial Narrow" panose="020B0606020202030204" pitchFamily="34" charset="0"/>
                <a:cs typeface="Arial" panose="020B0604020202020204" pitchFamily="34" charset="0"/>
              </a:defRPr>
            </a:lvl9pPr>
          </a:lstStyle>
          <a:p>
            <a:pPr algn="ctr" eaLnBrk="1" hangingPunct="1"/>
            <a:r>
              <a:rPr lang="en-US" altLang="en-US" sz="4400" dirty="0"/>
              <a:t>Febrile infants &lt;90 days old and the California FIRST Protocol</a:t>
            </a:r>
            <a:endParaRPr lang="en-US" altLang="en-US" sz="4400" b="0" dirty="0"/>
          </a:p>
        </p:txBody>
      </p:sp>
      <p:sp>
        <p:nvSpPr>
          <p:cNvPr id="4" name="Rectangle 6">
            <a:extLst>
              <a:ext uri="{FF2B5EF4-FFF2-40B4-BE49-F238E27FC236}">
                <a16:creationId xmlns:a16="http://schemas.microsoft.com/office/drawing/2014/main" id="{8EB06AD2-CAEA-4448-9A24-13F03BC8B983}"/>
              </a:ext>
            </a:extLst>
          </p:cNvPr>
          <p:cNvSpPr txBox="1">
            <a:spLocks noChangeArrowheads="1"/>
          </p:cNvSpPr>
          <p:nvPr/>
        </p:nvSpPr>
        <p:spPr>
          <a:xfrm>
            <a:off x="1909774" y="5172502"/>
            <a:ext cx="5324452" cy="895630"/>
          </a:xfrm>
          <a:prstGeom prst="rect">
            <a:avLst/>
          </a:prstGeom>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en-US" altLang="en-US" sz="2400" dirty="0">
                <a:solidFill>
                  <a:schemeClr val="bg1"/>
                </a:solidFill>
                <a:latin typeface="+mj-lt"/>
              </a:rPr>
              <a:t>Sean Fitzwater, MD MHS</a:t>
            </a:r>
          </a:p>
          <a:p>
            <a:pPr marL="0" indent="0" algn="ctr" eaLnBrk="1" hangingPunct="1">
              <a:buNone/>
            </a:pPr>
            <a:r>
              <a:rPr lang="en-US" altLang="en-US" sz="2400" dirty="0">
                <a:solidFill>
                  <a:schemeClr val="bg1"/>
                </a:solidFill>
                <a:latin typeface="+mj-lt"/>
              </a:rPr>
              <a:t>LAMC, Pediatric Infectious Diseases</a:t>
            </a:r>
          </a:p>
          <a:p>
            <a:pPr marL="0" indent="0" algn="ctr" eaLnBrk="1" hangingPunct="1">
              <a:buNone/>
            </a:pPr>
            <a:endParaRPr lang="en-US" altLang="en-US" sz="2400" dirty="0">
              <a:solidFill>
                <a:schemeClr val="bg1"/>
              </a:solidFill>
              <a:latin typeface="+mj-lt"/>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2</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566737"/>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165065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Management of 0 to 6 days old </a:t>
            </a:r>
          </a:p>
        </p:txBody>
      </p:sp>
      <p:grpSp>
        <p:nvGrpSpPr>
          <p:cNvPr id="9" name="Group 4">
            <a:extLst>
              <a:ext uri="{FF2B5EF4-FFF2-40B4-BE49-F238E27FC236}">
                <a16:creationId xmlns:a16="http://schemas.microsoft.com/office/drawing/2014/main" id="{6FAB5B0E-5ECE-4D83-8FBF-FD741014B91F}"/>
              </a:ext>
            </a:extLst>
          </p:cNvPr>
          <p:cNvGrpSpPr>
            <a:grpSpLocks/>
          </p:cNvGrpSpPr>
          <p:nvPr/>
        </p:nvGrpSpPr>
        <p:grpSpPr bwMode="auto">
          <a:xfrm>
            <a:off x="0" y="3247230"/>
            <a:ext cx="9144000" cy="2862263"/>
            <a:chOff x="0" y="1150"/>
            <a:chExt cx="5760" cy="1803"/>
          </a:xfrm>
        </p:grpSpPr>
        <p:sp>
          <p:nvSpPr>
            <p:cNvPr id="10" name="Rectangle 5">
              <a:extLst>
                <a:ext uri="{FF2B5EF4-FFF2-40B4-BE49-F238E27FC236}">
                  <a16:creationId xmlns:a16="http://schemas.microsoft.com/office/drawing/2014/main" id="{8BA300B0-156D-4AB3-B99A-1D784B6BB869}"/>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1" name="Line 6">
              <a:extLst>
                <a:ext uri="{FF2B5EF4-FFF2-40B4-BE49-F238E27FC236}">
                  <a16:creationId xmlns:a16="http://schemas.microsoft.com/office/drawing/2014/main" id="{417F91B2-7172-41B4-90A6-8160FF057041}"/>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2" name="Rectangle 8">
            <a:extLst>
              <a:ext uri="{FF2B5EF4-FFF2-40B4-BE49-F238E27FC236}">
                <a16:creationId xmlns:a16="http://schemas.microsoft.com/office/drawing/2014/main" id="{5AF25031-331B-42BB-B1A6-5C42A7325D82}"/>
              </a:ext>
            </a:extLst>
          </p:cNvPr>
          <p:cNvSpPr>
            <a:spLocks noChangeArrowheads="1"/>
          </p:cNvSpPr>
          <p:nvPr/>
        </p:nvSpPr>
        <p:spPr bwMode="gray">
          <a:xfrm>
            <a:off x="1399190" y="2674368"/>
            <a:ext cx="6695747" cy="222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eaLnBrk="1" hangingPunct="1">
              <a:spcBef>
                <a:spcPct val="50000"/>
              </a:spcBef>
              <a:buNone/>
            </a:pPr>
            <a:r>
              <a:rPr lang="en-US" altLang="en-US" sz="3600" dirty="0">
                <a:solidFill>
                  <a:srgbClr val="FFFFFF"/>
                </a:solidFill>
              </a:rPr>
              <a:t>Level 1: Flowchart</a:t>
            </a:r>
          </a:p>
          <a:p>
            <a:pPr eaLnBrk="1" hangingPunct="1">
              <a:spcBef>
                <a:spcPct val="50000"/>
              </a:spcBef>
              <a:buNone/>
            </a:pPr>
            <a:r>
              <a:rPr lang="en-US" altLang="en-US" sz="3600" dirty="0">
                <a:solidFill>
                  <a:srgbClr val="FFFFFF"/>
                </a:solidFill>
              </a:rPr>
              <a:t>Level 2: Definitions and specifications</a:t>
            </a:r>
          </a:p>
          <a:p>
            <a:pPr eaLnBrk="1" hangingPunct="1">
              <a:spcBef>
                <a:spcPct val="50000"/>
              </a:spcBef>
              <a:buNone/>
            </a:pPr>
            <a:r>
              <a:rPr lang="en-US" altLang="en-US" sz="3600" dirty="0">
                <a:solidFill>
                  <a:srgbClr val="FFFFFF"/>
                </a:solidFill>
              </a:rPr>
              <a:t>Level 3: CA-FIRST protocol details </a:t>
            </a:r>
          </a:p>
        </p:txBody>
      </p:sp>
    </p:spTree>
    <p:extLst>
      <p:ext uri="{BB962C8B-B14F-4D97-AF65-F5344CB8AC3E}">
        <p14:creationId xmlns:p14="http://schemas.microsoft.com/office/powerpoint/2010/main" val="308145526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3</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0 to 6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1: Flowchart</a:t>
            </a:r>
          </a:p>
        </p:txBody>
      </p:sp>
    </p:spTree>
    <p:extLst>
      <p:ext uri="{BB962C8B-B14F-4D97-AF65-F5344CB8AC3E}">
        <p14:creationId xmlns:p14="http://schemas.microsoft.com/office/powerpoint/2010/main" val="78502088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C129EA-7CC0-4C66-9DF4-4A4D270120A7}"/>
              </a:ext>
            </a:extLst>
          </p:cNvPr>
          <p:cNvSpPr/>
          <p:nvPr/>
        </p:nvSpPr>
        <p:spPr>
          <a:xfrm>
            <a:off x="1649900" y="1396016"/>
            <a:ext cx="24003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825" dirty="0">
                <a:solidFill>
                  <a:srgbClr val="000000"/>
                </a:solidFill>
                <a:ea typeface="Calibri" panose="020F0502020204030204" pitchFamily="34" charset="0"/>
                <a:cs typeface="Times New Roman" panose="02020603050405020304" pitchFamily="18" charset="0"/>
              </a:rPr>
              <a:t>Management: Admission</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1</a:t>
            </a:r>
            <a:r>
              <a:rPr lang="en-US" sz="825" dirty="0">
                <a:solidFill>
                  <a:srgbClr val="000000"/>
                </a:solidFill>
                <a:ea typeface="Calibri" panose="020F0502020204030204" pitchFamily="34" charset="0"/>
                <a:cs typeface="Times New Roman" panose="02020603050405020304" pitchFamily="18" charset="0"/>
              </a:rPr>
              <a:t> Blood, CSF. Urine usually not needed.</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Yes, IV </a:t>
            </a:r>
            <a:r>
              <a:rPr lang="en-US" sz="825" baseline="30000" dirty="0">
                <a:solidFill>
                  <a:srgbClr val="000000"/>
                </a:solidFill>
                <a:ea typeface="Calibri" panose="020F0502020204030204" pitchFamily="34" charset="0"/>
                <a:cs typeface="Times New Roman" panose="02020603050405020304" pitchFamily="18" charset="0"/>
              </a:rPr>
              <a:t>2</a:t>
            </a:r>
            <a:endParaRPr lang="en-US" sz="825" dirty="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90515E0-A0F4-4DE8-8B8C-666C32C0143B}"/>
              </a:ext>
            </a:extLst>
          </p:cNvPr>
          <p:cNvSpPr txBox="1"/>
          <p:nvPr/>
        </p:nvSpPr>
        <p:spPr>
          <a:xfrm>
            <a:off x="323494" y="836197"/>
            <a:ext cx="8306633" cy="369332"/>
          </a:xfrm>
          <a:prstGeom prst="rect">
            <a:avLst/>
          </a:prstGeom>
          <a:noFill/>
        </p:spPr>
        <p:txBody>
          <a:bodyPr wrap="none" rtlCol="0">
            <a:spAutoFit/>
          </a:bodyPr>
          <a:lstStyle/>
          <a:p>
            <a:r>
              <a:rPr lang="en-US" b="1" u="sng" dirty="0"/>
              <a:t>Emergency Department and Urgent Care Management of Febrile Infants Aged 0 to 6 Days</a:t>
            </a:r>
          </a:p>
        </p:txBody>
      </p:sp>
      <p:sp>
        <p:nvSpPr>
          <p:cNvPr id="4" name="TextBox 3">
            <a:extLst>
              <a:ext uri="{FF2B5EF4-FFF2-40B4-BE49-F238E27FC236}">
                <a16:creationId xmlns:a16="http://schemas.microsoft.com/office/drawing/2014/main" id="{89351A02-AC5E-477F-8B03-2F257AF924F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 name="TextBox 1">
            <a:extLst>
              <a:ext uri="{FF2B5EF4-FFF2-40B4-BE49-F238E27FC236}">
                <a16:creationId xmlns:a16="http://schemas.microsoft.com/office/drawing/2014/main" id="{1FF65B52-1186-4285-ACE2-1D74FBEDB049}"/>
              </a:ext>
            </a:extLst>
          </p:cNvPr>
          <p:cNvSpPr txBox="1"/>
          <p:nvPr/>
        </p:nvSpPr>
        <p:spPr>
          <a:xfrm>
            <a:off x="2088858" y="6334180"/>
            <a:ext cx="4295163" cy="430887"/>
          </a:xfrm>
          <a:prstGeom prst="rect">
            <a:avLst/>
          </a:prstGeom>
          <a:solidFill>
            <a:srgbClr val="CCFFCC"/>
          </a:solidFill>
          <a:ln>
            <a:solidFill>
              <a:schemeClr val="tx1"/>
            </a:solidFill>
          </a:ln>
        </p:spPr>
        <p:txBody>
          <a:bodyPr wrap="square" rtlCol="0">
            <a:spAutoFit/>
          </a:bodyPr>
          <a:lstStyle/>
          <a:p>
            <a:r>
              <a:rPr lang="en-US" sz="1100" dirty="0"/>
              <a:t>Superscripts will link to “Definitions and specifications” for this age group</a:t>
            </a:r>
          </a:p>
          <a:p>
            <a:r>
              <a:rPr lang="en-US" sz="1100" dirty="0"/>
              <a:t>A link at the bottom will direct to “CA-FIRST protocol details” for this age group</a:t>
            </a:r>
          </a:p>
        </p:txBody>
      </p:sp>
    </p:spTree>
    <p:extLst>
      <p:ext uri="{BB962C8B-B14F-4D97-AF65-F5344CB8AC3E}">
        <p14:creationId xmlns:p14="http://schemas.microsoft.com/office/powerpoint/2010/main" val="4076570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5</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0 to 6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2: Definitions and specifications</a:t>
            </a:r>
          </a:p>
        </p:txBody>
      </p:sp>
    </p:spTree>
    <p:extLst>
      <p:ext uri="{BB962C8B-B14F-4D97-AF65-F5344CB8AC3E}">
        <p14:creationId xmlns:p14="http://schemas.microsoft.com/office/powerpoint/2010/main" val="3677580487"/>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54C659-C1DC-4F84-95CC-764185F4BC1F}"/>
              </a:ext>
            </a:extLst>
          </p:cNvPr>
          <p:cNvSpPr txBox="1"/>
          <p:nvPr/>
        </p:nvSpPr>
        <p:spPr>
          <a:xfrm>
            <a:off x="323494" y="357321"/>
            <a:ext cx="8306633" cy="369332"/>
          </a:xfrm>
          <a:prstGeom prst="rect">
            <a:avLst/>
          </a:prstGeom>
          <a:noFill/>
        </p:spPr>
        <p:txBody>
          <a:bodyPr wrap="none" rtlCol="0">
            <a:spAutoFit/>
          </a:bodyPr>
          <a:lstStyle/>
          <a:p>
            <a:r>
              <a:rPr lang="en-US" b="1" u="sng" dirty="0"/>
              <a:t>Emergency Department and Urgent Care Management of Febrile Infants Aged 0 to 6 Days</a:t>
            </a:r>
          </a:p>
        </p:txBody>
      </p:sp>
      <p:sp>
        <p:nvSpPr>
          <p:cNvPr id="3" name="TextBox 2">
            <a:extLst>
              <a:ext uri="{FF2B5EF4-FFF2-40B4-BE49-F238E27FC236}">
                <a16:creationId xmlns:a16="http://schemas.microsoft.com/office/drawing/2014/main" id="{6F69D5B2-E31D-494B-BBC0-D9EBDF579C5A}"/>
              </a:ext>
            </a:extLst>
          </p:cNvPr>
          <p:cNvSpPr txBox="1"/>
          <p:nvPr/>
        </p:nvSpPr>
        <p:spPr>
          <a:xfrm>
            <a:off x="362010" y="869791"/>
            <a:ext cx="4114800" cy="4308744"/>
          </a:xfrm>
          <a:prstGeom prst="rect">
            <a:avLst/>
          </a:prstGeom>
          <a:noFill/>
        </p:spPr>
        <p:txBody>
          <a:bodyPr wrap="square" rtlCol="0">
            <a:spAutoFit/>
          </a:bodyPr>
          <a:lstStyle/>
          <a:p>
            <a:r>
              <a:rPr lang="en-US" sz="1200" b="1" dirty="0">
                <a:latin typeface="Calibri" panose="020F0502020204030204" pitchFamily="34" charset="0"/>
                <a:cs typeface="Calibri" panose="020F0502020204030204" pitchFamily="34" charset="0"/>
              </a:rPr>
              <a:t>1: Recommended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Urine studies</a:t>
            </a:r>
            <a:r>
              <a:rPr lang="en-US" sz="1200" dirty="0">
                <a:latin typeface="Calibri" panose="020F0502020204030204" pitchFamily="34" charset="0"/>
                <a:cs typeface="Calibri" panose="020F0502020204030204" pitchFamily="34" charset="0"/>
              </a:rPr>
              <a:t>: catheterized urinalysis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catheterized urine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Blood studies</a:t>
            </a:r>
            <a:r>
              <a:rPr lang="en-US" sz="1200" dirty="0">
                <a:latin typeface="Calibri" panose="020F0502020204030204" pitchFamily="34" charset="0"/>
                <a:cs typeface="Calibri" panose="020F0502020204030204" pitchFamily="34" charset="0"/>
              </a:rPr>
              <a:t>: complete blood count with differential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Cerebrospinal fluid studies</a:t>
            </a:r>
            <a:r>
              <a:rPr lang="en-US" sz="1200" dirty="0">
                <a:latin typeface="Calibri" panose="020F0502020204030204" pitchFamily="34" charset="0"/>
                <a:cs typeface="Calibri" panose="020F0502020204030204" pitchFamily="34" charset="0"/>
              </a:rPr>
              <a:t>: cell count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Gram stain </a:t>
            </a:r>
            <a:r>
              <a:rPr lang="en-US" sz="1200" i="1" u="sng" dirty="0">
                <a:latin typeface="Calibri" panose="020F0502020204030204" pitchFamily="34" charset="0"/>
                <a:cs typeface="Calibri" panose="020F0502020204030204" pitchFamily="34" charset="0"/>
              </a:rPr>
              <a:t>AND</a:t>
            </a:r>
            <a:r>
              <a:rPr lang="en-US" sz="1200" i="1"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glucose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protein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Herpes simplex virus studies</a:t>
            </a:r>
            <a:r>
              <a:rPr lang="en-US" sz="1200" dirty="0">
                <a:latin typeface="Calibri" panose="020F0502020204030204" pitchFamily="34" charset="0"/>
                <a:cs typeface="Calibri" panose="020F0502020204030204" pitchFamily="34" charset="0"/>
              </a:rPr>
              <a:t>: CSF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serum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surface swab HSV PCRs (conjunctiva </a:t>
            </a:r>
            <a:r>
              <a:rPr lang="en-US" sz="1200" i="1" u="sng" dirty="0">
                <a:latin typeface="Calibri" panose="020F0502020204030204" pitchFamily="34" charset="0"/>
                <a:cs typeface="Calibri" panose="020F0502020204030204" pitchFamily="34" charset="0"/>
              </a:rPr>
              <a:t>AND </a:t>
            </a:r>
            <a:r>
              <a:rPr lang="en-US" sz="1200" dirty="0">
                <a:latin typeface="Calibri" panose="020F0502020204030204" pitchFamily="34" charset="0"/>
                <a:cs typeface="Calibri" panose="020F0502020204030204" pitchFamily="34" charset="0"/>
              </a:rPr>
              <a:t>NP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skin [including lanced vesicles]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rectal)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ALT.</a:t>
            </a:r>
          </a:p>
          <a:p>
            <a:pPr marL="257175" indent="-257175">
              <a:lnSpc>
                <a:spcPct val="105000"/>
              </a:lnSpc>
              <a:spcBef>
                <a:spcPts val="0"/>
              </a:spcBef>
              <a:spcAft>
                <a:spcPts val="0"/>
              </a:spcAft>
              <a:buFont typeface="Calibri" panose="020F0502020204030204" pitchFamily="34" charset="0"/>
              <a:buChar char="-"/>
            </a:pPr>
            <a:endParaRPr lang="en-US" sz="10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2: Antibiotics recommendations based on initial work up</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not suspected</a:t>
            </a:r>
            <a:r>
              <a:rPr lang="en-US" sz="1200" dirty="0">
                <a:latin typeface="Calibri" panose="020F0502020204030204" pitchFamily="34" charset="0"/>
                <a:cs typeface="Calibri" panose="020F0502020204030204" pitchFamily="34" charset="0"/>
              </a:rPr>
              <a:t>: Ampicillin (50mg/kg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a:t>
            </a:r>
            <a:r>
              <a:rPr lang="en-US" sz="1200" i="1" u="sng" dirty="0">
                <a:latin typeface="Calibri" panose="020F0502020204030204" pitchFamily="34" charset="0"/>
                <a:cs typeface="Calibri" panose="020F0502020204030204" pitchFamily="34" charset="0"/>
              </a:rPr>
              <a:t>EITHER </a:t>
            </a:r>
            <a:r>
              <a:rPr lang="en-US" sz="1200" dirty="0">
                <a:latin typeface="Calibri" panose="020F0502020204030204" pitchFamily="34" charset="0"/>
                <a:cs typeface="Calibri" panose="020F0502020204030204" pitchFamily="34" charset="0"/>
              </a:rPr>
              <a:t>Ceftazidime (50mg/kg q12h)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Gentamicin (4mg/kg q24h)]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suspected</a:t>
            </a:r>
            <a:r>
              <a:rPr lang="en-US" sz="1200" dirty="0">
                <a:latin typeface="Calibri" panose="020F0502020204030204" pitchFamily="34" charset="0"/>
                <a:cs typeface="Calibri" panose="020F0502020204030204" pitchFamily="34" charset="0"/>
              </a:rPr>
              <a:t>: Ampicillin (100 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Ceftazidime (50mg/kg q8h), </a:t>
            </a:r>
            <a:r>
              <a:rPr lang="en-US" sz="1200" i="1" u="sng" dirty="0">
                <a:latin typeface="Calibri" panose="020F0502020204030204" pitchFamily="34" charset="0"/>
                <a:cs typeface="Calibri" panose="020F0502020204030204" pitchFamily="34" charset="0"/>
              </a:rPr>
              <a:t>+/-</a:t>
            </a:r>
            <a:r>
              <a:rPr lang="en-US" sz="1200" dirty="0">
                <a:latin typeface="Calibri" panose="020F0502020204030204" pitchFamily="34" charset="0"/>
                <a:cs typeface="Calibri" panose="020F0502020204030204" pitchFamily="34" charset="0"/>
              </a:rPr>
              <a:t> Gentamicin (4mg/kg q24h)]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HSV suspected</a:t>
            </a:r>
            <a:r>
              <a:rPr lang="en-US" sz="1200" dirty="0">
                <a:latin typeface="Calibri" panose="020F0502020204030204" pitchFamily="34" charset="0"/>
                <a:cs typeface="Calibri" panose="020F0502020204030204" pitchFamily="34" charset="0"/>
              </a:rPr>
              <a:t>: Acyclovir IV (20 mg/kg q8h)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Confirm dosing based on gestational age</a:t>
            </a: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p:txBody>
      </p:sp>
      <p:sp>
        <p:nvSpPr>
          <p:cNvPr id="85" name="TextBox 84">
            <a:extLst>
              <a:ext uri="{FF2B5EF4-FFF2-40B4-BE49-F238E27FC236}">
                <a16:creationId xmlns:a16="http://schemas.microsoft.com/office/drawing/2014/main" id="{FB955280-2781-402A-895A-EE47F66A86F9}"/>
              </a:ext>
            </a:extLst>
          </p:cNvPr>
          <p:cNvSpPr txBox="1"/>
          <p:nvPr/>
        </p:nvSpPr>
        <p:spPr>
          <a:xfrm>
            <a:off x="4667190" y="872294"/>
            <a:ext cx="4114800" cy="472309"/>
          </a:xfrm>
          <a:prstGeom prst="rect">
            <a:avLst/>
          </a:prstGeom>
          <a:noFill/>
        </p:spPr>
        <p:txBody>
          <a:bodyPr wrap="square" rtlCol="0">
            <a:spAutoFit/>
          </a:bodyPr>
          <a:lstStyle/>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13F418A-F8BF-4D6B-8088-700D00A67677}"/>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9" name="TextBox 8">
            <a:extLst>
              <a:ext uri="{FF2B5EF4-FFF2-40B4-BE49-F238E27FC236}">
                <a16:creationId xmlns:a16="http://schemas.microsoft.com/office/drawing/2014/main" id="{7FF596D7-8631-488C-90F3-3EBA8E6B997F}"/>
              </a:ext>
            </a:extLst>
          </p:cNvPr>
          <p:cNvSpPr txBox="1"/>
          <p:nvPr/>
        </p:nvSpPr>
        <p:spPr>
          <a:xfrm>
            <a:off x="2088858" y="6468118"/>
            <a:ext cx="4295163" cy="261610"/>
          </a:xfrm>
          <a:prstGeom prst="rect">
            <a:avLst/>
          </a:prstGeom>
          <a:solidFill>
            <a:srgbClr val="CCFFCC"/>
          </a:solidFill>
          <a:ln>
            <a:solidFill>
              <a:schemeClr val="tx1"/>
            </a:solidFill>
          </a:ln>
        </p:spPr>
        <p:txBody>
          <a:bodyPr wrap="square" rtlCol="0">
            <a:spAutoFit/>
          </a:bodyPr>
          <a:lstStyle/>
          <a:p>
            <a:r>
              <a:rPr lang="en-US" sz="1100" dirty="0"/>
              <a:t>A link at the bottom will direct to “CA-FIRST protocol details” for this age group</a:t>
            </a:r>
          </a:p>
        </p:txBody>
      </p:sp>
    </p:spTree>
    <p:extLst>
      <p:ext uri="{BB962C8B-B14F-4D97-AF65-F5344CB8AC3E}">
        <p14:creationId xmlns:p14="http://schemas.microsoft.com/office/powerpoint/2010/main" val="646936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7</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0 to 6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Level 3: CA-FIRST protocol details </a:t>
            </a:r>
          </a:p>
        </p:txBody>
      </p:sp>
    </p:spTree>
    <p:extLst>
      <p:ext uri="{BB962C8B-B14F-4D97-AF65-F5344CB8AC3E}">
        <p14:creationId xmlns:p14="http://schemas.microsoft.com/office/powerpoint/2010/main" val="3986890684"/>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448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0-6 Days Old Infant</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56245" y="2857571"/>
            <a:ext cx="8226436" cy="2677656"/>
          </a:xfrm>
          <a:prstGeom prst="rect">
            <a:avLst/>
          </a:prstGeom>
          <a:solidFill>
            <a:srgbClr val="E2F0D9"/>
          </a:solidFill>
          <a:ln w="28575">
            <a:solidFill>
              <a:srgbClr val="00B050"/>
            </a:solidFill>
          </a:ln>
        </p:spPr>
        <p:txBody>
          <a:bodyPr wrap="square">
            <a:spAutoFit/>
          </a:bodyPr>
          <a:lstStyle/>
          <a:p>
            <a:r>
              <a:rPr lang="en-US" sz="21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Perform a full septic work-up (CBC, CSF studies, and Blood and CSF Cultures</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May order a CRP</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Need not perform UA or urine Culture</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Pediatrics Consult</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Hospital admission</a:t>
            </a:r>
          </a:p>
          <a:p>
            <a:pPr marL="342900" indent="-342900">
              <a:buFont typeface="Courier New" panose="02070309020205020404" pitchFamily="49" charset="0"/>
              <a:buChar char="o"/>
            </a:pPr>
            <a:r>
              <a:rPr lang="en-US" sz="2100" dirty="0">
                <a:solidFill>
                  <a:sysClr val="windowText" lastClr="000000"/>
                </a:solidFill>
                <a:latin typeface="Microsoft Tai Le" panose="020B0502040204020203" pitchFamily="34" charset="0"/>
                <a:cs typeface="Microsoft Tai Le" panose="020B0502040204020203" pitchFamily="34" charset="0"/>
              </a:rPr>
              <a:t>Parenteral antibiotics</a:t>
            </a:r>
          </a:p>
        </p:txBody>
      </p:sp>
      <p:sp>
        <p:nvSpPr>
          <p:cNvPr id="3" name="TextBox 2">
            <a:extLst>
              <a:ext uri="{FF2B5EF4-FFF2-40B4-BE49-F238E27FC236}">
                <a16:creationId xmlns:a16="http://schemas.microsoft.com/office/drawing/2014/main" id="{A106BEA8-AA92-435C-AB17-884DDA437255}"/>
              </a:ext>
            </a:extLst>
          </p:cNvPr>
          <p:cNvSpPr txBox="1"/>
          <p:nvPr/>
        </p:nvSpPr>
        <p:spPr>
          <a:xfrm>
            <a:off x="456245" y="1319058"/>
            <a:ext cx="8226436" cy="1408078"/>
          </a:xfrm>
          <a:prstGeom prst="rect">
            <a:avLst/>
          </a:prstGeom>
          <a:noFill/>
        </p:spPr>
        <p:txBody>
          <a:bodyPr wrap="square" lIns="68580" tIns="34290" rIns="68580" bIns="34290" rtlCol="0" anchor="t">
            <a:spAutoFit/>
          </a:bodyPr>
          <a:lstStyle/>
          <a:p>
            <a:r>
              <a:rPr lang="en-US" sz="2100" b="1" u="sng" dirty="0">
                <a:solidFill>
                  <a:sysClr val="windowText" lastClr="000000"/>
                </a:solidFill>
                <a:latin typeface="Microsoft Tai Le" panose="020B0502040204020203" pitchFamily="34" charset="0"/>
                <a:cs typeface="Microsoft Tai Le" panose="020B0502040204020203" pitchFamily="34" charset="0"/>
              </a:rPr>
              <a:t>Early onset sepsis calculator</a:t>
            </a:r>
          </a:p>
          <a:p>
            <a:pPr marL="457200" indent="-457200">
              <a:buFont typeface="Arial" panose="020B0604020202020204" pitchFamily="34" charset="0"/>
              <a:buChar char="•"/>
            </a:pPr>
            <a:r>
              <a:rPr lang="en-US" sz="2100" dirty="0">
                <a:latin typeface="Microsoft Tai Le" panose="020B0502040204020203" pitchFamily="34" charset="0"/>
                <a:cs typeface="Microsoft Tai Le" panose="020B0502040204020203" pitchFamily="34" charset="0"/>
                <a:hlinkClick r:id="rId3"/>
              </a:rPr>
              <a:t>Infection Probability Calculator - Neonatal Sepsis Calculator (kaiserpermanente.org)</a:t>
            </a:r>
            <a:r>
              <a:rPr lang="en-US" sz="2100" dirty="0">
                <a:latin typeface="Microsoft Tai Le" panose="020B0502040204020203" pitchFamily="34" charset="0"/>
                <a:cs typeface="Microsoft Tai Le" panose="020B0502040204020203" pitchFamily="34" charset="0"/>
              </a:rPr>
              <a:t> calculates the neonate's risk of sepsis at birth</a:t>
            </a:r>
            <a:r>
              <a:rPr lang="en-US" sz="2400" dirty="0">
                <a:latin typeface="Microsoft Tai Le" panose="020B0502040204020203" pitchFamily="34" charset="0"/>
                <a:cs typeface="Microsoft Tai Le" panose="020B0502040204020203" pitchFamily="34" charset="0"/>
              </a:rPr>
              <a:t>. validated for use in first 24 hours of life.</a:t>
            </a:r>
          </a:p>
        </p:txBody>
      </p:sp>
      <p:sp>
        <p:nvSpPr>
          <p:cNvPr id="10" name="TextBox 9">
            <a:extLst>
              <a:ext uri="{FF2B5EF4-FFF2-40B4-BE49-F238E27FC236}">
                <a16:creationId xmlns:a16="http://schemas.microsoft.com/office/drawing/2014/main" id="{6B10A583-D80B-4D1A-A44F-5C69D6EDC85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1754505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9</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88420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dirty="0">
                <a:solidFill>
                  <a:srgbClr val="FFFFFF"/>
                </a:solidFill>
              </a:rPr>
              <a:t>7 to 21 days Old</a:t>
            </a:r>
          </a:p>
        </p:txBody>
      </p:sp>
    </p:spTree>
    <p:extLst>
      <p:ext uri="{BB962C8B-B14F-4D97-AF65-F5344CB8AC3E}">
        <p14:creationId xmlns:p14="http://schemas.microsoft.com/office/powerpoint/2010/main" val="2186638633"/>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10</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566737"/>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165065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Management of 7 to 21 days old </a:t>
            </a:r>
          </a:p>
        </p:txBody>
      </p:sp>
      <p:grpSp>
        <p:nvGrpSpPr>
          <p:cNvPr id="9" name="Group 4">
            <a:extLst>
              <a:ext uri="{FF2B5EF4-FFF2-40B4-BE49-F238E27FC236}">
                <a16:creationId xmlns:a16="http://schemas.microsoft.com/office/drawing/2014/main" id="{6FAB5B0E-5ECE-4D83-8FBF-FD741014B91F}"/>
              </a:ext>
            </a:extLst>
          </p:cNvPr>
          <p:cNvGrpSpPr>
            <a:grpSpLocks/>
          </p:cNvGrpSpPr>
          <p:nvPr/>
        </p:nvGrpSpPr>
        <p:grpSpPr bwMode="auto">
          <a:xfrm>
            <a:off x="0" y="3247230"/>
            <a:ext cx="9144000" cy="2862263"/>
            <a:chOff x="0" y="1150"/>
            <a:chExt cx="5760" cy="1803"/>
          </a:xfrm>
        </p:grpSpPr>
        <p:sp>
          <p:nvSpPr>
            <p:cNvPr id="10" name="Rectangle 5">
              <a:extLst>
                <a:ext uri="{FF2B5EF4-FFF2-40B4-BE49-F238E27FC236}">
                  <a16:creationId xmlns:a16="http://schemas.microsoft.com/office/drawing/2014/main" id="{8BA300B0-156D-4AB3-B99A-1D784B6BB869}"/>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1" name="Line 6">
              <a:extLst>
                <a:ext uri="{FF2B5EF4-FFF2-40B4-BE49-F238E27FC236}">
                  <a16:creationId xmlns:a16="http://schemas.microsoft.com/office/drawing/2014/main" id="{417F91B2-7172-41B4-90A6-8160FF057041}"/>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2" name="Rectangle 8">
            <a:extLst>
              <a:ext uri="{FF2B5EF4-FFF2-40B4-BE49-F238E27FC236}">
                <a16:creationId xmlns:a16="http://schemas.microsoft.com/office/drawing/2014/main" id="{5AF25031-331B-42BB-B1A6-5C42A7325D82}"/>
              </a:ext>
            </a:extLst>
          </p:cNvPr>
          <p:cNvSpPr>
            <a:spLocks noChangeArrowheads="1"/>
          </p:cNvSpPr>
          <p:nvPr/>
        </p:nvSpPr>
        <p:spPr bwMode="gray">
          <a:xfrm>
            <a:off x="1399190" y="2674368"/>
            <a:ext cx="6695747" cy="222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eaLnBrk="1" hangingPunct="1">
              <a:spcBef>
                <a:spcPct val="50000"/>
              </a:spcBef>
              <a:buNone/>
            </a:pPr>
            <a:r>
              <a:rPr lang="en-US" altLang="en-US" sz="3600" dirty="0">
                <a:solidFill>
                  <a:srgbClr val="FFFFFF"/>
                </a:solidFill>
              </a:rPr>
              <a:t>Level 1: Flowchart</a:t>
            </a:r>
          </a:p>
          <a:p>
            <a:pPr eaLnBrk="1" hangingPunct="1">
              <a:spcBef>
                <a:spcPct val="50000"/>
              </a:spcBef>
              <a:buNone/>
            </a:pPr>
            <a:r>
              <a:rPr lang="en-US" altLang="en-US" sz="3600" dirty="0">
                <a:solidFill>
                  <a:srgbClr val="FFFFFF"/>
                </a:solidFill>
              </a:rPr>
              <a:t>Level 2: Definitions and specifications</a:t>
            </a:r>
          </a:p>
          <a:p>
            <a:pPr eaLnBrk="1" hangingPunct="1">
              <a:spcBef>
                <a:spcPct val="50000"/>
              </a:spcBef>
              <a:buNone/>
            </a:pPr>
            <a:r>
              <a:rPr lang="en-US" altLang="en-US" sz="3600" dirty="0">
                <a:solidFill>
                  <a:srgbClr val="FFFFFF"/>
                </a:solidFill>
              </a:rPr>
              <a:t>Level 3: CA-FIRST protocol details </a:t>
            </a:r>
          </a:p>
        </p:txBody>
      </p:sp>
    </p:spTree>
    <p:extLst>
      <p:ext uri="{BB962C8B-B14F-4D97-AF65-F5344CB8AC3E}">
        <p14:creationId xmlns:p14="http://schemas.microsoft.com/office/powerpoint/2010/main" val="3641271722"/>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11</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7 to 21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1: Flowchart</a:t>
            </a:r>
          </a:p>
        </p:txBody>
      </p:sp>
    </p:spTree>
    <p:extLst>
      <p:ext uri="{BB962C8B-B14F-4D97-AF65-F5344CB8AC3E}">
        <p14:creationId xmlns:p14="http://schemas.microsoft.com/office/powerpoint/2010/main" val="4053745169"/>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4AAC73-8463-4116-85B3-C4D70A0076FA}"/>
              </a:ext>
            </a:extLst>
          </p:cNvPr>
          <p:cNvSpPr/>
          <p:nvPr/>
        </p:nvSpPr>
        <p:spPr>
          <a:xfrm>
            <a:off x="284939" y="1455530"/>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Well-appearing?</a:t>
            </a:r>
            <a:endParaRPr lang="en-US" sz="825" dirty="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1C129EA-7CC0-4C66-9DF4-4A4D270120A7}"/>
              </a:ext>
            </a:extLst>
          </p:cNvPr>
          <p:cNvSpPr/>
          <p:nvPr/>
        </p:nvSpPr>
        <p:spPr>
          <a:xfrm>
            <a:off x="1657199" y="1397066"/>
            <a:ext cx="20574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HSV based on risk</a:t>
            </a:r>
            <a:r>
              <a:rPr lang="en-US" sz="825" baseline="30000" dirty="0">
                <a:solidFill>
                  <a:srgbClr val="000000"/>
                </a:solidFill>
                <a:ea typeface="Calibri" panose="020F0502020204030204" pitchFamily="34" charset="0"/>
                <a:cs typeface="Times New Roman" panose="02020603050405020304" pitchFamily="18" charset="0"/>
              </a:rPr>
              <a:t> 1,3</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 </a:t>
            </a:r>
            <a:r>
              <a:rPr lang="en-US" sz="825" dirty="0">
                <a:solidFill>
                  <a:srgbClr val="000000"/>
                </a:solidFill>
                <a:ea typeface="Calibri" panose="020F0502020204030204" pitchFamily="34" charset="0"/>
                <a:cs typeface="Times New Roman" panose="02020603050405020304" pitchFamily="18" charset="0"/>
              </a:rPr>
              <a:t>consider acyclovir </a:t>
            </a:r>
            <a:r>
              <a:rPr lang="en-US" sz="825" baseline="30000" dirty="0">
                <a:solidFill>
                  <a:srgbClr val="000000"/>
                </a:solidFill>
                <a:ea typeface="Calibri" panose="020F0502020204030204" pitchFamily="34" charset="0"/>
                <a:cs typeface="Times New Roman" panose="02020603050405020304" pitchFamily="18" charset="0"/>
              </a:rPr>
              <a:t>1,3</a:t>
            </a:r>
            <a:endParaRPr lang="en-US" sz="825" dirty="0">
              <a:ea typeface="Calibri" panose="020F0502020204030204" pitchFamily="34" charset="0"/>
              <a:cs typeface="Times New Roman" panose="02020603050405020304" pitchFamily="18" charset="0"/>
            </a:endParaRPr>
          </a:p>
        </p:txBody>
      </p:sp>
      <p:sp>
        <p:nvSpPr>
          <p:cNvPr id="7" name="TextBox 43">
            <a:extLst>
              <a:ext uri="{FF2B5EF4-FFF2-40B4-BE49-F238E27FC236}">
                <a16:creationId xmlns:a16="http://schemas.microsoft.com/office/drawing/2014/main" id="{9A476156-6352-4FC6-9D8D-7EB9DAF3A14F}"/>
              </a:ext>
            </a:extLst>
          </p:cNvPr>
          <p:cNvSpPr txBox="1"/>
          <p:nvPr/>
        </p:nvSpPr>
        <p:spPr>
          <a:xfrm>
            <a:off x="1321060" y="1436623"/>
            <a:ext cx="274320" cy="182880"/>
          </a:xfrm>
          <a:prstGeom prst="rect">
            <a:avLst/>
          </a:prstGeom>
          <a:noFill/>
        </p:spPr>
        <p:txBody>
          <a:bodyPr wrap="none" rtlCol="0">
            <a:sp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endPar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E30F78FD-4BF7-4EC2-AEF0-ADC65415B208}"/>
              </a:ext>
            </a:extLst>
          </p:cNvPr>
          <p:cNvSpPr/>
          <p:nvPr/>
        </p:nvSpPr>
        <p:spPr>
          <a:xfrm>
            <a:off x="285511" y="2106754"/>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High risk infant? </a:t>
            </a:r>
            <a:r>
              <a:rPr lang="en-US" sz="825" baseline="30000" dirty="0">
                <a:solidFill>
                  <a:srgbClr val="000000"/>
                </a:solidFill>
                <a:ea typeface="Calibri" panose="020F0502020204030204" pitchFamily="34" charset="0"/>
                <a:cs typeface="Times New Roman" panose="02020603050405020304" pitchFamily="18" charset="0"/>
              </a:rPr>
              <a:t>1</a:t>
            </a:r>
            <a:endParaRPr lang="en-US" sz="825" dirty="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2EEAA836-A0BE-460E-AA57-8D42F5D78FFC}"/>
              </a:ext>
            </a:extLst>
          </p:cNvPr>
          <p:cNvSpPr/>
          <p:nvPr/>
        </p:nvSpPr>
        <p:spPr>
          <a:xfrm>
            <a:off x="1659661" y="2047140"/>
            <a:ext cx="20574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a:t>
            </a:r>
            <a:endParaRPr lang="en-US" sz="825" dirty="0">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HSV based on risk</a:t>
            </a:r>
            <a:r>
              <a:rPr lang="en-US" sz="825" baseline="30000" dirty="0">
                <a:solidFill>
                  <a:srgbClr val="000000"/>
                </a:solidFill>
                <a:ea typeface="Calibri" panose="020F0502020204030204" pitchFamily="34" charset="0"/>
                <a:cs typeface="Times New Roman" panose="02020603050405020304" pitchFamily="18" charset="0"/>
              </a:rPr>
              <a:t> 1,3 </a:t>
            </a: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 </a:t>
            </a:r>
            <a:r>
              <a:rPr lang="en-US" sz="825" dirty="0">
                <a:solidFill>
                  <a:srgbClr val="000000"/>
                </a:solidFill>
                <a:ea typeface="Calibri" panose="020F0502020204030204" pitchFamily="34" charset="0"/>
                <a:cs typeface="Times New Roman" panose="02020603050405020304" pitchFamily="18" charset="0"/>
              </a:rPr>
              <a:t>consider acyclovir </a:t>
            </a:r>
            <a:r>
              <a:rPr lang="en-US" sz="825" baseline="30000" dirty="0">
                <a:solidFill>
                  <a:srgbClr val="000000"/>
                </a:solidFill>
                <a:ea typeface="Calibri" panose="020F0502020204030204" pitchFamily="34" charset="0"/>
                <a:cs typeface="Times New Roman" panose="02020603050405020304" pitchFamily="18" charset="0"/>
              </a:rPr>
              <a:t>1,3</a:t>
            </a:r>
            <a:endParaRPr lang="en-US" sz="825" dirty="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D47E620F-D206-4495-A619-67BAC399113C}"/>
              </a:ext>
            </a:extLst>
          </p:cNvPr>
          <p:cNvSpPr/>
          <p:nvPr/>
        </p:nvSpPr>
        <p:spPr>
          <a:xfrm>
            <a:off x="284939" y="275987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Focal infection? </a:t>
            </a:r>
            <a:r>
              <a:rPr lang="en-US" sz="825" baseline="30000" dirty="0">
                <a:solidFill>
                  <a:srgbClr val="000000"/>
                </a:solidFill>
                <a:ea typeface="Calibri" panose="020F0502020204030204" pitchFamily="34" charset="0"/>
                <a:cs typeface="Times New Roman" panose="02020603050405020304" pitchFamily="18" charset="0"/>
              </a:rPr>
              <a:t>2</a:t>
            </a:r>
            <a:endParaRPr lang="en-US" sz="825" dirty="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A3252E03-AE9A-420D-90DC-F9C349F9AE11}"/>
              </a:ext>
            </a:extLst>
          </p:cNvPr>
          <p:cNvSpPr/>
          <p:nvPr/>
        </p:nvSpPr>
        <p:spPr>
          <a:xfrm>
            <a:off x="1656567" y="2701983"/>
            <a:ext cx="2057400" cy="4572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 Discuss with Pediatrics.</a:t>
            </a:r>
            <a:endParaRPr lang="en-US" sz="825" dirty="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48DE9810-2091-4E71-AD7C-FF6E9AEB7DC8}"/>
              </a:ext>
            </a:extLst>
          </p:cNvPr>
          <p:cNvSpPr/>
          <p:nvPr/>
        </p:nvSpPr>
        <p:spPr>
          <a:xfrm>
            <a:off x="286464" y="3411266"/>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Bronchiolitis?</a:t>
            </a:r>
            <a:endParaRPr lang="en-US" sz="825" dirty="0">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E5B3E3A9-47B2-4602-837E-8A23F0F908B0}"/>
              </a:ext>
            </a:extLst>
          </p:cNvPr>
          <p:cNvSpPr/>
          <p:nvPr/>
        </p:nvSpPr>
        <p:spPr>
          <a:xfrm>
            <a:off x="1658757" y="3411133"/>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a:t>
            </a:r>
            <a:endParaRPr lang="en-US" sz="825" dirty="0">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0CA6D3A3-462D-42A5-94A2-32B0A8E67C6F}"/>
              </a:ext>
            </a:extLst>
          </p:cNvPr>
          <p:cNvSpPr/>
          <p:nvPr/>
        </p:nvSpPr>
        <p:spPr>
          <a:xfrm>
            <a:off x="3030584" y="3411464"/>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CBC, </a:t>
            </a:r>
          </a:p>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or &gt; 38.5 C?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32" name="Rectangle 31">
            <a:extLst>
              <a:ext uri="{FF2B5EF4-FFF2-40B4-BE49-F238E27FC236}">
                <a16:creationId xmlns:a16="http://schemas.microsoft.com/office/drawing/2014/main" id="{0857D68C-F54F-483B-BD07-5415AB6C800E}"/>
              </a:ext>
            </a:extLst>
          </p:cNvPr>
          <p:cNvSpPr/>
          <p:nvPr/>
        </p:nvSpPr>
        <p:spPr>
          <a:xfrm>
            <a:off x="4399070" y="3411133"/>
            <a:ext cx="1028700" cy="342900"/>
          </a:xfrm>
          <a:prstGeom prst="rect">
            <a:avLst/>
          </a:prstGeom>
          <a:solidFill>
            <a:srgbClr val="FFD966"/>
          </a:solidFill>
          <a:ln w="28575"/>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Consider CSF</a:t>
            </a:r>
          </a:p>
        </p:txBody>
      </p:sp>
      <p:sp>
        <p:nvSpPr>
          <p:cNvPr id="33" name="Rectangle 32">
            <a:extLst>
              <a:ext uri="{FF2B5EF4-FFF2-40B4-BE49-F238E27FC236}">
                <a16:creationId xmlns:a16="http://schemas.microsoft.com/office/drawing/2014/main" id="{2042A9FF-BD2D-4066-AC9A-40453D02611E}"/>
              </a:ext>
            </a:extLst>
          </p:cNvPr>
          <p:cNvSpPr/>
          <p:nvPr/>
        </p:nvSpPr>
        <p:spPr>
          <a:xfrm>
            <a:off x="4401957" y="2110502"/>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or CBC?</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36" name="Rectangle 35">
            <a:extLst>
              <a:ext uri="{FF2B5EF4-FFF2-40B4-BE49-F238E27FC236}">
                <a16:creationId xmlns:a16="http://schemas.microsoft.com/office/drawing/2014/main" id="{AD3751A6-D189-4362-B11B-C8A2C3A2E821}"/>
              </a:ext>
            </a:extLst>
          </p:cNvPr>
          <p:cNvSpPr/>
          <p:nvPr/>
        </p:nvSpPr>
        <p:spPr>
          <a:xfrm>
            <a:off x="5771687" y="276157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CSF positive?</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60A6C156-4BC5-4EE4-98CD-6F1EFFC41FC4}"/>
              </a:ext>
            </a:extLst>
          </p:cNvPr>
          <p:cNvSpPr/>
          <p:nvPr/>
        </p:nvSpPr>
        <p:spPr>
          <a:xfrm>
            <a:off x="4399436" y="2759922"/>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825" dirty="0">
                <a:solidFill>
                  <a:srgbClr val="000000"/>
                </a:solidFill>
                <a:ea typeface="Calibri" panose="020F0502020204030204" pitchFamily="34" charset="0"/>
                <a:cs typeface="Times New Roman" panose="02020603050405020304" pitchFamily="18" charset="0"/>
              </a:rPr>
              <a:t>LP deferred?</a:t>
            </a:r>
            <a:endParaRPr lang="en-US" sz="825" dirty="0">
              <a:ea typeface="Calibri" panose="020F0502020204030204" pitchFamily="34" charset="0"/>
              <a:cs typeface="Times New Roman" panose="02020603050405020304" pitchFamily="18" charset="0"/>
            </a:endParaRPr>
          </a:p>
        </p:txBody>
      </p:sp>
      <p:sp>
        <p:nvSpPr>
          <p:cNvPr id="43" name="TextBox 43">
            <a:extLst>
              <a:ext uri="{FF2B5EF4-FFF2-40B4-BE49-F238E27FC236}">
                <a16:creationId xmlns:a16="http://schemas.microsoft.com/office/drawing/2014/main" id="{603B947C-F997-45D0-9677-957B5A8D3947}"/>
              </a:ext>
            </a:extLst>
          </p:cNvPr>
          <p:cNvSpPr txBox="1"/>
          <p:nvPr/>
        </p:nvSpPr>
        <p:spPr>
          <a:xfrm>
            <a:off x="5427687" y="208782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44" name="Rectangle 43">
            <a:extLst>
              <a:ext uri="{FF2B5EF4-FFF2-40B4-BE49-F238E27FC236}">
                <a16:creationId xmlns:a16="http://schemas.microsoft.com/office/drawing/2014/main" id="{1BF28EA4-63DC-452D-914A-F4EC590D9A31}"/>
              </a:ext>
            </a:extLst>
          </p:cNvPr>
          <p:cNvSpPr/>
          <p:nvPr/>
        </p:nvSpPr>
        <p:spPr>
          <a:xfrm>
            <a:off x="4021589" y="1386145"/>
            <a:ext cx="1783080" cy="459486"/>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 if antibiotics are to be given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Consider antibiotcs</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47" name="Rectangle 46">
            <a:extLst>
              <a:ext uri="{FF2B5EF4-FFF2-40B4-BE49-F238E27FC236}">
                <a16:creationId xmlns:a16="http://schemas.microsoft.com/office/drawing/2014/main" id="{91BC6F5F-5987-43FD-8BEF-CDF0365B7DB1}"/>
              </a:ext>
            </a:extLst>
          </p:cNvPr>
          <p:cNvSpPr/>
          <p:nvPr/>
        </p:nvSpPr>
        <p:spPr>
          <a:xfrm>
            <a:off x="6099957" y="1388266"/>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 if antibiotics are to be given Antibiotics: Consider withholding</a:t>
            </a:r>
            <a:endParaRPr lang="en-US" sz="825" dirty="0">
              <a:ea typeface="Calibri" panose="020F0502020204030204" pitchFamily="34" charset="0"/>
              <a:cs typeface="Times New Roman" panose="02020603050405020304" pitchFamily="18" charset="0"/>
            </a:endParaRPr>
          </a:p>
        </p:txBody>
      </p:sp>
      <p:sp>
        <p:nvSpPr>
          <p:cNvPr id="49" name="Rectangle 48">
            <a:extLst>
              <a:ext uri="{FF2B5EF4-FFF2-40B4-BE49-F238E27FC236}">
                <a16:creationId xmlns:a16="http://schemas.microsoft.com/office/drawing/2014/main" id="{24290AE5-5FE2-479A-A6D2-4709A6A20FF7}"/>
              </a:ext>
            </a:extLst>
          </p:cNvPr>
          <p:cNvSpPr/>
          <p:nvPr/>
        </p:nvSpPr>
        <p:spPr>
          <a:xfrm>
            <a:off x="7140955" y="2703124"/>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HSV based on risk</a:t>
            </a:r>
            <a:r>
              <a:rPr lang="en-US" sz="825" baseline="30000" dirty="0">
                <a:solidFill>
                  <a:srgbClr val="000000"/>
                </a:solidFill>
                <a:ea typeface="Calibri" panose="020F0502020204030204" pitchFamily="34" charset="0"/>
                <a:cs typeface="Times New Roman" panose="02020603050405020304" pitchFamily="18" charset="0"/>
              </a:rPr>
              <a:t> 3,4</a:t>
            </a:r>
            <a:endParaRPr lang="en-US" sz="825" dirty="0">
              <a:solidFill>
                <a:srgbClr val="000000"/>
              </a:solidFill>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consider acyclovir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50" name="Rectangle 49">
            <a:extLst>
              <a:ext uri="{FF2B5EF4-FFF2-40B4-BE49-F238E27FC236}">
                <a16:creationId xmlns:a16="http://schemas.microsoft.com/office/drawing/2014/main" id="{11D0C2A8-3B03-4F4B-9991-AD41FF1C3F5C}"/>
              </a:ext>
            </a:extLst>
          </p:cNvPr>
          <p:cNvSpPr/>
          <p:nvPr/>
        </p:nvSpPr>
        <p:spPr>
          <a:xfrm>
            <a:off x="7144926" y="3351605"/>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53" name="TextBox 43">
            <a:extLst>
              <a:ext uri="{FF2B5EF4-FFF2-40B4-BE49-F238E27FC236}">
                <a16:creationId xmlns:a16="http://schemas.microsoft.com/office/drawing/2014/main" id="{CED5EC19-E403-4C0B-8A76-4A7C68868CF3}"/>
              </a:ext>
            </a:extLst>
          </p:cNvPr>
          <p:cNvSpPr txBox="1"/>
          <p:nvPr/>
        </p:nvSpPr>
        <p:spPr>
          <a:xfrm>
            <a:off x="6799390" y="2746337"/>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61" name="TextBox 43">
            <a:extLst>
              <a:ext uri="{FF2B5EF4-FFF2-40B4-BE49-F238E27FC236}">
                <a16:creationId xmlns:a16="http://schemas.microsoft.com/office/drawing/2014/main" id="{EB67D62E-9B3A-441F-9FE2-96D06C004F3E}"/>
              </a:ext>
            </a:extLst>
          </p:cNvPr>
          <p:cNvSpPr txBox="1"/>
          <p:nvPr/>
        </p:nvSpPr>
        <p:spPr>
          <a:xfrm>
            <a:off x="4633550" y="256578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63" name="Rectangle 62">
            <a:extLst>
              <a:ext uri="{FF2B5EF4-FFF2-40B4-BE49-F238E27FC236}">
                <a16:creationId xmlns:a16="http://schemas.microsoft.com/office/drawing/2014/main" id="{66090A55-A4F8-4990-BB71-959127EF4828}"/>
              </a:ext>
            </a:extLst>
          </p:cNvPr>
          <p:cNvSpPr/>
          <p:nvPr/>
        </p:nvSpPr>
        <p:spPr>
          <a:xfrm>
            <a:off x="5770499" y="3409692"/>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or CBC?</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66" name="TextBox 43">
            <a:extLst>
              <a:ext uri="{FF2B5EF4-FFF2-40B4-BE49-F238E27FC236}">
                <a16:creationId xmlns:a16="http://schemas.microsoft.com/office/drawing/2014/main" id="{BFFA8F75-F23C-4F6C-8AD0-6F4635D11580}"/>
              </a:ext>
            </a:extLst>
          </p:cNvPr>
          <p:cNvSpPr txBox="1"/>
          <p:nvPr/>
        </p:nvSpPr>
        <p:spPr>
          <a:xfrm>
            <a:off x="6792566" y="339432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67" name="TextBox 43">
            <a:extLst>
              <a:ext uri="{FF2B5EF4-FFF2-40B4-BE49-F238E27FC236}">
                <a16:creationId xmlns:a16="http://schemas.microsoft.com/office/drawing/2014/main" id="{0B127D91-9B06-40A8-AF4E-F8E945F00F5F}"/>
              </a:ext>
            </a:extLst>
          </p:cNvPr>
          <p:cNvSpPr txBox="1"/>
          <p:nvPr/>
        </p:nvSpPr>
        <p:spPr>
          <a:xfrm>
            <a:off x="6004745" y="310669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1" name="Rectangle 70">
            <a:extLst>
              <a:ext uri="{FF2B5EF4-FFF2-40B4-BE49-F238E27FC236}">
                <a16:creationId xmlns:a16="http://schemas.microsoft.com/office/drawing/2014/main" id="{B8525C6F-08C6-47A6-9C0C-F017137F2D28}"/>
              </a:ext>
            </a:extLst>
          </p:cNvPr>
          <p:cNvSpPr/>
          <p:nvPr/>
        </p:nvSpPr>
        <p:spPr>
          <a:xfrm>
            <a:off x="7137504" y="4019622"/>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Consider withholding</a:t>
            </a:r>
            <a:endParaRPr lang="en-US" sz="825" dirty="0">
              <a:ea typeface="Calibri" panose="020F0502020204030204" pitchFamily="34" charset="0"/>
              <a:cs typeface="Times New Roman" panose="02020603050405020304" pitchFamily="18" charset="0"/>
            </a:endParaRPr>
          </a:p>
        </p:txBody>
      </p:sp>
      <p:sp>
        <p:nvSpPr>
          <p:cNvPr id="73" name="TextBox 43">
            <a:extLst>
              <a:ext uri="{FF2B5EF4-FFF2-40B4-BE49-F238E27FC236}">
                <a16:creationId xmlns:a16="http://schemas.microsoft.com/office/drawing/2014/main" id="{4639843C-B8A7-44B8-B283-AC974F2B16E2}"/>
              </a:ext>
            </a:extLst>
          </p:cNvPr>
          <p:cNvSpPr txBox="1"/>
          <p:nvPr/>
        </p:nvSpPr>
        <p:spPr>
          <a:xfrm>
            <a:off x="3267036" y="376223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4" name="Rectangle 73">
            <a:extLst>
              <a:ext uri="{FF2B5EF4-FFF2-40B4-BE49-F238E27FC236}">
                <a16:creationId xmlns:a16="http://schemas.microsoft.com/office/drawing/2014/main" id="{D40ED8B2-92DB-4B5D-9F87-63F43E20CBD9}"/>
              </a:ext>
            </a:extLst>
          </p:cNvPr>
          <p:cNvSpPr/>
          <p:nvPr/>
        </p:nvSpPr>
        <p:spPr>
          <a:xfrm>
            <a:off x="2656076" y="4026992"/>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sp>
        <p:nvSpPr>
          <p:cNvPr id="77" name="Rectangle 76">
            <a:extLst>
              <a:ext uri="{FF2B5EF4-FFF2-40B4-BE49-F238E27FC236}">
                <a16:creationId xmlns:a16="http://schemas.microsoft.com/office/drawing/2014/main" id="{2AC4682D-89BD-4724-BEE9-F804F7976F45}"/>
              </a:ext>
            </a:extLst>
          </p:cNvPr>
          <p:cNvSpPr/>
          <p:nvPr/>
        </p:nvSpPr>
        <p:spPr>
          <a:xfrm>
            <a:off x="288162" y="4063389"/>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a:t>
            </a:r>
            <a:endParaRPr lang="en-US" sz="825" dirty="0">
              <a:ea typeface="Calibri" panose="020F0502020204030204" pitchFamily="34" charset="0"/>
              <a:cs typeface="Times New Roman" panose="02020603050405020304" pitchFamily="18" charset="0"/>
            </a:endParaRPr>
          </a:p>
        </p:txBody>
      </p:sp>
      <p:sp>
        <p:nvSpPr>
          <p:cNvPr id="78" name="Rectangle 77">
            <a:extLst>
              <a:ext uri="{FF2B5EF4-FFF2-40B4-BE49-F238E27FC236}">
                <a16:creationId xmlns:a16="http://schemas.microsoft.com/office/drawing/2014/main" id="{A478BD71-6392-4A44-8170-D1C4D5AB8F3A}"/>
              </a:ext>
            </a:extLst>
          </p:cNvPr>
          <p:cNvSpPr/>
          <p:nvPr/>
        </p:nvSpPr>
        <p:spPr>
          <a:xfrm>
            <a:off x="289337" y="471388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CBC,</a:t>
            </a:r>
          </a:p>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 or &gt; 38.5 C?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82" name="Rectangle 81">
            <a:extLst>
              <a:ext uri="{FF2B5EF4-FFF2-40B4-BE49-F238E27FC236}">
                <a16:creationId xmlns:a16="http://schemas.microsoft.com/office/drawing/2014/main" id="{FAA1ADF7-D93A-4B5D-8B2E-F8D5C8859B4B}"/>
              </a:ext>
            </a:extLst>
          </p:cNvPr>
          <p:cNvSpPr/>
          <p:nvPr/>
        </p:nvSpPr>
        <p:spPr>
          <a:xfrm>
            <a:off x="1661849" y="4714664"/>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a:t>
            </a:r>
          </a:p>
        </p:txBody>
      </p:sp>
      <p:sp>
        <p:nvSpPr>
          <p:cNvPr id="86" name="TextBox 43">
            <a:extLst>
              <a:ext uri="{FF2B5EF4-FFF2-40B4-BE49-F238E27FC236}">
                <a16:creationId xmlns:a16="http://schemas.microsoft.com/office/drawing/2014/main" id="{1E2781C8-A88C-4644-ADB7-0DC3C25AD0C3}"/>
              </a:ext>
            </a:extLst>
          </p:cNvPr>
          <p:cNvSpPr txBox="1"/>
          <p:nvPr/>
        </p:nvSpPr>
        <p:spPr>
          <a:xfrm>
            <a:off x="523391" y="505600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8" name="Rectangle 87">
            <a:extLst>
              <a:ext uri="{FF2B5EF4-FFF2-40B4-BE49-F238E27FC236}">
                <a16:creationId xmlns:a16="http://schemas.microsoft.com/office/drawing/2014/main" id="{B85ECD8E-3301-467B-A742-D231F41667BF}"/>
              </a:ext>
            </a:extLst>
          </p:cNvPr>
          <p:cNvSpPr/>
          <p:nvPr/>
        </p:nvSpPr>
        <p:spPr>
          <a:xfrm>
            <a:off x="3030584" y="471388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CSF positive?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89" name="TextBox 43">
            <a:extLst>
              <a:ext uri="{FF2B5EF4-FFF2-40B4-BE49-F238E27FC236}">
                <a16:creationId xmlns:a16="http://schemas.microsoft.com/office/drawing/2014/main" id="{7DDE6042-319B-407F-9BA7-744945C69845}"/>
              </a:ext>
            </a:extLst>
          </p:cNvPr>
          <p:cNvSpPr txBox="1"/>
          <p:nvPr/>
        </p:nvSpPr>
        <p:spPr>
          <a:xfrm>
            <a:off x="5431284" y="468959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1" name="Rectangle 90">
            <a:extLst>
              <a:ext uri="{FF2B5EF4-FFF2-40B4-BE49-F238E27FC236}">
                <a16:creationId xmlns:a16="http://schemas.microsoft.com/office/drawing/2014/main" id="{0B5DD1F7-1CB7-449C-840A-982057F685B1}"/>
              </a:ext>
            </a:extLst>
          </p:cNvPr>
          <p:cNvSpPr/>
          <p:nvPr/>
        </p:nvSpPr>
        <p:spPr>
          <a:xfrm>
            <a:off x="2653167" y="5333839"/>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HSV based on risk</a:t>
            </a:r>
            <a:r>
              <a:rPr lang="en-US" sz="825" baseline="30000" dirty="0">
                <a:solidFill>
                  <a:srgbClr val="000000"/>
                </a:solidFill>
                <a:ea typeface="Calibri" panose="020F0502020204030204" pitchFamily="34" charset="0"/>
                <a:cs typeface="Times New Roman" panose="02020603050405020304" pitchFamily="18" charset="0"/>
              </a:rPr>
              <a:t> 3,4</a:t>
            </a:r>
            <a:endParaRPr lang="en-US" sz="825" dirty="0">
              <a:solidFill>
                <a:srgbClr val="000000"/>
              </a:solidFill>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consider acyclovir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93" name="TextBox 43">
            <a:extLst>
              <a:ext uri="{FF2B5EF4-FFF2-40B4-BE49-F238E27FC236}">
                <a16:creationId xmlns:a16="http://schemas.microsoft.com/office/drawing/2014/main" id="{41E17A15-2963-4622-936B-3A73F0E7FFEC}"/>
              </a:ext>
            </a:extLst>
          </p:cNvPr>
          <p:cNvSpPr txBox="1"/>
          <p:nvPr/>
        </p:nvSpPr>
        <p:spPr>
          <a:xfrm>
            <a:off x="4632296" y="506069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4" name="Rectangle 93">
            <a:extLst>
              <a:ext uri="{FF2B5EF4-FFF2-40B4-BE49-F238E27FC236}">
                <a16:creationId xmlns:a16="http://schemas.microsoft.com/office/drawing/2014/main" id="{72AC176F-2298-4D38-AC7A-C9FBC5F2C1C4}"/>
              </a:ext>
            </a:extLst>
          </p:cNvPr>
          <p:cNvSpPr/>
          <p:nvPr/>
        </p:nvSpPr>
        <p:spPr>
          <a:xfrm>
            <a:off x="7137504" y="4655414"/>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95" name="Rectangle 94">
            <a:extLst>
              <a:ext uri="{FF2B5EF4-FFF2-40B4-BE49-F238E27FC236}">
                <a16:creationId xmlns:a16="http://schemas.microsoft.com/office/drawing/2014/main" id="{BFC516D3-4F8F-4A80-B096-ABDD6526C64B}"/>
              </a:ext>
            </a:extLst>
          </p:cNvPr>
          <p:cNvSpPr/>
          <p:nvPr/>
        </p:nvSpPr>
        <p:spPr>
          <a:xfrm>
            <a:off x="4401736" y="4713886"/>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or CBC?</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97" name="TextBox 43">
            <a:extLst>
              <a:ext uri="{FF2B5EF4-FFF2-40B4-BE49-F238E27FC236}">
                <a16:creationId xmlns:a16="http://schemas.microsoft.com/office/drawing/2014/main" id="{1621DACC-B75C-40C8-B98F-BE8F7BEA5DDA}"/>
              </a:ext>
            </a:extLst>
          </p:cNvPr>
          <p:cNvSpPr txBox="1"/>
          <p:nvPr/>
        </p:nvSpPr>
        <p:spPr>
          <a:xfrm>
            <a:off x="3265128" y="506069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9" name="Rectangle 98">
            <a:extLst>
              <a:ext uri="{FF2B5EF4-FFF2-40B4-BE49-F238E27FC236}">
                <a16:creationId xmlns:a16="http://schemas.microsoft.com/office/drawing/2014/main" id="{508181DB-443C-4163-972B-5E4C67AE1DBA}"/>
              </a:ext>
            </a:extLst>
          </p:cNvPr>
          <p:cNvSpPr/>
          <p:nvPr/>
        </p:nvSpPr>
        <p:spPr>
          <a:xfrm>
            <a:off x="7152222" y="5329739"/>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Consider withholding</a:t>
            </a:r>
            <a:endParaRPr lang="en-US" sz="825" dirty="0">
              <a:ea typeface="Calibri" panose="020F0502020204030204" pitchFamily="34" charset="0"/>
              <a:cs typeface="Times New Roman" panose="02020603050405020304" pitchFamily="18" charset="0"/>
            </a:endParaRPr>
          </a:p>
        </p:txBody>
      </p:sp>
      <p:sp>
        <p:nvSpPr>
          <p:cNvPr id="100" name="Rectangle 99">
            <a:extLst>
              <a:ext uri="{FF2B5EF4-FFF2-40B4-BE49-F238E27FC236}">
                <a16:creationId xmlns:a16="http://schemas.microsoft.com/office/drawing/2014/main" id="{C209DFC2-C1C1-466D-BB97-E1F58811FC4C}"/>
              </a:ext>
            </a:extLst>
          </p:cNvPr>
          <p:cNvSpPr/>
          <p:nvPr/>
        </p:nvSpPr>
        <p:spPr>
          <a:xfrm>
            <a:off x="286464" y="5329739"/>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 if antibiotics are to be given Antibiotics: Consider withholding</a:t>
            </a:r>
            <a:endParaRPr lang="en-US" sz="825" dirty="0">
              <a:ea typeface="Calibri" panose="020F0502020204030204" pitchFamily="34" charset="0"/>
              <a:cs typeface="Times New Roman" panose="02020603050405020304" pitchFamily="18" charset="0"/>
            </a:endParaRPr>
          </a:p>
        </p:txBody>
      </p:sp>
      <p:cxnSp>
        <p:nvCxnSpPr>
          <p:cNvPr id="104" name="Connector: Elbow 103">
            <a:extLst>
              <a:ext uri="{FF2B5EF4-FFF2-40B4-BE49-F238E27FC236}">
                <a16:creationId xmlns:a16="http://schemas.microsoft.com/office/drawing/2014/main" id="{63A64CA8-B37B-4CF4-B11C-4B76575D8BC9}"/>
              </a:ext>
            </a:extLst>
          </p:cNvPr>
          <p:cNvCxnSpPr>
            <a:stCxn id="4" idx="3"/>
            <a:endCxn id="6" idx="1"/>
          </p:cNvCxnSpPr>
          <p:nvPr/>
        </p:nvCxnSpPr>
        <p:spPr>
          <a:xfrm>
            <a:off x="1313640" y="1626979"/>
            <a:ext cx="343559" cy="116"/>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6087A641-7E6B-4A69-BD5B-0808A6D81912}"/>
              </a:ext>
            </a:extLst>
          </p:cNvPr>
          <p:cNvCxnSpPr>
            <a:stCxn id="4" idx="2"/>
            <a:endCxn id="10" idx="0"/>
          </p:cNvCxnSpPr>
          <p:nvPr/>
        </p:nvCxnSpPr>
        <p:spPr>
          <a:xfrm rot="16200000" flipH="1">
            <a:off x="645414" y="1952305"/>
            <a:ext cx="308324" cy="57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06F3A8-74F0-4689-BF02-BA2B11F77136}"/>
              </a:ext>
            </a:extLst>
          </p:cNvPr>
          <p:cNvCxnSpPr>
            <a:stCxn id="10" idx="2"/>
            <a:endCxn id="15" idx="0"/>
          </p:cNvCxnSpPr>
          <p:nvPr/>
        </p:nvCxnSpPr>
        <p:spPr>
          <a:xfrm rot="5400000">
            <a:off x="644753" y="2604762"/>
            <a:ext cx="31021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110AF22E-B42F-4DFA-B574-759A261C60EC}"/>
              </a:ext>
            </a:extLst>
          </p:cNvPr>
          <p:cNvCxnSpPr>
            <a:stCxn id="15" idx="2"/>
            <a:endCxn id="21" idx="0"/>
          </p:cNvCxnSpPr>
          <p:nvPr/>
        </p:nvCxnSpPr>
        <p:spPr>
          <a:xfrm rot="16200000" flipH="1">
            <a:off x="645805" y="3256256"/>
            <a:ext cx="308495" cy="152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605917D0-1F7F-4FCE-9BD7-B76B12A44FE7}"/>
              </a:ext>
            </a:extLst>
          </p:cNvPr>
          <p:cNvCxnSpPr>
            <a:stCxn id="21" idx="2"/>
            <a:endCxn id="77" idx="0"/>
          </p:cNvCxnSpPr>
          <p:nvPr/>
        </p:nvCxnSpPr>
        <p:spPr>
          <a:xfrm rot="16200000" flipH="1">
            <a:off x="646203" y="3908777"/>
            <a:ext cx="309223"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F65725DA-57A5-4E62-91AD-8E3B10545954}"/>
              </a:ext>
            </a:extLst>
          </p:cNvPr>
          <p:cNvCxnSpPr>
            <a:stCxn id="77" idx="2"/>
            <a:endCxn id="78" idx="0"/>
          </p:cNvCxnSpPr>
          <p:nvPr/>
        </p:nvCxnSpPr>
        <p:spPr>
          <a:xfrm rot="16200000" flipH="1">
            <a:off x="648714" y="4560087"/>
            <a:ext cx="30759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8F006365-A00F-4FEB-BC0B-1C72880EF3EC}"/>
              </a:ext>
            </a:extLst>
          </p:cNvPr>
          <p:cNvCxnSpPr>
            <a:stCxn id="78" idx="2"/>
            <a:endCxn id="100" idx="0"/>
          </p:cNvCxnSpPr>
          <p:nvPr/>
        </p:nvCxnSpPr>
        <p:spPr>
          <a:xfrm rot="16200000" flipH="1">
            <a:off x="854369" y="5006104"/>
            <a:ext cx="272952" cy="374318"/>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088D9C92-D705-4899-997A-EF71DE83E9CC}"/>
              </a:ext>
            </a:extLst>
          </p:cNvPr>
          <p:cNvCxnSpPr>
            <a:stCxn id="10" idx="3"/>
            <a:endCxn id="13" idx="1"/>
          </p:cNvCxnSpPr>
          <p:nvPr/>
        </p:nvCxnSpPr>
        <p:spPr>
          <a:xfrm flipV="1">
            <a:off x="1314211" y="2277169"/>
            <a:ext cx="345450" cy="103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D7E8C136-6376-42C7-8717-BDA7EFDBB9E9}"/>
              </a:ext>
            </a:extLst>
          </p:cNvPr>
          <p:cNvCxnSpPr>
            <a:stCxn id="21" idx="3"/>
            <a:endCxn id="24" idx="1"/>
          </p:cNvCxnSpPr>
          <p:nvPr/>
        </p:nvCxnSpPr>
        <p:spPr>
          <a:xfrm flipV="1">
            <a:off x="1315164" y="3582583"/>
            <a:ext cx="343593" cy="134"/>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8653AC7E-9123-4F10-A99B-A35236D8215F}"/>
              </a:ext>
            </a:extLst>
          </p:cNvPr>
          <p:cNvCxnSpPr>
            <a:stCxn id="24" idx="3"/>
            <a:endCxn id="27" idx="1"/>
          </p:cNvCxnSpPr>
          <p:nvPr/>
        </p:nvCxnSpPr>
        <p:spPr>
          <a:xfrm>
            <a:off x="2687458" y="3582583"/>
            <a:ext cx="343127" cy="33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951278DF-24C3-4E17-BDAF-B33E3864BE46}"/>
              </a:ext>
            </a:extLst>
          </p:cNvPr>
          <p:cNvCxnSpPr>
            <a:stCxn id="78" idx="3"/>
            <a:endCxn id="82" idx="1"/>
          </p:cNvCxnSpPr>
          <p:nvPr/>
        </p:nvCxnSpPr>
        <p:spPr>
          <a:xfrm>
            <a:off x="1318037" y="4885338"/>
            <a:ext cx="343812" cy="776"/>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13127B73-DE81-46E2-8A81-7E5B889CC361}"/>
              </a:ext>
            </a:extLst>
          </p:cNvPr>
          <p:cNvCxnSpPr>
            <a:stCxn id="82" idx="3"/>
            <a:endCxn id="88" idx="1"/>
          </p:cNvCxnSpPr>
          <p:nvPr/>
        </p:nvCxnSpPr>
        <p:spPr>
          <a:xfrm flipV="1">
            <a:off x="2690549" y="4885337"/>
            <a:ext cx="340036" cy="777"/>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95E1795F-5937-45D3-8080-4C55EAB39122}"/>
              </a:ext>
            </a:extLst>
          </p:cNvPr>
          <p:cNvCxnSpPr>
            <a:stCxn id="27" idx="3"/>
            <a:endCxn id="32" idx="1"/>
          </p:cNvCxnSpPr>
          <p:nvPr/>
        </p:nvCxnSpPr>
        <p:spPr>
          <a:xfrm flipV="1">
            <a:off x="4059284" y="3582583"/>
            <a:ext cx="339786" cy="33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3627F1DA-79A1-4BE4-90EC-50B60534DF72}"/>
              </a:ext>
            </a:extLst>
          </p:cNvPr>
          <p:cNvCxnSpPr>
            <a:cxnSpLocks/>
            <a:stCxn id="95" idx="3"/>
            <a:endCxn id="94" idx="1"/>
          </p:cNvCxnSpPr>
          <p:nvPr/>
        </p:nvCxnSpPr>
        <p:spPr>
          <a:xfrm>
            <a:off x="5430436" y="4885336"/>
            <a:ext cx="1707068" cy="107"/>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8329E7E1-F945-4CE4-8DFA-30F60F39540B}"/>
              </a:ext>
            </a:extLst>
          </p:cNvPr>
          <p:cNvCxnSpPr>
            <a:cxnSpLocks/>
            <a:stCxn id="95" idx="2"/>
            <a:endCxn id="99" idx="1"/>
          </p:cNvCxnSpPr>
          <p:nvPr/>
        </p:nvCxnSpPr>
        <p:spPr>
          <a:xfrm rot="16200000" flipH="1">
            <a:off x="5782663" y="4190209"/>
            <a:ext cx="502982" cy="2236136"/>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574D0CA6-DF62-4042-A51D-FB19562E1057}"/>
              </a:ext>
            </a:extLst>
          </p:cNvPr>
          <p:cNvCxnSpPr>
            <a:stCxn id="32" idx="0"/>
            <a:endCxn id="40" idx="2"/>
          </p:cNvCxnSpPr>
          <p:nvPr/>
        </p:nvCxnSpPr>
        <p:spPr>
          <a:xfrm rot="5400000" flipH="1" flipV="1">
            <a:off x="4759448" y="3256796"/>
            <a:ext cx="308311" cy="36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FD3F68B2-1B98-4F5E-8EB7-11C86912E0D3}"/>
              </a:ext>
            </a:extLst>
          </p:cNvPr>
          <p:cNvCxnSpPr>
            <a:cxnSpLocks/>
            <a:stCxn id="40" idx="0"/>
            <a:endCxn id="33" idx="2"/>
          </p:cNvCxnSpPr>
          <p:nvPr/>
        </p:nvCxnSpPr>
        <p:spPr>
          <a:xfrm rot="5400000" flipH="1" flipV="1">
            <a:off x="4763048" y="2606663"/>
            <a:ext cx="306520"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DD7DD47D-9787-4AE7-A870-0469A2786B42}"/>
              </a:ext>
            </a:extLst>
          </p:cNvPr>
          <p:cNvCxnSpPr>
            <a:cxnSpLocks/>
            <a:stCxn id="33" idx="0"/>
            <a:endCxn id="44" idx="2"/>
          </p:cNvCxnSpPr>
          <p:nvPr/>
        </p:nvCxnSpPr>
        <p:spPr>
          <a:xfrm rot="16200000" flipV="1">
            <a:off x="4780694" y="1978067"/>
            <a:ext cx="264872"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28C027DB-C45D-4DEB-A67B-D714579E3EF7}"/>
              </a:ext>
            </a:extLst>
          </p:cNvPr>
          <p:cNvCxnSpPr>
            <a:stCxn id="40" idx="3"/>
            <a:endCxn id="36" idx="1"/>
          </p:cNvCxnSpPr>
          <p:nvPr/>
        </p:nvCxnSpPr>
        <p:spPr>
          <a:xfrm>
            <a:off x="5428136" y="2931372"/>
            <a:ext cx="343551"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nector: Elbow 153">
            <a:extLst>
              <a:ext uri="{FF2B5EF4-FFF2-40B4-BE49-F238E27FC236}">
                <a16:creationId xmlns:a16="http://schemas.microsoft.com/office/drawing/2014/main" id="{2C918767-FB18-489C-B1E6-7DC796E952CB}"/>
              </a:ext>
            </a:extLst>
          </p:cNvPr>
          <p:cNvCxnSpPr>
            <a:stCxn id="36" idx="3"/>
            <a:endCxn id="49" idx="1"/>
          </p:cNvCxnSpPr>
          <p:nvPr/>
        </p:nvCxnSpPr>
        <p:spPr>
          <a:xfrm>
            <a:off x="6800387" y="2933027"/>
            <a:ext cx="340568" cy="127"/>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Connector: Elbow 155">
            <a:extLst>
              <a:ext uri="{FF2B5EF4-FFF2-40B4-BE49-F238E27FC236}">
                <a16:creationId xmlns:a16="http://schemas.microsoft.com/office/drawing/2014/main" id="{B90C0D1E-158C-435D-BADE-1602187206EC}"/>
              </a:ext>
            </a:extLst>
          </p:cNvPr>
          <p:cNvCxnSpPr>
            <a:stCxn id="36" idx="2"/>
            <a:endCxn id="63" idx="0"/>
          </p:cNvCxnSpPr>
          <p:nvPr/>
        </p:nvCxnSpPr>
        <p:spPr>
          <a:xfrm rot="5400000">
            <a:off x="6132835" y="3256490"/>
            <a:ext cx="305216" cy="1188"/>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C6F99496-C875-4885-8948-13D759FBE5F4}"/>
              </a:ext>
            </a:extLst>
          </p:cNvPr>
          <p:cNvCxnSpPr>
            <a:cxnSpLocks/>
            <a:stCxn id="63" idx="3"/>
            <a:endCxn id="50" idx="1"/>
          </p:cNvCxnSpPr>
          <p:nvPr/>
        </p:nvCxnSpPr>
        <p:spPr>
          <a:xfrm>
            <a:off x="6799198" y="3581142"/>
            <a:ext cx="345728" cy="49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3" name="TextBox 43">
            <a:extLst>
              <a:ext uri="{FF2B5EF4-FFF2-40B4-BE49-F238E27FC236}">
                <a16:creationId xmlns:a16="http://schemas.microsoft.com/office/drawing/2014/main" id="{67698FD7-604A-4089-BD6B-5290B24CB945}"/>
              </a:ext>
            </a:extLst>
          </p:cNvPr>
          <p:cNvSpPr txBox="1"/>
          <p:nvPr/>
        </p:nvSpPr>
        <p:spPr>
          <a:xfrm>
            <a:off x="4060138" y="469207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36" name="Connector: Elbow 235">
            <a:extLst>
              <a:ext uri="{FF2B5EF4-FFF2-40B4-BE49-F238E27FC236}">
                <a16:creationId xmlns:a16="http://schemas.microsoft.com/office/drawing/2014/main" id="{1F25E9DE-1026-49C6-960D-0B444DAE7EC2}"/>
              </a:ext>
            </a:extLst>
          </p:cNvPr>
          <p:cNvCxnSpPr>
            <a:stCxn id="15" idx="3"/>
            <a:endCxn id="18" idx="1"/>
          </p:cNvCxnSpPr>
          <p:nvPr/>
        </p:nvCxnSpPr>
        <p:spPr>
          <a:xfrm flipV="1">
            <a:off x="1313639" y="2930583"/>
            <a:ext cx="34292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Connector: Elbow 261">
            <a:extLst>
              <a:ext uri="{FF2B5EF4-FFF2-40B4-BE49-F238E27FC236}">
                <a16:creationId xmlns:a16="http://schemas.microsoft.com/office/drawing/2014/main" id="{230369A7-13A2-4924-B53B-5E28A8BCDFD6}"/>
              </a:ext>
            </a:extLst>
          </p:cNvPr>
          <p:cNvCxnSpPr>
            <a:cxnSpLocks/>
            <a:stCxn id="33" idx="3"/>
            <a:endCxn id="47" idx="2"/>
          </p:cNvCxnSpPr>
          <p:nvPr/>
        </p:nvCxnSpPr>
        <p:spPr>
          <a:xfrm flipV="1">
            <a:off x="5430657" y="1848325"/>
            <a:ext cx="1560840" cy="433628"/>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Connector: Elbow 293">
            <a:extLst>
              <a:ext uri="{FF2B5EF4-FFF2-40B4-BE49-F238E27FC236}">
                <a16:creationId xmlns:a16="http://schemas.microsoft.com/office/drawing/2014/main" id="{B4A21BF2-BAC1-4BA1-94CF-E326F197B691}"/>
              </a:ext>
            </a:extLst>
          </p:cNvPr>
          <p:cNvCxnSpPr>
            <a:stCxn id="27" idx="2"/>
            <a:endCxn id="74" idx="0"/>
          </p:cNvCxnSpPr>
          <p:nvPr/>
        </p:nvCxnSpPr>
        <p:spPr>
          <a:xfrm rot="16200000" flipH="1">
            <a:off x="3408620" y="3890678"/>
            <a:ext cx="27262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3" name="Connector: Elbow 312">
            <a:extLst>
              <a:ext uri="{FF2B5EF4-FFF2-40B4-BE49-F238E27FC236}">
                <a16:creationId xmlns:a16="http://schemas.microsoft.com/office/drawing/2014/main" id="{037EF2F2-48C3-490E-8282-3006989921F4}"/>
              </a:ext>
            </a:extLst>
          </p:cNvPr>
          <p:cNvCxnSpPr>
            <a:stCxn id="88" idx="2"/>
            <a:endCxn id="91" idx="0"/>
          </p:cNvCxnSpPr>
          <p:nvPr/>
        </p:nvCxnSpPr>
        <p:spPr>
          <a:xfrm rot="5400000">
            <a:off x="3406296" y="5195200"/>
            <a:ext cx="277052" cy="227"/>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Connector: Elbow 315">
            <a:extLst>
              <a:ext uri="{FF2B5EF4-FFF2-40B4-BE49-F238E27FC236}">
                <a16:creationId xmlns:a16="http://schemas.microsoft.com/office/drawing/2014/main" id="{B3792912-3A75-4BEA-80BD-498798293331}"/>
              </a:ext>
            </a:extLst>
          </p:cNvPr>
          <p:cNvCxnSpPr>
            <a:stCxn id="88" idx="3"/>
            <a:endCxn id="95" idx="1"/>
          </p:cNvCxnSpPr>
          <p:nvPr/>
        </p:nvCxnSpPr>
        <p:spPr>
          <a:xfrm flipV="1">
            <a:off x="4059284" y="4885336"/>
            <a:ext cx="342452" cy="1"/>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09" name="TextBox 43">
            <a:extLst>
              <a:ext uri="{FF2B5EF4-FFF2-40B4-BE49-F238E27FC236}">
                <a16:creationId xmlns:a16="http://schemas.microsoft.com/office/drawing/2014/main" id="{2D4FBE2C-F78A-48EE-9892-A8FA2E4A4240}"/>
              </a:ext>
            </a:extLst>
          </p:cNvPr>
          <p:cNvSpPr txBox="1"/>
          <p:nvPr/>
        </p:nvSpPr>
        <p:spPr>
          <a:xfrm>
            <a:off x="5997482" y="375276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2" name="TextBox 1">
            <a:extLst>
              <a:ext uri="{FF2B5EF4-FFF2-40B4-BE49-F238E27FC236}">
                <a16:creationId xmlns:a16="http://schemas.microsoft.com/office/drawing/2014/main" id="{CA54C659-C1DC-4F84-95CC-764185F4BC1F}"/>
              </a:ext>
            </a:extLst>
          </p:cNvPr>
          <p:cNvSpPr txBox="1"/>
          <p:nvPr/>
        </p:nvSpPr>
        <p:spPr>
          <a:xfrm>
            <a:off x="323494" y="836197"/>
            <a:ext cx="8306633" cy="369332"/>
          </a:xfrm>
          <a:prstGeom prst="rect">
            <a:avLst/>
          </a:prstGeom>
          <a:noFill/>
        </p:spPr>
        <p:txBody>
          <a:bodyPr wrap="none" rtlCol="0">
            <a:spAutoFit/>
          </a:bodyPr>
          <a:lstStyle/>
          <a:p>
            <a:r>
              <a:rPr lang="en-US" b="1" u="sng" dirty="0"/>
              <a:t>Emergency Department and Urgent Care Management of Febrile Infants Aged 7 to 21 Days</a:t>
            </a:r>
          </a:p>
        </p:txBody>
      </p:sp>
      <p:cxnSp>
        <p:nvCxnSpPr>
          <p:cNvPr id="16" name="Connector: Elbow 15">
            <a:extLst>
              <a:ext uri="{FF2B5EF4-FFF2-40B4-BE49-F238E27FC236}">
                <a16:creationId xmlns:a16="http://schemas.microsoft.com/office/drawing/2014/main" id="{3728D002-2109-4417-8185-23F3EF13C054}"/>
              </a:ext>
            </a:extLst>
          </p:cNvPr>
          <p:cNvCxnSpPr>
            <a:stCxn id="63" idx="2"/>
            <a:endCxn id="71" idx="1"/>
          </p:cNvCxnSpPr>
          <p:nvPr/>
        </p:nvCxnSpPr>
        <p:spPr>
          <a:xfrm rot="16200000" flipH="1">
            <a:off x="6462648" y="3574793"/>
            <a:ext cx="497059" cy="852656"/>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43">
            <a:extLst>
              <a:ext uri="{FF2B5EF4-FFF2-40B4-BE49-F238E27FC236}">
                <a16:creationId xmlns:a16="http://schemas.microsoft.com/office/drawing/2014/main" id="{24731170-C393-4717-BDDC-E8673B979BDB}"/>
              </a:ext>
            </a:extLst>
          </p:cNvPr>
          <p:cNvSpPr txBox="1"/>
          <p:nvPr/>
        </p:nvSpPr>
        <p:spPr>
          <a:xfrm>
            <a:off x="516535" y="310108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0" name="TextBox 43">
            <a:extLst>
              <a:ext uri="{FF2B5EF4-FFF2-40B4-BE49-F238E27FC236}">
                <a16:creationId xmlns:a16="http://schemas.microsoft.com/office/drawing/2014/main" id="{6270798D-6396-4EB2-9746-815443CA3C25}"/>
              </a:ext>
            </a:extLst>
          </p:cNvPr>
          <p:cNvSpPr txBox="1"/>
          <p:nvPr/>
        </p:nvSpPr>
        <p:spPr>
          <a:xfrm>
            <a:off x="515497" y="375660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2" name="TextBox 43">
            <a:extLst>
              <a:ext uri="{FF2B5EF4-FFF2-40B4-BE49-F238E27FC236}">
                <a16:creationId xmlns:a16="http://schemas.microsoft.com/office/drawing/2014/main" id="{D5351AB0-0B43-433C-B99C-B6B962DF31B0}"/>
              </a:ext>
            </a:extLst>
          </p:cNvPr>
          <p:cNvSpPr txBox="1"/>
          <p:nvPr/>
        </p:nvSpPr>
        <p:spPr>
          <a:xfrm>
            <a:off x="510288" y="179635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6" name="TextBox 43">
            <a:extLst>
              <a:ext uri="{FF2B5EF4-FFF2-40B4-BE49-F238E27FC236}">
                <a16:creationId xmlns:a16="http://schemas.microsoft.com/office/drawing/2014/main" id="{381D60EF-0DDF-4BAB-A834-435B03667471}"/>
              </a:ext>
            </a:extLst>
          </p:cNvPr>
          <p:cNvSpPr txBox="1"/>
          <p:nvPr/>
        </p:nvSpPr>
        <p:spPr>
          <a:xfrm>
            <a:off x="510477" y="244740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4" name="TextBox 83">
            <a:extLst>
              <a:ext uri="{FF2B5EF4-FFF2-40B4-BE49-F238E27FC236}">
                <a16:creationId xmlns:a16="http://schemas.microsoft.com/office/drawing/2014/main" id="{446B5942-F7B8-4149-8DC5-262CDA4A08F1}"/>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85" name="TextBox 43">
            <a:extLst>
              <a:ext uri="{FF2B5EF4-FFF2-40B4-BE49-F238E27FC236}">
                <a16:creationId xmlns:a16="http://schemas.microsoft.com/office/drawing/2014/main" id="{26D70F4F-816E-4F5E-B4BE-291BC6424A0D}"/>
              </a:ext>
            </a:extLst>
          </p:cNvPr>
          <p:cNvSpPr txBox="1"/>
          <p:nvPr/>
        </p:nvSpPr>
        <p:spPr>
          <a:xfrm>
            <a:off x="1316729" y="208077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8" name="TextBox 43">
            <a:extLst>
              <a:ext uri="{FF2B5EF4-FFF2-40B4-BE49-F238E27FC236}">
                <a16:creationId xmlns:a16="http://schemas.microsoft.com/office/drawing/2014/main" id="{C1945844-65D2-4AD1-ACD6-E2A2F0978589}"/>
              </a:ext>
            </a:extLst>
          </p:cNvPr>
          <p:cNvSpPr txBox="1"/>
          <p:nvPr/>
        </p:nvSpPr>
        <p:spPr>
          <a:xfrm>
            <a:off x="1315925" y="273718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1" name="TextBox 43">
            <a:extLst>
              <a:ext uri="{FF2B5EF4-FFF2-40B4-BE49-F238E27FC236}">
                <a16:creationId xmlns:a16="http://schemas.microsoft.com/office/drawing/2014/main" id="{144989A7-CAFA-4B45-BDA4-A88B428E51B7}"/>
              </a:ext>
            </a:extLst>
          </p:cNvPr>
          <p:cNvSpPr txBox="1"/>
          <p:nvPr/>
        </p:nvSpPr>
        <p:spPr>
          <a:xfrm>
            <a:off x="1319591" y="339444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2" name="TextBox 43">
            <a:extLst>
              <a:ext uri="{FF2B5EF4-FFF2-40B4-BE49-F238E27FC236}">
                <a16:creationId xmlns:a16="http://schemas.microsoft.com/office/drawing/2014/main" id="{5B5CE98A-327B-46C3-80ED-D9436A1A4BF8}"/>
              </a:ext>
            </a:extLst>
          </p:cNvPr>
          <p:cNvSpPr txBox="1"/>
          <p:nvPr/>
        </p:nvSpPr>
        <p:spPr>
          <a:xfrm>
            <a:off x="1319591" y="468770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3" name="TextBox 43">
            <a:extLst>
              <a:ext uri="{FF2B5EF4-FFF2-40B4-BE49-F238E27FC236}">
                <a16:creationId xmlns:a16="http://schemas.microsoft.com/office/drawing/2014/main" id="{E3B24714-DEB3-4CEA-B332-FF91E48D0441}"/>
              </a:ext>
            </a:extLst>
          </p:cNvPr>
          <p:cNvSpPr txBox="1"/>
          <p:nvPr/>
        </p:nvSpPr>
        <p:spPr>
          <a:xfrm>
            <a:off x="4634232" y="191993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5" name="TextBox 43">
            <a:extLst>
              <a:ext uri="{FF2B5EF4-FFF2-40B4-BE49-F238E27FC236}">
                <a16:creationId xmlns:a16="http://schemas.microsoft.com/office/drawing/2014/main" id="{D4019177-9905-4D73-AE46-68CF94E0EBA9}"/>
              </a:ext>
            </a:extLst>
          </p:cNvPr>
          <p:cNvSpPr txBox="1"/>
          <p:nvPr/>
        </p:nvSpPr>
        <p:spPr>
          <a:xfrm>
            <a:off x="4050725" y="338547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7" name="TextBox 43">
            <a:extLst>
              <a:ext uri="{FF2B5EF4-FFF2-40B4-BE49-F238E27FC236}">
                <a16:creationId xmlns:a16="http://schemas.microsoft.com/office/drawing/2014/main" id="{00F748A7-6B4A-49F0-9CB2-6BEADCF2ACCC}"/>
              </a:ext>
            </a:extLst>
          </p:cNvPr>
          <p:cNvSpPr txBox="1"/>
          <p:nvPr/>
        </p:nvSpPr>
        <p:spPr>
          <a:xfrm>
            <a:off x="5416437" y="273561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109" name="TextBox 108">
            <a:extLst>
              <a:ext uri="{FF2B5EF4-FFF2-40B4-BE49-F238E27FC236}">
                <a16:creationId xmlns:a16="http://schemas.microsoft.com/office/drawing/2014/main" id="{557A7187-EE61-4AA8-A252-BBEE14A7F780}"/>
              </a:ext>
            </a:extLst>
          </p:cNvPr>
          <p:cNvSpPr txBox="1"/>
          <p:nvPr/>
        </p:nvSpPr>
        <p:spPr>
          <a:xfrm>
            <a:off x="2088858" y="6334180"/>
            <a:ext cx="4295163" cy="430887"/>
          </a:xfrm>
          <a:prstGeom prst="rect">
            <a:avLst/>
          </a:prstGeom>
          <a:solidFill>
            <a:srgbClr val="CCFFCC"/>
          </a:solidFill>
          <a:ln>
            <a:solidFill>
              <a:schemeClr val="tx1"/>
            </a:solidFill>
          </a:ln>
        </p:spPr>
        <p:txBody>
          <a:bodyPr wrap="square" rtlCol="0">
            <a:spAutoFit/>
          </a:bodyPr>
          <a:lstStyle/>
          <a:p>
            <a:r>
              <a:rPr lang="en-US" sz="1100" dirty="0"/>
              <a:t>Superscripts will link to “Definitions and specifications” for this age group</a:t>
            </a:r>
          </a:p>
          <a:p>
            <a:r>
              <a:rPr lang="en-US" sz="1100" dirty="0"/>
              <a:t>A link at the bottom will direct to “CA-FIRST protocol details” for this age group</a:t>
            </a:r>
          </a:p>
        </p:txBody>
      </p:sp>
    </p:spTree>
    <p:extLst>
      <p:ext uri="{BB962C8B-B14F-4D97-AF65-F5344CB8AC3E}">
        <p14:creationId xmlns:p14="http://schemas.microsoft.com/office/powerpoint/2010/main" val="2415762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13</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7 to 21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2: Definitions and specifications</a:t>
            </a:r>
          </a:p>
        </p:txBody>
      </p:sp>
    </p:spTree>
    <p:extLst>
      <p:ext uri="{BB962C8B-B14F-4D97-AF65-F5344CB8AC3E}">
        <p14:creationId xmlns:p14="http://schemas.microsoft.com/office/powerpoint/2010/main" val="290831956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54C659-C1DC-4F84-95CC-764185F4BC1F}"/>
              </a:ext>
            </a:extLst>
          </p:cNvPr>
          <p:cNvSpPr txBox="1"/>
          <p:nvPr/>
        </p:nvSpPr>
        <p:spPr>
          <a:xfrm>
            <a:off x="323494" y="357321"/>
            <a:ext cx="8306633" cy="369332"/>
          </a:xfrm>
          <a:prstGeom prst="rect">
            <a:avLst/>
          </a:prstGeom>
          <a:noFill/>
        </p:spPr>
        <p:txBody>
          <a:bodyPr wrap="none" rtlCol="0">
            <a:spAutoFit/>
          </a:bodyPr>
          <a:lstStyle/>
          <a:p>
            <a:r>
              <a:rPr lang="en-US" b="1" u="sng" dirty="0"/>
              <a:t>Emergency Department and Urgent Care Management of Febrile Infants Aged 7 to 21 Days</a:t>
            </a:r>
          </a:p>
        </p:txBody>
      </p:sp>
      <p:sp>
        <p:nvSpPr>
          <p:cNvPr id="3" name="TextBox 2">
            <a:extLst>
              <a:ext uri="{FF2B5EF4-FFF2-40B4-BE49-F238E27FC236}">
                <a16:creationId xmlns:a16="http://schemas.microsoft.com/office/drawing/2014/main" id="{6F69D5B2-E31D-494B-BBC0-D9EBDF579C5A}"/>
              </a:ext>
            </a:extLst>
          </p:cNvPr>
          <p:cNvSpPr txBox="1"/>
          <p:nvPr/>
        </p:nvSpPr>
        <p:spPr>
          <a:xfrm>
            <a:off x="362010" y="869791"/>
            <a:ext cx="4114800" cy="5729132"/>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Terminology</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“Consider” suggests that management is  dependent on specific patient circumstances. A pediatrics consult may be helpful. </a:t>
            </a:r>
          </a:p>
          <a:p>
            <a:endParaRPr lang="en-US" sz="10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1: High risk infants</a:t>
            </a:r>
            <a:endParaRPr lang="en-US" sz="1200" b="1" dirty="0">
              <a:latin typeface="Calibri" panose="020F0502020204030204" pitchFamily="34" charset="0"/>
              <a:ea typeface="Times New Roman" panose="02020603050405020304" pitchFamily="18"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Premature infants &lt; 37 weeks gestational age.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Younger than 14 days of age with a perinatal course complicated by maternal fever, infection, or antimicrobial use (excluding surgical prophylaxis or to treatment for GBS colonization).</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Documented or suspected immune compromise.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Neonatal course was complicated by surgery or infection.</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Congenital or chromosomal abnormalities.</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A high risk of herpes simplex infections based on history or exam, including vesicles, seizures, mucous membrane ulcers</a:t>
            </a:r>
            <a:r>
              <a:rPr lang="en-US" sz="1200" dirty="0">
                <a:latin typeface="Calibri" panose="020F0502020204030204" pitchFamily="34" charset="0"/>
                <a:ea typeface="Calibri" panose="020F0502020204030204" pitchFamily="34" charset="0"/>
                <a:cs typeface="Calibri" panose="020F0502020204030204" pitchFamily="34" charset="0"/>
              </a:rPr>
              <a:t>, or a </a:t>
            </a:r>
            <a:r>
              <a:rPr lang="en-US" sz="1200" dirty="0">
                <a:latin typeface="Calibri" panose="020F0502020204030204" pitchFamily="34" charset="0"/>
                <a:cs typeface="Calibri" panose="020F0502020204030204" pitchFamily="34" charset="0"/>
              </a:rPr>
              <a:t>maternal history of genital HSV.</a:t>
            </a:r>
          </a:p>
          <a:p>
            <a:endParaRPr lang="en-US" sz="1000" dirty="0">
              <a:latin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2: </a:t>
            </a:r>
            <a:r>
              <a:rPr lang="en-US" sz="1200" b="1" dirty="0">
                <a:latin typeface="Calibri" panose="020F0502020204030204" pitchFamily="34" charset="0"/>
                <a:ea typeface="Calibri" panose="020F0502020204030204" pitchFamily="34" charset="0"/>
                <a:cs typeface="Calibri" panose="020F0502020204030204" pitchFamily="34" charset="0"/>
              </a:rPr>
              <a:t>Focal bacterial infections:  </a:t>
            </a:r>
            <a:r>
              <a:rPr lang="en-US" sz="1200" dirty="0">
                <a:latin typeface="Calibri" panose="020F0502020204030204" pitchFamily="34" charset="0"/>
                <a:ea typeface="Calibri" panose="020F0502020204030204" pitchFamily="34" charset="0"/>
                <a:cs typeface="Calibri" panose="020F0502020204030204" pitchFamily="34" charset="0"/>
              </a:rPr>
              <a:t>Cellulitis, omphalitis, septic arthritis, osteomyelitis, </a:t>
            </a:r>
            <a:r>
              <a:rPr lang="en-US" sz="1200" dirty="0" err="1">
                <a:latin typeface="Calibri" panose="020F0502020204030204" pitchFamily="34" charset="0"/>
                <a:ea typeface="Calibri" panose="020F0502020204030204" pitchFamily="34" charset="0"/>
                <a:cs typeface="Calibri" panose="020F0502020204030204" pitchFamily="34" charset="0"/>
              </a:rPr>
              <a:t>ect</a:t>
            </a:r>
            <a:r>
              <a:rPr lang="en-US" sz="1200" dirty="0">
                <a:latin typeface="Calibri" panose="020F0502020204030204" pitchFamily="34" charset="0"/>
                <a:ea typeface="Calibri" panose="020F0502020204030204" pitchFamily="34" charset="0"/>
                <a:cs typeface="Calibri" panose="020F0502020204030204" pitchFamily="34" charset="0"/>
              </a:rPr>
              <a:t>. </a:t>
            </a:r>
            <a:endParaRPr lang="en-US" sz="1200" dirty="0">
              <a:latin typeface="Calibri" panose="020F0502020204030204" pitchFamily="34" charset="0"/>
              <a:cs typeface="Calibri" panose="020F0502020204030204" pitchFamily="34" charset="0"/>
            </a:endParaRPr>
          </a:p>
          <a:p>
            <a:endParaRPr lang="en-US" sz="10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3: Labs results concerning for a high risk of HSV: </a:t>
            </a:r>
            <a:r>
              <a:rPr lang="en-US" sz="1200" dirty="0">
                <a:latin typeface="Calibri" panose="020F0502020204030204" pitchFamily="34" charset="0"/>
                <a:ea typeface="Calibri" panose="020F0502020204030204" pitchFamily="34" charset="0"/>
                <a:cs typeface="Calibri" panose="020F0502020204030204" pitchFamily="34" charset="0"/>
              </a:rPr>
              <a:t>CSF pleocytosis with a negative gram stain, leukopenia, thrombocytopenia, elevated ALT.</a:t>
            </a:r>
          </a:p>
          <a:p>
            <a:endParaRPr lang="en-US" sz="10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4: Recommended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Urine studies</a:t>
            </a:r>
            <a:r>
              <a:rPr lang="en-US" sz="1200" dirty="0">
                <a:latin typeface="Calibri" panose="020F0502020204030204" pitchFamily="34" charset="0"/>
                <a:cs typeface="Calibri" panose="020F0502020204030204" pitchFamily="34" charset="0"/>
              </a:rPr>
              <a:t>: catheterized urinalysis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catheterized urine culture</a:t>
            </a:r>
          </a:p>
        </p:txBody>
      </p:sp>
      <p:sp>
        <p:nvSpPr>
          <p:cNvPr id="85" name="TextBox 84">
            <a:extLst>
              <a:ext uri="{FF2B5EF4-FFF2-40B4-BE49-F238E27FC236}">
                <a16:creationId xmlns:a16="http://schemas.microsoft.com/office/drawing/2014/main" id="{FB955280-2781-402A-895A-EE47F66A86F9}"/>
              </a:ext>
            </a:extLst>
          </p:cNvPr>
          <p:cNvSpPr txBox="1"/>
          <p:nvPr/>
        </p:nvSpPr>
        <p:spPr>
          <a:xfrm>
            <a:off x="4667190" y="872294"/>
            <a:ext cx="4114800" cy="5481372"/>
          </a:xfrm>
          <a:prstGeom prst="rect">
            <a:avLst/>
          </a:prstGeom>
          <a:noFill/>
        </p:spPr>
        <p:txBody>
          <a:bodyPr wrap="square" rtlCol="0">
            <a:spAutoFit/>
          </a:bodyPr>
          <a:lstStyle/>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Blood studies</a:t>
            </a:r>
            <a:r>
              <a:rPr lang="en-US" sz="1200" dirty="0">
                <a:latin typeface="Calibri" panose="020F0502020204030204" pitchFamily="34" charset="0"/>
                <a:cs typeface="Calibri" panose="020F0502020204030204" pitchFamily="34" charset="0"/>
              </a:rPr>
              <a:t>: complete blood count with differential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Cerebrospinal fluid studies</a:t>
            </a:r>
            <a:r>
              <a:rPr lang="en-US" sz="1200" dirty="0">
                <a:latin typeface="Calibri" panose="020F0502020204030204" pitchFamily="34" charset="0"/>
                <a:cs typeface="Calibri" panose="020F0502020204030204" pitchFamily="34" charset="0"/>
              </a:rPr>
              <a:t>: cell count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Gram stain </a:t>
            </a:r>
            <a:r>
              <a:rPr lang="en-US" sz="1200" i="1" u="sng" dirty="0">
                <a:latin typeface="Calibri" panose="020F0502020204030204" pitchFamily="34" charset="0"/>
                <a:cs typeface="Calibri" panose="020F0502020204030204" pitchFamily="34" charset="0"/>
              </a:rPr>
              <a:t>AND </a:t>
            </a:r>
            <a:r>
              <a:rPr lang="en-US" sz="1200" dirty="0">
                <a:latin typeface="Calibri" panose="020F0502020204030204" pitchFamily="34" charset="0"/>
                <a:cs typeface="Calibri" panose="020F0502020204030204" pitchFamily="34" charset="0"/>
              </a:rPr>
              <a:t>glucose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protein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Herpes simplex virus studies</a:t>
            </a:r>
            <a:r>
              <a:rPr lang="en-US" sz="1200" dirty="0">
                <a:latin typeface="Calibri" panose="020F0502020204030204" pitchFamily="34" charset="0"/>
                <a:cs typeface="Calibri" panose="020F0502020204030204" pitchFamily="34" charset="0"/>
              </a:rPr>
              <a:t>: CSF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serum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surface swab HSV PCRs (conjunctiva </a:t>
            </a:r>
            <a:r>
              <a:rPr lang="en-US" sz="1200" i="1" u="sng" dirty="0">
                <a:latin typeface="Calibri" panose="020F0502020204030204" pitchFamily="34" charset="0"/>
                <a:cs typeface="Calibri" panose="020F0502020204030204" pitchFamily="34" charset="0"/>
              </a:rPr>
              <a:t>AND </a:t>
            </a:r>
            <a:r>
              <a:rPr lang="en-US" sz="1200" dirty="0">
                <a:latin typeface="Calibri" panose="020F0502020204030204" pitchFamily="34" charset="0"/>
                <a:cs typeface="Calibri" panose="020F0502020204030204" pitchFamily="34" charset="0"/>
              </a:rPr>
              <a:t>NP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skin [including lanced vesicles]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rectal)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ALT.</a:t>
            </a:r>
          </a:p>
          <a:p>
            <a:pPr marL="257175" indent="-257175">
              <a:lnSpc>
                <a:spcPct val="105000"/>
              </a:lnSpc>
              <a:spcBef>
                <a:spcPts val="0"/>
              </a:spcBef>
              <a:spcAft>
                <a:spcPts val="0"/>
              </a:spcAft>
              <a:buFont typeface="Calibri" panose="020F0502020204030204" pitchFamily="34" charset="0"/>
              <a:buChar char="-"/>
            </a:pPr>
            <a:endParaRPr lang="en-US" sz="10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5: Definitions of positive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CSF</a:t>
            </a:r>
            <a:r>
              <a:rPr lang="en-US" sz="1200" dirty="0">
                <a:latin typeface="Calibri" panose="020F0502020204030204" pitchFamily="34" charset="0"/>
                <a:cs typeface="Calibri" panose="020F0502020204030204" pitchFamily="34" charset="0"/>
              </a:rPr>
              <a:t>: White count with pleocytosis for age or traumatic tap. </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UA</a:t>
            </a:r>
            <a:r>
              <a:rPr lang="en-US" sz="1200" dirty="0">
                <a:latin typeface="Calibri" panose="020F0502020204030204" pitchFamily="34" charset="0"/>
                <a:cs typeface="Calibri" panose="020F0502020204030204" pitchFamily="34" charset="0"/>
              </a:rPr>
              <a:t>: Positive leukocyte esterase on dipstick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&gt;5 WBC per high powered field (centrifuged)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 10 WBCs/mm3 (uncentrifuged). </a:t>
            </a:r>
          </a:p>
          <a:p>
            <a:pPr marL="257175" indent="-257175">
              <a:lnSpc>
                <a:spcPct val="105000"/>
              </a:lnSpc>
              <a:spcBef>
                <a:spcPts val="0"/>
              </a:spcBef>
              <a:spcAft>
                <a:spcPts val="0"/>
              </a:spcAft>
              <a:buFont typeface="Calibri" panose="020F0502020204030204" pitchFamily="34" charset="0"/>
              <a:buChar char="-"/>
            </a:pPr>
            <a:r>
              <a:rPr lang="en-US" sz="1200" b="1" dirty="0">
                <a:latin typeface="Calibri" panose="020F0502020204030204" pitchFamily="34" charset="0"/>
                <a:cs typeface="Calibri" panose="020F0502020204030204" pitchFamily="34" charset="0"/>
              </a:rPr>
              <a:t>Positive CBC</a:t>
            </a:r>
            <a:r>
              <a:rPr lang="en-US" sz="1200" dirty="0">
                <a:latin typeface="Calibri" panose="020F0502020204030204" pitchFamily="34" charset="0"/>
                <a:cs typeface="Calibri" panose="020F0502020204030204" pitchFamily="34" charset="0"/>
              </a:rPr>
              <a:t>: Total white blood cell count &lt; 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total white blood cell count &gt; 15,000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bands &gt; 1,500.</a:t>
            </a:r>
          </a:p>
          <a:p>
            <a:pPr marL="257175" indent="-257175">
              <a:lnSpc>
                <a:spcPct val="105000"/>
              </a:lnSpc>
              <a:spcBef>
                <a:spcPts val="0"/>
              </a:spcBef>
              <a:spcAft>
                <a:spcPts val="0"/>
              </a:spcAft>
              <a:buFont typeface="Calibri" panose="020F0502020204030204" pitchFamily="34" charset="0"/>
              <a:buChar char="-"/>
            </a:pPr>
            <a:endParaRPr lang="en-US" sz="10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6: Antibiotics recommendations based on initial work up</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Urinary tract infection</a:t>
            </a:r>
            <a:r>
              <a:rPr lang="en-US" sz="1200" dirty="0">
                <a:latin typeface="Calibri" panose="020F0502020204030204" pitchFamily="34" charset="0"/>
                <a:cs typeface="Calibri" panose="020F0502020204030204" pitchFamily="34" charset="0"/>
              </a:rPr>
              <a:t>: Ampicillin (50mg/kg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a:t>
            </a:r>
            <a:r>
              <a:rPr lang="en-US" sz="1200" i="1" u="sng" dirty="0">
                <a:latin typeface="Calibri" panose="020F0502020204030204" pitchFamily="34" charset="0"/>
                <a:cs typeface="Calibri" panose="020F0502020204030204" pitchFamily="34" charset="0"/>
              </a:rPr>
              <a:t>EITHER</a:t>
            </a:r>
            <a:r>
              <a:rPr lang="en-US" sz="1200" dirty="0">
                <a:latin typeface="Calibri" panose="020F0502020204030204" pitchFamily="34" charset="0"/>
                <a:cs typeface="Calibri" panose="020F0502020204030204" pitchFamily="34" charset="0"/>
              </a:rPr>
              <a:t> Ceftazidime (50mg/kg q8h)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Gentamicin (5mg/kg q24h)]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No focus identified</a:t>
            </a:r>
            <a:r>
              <a:rPr lang="en-US" sz="1200" dirty="0">
                <a:latin typeface="Calibri" panose="020F0502020204030204" pitchFamily="34" charset="0"/>
                <a:cs typeface="Calibri" panose="020F0502020204030204" pitchFamily="34" charset="0"/>
              </a:rPr>
              <a:t>: Ampicillin (50mg/kg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a:t>
            </a:r>
            <a:r>
              <a:rPr lang="en-US" sz="1200" i="1" u="sng" dirty="0">
                <a:latin typeface="Calibri" panose="020F0502020204030204" pitchFamily="34" charset="0"/>
                <a:cs typeface="Calibri" panose="020F0502020204030204" pitchFamily="34" charset="0"/>
              </a:rPr>
              <a:t>EITHER </a:t>
            </a:r>
            <a:r>
              <a:rPr lang="en-US" sz="1200" dirty="0">
                <a:latin typeface="Calibri" panose="020F0502020204030204" pitchFamily="34" charset="0"/>
                <a:cs typeface="Calibri" panose="020F0502020204030204" pitchFamily="34" charset="0"/>
              </a:rPr>
              <a:t>Ceftazidime (50mg/kg q8h)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Gentamicin (5mg/kg q24h)]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suspected</a:t>
            </a:r>
            <a:r>
              <a:rPr lang="en-US" sz="1200" dirty="0">
                <a:latin typeface="Calibri" panose="020F0502020204030204" pitchFamily="34" charset="0"/>
                <a:cs typeface="Calibri" panose="020F0502020204030204" pitchFamily="34" charset="0"/>
              </a:rPr>
              <a:t>: Ampicillin (100mg/kg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Ceftazidime (50mg/kg q8h), </a:t>
            </a:r>
            <a:r>
              <a:rPr lang="en-US" sz="1200" i="1" u="sng" dirty="0">
                <a:latin typeface="Calibri" panose="020F0502020204030204" pitchFamily="34" charset="0"/>
                <a:cs typeface="Calibri" panose="020F0502020204030204" pitchFamily="34" charset="0"/>
              </a:rPr>
              <a:t>+/-</a:t>
            </a:r>
            <a:r>
              <a:rPr lang="en-US" sz="1200" dirty="0">
                <a:latin typeface="Calibri" panose="020F0502020204030204" pitchFamily="34" charset="0"/>
                <a:cs typeface="Calibri" panose="020F0502020204030204" pitchFamily="34" charset="0"/>
              </a:rPr>
              <a:t> Gentamicin (5mg/kg q24h)] </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HSV suspected</a:t>
            </a:r>
            <a:r>
              <a:rPr lang="en-US" sz="1200" dirty="0">
                <a:latin typeface="Calibri" panose="020F0502020204030204" pitchFamily="34" charset="0"/>
                <a:cs typeface="Calibri" panose="020F0502020204030204" pitchFamily="34" charset="0"/>
              </a:rPr>
              <a:t>: Acyclovir IV (20 mg/kg q8h) </a:t>
            </a:r>
          </a:p>
        </p:txBody>
      </p:sp>
      <p:sp>
        <p:nvSpPr>
          <p:cNvPr id="5" name="TextBox 4">
            <a:extLst>
              <a:ext uri="{FF2B5EF4-FFF2-40B4-BE49-F238E27FC236}">
                <a16:creationId xmlns:a16="http://schemas.microsoft.com/office/drawing/2014/main" id="{913F418A-F8BF-4D6B-8088-700D00A67677}"/>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 name="TextBox 5">
            <a:extLst>
              <a:ext uri="{FF2B5EF4-FFF2-40B4-BE49-F238E27FC236}">
                <a16:creationId xmlns:a16="http://schemas.microsoft.com/office/drawing/2014/main" id="{4809E3CE-D33A-400C-A5F5-03722DE9A33D}"/>
              </a:ext>
            </a:extLst>
          </p:cNvPr>
          <p:cNvSpPr txBox="1"/>
          <p:nvPr/>
        </p:nvSpPr>
        <p:spPr>
          <a:xfrm>
            <a:off x="2088858" y="6468118"/>
            <a:ext cx="4295163" cy="261610"/>
          </a:xfrm>
          <a:prstGeom prst="rect">
            <a:avLst/>
          </a:prstGeom>
          <a:solidFill>
            <a:srgbClr val="CCFFCC"/>
          </a:solidFill>
          <a:ln>
            <a:solidFill>
              <a:schemeClr val="tx1"/>
            </a:solidFill>
          </a:ln>
        </p:spPr>
        <p:txBody>
          <a:bodyPr wrap="square" rtlCol="0">
            <a:spAutoFit/>
          </a:bodyPr>
          <a:lstStyle/>
          <a:p>
            <a:r>
              <a:rPr lang="en-US" sz="1100" dirty="0"/>
              <a:t>A link at the bottom will direct to “CA-FIRST protocol details” for this age group</a:t>
            </a:r>
          </a:p>
        </p:txBody>
      </p:sp>
    </p:spTree>
    <p:extLst>
      <p:ext uri="{BB962C8B-B14F-4D97-AF65-F5344CB8AC3E}">
        <p14:creationId xmlns:p14="http://schemas.microsoft.com/office/powerpoint/2010/main" val="1754625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15</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7 to 21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Level 3: CA-FIRST protocol details </a:t>
            </a:r>
          </a:p>
        </p:txBody>
      </p:sp>
    </p:spTree>
    <p:extLst>
      <p:ext uri="{BB962C8B-B14F-4D97-AF65-F5344CB8AC3E}">
        <p14:creationId xmlns:p14="http://schemas.microsoft.com/office/powerpoint/2010/main" val="2284714380"/>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64482" y="1325623"/>
            <a:ext cx="2743200" cy="924884"/>
            <a:chOff x="4137003" y="1490318"/>
            <a:chExt cx="3629804" cy="527171"/>
          </a:xfrm>
        </p:grpSpPr>
        <p:sp>
          <p:nvSpPr>
            <p:cNvPr id="11" name="Rectangle 10">
              <a:extLst>
                <a:ext uri="{FF2B5EF4-FFF2-40B4-BE49-F238E27FC236}">
                  <a16:creationId xmlns:a16="http://schemas.microsoft.com/office/drawing/2014/main" id="{D16DD992-3020-481A-89A5-70797C986525}"/>
                </a:ext>
              </a:extLst>
            </p:cNvPr>
            <p:cNvSpPr/>
            <p:nvPr/>
          </p:nvSpPr>
          <p:spPr>
            <a:xfrm>
              <a:off x="4137003" y="1496294"/>
              <a:ext cx="3629803" cy="521195"/>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endParaRPr lang="en-US" sz="1050" dirty="0">
                <a:solidFill>
                  <a:sysClr val="windowText" lastClr="000000"/>
                </a:solidFill>
                <a:latin typeface="Calibri" panose="020F0502020204030204" pitchFamily="34" charset="0"/>
                <a:cs typeface="Calibri" panose="020F0502020204030204" pitchFamily="34" charset="0"/>
              </a:endParaRPr>
            </a:p>
            <a:p>
              <a:pPr>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90318"/>
              <a:ext cx="3629803" cy="15635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74718" y="1325622"/>
            <a:ext cx="2468880" cy="3763739"/>
            <a:chOff x="5092114" y="1874390"/>
            <a:chExt cx="2575426" cy="5390718"/>
          </a:xfrm>
        </p:grpSpPr>
        <p:sp>
          <p:nvSpPr>
            <p:cNvPr id="14" name="Rectangle 13">
              <a:extLst>
                <a:ext uri="{FF2B5EF4-FFF2-40B4-BE49-F238E27FC236}">
                  <a16:creationId xmlns:a16="http://schemas.microsoft.com/office/drawing/2014/main" id="{49C843C5-C192-4904-A44C-33EC13CA7947}"/>
                </a:ext>
              </a:extLst>
            </p:cNvPr>
            <p:cNvSpPr/>
            <p:nvPr/>
          </p:nvSpPr>
          <p:spPr>
            <a:xfrm>
              <a:off x="5092119" y="1895443"/>
              <a:ext cx="2575421" cy="5369665"/>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100" dirty="0">
                  <a:solidFill>
                    <a:sysClr val="windowText" lastClr="000000"/>
                  </a:solidFill>
                  <a:latin typeface="Calibri" panose="020F0502020204030204" pitchFamily="34" charset="0"/>
                  <a:cs typeface="Calibri" panose="020F0502020204030204" pitchFamily="34" charset="0"/>
                </a:rPr>
                <a:t>Infants 7-28 days of age, temp ≥ 38C:</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younger than &lt; 14 days of age whose perinatal courses were complicated by maternal fever, infection, and/or antimicrobial use (excluding surgical prophylaxis or to treat GBS colonization)</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a:t>
              </a:r>
              <a:r>
                <a:rPr lang="en-US" sz="1100" dirty="0">
                  <a:solidFill>
                    <a:sysClr val="windowText" lastClr="000000"/>
                  </a:solidFill>
                  <a:latin typeface="Calibri" panose="020F0502020204030204" pitchFamily="34" charset="0"/>
                  <a:cs typeface="Calibri" panose="020F0502020204030204" pitchFamily="34" charset="0"/>
                </a:rPr>
                <a:t>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Ill appearance</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4" y="1874390"/>
              <a:ext cx="2575421" cy="39290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10637" y="1325622"/>
            <a:ext cx="2468880" cy="3291840"/>
            <a:chOff x="4137004" y="1454327"/>
            <a:chExt cx="3629804" cy="127500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4" y="1454327"/>
              <a:ext cx="3629804" cy="127500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chemeClr val="tx1"/>
                </a:solidFill>
                <a:latin typeface="Calibri" panose="020F0502020204030204" pitchFamily="34" charset="0"/>
                <a:cs typeface="Calibri" panose="020F0502020204030204" pitchFamily="34" charset="0"/>
              </a:endParaRPr>
            </a:p>
            <a:p>
              <a:pPr>
                <a:defRPr/>
              </a:pPr>
              <a:r>
                <a:rPr lang="en-US" sz="1100" dirty="0">
                  <a:solidFill>
                    <a:schemeClr val="tx1"/>
                  </a:solidFill>
                  <a:latin typeface="Calibri" panose="020F0502020204030204" pitchFamily="34" charset="0"/>
                  <a:cs typeface="Calibri" panose="020F0502020204030204" pitchFamily="34" charset="0"/>
                </a:rPr>
                <a:t>* 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1100" dirty="0" err="1">
                  <a:solidFill>
                    <a:schemeClr val="tx1"/>
                  </a:solidFill>
                  <a:latin typeface="Calibri" panose="020F0502020204030204" pitchFamily="34" charset="0"/>
                  <a:cs typeface="Calibri" panose="020F0502020204030204" pitchFamily="34" charset="0"/>
                </a:rPr>
                <a:t>hrs</a:t>
              </a:r>
              <a:r>
                <a:rPr lang="en-US" sz="1100" dirty="0">
                  <a:solidFill>
                    <a:schemeClr val="tx1"/>
                  </a:solidFill>
                  <a:latin typeface="Calibri" panose="020F0502020204030204" pitchFamily="34" charset="0"/>
                  <a:cs typeface="Calibri" panose="020F0502020204030204" pitchFamily="34" charset="0"/>
                </a:rPr>
                <a:t> before to 48 </a:t>
              </a:r>
              <a:r>
                <a:rPr lang="en-US" sz="1100" dirty="0" err="1">
                  <a:solidFill>
                    <a:schemeClr val="tx1"/>
                  </a:solidFill>
                  <a:latin typeface="Calibri" panose="020F0502020204030204" pitchFamily="34" charset="0"/>
                  <a:cs typeface="Calibri" panose="020F0502020204030204" pitchFamily="34" charset="0"/>
                </a:rPr>
                <a:t>hrs</a:t>
              </a:r>
              <a:r>
                <a:rPr lang="en-US" sz="1100" dirty="0">
                  <a:solidFill>
                    <a:schemeClr val="tx1"/>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a:p>
              <a:pPr lvl="0">
                <a:defRPr/>
              </a:pPr>
              <a:r>
                <a:rPr lang="en-US" sz="1100" dirty="0">
                  <a:solidFill>
                    <a:schemeClr val="tx1"/>
                  </a:solidFill>
                  <a:latin typeface="Calibri" panose="020F0502020204030204" pitchFamily="34" charset="0"/>
                  <a:cs typeface="Calibri" panose="020F0502020204030204" pitchFamily="34" charset="0"/>
                </a:rPr>
                <a:t>† HSV studies: CSF for HSV PCR, HSV PCR of serum and surface swabs: conjunctiva, NP, skin (vesicles if present), and rectal</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2" cy="10625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464482" y="3190434"/>
            <a:ext cx="2743200" cy="2743200"/>
            <a:chOff x="4137004" y="1421140"/>
            <a:chExt cx="3629804" cy="1227543"/>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5" y="1421140"/>
              <a:ext cx="3629803" cy="1227543"/>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ALT: alanine transaminase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GBS: Group B streptococcus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21140"/>
              <a:ext cx="3629803" cy="122754"/>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Abbreviations</a:t>
              </a:r>
            </a:p>
          </p:txBody>
        </p:sp>
      </p:grpSp>
      <p:sp>
        <p:nvSpPr>
          <p:cNvPr id="26" name="Rectangle 25">
            <a:extLst>
              <a:ext uri="{FF2B5EF4-FFF2-40B4-BE49-F238E27FC236}">
                <a16:creationId xmlns:a16="http://schemas.microsoft.com/office/drawing/2014/main" id="{6C223F5D-FED9-4184-9016-CC34D585029A}"/>
              </a:ext>
            </a:extLst>
          </p:cNvPr>
          <p:cNvSpPr/>
          <p:nvPr/>
        </p:nvSpPr>
        <p:spPr>
          <a:xfrm>
            <a:off x="907226" y="2573197"/>
            <a:ext cx="1828800" cy="36576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a:solidFill>
                  <a:sysClr val="windowText" lastClr="000000"/>
                </a:solidFill>
              </a:rPr>
              <a:t>Consult Pediatrics</a:t>
            </a:r>
          </a:p>
        </p:txBody>
      </p:sp>
      <p:sp>
        <p:nvSpPr>
          <p:cNvPr id="2" name="Arrow: Down 1">
            <a:extLst>
              <a:ext uri="{FF2B5EF4-FFF2-40B4-BE49-F238E27FC236}">
                <a16:creationId xmlns:a16="http://schemas.microsoft.com/office/drawing/2014/main" id="{D7F62E7E-816C-4EBC-B00B-48A4D5922454}"/>
              </a:ext>
            </a:extLst>
          </p:cNvPr>
          <p:cNvSpPr/>
          <p:nvPr/>
        </p:nvSpPr>
        <p:spPr>
          <a:xfrm>
            <a:off x="1621171" y="2262236"/>
            <a:ext cx="408967" cy="30053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8416D13-EB26-4AA0-9583-C4254021592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8" name="Title 1">
            <a:extLst>
              <a:ext uri="{FF2B5EF4-FFF2-40B4-BE49-F238E27FC236}">
                <a16:creationId xmlns:a16="http://schemas.microsoft.com/office/drawing/2014/main" id="{AF8C45AC-072E-4F89-8ED3-72937F8772FB}"/>
              </a:ext>
            </a:extLst>
          </p:cNvPr>
          <p:cNvSpPr>
            <a:spLocks noGrp="1"/>
          </p:cNvSpPr>
          <p:nvPr>
            <p:ph type="title"/>
          </p:nvPr>
        </p:nvSpPr>
        <p:spPr>
          <a:xfrm>
            <a:off x="46448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7-28 Days Old, High-Risk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710794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42FCDBA1-01F4-4F27-B6A1-EBA684ED5CA2}"/>
              </a:ext>
            </a:extLst>
          </p:cNvPr>
          <p:cNvGrpSpPr/>
          <p:nvPr/>
        </p:nvGrpSpPr>
        <p:grpSpPr>
          <a:xfrm>
            <a:off x="2029274" y="1432009"/>
            <a:ext cx="4686558" cy="4589490"/>
            <a:chOff x="2443105" y="564718"/>
            <a:chExt cx="6248744" cy="6119318"/>
          </a:xfrm>
        </p:grpSpPr>
        <p:cxnSp>
          <p:nvCxnSpPr>
            <p:cNvPr id="107" name="Straight Arrow Connector 106">
              <a:extLst>
                <a:ext uri="{FF2B5EF4-FFF2-40B4-BE49-F238E27FC236}">
                  <a16:creationId xmlns:a16="http://schemas.microsoft.com/office/drawing/2014/main" id="{E134854B-A251-4F40-87E3-AC622CF7407F}"/>
                </a:ext>
              </a:extLst>
            </p:cNvPr>
            <p:cNvCxnSpPr>
              <a:cxnSpLocks/>
              <a:stCxn id="39" idx="2"/>
              <a:endCxn id="28" idx="0"/>
            </p:cNvCxnSpPr>
            <p:nvPr/>
          </p:nvCxnSpPr>
          <p:spPr>
            <a:xfrm flipH="1">
              <a:off x="6265898" y="3177380"/>
              <a:ext cx="292" cy="58787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E1C1AE-A3A2-423E-B207-E871AEC0591F}"/>
                </a:ext>
              </a:extLst>
            </p:cNvPr>
            <p:cNvCxnSpPr>
              <a:cxnSpLocks/>
              <a:stCxn id="36" idx="3"/>
              <a:endCxn id="38" idx="1"/>
            </p:cNvCxnSpPr>
            <p:nvPr/>
          </p:nvCxnSpPr>
          <p:spPr>
            <a:xfrm>
              <a:off x="7263112" y="5052294"/>
              <a:ext cx="406063" cy="341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6F55B3C-F645-48E1-8479-3A06F36872ED}"/>
                </a:ext>
              </a:extLst>
            </p:cNvPr>
            <p:cNvGrpSpPr/>
            <p:nvPr/>
          </p:nvGrpSpPr>
          <p:grpSpPr>
            <a:xfrm>
              <a:off x="2443105" y="564718"/>
              <a:ext cx="6248744" cy="6119318"/>
              <a:chOff x="2443105" y="564718"/>
              <a:chExt cx="6248744" cy="6119318"/>
            </a:xfrm>
          </p:grpSpPr>
          <p:cxnSp>
            <p:nvCxnSpPr>
              <p:cNvPr id="77" name="Straight Arrow Connector 76">
                <a:extLst>
                  <a:ext uri="{FF2B5EF4-FFF2-40B4-BE49-F238E27FC236}">
                    <a16:creationId xmlns:a16="http://schemas.microsoft.com/office/drawing/2014/main" id="{F038CE39-B230-4638-BDC3-A7D05DBF00A5}"/>
                  </a:ext>
                </a:extLst>
              </p:cNvPr>
              <p:cNvCxnSpPr>
                <a:cxnSpLocks/>
                <a:stCxn id="36" idx="2"/>
                <a:endCxn id="41" idx="0"/>
              </p:cNvCxnSpPr>
              <p:nvPr/>
            </p:nvCxnSpPr>
            <p:spPr>
              <a:xfrm flipH="1">
                <a:off x="6264644" y="5495930"/>
                <a:ext cx="1132" cy="4127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D012303-B061-4C86-8B2C-C804E7B417EC}"/>
                  </a:ext>
                </a:extLst>
              </p:cNvPr>
              <p:cNvGrpSpPr/>
              <p:nvPr/>
            </p:nvGrpSpPr>
            <p:grpSpPr>
              <a:xfrm>
                <a:off x="2443105" y="564718"/>
                <a:ext cx="6248744" cy="6119318"/>
                <a:chOff x="2413903" y="315115"/>
                <a:chExt cx="6248744" cy="6119318"/>
              </a:xfrm>
            </p:grpSpPr>
            <p:cxnSp>
              <p:nvCxnSpPr>
                <p:cNvPr id="95" name="Straight Arrow Connector 94">
                  <a:extLst>
                    <a:ext uri="{FF2B5EF4-FFF2-40B4-BE49-F238E27FC236}">
                      <a16:creationId xmlns:a16="http://schemas.microsoft.com/office/drawing/2014/main" id="{36682A6C-F095-4A60-8C08-A9E8A754B58B}"/>
                    </a:ext>
                  </a:extLst>
                </p:cNvPr>
                <p:cNvCxnSpPr>
                  <a:cxnSpLocks/>
                  <a:stCxn id="16" idx="2"/>
                  <a:endCxn id="53" idx="0"/>
                </p:cNvCxnSpPr>
                <p:nvPr/>
              </p:nvCxnSpPr>
              <p:spPr>
                <a:xfrm>
                  <a:off x="6234241" y="765035"/>
                  <a:ext cx="0" cy="29396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625411C5-D5D7-4F59-B9EF-00A4CE9E0100}"/>
                    </a:ext>
                  </a:extLst>
                </p:cNvPr>
                <p:cNvSpPr txBox="1"/>
                <p:nvPr/>
              </p:nvSpPr>
              <p:spPr>
                <a:xfrm>
                  <a:off x="7130460" y="4455858"/>
                  <a:ext cx="466368" cy="307776"/>
                </a:xfrm>
                <a:prstGeom prst="rect">
                  <a:avLst/>
                </a:prstGeom>
                <a:noFill/>
              </p:spPr>
              <p:txBody>
                <a:bodyPr wrap="none" rtlCol="0">
                  <a:spAutoFit/>
                </a:bodyPr>
                <a:lstStyle/>
                <a:p>
                  <a:r>
                    <a:rPr lang="en-US" sz="900">
                      <a:latin typeface="Calibri" panose="020F0502020204030204" pitchFamily="34" charset="0"/>
                      <a:cs typeface="Calibri" panose="020F0502020204030204" pitchFamily="34" charset="0"/>
                    </a:rPr>
                    <a:t>YES</a:t>
                  </a:r>
                </a:p>
              </p:txBody>
            </p:sp>
            <p:grpSp>
              <p:nvGrpSpPr>
                <p:cNvPr id="17" name="Group 16">
                  <a:extLst>
                    <a:ext uri="{FF2B5EF4-FFF2-40B4-BE49-F238E27FC236}">
                      <a16:creationId xmlns:a16="http://schemas.microsoft.com/office/drawing/2014/main" id="{940545A6-E826-4F38-8023-BD705581FBC3}"/>
                    </a:ext>
                  </a:extLst>
                </p:cNvPr>
                <p:cNvGrpSpPr/>
                <p:nvPr/>
              </p:nvGrpSpPr>
              <p:grpSpPr>
                <a:xfrm>
                  <a:off x="2413903" y="315115"/>
                  <a:ext cx="6248744" cy="6119318"/>
                  <a:chOff x="2413903" y="315115"/>
                  <a:chExt cx="6248744" cy="6119318"/>
                </a:xfrm>
              </p:grpSpPr>
              <p:sp>
                <p:nvSpPr>
                  <p:cNvPr id="44" name="TextBox 43">
                    <a:extLst>
                      <a:ext uri="{FF2B5EF4-FFF2-40B4-BE49-F238E27FC236}">
                        <a16:creationId xmlns:a16="http://schemas.microsoft.com/office/drawing/2014/main" id="{9A476156-6352-4FC6-9D8D-7EB9DAF3A14F}"/>
                      </a:ext>
                    </a:extLst>
                  </p:cNvPr>
                  <p:cNvSpPr txBox="1"/>
                  <p:nvPr/>
                </p:nvSpPr>
                <p:spPr>
                  <a:xfrm>
                    <a:off x="6377754" y="1705330"/>
                    <a:ext cx="447131" cy="307776"/>
                  </a:xfrm>
                  <a:prstGeom prst="rect">
                    <a:avLst/>
                  </a:prstGeom>
                  <a:noFill/>
                </p:spPr>
                <p:txBody>
                  <a:bodyPr wrap="none" rtlCol="0">
                    <a:spAutoFit/>
                  </a:bodyPr>
                  <a:lstStyle/>
                  <a:p>
                    <a:r>
                      <a:rPr lang="en-US" sz="900" dirty="0">
                        <a:latin typeface="Calibri" panose="020F0502020204030204" pitchFamily="34" charset="0"/>
                        <a:cs typeface="Calibri" panose="020F0502020204030204" pitchFamily="34" charset="0"/>
                      </a:rPr>
                      <a:t>NO</a:t>
                    </a:r>
                  </a:p>
                </p:txBody>
              </p:sp>
              <p:sp>
                <p:nvSpPr>
                  <p:cNvPr id="55" name="TextBox 54">
                    <a:extLst>
                      <a:ext uri="{FF2B5EF4-FFF2-40B4-BE49-F238E27FC236}">
                        <a16:creationId xmlns:a16="http://schemas.microsoft.com/office/drawing/2014/main" id="{6DEED599-EA22-43E4-927A-A26138A30984}"/>
                      </a:ext>
                    </a:extLst>
                  </p:cNvPr>
                  <p:cNvSpPr txBox="1"/>
                  <p:nvPr/>
                </p:nvSpPr>
                <p:spPr>
                  <a:xfrm>
                    <a:off x="6261579" y="5246324"/>
                    <a:ext cx="447131" cy="307776"/>
                  </a:xfrm>
                  <a:prstGeom prst="rect">
                    <a:avLst/>
                  </a:prstGeom>
                  <a:noFill/>
                </p:spPr>
                <p:txBody>
                  <a:bodyPr wrap="none" rtlCol="0">
                    <a:spAutoFit/>
                  </a:bodyPr>
                  <a:lstStyle/>
                  <a:p>
                    <a:r>
                      <a:rPr lang="en-US" sz="900">
                        <a:latin typeface="Calibri" panose="020F0502020204030204" pitchFamily="34" charset="0"/>
                        <a:cs typeface="Calibri" panose="020F0502020204030204" pitchFamily="34" charset="0"/>
                      </a:rPr>
                      <a:t>NO</a:t>
                    </a:r>
                  </a:p>
                </p:txBody>
              </p:sp>
              <p:grpSp>
                <p:nvGrpSpPr>
                  <p:cNvPr id="15" name="Group 14">
                    <a:extLst>
                      <a:ext uri="{FF2B5EF4-FFF2-40B4-BE49-F238E27FC236}">
                        <a16:creationId xmlns:a16="http://schemas.microsoft.com/office/drawing/2014/main" id="{1A24A6EF-92AF-4184-9A77-F84DD82BE535}"/>
                      </a:ext>
                    </a:extLst>
                  </p:cNvPr>
                  <p:cNvGrpSpPr/>
                  <p:nvPr/>
                </p:nvGrpSpPr>
                <p:grpSpPr>
                  <a:xfrm>
                    <a:off x="2413903" y="315115"/>
                    <a:ext cx="6248744" cy="6119318"/>
                    <a:chOff x="2413903" y="315115"/>
                    <a:chExt cx="6248744" cy="6119318"/>
                  </a:xfrm>
                </p:grpSpPr>
                <p:cxnSp>
                  <p:nvCxnSpPr>
                    <p:cNvPr id="101" name="Straight Arrow Connector 100">
                      <a:extLst>
                        <a:ext uri="{FF2B5EF4-FFF2-40B4-BE49-F238E27FC236}">
                          <a16:creationId xmlns:a16="http://schemas.microsoft.com/office/drawing/2014/main" id="{3ACFF553-329C-45C1-A288-B71BF0FF4E46}"/>
                        </a:ext>
                      </a:extLst>
                    </p:cNvPr>
                    <p:cNvCxnSpPr>
                      <a:cxnSpLocks/>
                      <a:stCxn id="53" idx="2"/>
                      <a:endCxn id="39" idx="0"/>
                    </p:cNvCxnSpPr>
                    <p:nvPr/>
                  </p:nvCxnSpPr>
                  <p:spPr>
                    <a:xfrm>
                      <a:off x="6234241" y="1508922"/>
                      <a:ext cx="2746" cy="79090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E29B4CC4-C15C-43A9-9A70-74CF5F07836E}"/>
                        </a:ext>
                      </a:extLst>
                    </p:cNvPr>
                    <p:cNvGrpSpPr/>
                    <p:nvPr/>
                  </p:nvGrpSpPr>
                  <p:grpSpPr>
                    <a:xfrm>
                      <a:off x="2413903" y="315115"/>
                      <a:ext cx="6248744" cy="6119318"/>
                      <a:chOff x="2413903" y="315115"/>
                      <a:chExt cx="6248744" cy="6119318"/>
                    </a:xfrm>
                  </p:grpSpPr>
                  <p:sp>
                    <p:nvSpPr>
                      <p:cNvPr id="39" name="Diamond 38">
                        <a:extLst>
                          <a:ext uri="{FF2B5EF4-FFF2-40B4-BE49-F238E27FC236}">
                            <a16:creationId xmlns:a16="http://schemas.microsoft.com/office/drawing/2014/main" id="{FD7B96CD-89B4-49BF-994D-C630F2C73CB0}"/>
                          </a:ext>
                        </a:extLst>
                      </p:cNvPr>
                      <p:cNvSpPr/>
                      <p:nvPr/>
                    </p:nvSpPr>
                    <p:spPr>
                      <a:xfrm>
                        <a:off x="5067573" y="2299831"/>
                        <a:ext cx="2338828" cy="62794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ysClr val="windowText" lastClr="000000"/>
                            </a:solidFill>
                            <a:latin typeface="Calibri" panose="020F0502020204030204" pitchFamily="34" charset="0"/>
                            <a:cs typeface="Calibri" panose="020F0502020204030204" pitchFamily="34" charset="0"/>
                          </a:rPr>
                          <a:t>Increased HSV Risk</a:t>
                        </a:r>
                        <a:r>
                          <a:rPr lang="en-US" sz="900" b="1">
                            <a:solidFill>
                              <a:sysClr val="windowText" lastClr="000000"/>
                            </a:solidFill>
                            <a:latin typeface="Calibri" panose="020F0502020204030204" pitchFamily="34" charset="0"/>
                            <a:cs typeface="Calibri" panose="020F0502020204030204" pitchFamily="34" charset="0"/>
                          </a:rPr>
                          <a:t>*</a:t>
                        </a:r>
                        <a:r>
                          <a:rPr lang="en-US" sz="900">
                            <a:solidFill>
                              <a:sysClr val="windowText" lastClr="000000"/>
                            </a:solidFill>
                            <a:latin typeface="Calibri" panose="020F0502020204030204" pitchFamily="34" charset="0"/>
                            <a:cs typeface="Calibri" panose="020F0502020204030204" pitchFamily="34" charset="0"/>
                          </a:rPr>
                          <a:t> </a:t>
                        </a:r>
                      </a:p>
                    </p:txBody>
                  </p:sp>
                  <p:sp>
                    <p:nvSpPr>
                      <p:cNvPr id="53" name="Diamond 52">
                        <a:extLst>
                          <a:ext uri="{FF2B5EF4-FFF2-40B4-BE49-F238E27FC236}">
                            <a16:creationId xmlns:a16="http://schemas.microsoft.com/office/drawing/2014/main" id="{75D858EC-E7A1-4D55-83BA-E1EA9D296B37}"/>
                          </a:ext>
                        </a:extLst>
                      </p:cNvPr>
                      <p:cNvSpPr/>
                      <p:nvPr/>
                    </p:nvSpPr>
                    <p:spPr>
                      <a:xfrm>
                        <a:off x="5692182" y="1059002"/>
                        <a:ext cx="1084117" cy="44992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Calibri" panose="020F0502020204030204" pitchFamily="34" charset="0"/>
                            <a:cs typeface="Calibri" panose="020F0502020204030204" pitchFamily="34" charset="0"/>
                          </a:rPr>
                          <a:t>UA+ </a:t>
                        </a:r>
                      </a:p>
                    </p:txBody>
                  </p:sp>
                  <p:cxnSp>
                    <p:nvCxnSpPr>
                      <p:cNvPr id="62" name="Connector: Elbow 61">
                        <a:extLst>
                          <a:ext uri="{FF2B5EF4-FFF2-40B4-BE49-F238E27FC236}">
                            <a16:creationId xmlns:a16="http://schemas.microsoft.com/office/drawing/2014/main" id="{3AF8871F-E01A-447C-B8A7-43948EDCF995}"/>
                          </a:ext>
                        </a:extLst>
                      </p:cNvPr>
                      <p:cNvCxnSpPr>
                        <a:cxnSpLocks/>
                        <a:stCxn id="39" idx="1"/>
                        <a:endCxn id="54" idx="0"/>
                      </p:cNvCxnSpPr>
                      <p:nvPr/>
                    </p:nvCxnSpPr>
                    <p:spPr>
                      <a:xfrm rot="10800000" flipV="1">
                        <a:off x="3383718" y="2613802"/>
                        <a:ext cx="1683857" cy="265343"/>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7A84E384-7A82-49C9-9375-706AB44FD226}"/>
                          </a:ext>
                        </a:extLst>
                      </p:cNvPr>
                      <p:cNvGrpSpPr/>
                      <p:nvPr/>
                    </p:nvGrpSpPr>
                    <p:grpSpPr>
                      <a:xfrm>
                        <a:off x="2413903" y="315115"/>
                        <a:ext cx="6248744" cy="6119318"/>
                        <a:chOff x="2413903" y="315115"/>
                        <a:chExt cx="6248744" cy="6119318"/>
                      </a:xfrm>
                    </p:grpSpPr>
                    <p:grpSp>
                      <p:nvGrpSpPr>
                        <p:cNvPr id="12" name="Group 11">
                          <a:extLst>
                            <a:ext uri="{FF2B5EF4-FFF2-40B4-BE49-F238E27FC236}">
                              <a16:creationId xmlns:a16="http://schemas.microsoft.com/office/drawing/2014/main" id="{46ECE9C3-C3DD-4ECC-8CAB-127FFA7DB762}"/>
                            </a:ext>
                          </a:extLst>
                        </p:cNvPr>
                        <p:cNvGrpSpPr/>
                        <p:nvPr/>
                      </p:nvGrpSpPr>
                      <p:grpSpPr>
                        <a:xfrm>
                          <a:off x="4555867" y="1022832"/>
                          <a:ext cx="1003590" cy="1621749"/>
                          <a:chOff x="4555867" y="1022832"/>
                          <a:chExt cx="1003590" cy="1621749"/>
                        </a:xfrm>
                      </p:grpSpPr>
                      <p:sp>
                        <p:nvSpPr>
                          <p:cNvPr id="2" name="TextBox 1">
                            <a:extLst>
                              <a:ext uri="{FF2B5EF4-FFF2-40B4-BE49-F238E27FC236}">
                                <a16:creationId xmlns:a16="http://schemas.microsoft.com/office/drawing/2014/main" id="{B3A294D1-9205-488A-A9D6-4186444C3EF3}"/>
                              </a:ext>
                            </a:extLst>
                          </p:cNvPr>
                          <p:cNvSpPr txBox="1"/>
                          <p:nvPr/>
                        </p:nvSpPr>
                        <p:spPr>
                          <a:xfrm>
                            <a:off x="4555867" y="2336805"/>
                            <a:ext cx="609600" cy="307776"/>
                          </a:xfrm>
                          <a:prstGeom prst="rect">
                            <a:avLst/>
                          </a:prstGeom>
                          <a:noFill/>
                        </p:spPr>
                        <p:txBody>
                          <a:bodyPr wrap="square" rtlCol="0">
                            <a:spAutoFit/>
                          </a:bodyPr>
                          <a:lstStyle/>
                          <a:p>
                            <a:r>
                              <a:rPr lang="en-US" sz="900" dirty="0">
                                <a:latin typeface="Calibri" panose="020F0502020204030204" pitchFamily="34" charset="0"/>
                                <a:cs typeface="Calibri" panose="020F0502020204030204" pitchFamily="34" charset="0"/>
                              </a:rPr>
                              <a:t>YES</a:t>
                            </a:r>
                          </a:p>
                        </p:txBody>
                      </p:sp>
                      <p:sp>
                        <p:nvSpPr>
                          <p:cNvPr id="66" name="TextBox 65">
                            <a:extLst>
                              <a:ext uri="{FF2B5EF4-FFF2-40B4-BE49-F238E27FC236}">
                                <a16:creationId xmlns:a16="http://schemas.microsoft.com/office/drawing/2014/main" id="{82373C07-6CCF-49B3-B4C4-2647914EC9CD}"/>
                              </a:ext>
                            </a:extLst>
                          </p:cNvPr>
                          <p:cNvSpPr txBox="1"/>
                          <p:nvPr/>
                        </p:nvSpPr>
                        <p:spPr>
                          <a:xfrm>
                            <a:off x="5093089" y="1022832"/>
                            <a:ext cx="466368" cy="307776"/>
                          </a:xfrm>
                          <a:prstGeom prst="rect">
                            <a:avLst/>
                          </a:prstGeom>
                          <a:noFill/>
                        </p:spPr>
                        <p:txBody>
                          <a:bodyPr wrap="none" rtlCol="0">
                            <a:spAutoFit/>
                          </a:bodyPr>
                          <a:lstStyle/>
                          <a:p>
                            <a:r>
                              <a:rPr lang="en-US" sz="900" dirty="0">
                                <a:latin typeface="Calibri" panose="020F0502020204030204" pitchFamily="34" charset="0"/>
                                <a:cs typeface="Calibri" panose="020F0502020204030204" pitchFamily="34" charset="0"/>
                              </a:rPr>
                              <a:t>YES</a:t>
                            </a:r>
                          </a:p>
                        </p:txBody>
                      </p:sp>
                    </p:grpSp>
                    <p:grpSp>
                      <p:nvGrpSpPr>
                        <p:cNvPr id="9" name="Group 8">
                          <a:extLst>
                            <a:ext uri="{FF2B5EF4-FFF2-40B4-BE49-F238E27FC236}">
                              <a16:creationId xmlns:a16="http://schemas.microsoft.com/office/drawing/2014/main" id="{54E7E205-72DB-47A0-82AC-3DFE61A07758}"/>
                            </a:ext>
                          </a:extLst>
                        </p:cNvPr>
                        <p:cNvGrpSpPr/>
                        <p:nvPr/>
                      </p:nvGrpSpPr>
                      <p:grpSpPr>
                        <a:xfrm>
                          <a:off x="2413903" y="315115"/>
                          <a:ext cx="6248744" cy="6119318"/>
                          <a:chOff x="2413903" y="315115"/>
                          <a:chExt cx="6248744" cy="6119318"/>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4101842" y="315115"/>
                            <a:ext cx="4560805" cy="6119318"/>
                            <a:chOff x="-308901" y="-323293"/>
                            <a:chExt cx="8108099" cy="10878789"/>
                          </a:xfrm>
                        </p:grpSpPr>
                        <p:sp>
                          <p:nvSpPr>
                            <p:cNvPr id="16" name="Rectangle 15">
                              <a:extLst>
                                <a:ext uri="{FF2B5EF4-FFF2-40B4-BE49-F238E27FC236}">
                                  <a16:creationId xmlns:a16="http://schemas.microsoft.com/office/drawing/2014/main" id="{14C815F4-3E4B-4657-8DD6-3BDF96293D0A}"/>
                                </a:ext>
                              </a:extLst>
                            </p:cNvPr>
                            <p:cNvSpPr/>
                            <p:nvPr/>
                          </p:nvSpPr>
                          <p:spPr>
                            <a:xfrm>
                              <a:off x="691763" y="-323293"/>
                              <a:ext cx="5580536" cy="79985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latin typeface="Calibri" panose="020F0502020204030204" pitchFamily="34" charset="0"/>
                                <a:cs typeface="Calibri" panose="020F0502020204030204" pitchFamily="34" charset="0"/>
                              </a:endParaRPr>
                            </a:p>
                            <a:p>
                              <a:r>
                                <a:rPr lang="en-US" sz="900" dirty="0">
                                  <a:solidFill>
                                    <a:schemeClr val="tx1"/>
                                  </a:solidFill>
                                  <a:latin typeface="Calibri" panose="020F0502020204030204" pitchFamily="34" charset="0"/>
                                  <a:cs typeface="Calibri" panose="020F0502020204030204" pitchFamily="34" charset="0"/>
                                </a:rPr>
                                <a:t>Perform UA, UCx, CBC w/diff, blood </a:t>
                              </a:r>
                              <a:r>
                                <a:rPr lang="en-US" sz="900" dirty="0" err="1">
                                  <a:solidFill>
                                    <a:schemeClr val="tx1"/>
                                  </a:solidFill>
                                  <a:latin typeface="Calibri" panose="020F0502020204030204" pitchFamily="34" charset="0"/>
                                  <a:cs typeface="Calibri" panose="020F0502020204030204" pitchFamily="34" charset="0"/>
                                </a:rPr>
                                <a:t>Cx</a:t>
                              </a:r>
                              <a:r>
                                <a:rPr lang="en-US" sz="900" dirty="0">
                                  <a:solidFill>
                                    <a:schemeClr val="tx1"/>
                                  </a:solidFill>
                                  <a:latin typeface="Calibri" panose="020F0502020204030204" pitchFamily="34" charset="0"/>
                                  <a:cs typeface="Calibri" panose="020F0502020204030204" pitchFamily="34" charset="0"/>
                                </a:rPr>
                                <a:t> and LP</a:t>
                              </a:r>
                            </a:p>
                            <a:p>
                              <a:endParaRPr lang="en-US" sz="900"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7D944722-CFD4-41F1-850D-378C92D1900A}"/>
                                </a:ext>
                              </a:extLst>
                            </p:cNvPr>
                            <p:cNvSpPr/>
                            <p:nvPr/>
                          </p:nvSpPr>
                          <p:spPr>
                            <a:xfrm>
                              <a:off x="1969169" y="5366548"/>
                              <a:ext cx="3034454" cy="92735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ysClr val="windowText" lastClr="000000"/>
                                  </a:solidFill>
                                  <a:latin typeface="Calibri" panose="020F0502020204030204" pitchFamily="34" charset="0"/>
                                  <a:cs typeface="Calibri" panose="020F0502020204030204" pitchFamily="34" charset="0"/>
                                </a:rPr>
                                <a:t>Initiate </a:t>
                              </a:r>
                              <a:r>
                                <a:rPr lang="en-US" sz="900" err="1">
                                  <a:solidFill>
                                    <a:sysClr val="windowText" lastClr="000000"/>
                                  </a:solidFill>
                                  <a:latin typeface="Calibri" panose="020F0502020204030204" pitchFamily="34" charset="0"/>
                                  <a:cs typeface="Calibri" panose="020F0502020204030204" pitchFamily="34" charset="0"/>
                                </a:rPr>
                                <a:t>Pabx</a:t>
                              </a:r>
                              <a:endParaRPr lang="en-US" sz="900">
                                <a:solidFill>
                                  <a:sysClr val="windowText" lastClr="000000"/>
                                </a:solidFill>
                                <a:latin typeface="Calibri" panose="020F0502020204030204" pitchFamily="34" charset="0"/>
                                <a:cs typeface="Calibri" panose="020F0502020204030204" pitchFamily="34" charset="0"/>
                              </a:endParaRPr>
                            </a:p>
                            <a:p>
                              <a:pPr marL="171450" indent="-171450">
                                <a:buFont typeface="+mj-lt"/>
                                <a:buAutoNum type="arabicPeriod"/>
                              </a:pPr>
                              <a:r>
                                <a:rPr lang="en-US" sz="900">
                                  <a:solidFill>
                                    <a:sysClr val="windowText" lastClr="000000"/>
                                  </a:solidFill>
                                  <a:latin typeface="Calibri" panose="020F0502020204030204" pitchFamily="34" charset="0"/>
                                  <a:cs typeface="Calibri" panose="020F0502020204030204" pitchFamily="34" charset="0"/>
                                </a:rPr>
                                <a:t>Observe in hospital</a:t>
                              </a:r>
                            </a:p>
                          </p:txBody>
                        </p:sp>
                        <p:sp>
                          <p:nvSpPr>
                            <p:cNvPr id="36" name="Diamond 35">
                              <a:extLst>
                                <a:ext uri="{FF2B5EF4-FFF2-40B4-BE49-F238E27FC236}">
                                  <a16:creationId xmlns:a16="http://schemas.microsoft.com/office/drawing/2014/main" id="{74EE7E50-2129-46CB-A048-8AFABA71449A}"/>
                                </a:ext>
                              </a:extLst>
                            </p:cNvPr>
                            <p:cNvSpPr/>
                            <p:nvPr/>
                          </p:nvSpPr>
                          <p:spPr>
                            <a:xfrm>
                              <a:off x="1713134" y="6865932"/>
                              <a:ext cx="3546089" cy="157737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ysClr val="windowText" lastClr="000000"/>
                                  </a:solidFill>
                                  <a:latin typeface="Calibri" panose="020F0502020204030204" pitchFamily="34" charset="0"/>
                                  <a:cs typeface="Calibri" panose="020F0502020204030204" pitchFamily="34" charset="0"/>
                                </a:rPr>
                                <a:t>Pathogen or Source identified</a:t>
                              </a:r>
                            </a:p>
                          </p:txBody>
                        </p:sp>
                        <p:sp>
                          <p:nvSpPr>
                            <p:cNvPr id="38" name="Rectangle 37">
                              <a:extLst>
                                <a:ext uri="{FF2B5EF4-FFF2-40B4-BE49-F238E27FC236}">
                                  <a16:creationId xmlns:a16="http://schemas.microsoft.com/office/drawing/2014/main" id="{69007924-3AB5-44F1-A207-AE39F6A7ED9C}"/>
                                </a:ext>
                              </a:extLst>
                            </p:cNvPr>
                            <p:cNvSpPr/>
                            <p:nvPr/>
                          </p:nvSpPr>
                          <p:spPr>
                            <a:xfrm>
                              <a:off x="5981112" y="7268793"/>
                              <a:ext cx="1818086" cy="78380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latin typeface="Calibri" panose="020F0502020204030204" pitchFamily="34" charset="0"/>
                                  <a:cs typeface="Calibri" panose="020F0502020204030204" pitchFamily="34" charset="0"/>
                                </a:rPr>
                                <a:t>Treat infection</a:t>
                              </a:r>
                            </a:p>
                          </p:txBody>
                        </p:sp>
                        <p:sp>
                          <p:nvSpPr>
                            <p:cNvPr id="41" name="Rectangle 40">
                              <a:extLst>
                                <a:ext uri="{FF2B5EF4-FFF2-40B4-BE49-F238E27FC236}">
                                  <a16:creationId xmlns:a16="http://schemas.microsoft.com/office/drawing/2014/main" id="{E73D0D02-152E-4442-A4E8-890DF8E6A7B1}"/>
                                </a:ext>
                              </a:extLst>
                            </p:cNvPr>
                            <p:cNvSpPr/>
                            <p:nvPr/>
                          </p:nvSpPr>
                          <p:spPr>
                            <a:xfrm>
                              <a:off x="-308901" y="9177000"/>
                              <a:ext cx="7586134" cy="137849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dirty="0">
                                  <a:solidFill>
                                    <a:schemeClr val="tx1"/>
                                  </a:solidFill>
                                  <a:latin typeface="Calibri" panose="020F0502020204030204" pitchFamily="34" charset="0"/>
                                  <a:cs typeface="Calibri" panose="020F0502020204030204" pitchFamily="34" charset="0"/>
                                </a:rPr>
                                <a:t>Discontinue antimicrobial(s) and may discharge hospitalized infant if all </a:t>
                              </a:r>
                              <a:r>
                                <a:rPr lang="en-US" sz="900" dirty="0" err="1">
                                  <a:solidFill>
                                    <a:schemeClr val="tx1"/>
                                  </a:solidFill>
                                  <a:latin typeface="Calibri" panose="020F0502020204030204" pitchFamily="34" charset="0"/>
                                  <a:cs typeface="Calibri" panose="020F0502020204030204" pitchFamily="34" charset="0"/>
                                </a:rPr>
                                <a:t>Cx</a:t>
                              </a:r>
                              <a:r>
                                <a:rPr lang="en-US" sz="900" dirty="0">
                                  <a:solidFill>
                                    <a:schemeClr val="tx1"/>
                                  </a:solidFill>
                                  <a:latin typeface="Calibri" panose="020F0502020204030204" pitchFamily="34" charset="0"/>
                                  <a:cs typeface="Calibri" panose="020F0502020204030204" pitchFamily="34" charset="0"/>
                                </a:rPr>
                                <a:t>- at 24-36 </a:t>
                              </a:r>
                              <a:r>
                                <a:rPr lang="en-US" sz="900" dirty="0" err="1">
                                  <a:solidFill>
                                    <a:schemeClr val="tx1"/>
                                  </a:solidFill>
                                  <a:latin typeface="Calibri" panose="020F0502020204030204" pitchFamily="34" charset="0"/>
                                  <a:cs typeface="Calibri" panose="020F0502020204030204" pitchFamily="34" charset="0"/>
                                </a:rPr>
                                <a:t>hrs</a:t>
                              </a:r>
                              <a:r>
                                <a:rPr lang="en-US" sz="900" dirty="0">
                                  <a:solidFill>
                                    <a:schemeClr val="tx1"/>
                                  </a:solidFill>
                                  <a:latin typeface="Calibri" panose="020F0502020204030204" pitchFamily="34" charset="0"/>
                                  <a:cs typeface="Calibri" panose="020F0502020204030204" pitchFamily="34" charset="0"/>
                                </a:rPr>
                                <a:t> and HSV PCR- (if sent) </a:t>
                              </a:r>
                            </a:p>
                            <a:p>
                              <a:pPr marL="144661" indent="-144661">
                                <a:buFont typeface="+mj-lt"/>
                                <a:buAutoNum type="arabicPeriod"/>
                              </a:pPr>
                              <a:r>
                                <a:rPr lang="en-US" sz="900" dirty="0">
                                  <a:solidFill>
                                    <a:schemeClr val="tx1"/>
                                  </a:solidFill>
                                  <a:latin typeface="Calibri" panose="020F0502020204030204" pitchFamily="34" charset="0"/>
                                  <a:cs typeface="Calibri" panose="020F0502020204030204" pitchFamily="34" charset="0"/>
                                </a:rPr>
                                <a:t>Follow for duration of illness</a:t>
                              </a:r>
                            </a:p>
                          </p:txBody>
                        </p:sp>
                      </p:grpSp>
                      <p:sp>
                        <p:nvSpPr>
                          <p:cNvPr id="52" name="Rectangle 51">
                            <a:extLst>
                              <a:ext uri="{FF2B5EF4-FFF2-40B4-BE49-F238E27FC236}">
                                <a16:creationId xmlns:a16="http://schemas.microsoft.com/office/drawing/2014/main" id="{CE8258BA-F771-47F0-A445-4948F10644D6}"/>
                              </a:ext>
                            </a:extLst>
                          </p:cNvPr>
                          <p:cNvSpPr/>
                          <p:nvPr/>
                        </p:nvSpPr>
                        <p:spPr>
                          <a:xfrm>
                            <a:off x="3309651" y="1579296"/>
                            <a:ext cx="1670776" cy="50897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ysClr val="windowText" lastClr="000000"/>
                              </a:solidFill>
                              <a:latin typeface="Calibri" panose="020F0502020204030204" pitchFamily="34" charset="0"/>
                              <a:cs typeface="Calibri" panose="020F0502020204030204" pitchFamily="34" charset="0"/>
                            </a:endParaRPr>
                          </a:p>
                          <a:p>
                            <a:pPr algn="ctr"/>
                            <a:r>
                              <a:rPr lang="en-US" sz="900" dirty="0">
                                <a:solidFill>
                                  <a:sysClr val="windowText" lastClr="000000"/>
                                </a:solidFill>
                                <a:latin typeface="Calibri" panose="020F0502020204030204" pitchFamily="34" charset="0"/>
                                <a:cs typeface="Calibri" panose="020F0502020204030204" pitchFamily="34" charset="0"/>
                              </a:rPr>
                              <a:t>Confirm urine sent by bladder </a:t>
                            </a:r>
                            <a:r>
                              <a:rPr lang="en-US" sz="900" dirty="0" err="1">
                                <a:solidFill>
                                  <a:sysClr val="windowText" lastClr="000000"/>
                                </a:solidFill>
                                <a:latin typeface="Calibri" panose="020F0502020204030204" pitchFamily="34" charset="0"/>
                                <a:cs typeface="Calibri" panose="020F0502020204030204" pitchFamily="34" charset="0"/>
                              </a:rPr>
                              <a:t>cath</a:t>
                            </a:r>
                            <a:endParaRPr lang="en-US" sz="900" dirty="0">
                              <a:solidFill>
                                <a:sysClr val="windowText" lastClr="000000"/>
                              </a:solidFill>
                              <a:latin typeface="Calibri" panose="020F0502020204030204" pitchFamily="34" charset="0"/>
                              <a:cs typeface="Calibri" panose="020F0502020204030204" pitchFamily="34" charset="0"/>
                            </a:endParaRPr>
                          </a:p>
                          <a:p>
                            <a:pPr algn="ctr"/>
                            <a:endParaRPr lang="en-US" sz="900" dirty="0">
                              <a:solidFill>
                                <a:sysClr val="windowText" lastClr="000000"/>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7DB56A54-8D91-4E7E-B854-3A4C015C7815}"/>
                              </a:ext>
                            </a:extLst>
                          </p:cNvPr>
                          <p:cNvSpPr/>
                          <p:nvPr/>
                        </p:nvSpPr>
                        <p:spPr>
                          <a:xfrm>
                            <a:off x="2413903" y="2879146"/>
                            <a:ext cx="1939627" cy="58323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ysClr val="windowText" lastClr="000000"/>
                              </a:solidFill>
                              <a:latin typeface="Calibri" panose="020F0502020204030204" pitchFamily="34" charset="0"/>
                              <a:cs typeface="Calibri" panose="020F0502020204030204" pitchFamily="34" charset="0"/>
                            </a:endParaRPr>
                          </a:p>
                          <a:p>
                            <a:pPr algn="ctr"/>
                            <a:r>
                              <a:rPr lang="en-US" sz="900" dirty="0">
                                <a:solidFill>
                                  <a:sysClr val="windowText" lastClr="000000"/>
                                </a:solidFill>
                                <a:latin typeface="Calibri" panose="020F0502020204030204" pitchFamily="34" charset="0"/>
                                <a:cs typeface="Calibri" panose="020F0502020204030204" pitchFamily="34" charset="0"/>
                              </a:rPr>
                              <a:t>Send HSV studies </a:t>
                            </a:r>
                            <a:r>
                              <a:rPr lang="en-US" sz="900" b="1" dirty="0">
                                <a:solidFill>
                                  <a:schemeClr val="tx1"/>
                                </a:solidFill>
                                <a:latin typeface="Calibri" panose="020F0502020204030204" pitchFamily="34" charset="0"/>
                                <a:cs typeface="Calibri" panose="020F0502020204030204" pitchFamily="34" charset="0"/>
                              </a:rPr>
                              <a:t>†</a:t>
                            </a:r>
                            <a:endParaRPr lang="en-US" sz="900" dirty="0">
                              <a:solidFill>
                                <a:sysClr val="windowText" lastClr="000000"/>
                              </a:solidFill>
                              <a:latin typeface="Calibri" panose="020F0502020204030204" pitchFamily="34" charset="0"/>
                              <a:cs typeface="Calibri" panose="020F0502020204030204" pitchFamily="34" charset="0"/>
                            </a:endParaRPr>
                          </a:p>
                          <a:p>
                            <a:pPr algn="ctr"/>
                            <a:r>
                              <a:rPr lang="en-US" sz="900" dirty="0">
                                <a:solidFill>
                                  <a:sysClr val="windowText" lastClr="000000"/>
                                </a:solidFill>
                                <a:latin typeface="Calibri" panose="020F0502020204030204" pitchFamily="34" charset="0"/>
                                <a:cs typeface="Calibri" panose="020F0502020204030204" pitchFamily="34" charset="0"/>
                              </a:rPr>
                              <a:t>Initiate acyclovir</a:t>
                            </a:r>
                          </a:p>
                          <a:p>
                            <a:pPr algn="ctr"/>
                            <a:endParaRPr lang="en-US" sz="900" dirty="0">
                              <a:solidFill>
                                <a:sysClr val="windowText" lastClr="000000"/>
                              </a:solidFill>
                              <a:latin typeface="Calibri" panose="020F0502020204030204" pitchFamily="34" charset="0"/>
                              <a:cs typeface="Calibri" panose="020F0502020204030204" pitchFamily="34" charset="0"/>
                            </a:endParaRP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4145040" y="1283962"/>
                            <a:ext cx="1547143" cy="295334"/>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grpSp>
              <p:cxnSp>
                <p:nvCxnSpPr>
                  <p:cNvPr id="32" name="Straight Arrow Connector 31">
                    <a:extLst>
                      <a:ext uri="{FF2B5EF4-FFF2-40B4-BE49-F238E27FC236}">
                        <a16:creationId xmlns:a16="http://schemas.microsoft.com/office/drawing/2014/main" id="{9A15820E-E515-4511-868B-76A76068B4C0}"/>
                      </a:ext>
                    </a:extLst>
                  </p:cNvPr>
                  <p:cNvCxnSpPr>
                    <a:cxnSpLocks/>
                    <a:stCxn id="28" idx="2"/>
                    <a:endCxn id="36" idx="0"/>
                  </p:cNvCxnSpPr>
                  <p:nvPr/>
                </p:nvCxnSpPr>
                <p:spPr>
                  <a:xfrm flipH="1">
                    <a:off x="6236574" y="4037287"/>
                    <a:ext cx="123" cy="32176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BA6BE57B-F5FD-4E12-AC44-8A323916BB50}"/>
                      </a:ext>
                    </a:extLst>
                  </p:cNvPr>
                  <p:cNvSpPr txBox="1"/>
                  <p:nvPr/>
                </p:nvSpPr>
                <p:spPr>
                  <a:xfrm>
                    <a:off x="6237059" y="2990956"/>
                    <a:ext cx="446372" cy="307776"/>
                  </a:xfrm>
                  <a:prstGeom prst="rect">
                    <a:avLst/>
                  </a:prstGeom>
                  <a:noFill/>
                </p:spPr>
                <p:txBody>
                  <a:bodyPr wrap="square" rtlCol="0">
                    <a:spAutoFit/>
                  </a:bodyPr>
                  <a:lstStyle/>
                  <a:p>
                    <a:r>
                      <a:rPr lang="en-US" sz="900">
                        <a:latin typeface="Calibri" panose="020F0502020204030204" pitchFamily="34" charset="0"/>
                        <a:cs typeface="Calibri" panose="020F0502020204030204" pitchFamily="34" charset="0"/>
                      </a:rPr>
                      <a:t>NO</a:t>
                    </a:r>
                  </a:p>
                </p:txBody>
              </p:sp>
            </p:grpSp>
          </p:grpSp>
        </p:grpSp>
      </p:grpSp>
      <p:cxnSp>
        <p:nvCxnSpPr>
          <p:cNvPr id="82" name="Straight Arrow Connector 81">
            <a:extLst>
              <a:ext uri="{FF2B5EF4-FFF2-40B4-BE49-F238E27FC236}">
                <a16:creationId xmlns:a16="http://schemas.microsoft.com/office/drawing/2014/main" id="{EB181090-D20F-41F5-A018-1D9E6BFAC648}"/>
              </a:ext>
            </a:extLst>
          </p:cNvPr>
          <p:cNvCxnSpPr>
            <a:cxnSpLocks/>
            <a:stCxn id="54" idx="3"/>
            <a:endCxn id="81" idx="1"/>
          </p:cNvCxnSpPr>
          <p:nvPr/>
        </p:nvCxnSpPr>
        <p:spPr>
          <a:xfrm flipV="1">
            <a:off x="3483994" y="3554306"/>
            <a:ext cx="1412647"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D34CE595-AF19-49B6-957D-B5A906A5861E}"/>
              </a:ext>
            </a:extLst>
          </p:cNvPr>
          <p:cNvCxnSpPr>
            <a:stCxn id="52" idx="3"/>
          </p:cNvCxnSpPr>
          <p:nvPr/>
        </p:nvCxnSpPr>
        <p:spPr>
          <a:xfrm>
            <a:off x="3954167" y="2571011"/>
            <a:ext cx="942474" cy="753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5" name="Rectangle 134">
            <a:extLst>
              <a:ext uri="{FF2B5EF4-FFF2-40B4-BE49-F238E27FC236}">
                <a16:creationId xmlns:a16="http://schemas.microsoft.com/office/drawing/2014/main" id="{350E8B9E-9026-4771-B180-D68F832E410D}"/>
              </a:ext>
            </a:extLst>
          </p:cNvPr>
          <p:cNvSpPr/>
          <p:nvPr/>
        </p:nvSpPr>
        <p:spPr>
          <a:xfrm>
            <a:off x="6386009" y="1432009"/>
            <a:ext cx="2354819" cy="228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latin typeface="Calibri" panose="020F0502020204030204" pitchFamily="34" charset="0"/>
                <a:cs typeface="Calibri" panose="020F0502020204030204" pitchFamily="34" charset="0"/>
              </a:rPr>
              <a:t>Footnotes:</a:t>
            </a:r>
          </a:p>
          <a:p>
            <a:pPr lvl="0">
              <a:defRPr/>
            </a:pPr>
            <a:r>
              <a:rPr lang="en-US" sz="900" b="1" dirty="0">
                <a:solidFill>
                  <a:sysClr val="windowText" lastClr="000000"/>
                </a:solidFill>
                <a:latin typeface="Calibri" panose="020F0502020204030204" pitchFamily="34" charset="0"/>
                <a:cs typeface="Calibri" panose="020F0502020204030204" pitchFamily="34" charset="0"/>
              </a:rPr>
              <a:t>*</a:t>
            </a:r>
            <a:r>
              <a:rPr lang="en-US" sz="900" dirty="0">
                <a:solidFill>
                  <a:sysClr val="windowText" lastClr="000000"/>
                </a:solidFill>
                <a:latin typeface="Calibri" panose="020F0502020204030204" pitchFamily="34" charset="0"/>
                <a:cs typeface="Calibri" panose="020F0502020204030204" pitchFamily="34" charset="0"/>
              </a:rPr>
              <a:t> 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900" dirty="0" err="1">
                <a:solidFill>
                  <a:sysClr val="windowText" lastClr="000000"/>
                </a:solidFill>
                <a:latin typeface="Calibri" panose="020F0502020204030204" pitchFamily="34" charset="0"/>
                <a:cs typeface="Calibri" panose="020F0502020204030204" pitchFamily="34" charset="0"/>
              </a:rPr>
              <a:t>hrs</a:t>
            </a:r>
            <a:r>
              <a:rPr lang="en-US" sz="900" dirty="0">
                <a:solidFill>
                  <a:sysClr val="windowText" lastClr="000000"/>
                </a:solidFill>
                <a:latin typeface="Calibri" panose="020F0502020204030204" pitchFamily="34" charset="0"/>
                <a:cs typeface="Calibri" panose="020F0502020204030204" pitchFamily="34" charset="0"/>
              </a:rPr>
              <a:t> before to 48 </a:t>
            </a:r>
            <a:r>
              <a:rPr lang="en-US" sz="900" dirty="0" err="1">
                <a:solidFill>
                  <a:sysClr val="windowText" lastClr="000000"/>
                </a:solidFill>
                <a:latin typeface="Calibri" panose="020F0502020204030204" pitchFamily="34" charset="0"/>
                <a:cs typeface="Calibri" panose="020F0502020204030204" pitchFamily="34" charset="0"/>
              </a:rPr>
              <a:t>hrs</a:t>
            </a:r>
            <a:r>
              <a:rPr lang="en-US" sz="900" dirty="0">
                <a:solidFill>
                  <a:sysClr val="windowText" lastClr="000000"/>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a:p>
            <a:pPr lvl="0">
              <a:defRPr/>
            </a:pPr>
            <a:r>
              <a:rPr lang="en-US" sz="900" b="1" dirty="0">
                <a:solidFill>
                  <a:schemeClr val="tx1"/>
                </a:solidFill>
                <a:latin typeface="Calibri" panose="020F0502020204030204" pitchFamily="34" charset="0"/>
                <a:cs typeface="Calibri" panose="020F0502020204030204" pitchFamily="34" charset="0"/>
              </a:rPr>
              <a:t>† </a:t>
            </a:r>
            <a:r>
              <a:rPr lang="en-US" sz="900" dirty="0">
                <a:solidFill>
                  <a:sysClr val="windowText" lastClr="000000"/>
                </a:solidFill>
                <a:latin typeface="Calibri" panose="020F0502020204030204" pitchFamily="34" charset="0"/>
                <a:cs typeface="Calibri" panose="020F0502020204030204" pitchFamily="34" charset="0"/>
              </a:rPr>
              <a:t>HSV studies: CSF for HSV PCR, HSV PCR of serum and surface swabs: conjunctiva, NP, skin (vesicles if present), and rectal</a:t>
            </a:r>
          </a:p>
          <a:p>
            <a:endParaRPr lang="en-US" sz="900" dirty="0">
              <a:solidFill>
                <a:schemeClr val="tx1"/>
              </a:solidFill>
              <a:latin typeface="Calibri" panose="020F0502020204030204" pitchFamily="34" charset="0"/>
              <a:cs typeface="Calibri" panose="020F0502020204030204" pitchFamily="34" charset="0"/>
            </a:endParaRPr>
          </a:p>
          <a:p>
            <a:endParaRPr lang="en-US" sz="900" dirty="0">
              <a:solidFill>
                <a:schemeClr val="tx1"/>
              </a:solidFill>
              <a:latin typeface="Calibri" panose="020F0502020204030204" pitchFamily="34" charset="0"/>
              <a:cs typeface="Calibri" panose="020F0502020204030204" pitchFamily="34" charset="0"/>
            </a:endParaRPr>
          </a:p>
          <a:p>
            <a:endParaRPr lang="en-US" sz="900" dirty="0">
              <a:solidFill>
                <a:schemeClr val="tx1"/>
              </a:solidFill>
              <a:latin typeface="Calibri" panose="020F0502020204030204" pitchFamily="34" charset="0"/>
              <a:cs typeface="Calibri" panose="020F0502020204030204" pitchFamily="34" charset="0"/>
            </a:endParaRPr>
          </a:p>
          <a:p>
            <a:endParaRPr lang="en-US" sz="900" dirty="0">
              <a:solidFill>
                <a:schemeClr val="tx1"/>
              </a:solidFill>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6CA10EC0-A049-4449-85CA-94473B6D9447}"/>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47" name="Title 1">
            <a:extLst>
              <a:ext uri="{FF2B5EF4-FFF2-40B4-BE49-F238E27FC236}">
                <a16:creationId xmlns:a16="http://schemas.microsoft.com/office/drawing/2014/main" id="{BE938B57-CCF4-4577-8D56-78347DBA1EA0}"/>
              </a:ext>
            </a:extLst>
          </p:cNvPr>
          <p:cNvSpPr txBox="1">
            <a:spLocks/>
          </p:cNvSpPr>
          <p:nvPr/>
        </p:nvSpPr>
        <p:spPr bwMode="gray">
          <a:xfrm>
            <a:off x="46448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7-28 Days Old, High-Risk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2495688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448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7-28 Days Old, Ill-Appearing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64483" y="3621245"/>
            <a:ext cx="8226436" cy="163121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Admission</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 full septic work-up </a:t>
            </a:r>
          </a:p>
          <a:p>
            <a:pPr marL="685800" lvl="1" indent="-342900">
              <a:buFont typeface="Arial" panose="020B0604020202020204" pitchFamily="34" charset="0"/>
              <a:buChar char="•"/>
            </a:pPr>
            <a:r>
              <a:rPr lang="en-US" sz="2000" dirty="0">
                <a:solidFill>
                  <a:sysClr val="windowText" lastClr="000000"/>
                </a:solidFill>
                <a:latin typeface="Microsoft Tai Le" panose="020B0502040204020203" pitchFamily="34" charset="0"/>
                <a:cs typeface="Microsoft Tai Le" panose="020B0502040204020203" pitchFamily="34" charset="0"/>
              </a:rPr>
              <a:t>CBC, UA, CSF studies, and Blood, Urine, and CSF Cultures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Parenteral antibiotics</a:t>
            </a:r>
          </a:p>
        </p:txBody>
      </p:sp>
      <p:sp>
        <p:nvSpPr>
          <p:cNvPr id="3" name="TextBox 2">
            <a:extLst>
              <a:ext uri="{FF2B5EF4-FFF2-40B4-BE49-F238E27FC236}">
                <a16:creationId xmlns:a16="http://schemas.microsoft.com/office/drawing/2014/main" id="{A106BEA8-AA92-435C-AB17-884DDA437255}"/>
              </a:ext>
            </a:extLst>
          </p:cNvPr>
          <p:cNvSpPr txBox="1"/>
          <p:nvPr/>
        </p:nvSpPr>
        <p:spPr>
          <a:xfrm>
            <a:off x="456245" y="1319058"/>
            <a:ext cx="8226436" cy="2054409"/>
          </a:xfrm>
          <a:prstGeom prst="rect">
            <a:avLst/>
          </a:prstGeom>
          <a:noFill/>
        </p:spPr>
        <p:txBody>
          <a:bodyPr wrap="square" lIns="68580" tIns="34290" rIns="68580" bIns="34290" rtlCol="0" anchor="t">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Ill-appearing infants are very high risk</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and Roseville Protocol </a:t>
            </a:r>
            <a:r>
              <a:rPr lang="en-US" dirty="0">
                <a:solidFill>
                  <a:sysClr val="windowText" lastClr="000000"/>
                </a:solidFill>
                <a:latin typeface="Microsoft Tai Le" panose="020B0502040204020203" pitchFamily="34" charset="0"/>
                <a:cs typeface="Microsoft Tai Le" panose="020B0502040204020203" pitchFamily="34" charset="0"/>
              </a:rPr>
              <a:t>exclude ill-appearing infants because they are very high risk</a:t>
            </a:r>
          </a:p>
          <a:p>
            <a:pPr marL="342900" indent="-342900">
              <a:buFont typeface="Arial" panose="020B0604020202020204" pitchFamily="34" charset="0"/>
              <a:buChar char="•"/>
            </a:pPr>
            <a:r>
              <a:rPr lang="en-US" b="1" dirty="0">
                <a:latin typeface="Microsoft Tai Le"/>
                <a:cs typeface="Microsoft Tai Le"/>
              </a:rPr>
              <a:t>Data and analysis </a:t>
            </a:r>
            <a:r>
              <a:rPr lang="en-US" dirty="0">
                <a:latin typeface="Microsoft Tai Le"/>
                <a:cs typeface="Microsoft Tai Le"/>
              </a:rPr>
              <a:t>from KPNC febrile infants seen in the ED from 2010-2019 found that of those age 7-28 days with isolated ill-appearance:  </a:t>
            </a:r>
          </a:p>
          <a:p>
            <a:r>
              <a:rPr lang="en-US" sz="2100" i="1" dirty="0">
                <a:latin typeface="Microsoft Tai Le"/>
                <a:cs typeface="Microsoft Tai Le"/>
              </a:rPr>
              <a:t>					</a:t>
            </a:r>
            <a:r>
              <a:rPr lang="en-US" sz="1500" i="1" dirty="0">
                <a:latin typeface="Calibri"/>
                <a:cs typeface="Microsoft Tai Le"/>
              </a:rPr>
              <a:t>7/68 (10</a:t>
            </a:r>
            <a:r>
              <a:rPr lang="en-US" sz="1500" i="1" dirty="0">
                <a:cs typeface="Microsoft Tai Le"/>
              </a:rPr>
              <a:t>%) had bacteremia without meningitis </a:t>
            </a:r>
            <a:endParaRPr lang="en-US" sz="1500" i="1" dirty="0">
              <a:cs typeface="Microsoft Tai Le" panose="020B0502040204020203" pitchFamily="34" charset="0"/>
            </a:endParaRPr>
          </a:p>
          <a:p>
            <a:r>
              <a:rPr lang="en-US" sz="1500" i="1" dirty="0">
                <a:cs typeface="Microsoft Tai Le"/>
              </a:rPr>
              <a:t>  					3/68 (4%) had meningitis</a:t>
            </a:r>
          </a:p>
        </p:txBody>
      </p:sp>
      <p:sp>
        <p:nvSpPr>
          <p:cNvPr id="10" name="TextBox 9">
            <a:extLst>
              <a:ext uri="{FF2B5EF4-FFF2-40B4-BE49-F238E27FC236}">
                <a16:creationId xmlns:a16="http://schemas.microsoft.com/office/drawing/2014/main" id="{6B10A583-D80B-4D1A-A44F-5C69D6EDC85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70053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3087" y="1334288"/>
            <a:ext cx="2743200" cy="4754880"/>
            <a:chOff x="4137004" y="1454327"/>
            <a:chExt cx="3629804" cy="2124983"/>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54327"/>
              <a:ext cx="3629803" cy="2124983"/>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younger than &lt; 14 days of age whose perinatal courses were complicated by maternal fever, infection, and/or antimicrobial use (excluding surgical prophylaxis or to treat GBS colonization).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Febrile infants with high suspicion HSV infection (e.g., vesicles, seizures) and increased HSV risk*</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225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9977" y="1334288"/>
            <a:ext cx="2468880" cy="914400"/>
            <a:chOff x="5092117" y="1866033"/>
            <a:chExt cx="2575421" cy="1577625"/>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5"/>
              <a:ext cx="2575421" cy="1497413"/>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7-21 days, well-appearing, temp ≥ 38C, with clinical bronchiolitis, with or without a positive test for RSV</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866033"/>
              <a:ext cx="2575421" cy="473288"/>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49" y="1334288"/>
            <a:ext cx="2468880" cy="3108961"/>
            <a:chOff x="4137004" y="1454327"/>
            <a:chExt cx="3629804" cy="1193262"/>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7"/>
              <a:ext cx="3629803" cy="119326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 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before to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a:p>
              <a:pPr lvl="0">
                <a:defRPr/>
              </a:pPr>
              <a:r>
                <a:rPr lang="en-US" sz="1100" dirty="0">
                  <a:solidFill>
                    <a:schemeClr val="tx1"/>
                  </a:solidFill>
                  <a:latin typeface="Calibri" panose="020F0502020204030204" pitchFamily="34" charset="0"/>
                  <a:cs typeface="Calibri" panose="020F0502020204030204" pitchFamily="34" charset="0"/>
                </a:rPr>
                <a:t>†</a:t>
              </a:r>
              <a:r>
                <a:rPr lang="en-US" sz="1100" b="1"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Bacterial meningitis is extremely rare in RSV + clinical bronchiolitis</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3" cy="105288"/>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9977" y="2494837"/>
            <a:ext cx="2468880" cy="3474721"/>
            <a:chOff x="4137004" y="1454327"/>
            <a:chExt cx="3629804" cy="1462024"/>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5" y="1454327"/>
              <a:ext cx="3629803" cy="146202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ALT: alanine transaminase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Abnl</a:t>
              </a:r>
              <a:r>
                <a:rPr lang="en-US" sz="1100" dirty="0">
                  <a:solidFill>
                    <a:sysClr val="windowText" lastClr="000000"/>
                  </a:solidFill>
                  <a:latin typeface="Calibri" panose="020F0502020204030204" pitchFamily="34" charset="0"/>
                  <a:cs typeface="Calibri" panose="020F0502020204030204" pitchFamily="34" charset="0"/>
                </a:rPr>
                <a:t>: abnormal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Abx: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GBS: Group B streptococcus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WBC: white blood cell</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4327"/>
              <a:ext cx="3629802" cy="115423"/>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Abbreviations</a:t>
              </a:r>
            </a:p>
          </p:txBody>
        </p:sp>
      </p:grpSp>
      <p:sp>
        <p:nvSpPr>
          <p:cNvPr id="23" name="TextBox 22">
            <a:extLst>
              <a:ext uri="{FF2B5EF4-FFF2-40B4-BE49-F238E27FC236}">
                <a16:creationId xmlns:a16="http://schemas.microsoft.com/office/drawing/2014/main" id="{748AC017-A084-4AA4-94DF-8C29D0998FD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6" name="Title 1">
            <a:extLst>
              <a:ext uri="{FF2B5EF4-FFF2-40B4-BE49-F238E27FC236}">
                <a16:creationId xmlns:a16="http://schemas.microsoft.com/office/drawing/2014/main" id="{6BF75E79-4D24-4790-B811-B65CDCAA8533}"/>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7-21 Days Old,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Bronchiolitis</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1862323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253099" y="1243660"/>
            <a:ext cx="8283494" cy="4837668"/>
            <a:chOff x="-7001131" y="1042479"/>
            <a:chExt cx="19634951" cy="11467063"/>
          </a:xfrm>
        </p:grpSpPr>
        <p:sp>
          <p:nvSpPr>
            <p:cNvPr id="16" name="Rectangle 15">
              <a:extLst>
                <a:ext uri="{FF2B5EF4-FFF2-40B4-BE49-F238E27FC236}">
                  <a16:creationId xmlns:a16="http://schemas.microsoft.com/office/drawing/2014/main" id="{14C815F4-3E4B-4657-8DD6-3BDF96293D0A}"/>
                </a:ext>
              </a:extLst>
            </p:cNvPr>
            <p:cNvSpPr/>
            <p:nvPr/>
          </p:nvSpPr>
          <p:spPr>
            <a:xfrm>
              <a:off x="1923997" y="1042479"/>
              <a:ext cx="4616560" cy="803152"/>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endParaRPr>
            </a:p>
            <a:p>
              <a:r>
                <a:rPr lang="en-US" sz="900" dirty="0">
                  <a:solidFill>
                    <a:schemeClr val="tx1"/>
                  </a:solidFill>
                </a:rPr>
                <a:t>Perform UA, UCx, CBC w/diff, blood </a:t>
              </a:r>
              <a:r>
                <a:rPr lang="en-US" sz="900" dirty="0" err="1">
                  <a:solidFill>
                    <a:schemeClr val="tx1"/>
                  </a:solidFill>
                </a:rPr>
                <a:t>Cx</a:t>
              </a:r>
              <a:endParaRPr lang="en-US" sz="900" dirty="0">
                <a:solidFill>
                  <a:schemeClr val="tx1"/>
                </a:solidFill>
              </a:endParaRPr>
            </a:p>
            <a:p>
              <a:endParaRPr lang="en-US" sz="900" dirty="0">
                <a:solidFill>
                  <a:schemeClr val="tx1"/>
                </a:solidFill>
              </a:endParaRPr>
            </a:p>
          </p:txBody>
        </p:sp>
        <p:sp>
          <p:nvSpPr>
            <p:cNvPr id="17" name="Diamond 16">
              <a:extLst>
                <a:ext uri="{FF2B5EF4-FFF2-40B4-BE49-F238E27FC236}">
                  <a16:creationId xmlns:a16="http://schemas.microsoft.com/office/drawing/2014/main" id="{1B3D07EF-FCBC-42E1-8E98-7DB1DE37CD41}"/>
                </a:ext>
              </a:extLst>
            </p:cNvPr>
            <p:cNvSpPr/>
            <p:nvPr/>
          </p:nvSpPr>
          <p:spPr>
            <a:xfrm>
              <a:off x="1198075" y="3863538"/>
              <a:ext cx="6084166" cy="160605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ysClr val="windowText" lastClr="000000"/>
                  </a:solidFill>
                </a:rPr>
                <a:t>UA+, WBC &lt; 5K or </a:t>
              </a:r>
            </a:p>
            <a:p>
              <a:pPr algn="ctr"/>
              <a:r>
                <a:rPr lang="en-US" sz="900" dirty="0">
                  <a:solidFill>
                    <a:sysClr val="windowText" lastClr="000000"/>
                  </a:solidFill>
                </a:rPr>
                <a:t>&gt; 15K, bands &gt; 1.5K</a:t>
              </a:r>
            </a:p>
            <a:p>
              <a:pPr algn="ctr"/>
              <a:r>
                <a:rPr lang="en-US" sz="900" dirty="0">
                  <a:solidFill>
                    <a:sysClr val="windowText" lastClr="000000"/>
                  </a:solidFill>
                </a:rPr>
                <a:t> or temp &gt; 38.5C</a:t>
              </a:r>
            </a:p>
          </p:txBody>
        </p:sp>
        <p:sp>
          <p:nvSpPr>
            <p:cNvPr id="23" name="Rectangle 22">
              <a:extLst>
                <a:ext uri="{FF2B5EF4-FFF2-40B4-BE49-F238E27FC236}">
                  <a16:creationId xmlns:a16="http://schemas.microsoft.com/office/drawing/2014/main" id="{A4920ECB-767F-4366-ABC7-08FB3EE731CD}"/>
                </a:ext>
              </a:extLst>
            </p:cNvPr>
            <p:cNvSpPr/>
            <p:nvPr/>
          </p:nvSpPr>
          <p:spPr>
            <a:xfrm>
              <a:off x="-6533117" y="4333259"/>
              <a:ext cx="1848722" cy="77233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May perform LP</a:t>
              </a:r>
              <a:r>
                <a:rPr lang="en-US" sz="900" b="1" dirty="0">
                  <a:solidFill>
                    <a:schemeClr val="tx1"/>
                  </a:solidFill>
                </a:rPr>
                <a:t> ‡</a:t>
              </a:r>
            </a:p>
          </p:txBody>
        </p:sp>
        <p:sp>
          <p:nvSpPr>
            <p:cNvPr id="28" name="Rectangle 27">
              <a:extLst>
                <a:ext uri="{FF2B5EF4-FFF2-40B4-BE49-F238E27FC236}">
                  <a16:creationId xmlns:a16="http://schemas.microsoft.com/office/drawing/2014/main" id="{7D944722-CFD4-41F1-850D-378C92D1900A}"/>
                </a:ext>
              </a:extLst>
            </p:cNvPr>
            <p:cNvSpPr/>
            <p:nvPr/>
          </p:nvSpPr>
          <p:spPr>
            <a:xfrm>
              <a:off x="2718912" y="6069564"/>
              <a:ext cx="3052598" cy="90668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Need not perform LP</a:t>
              </a:r>
            </a:p>
            <a:p>
              <a:pPr marL="171450" indent="-171450">
                <a:buFont typeface="+mj-lt"/>
                <a:buAutoNum type="arabicPeriod"/>
              </a:pPr>
              <a:r>
                <a:rPr lang="en-US" sz="900" dirty="0">
                  <a:solidFill>
                    <a:schemeClr val="tx1"/>
                  </a:solidFill>
                </a:rPr>
                <a:t>Need not begin </a:t>
              </a:r>
              <a:r>
                <a:rPr lang="en-US" sz="900" dirty="0" err="1">
                  <a:solidFill>
                    <a:schemeClr val="tx1"/>
                  </a:solidFill>
                </a:rPr>
                <a:t>Pabx</a:t>
              </a:r>
              <a:endParaRPr lang="en-US" sz="900" dirty="0">
                <a:solidFill>
                  <a:schemeClr val="tx1"/>
                </a:solidFill>
              </a:endParaRPr>
            </a:p>
          </p:txBody>
        </p:sp>
        <p:sp>
          <p:nvSpPr>
            <p:cNvPr id="30" name="Rectangle 29">
              <a:extLst>
                <a:ext uri="{FF2B5EF4-FFF2-40B4-BE49-F238E27FC236}">
                  <a16:creationId xmlns:a16="http://schemas.microsoft.com/office/drawing/2014/main" id="{2B1CBB63-E0B8-436A-9865-F1AFE38DEE57}"/>
                </a:ext>
              </a:extLst>
            </p:cNvPr>
            <p:cNvSpPr/>
            <p:nvPr/>
          </p:nvSpPr>
          <p:spPr>
            <a:xfrm>
              <a:off x="-7001131" y="10359055"/>
              <a:ext cx="2759931" cy="66805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May withhold </a:t>
              </a:r>
              <a:r>
                <a:rPr lang="en-US" sz="900" err="1">
                  <a:solidFill>
                    <a:schemeClr val="tx1"/>
                  </a:solidFill>
                </a:rPr>
                <a:t>Pabx</a:t>
              </a:r>
              <a:endParaRPr lang="en-US" sz="900">
                <a:solidFill>
                  <a:schemeClr val="tx1"/>
                </a:solidFill>
              </a:endParaRPr>
            </a:p>
          </p:txBody>
        </p:sp>
        <p:sp>
          <p:nvSpPr>
            <p:cNvPr id="33" name="Rectangle 32">
              <a:extLst>
                <a:ext uri="{FF2B5EF4-FFF2-40B4-BE49-F238E27FC236}">
                  <a16:creationId xmlns:a16="http://schemas.microsoft.com/office/drawing/2014/main" id="{8BC7738E-2020-44FF-ACEA-1060D8515E86}"/>
                </a:ext>
              </a:extLst>
            </p:cNvPr>
            <p:cNvSpPr/>
            <p:nvPr/>
          </p:nvSpPr>
          <p:spPr>
            <a:xfrm>
              <a:off x="2681135" y="9598938"/>
              <a:ext cx="1565565" cy="67540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ADMIT</a:t>
              </a:r>
            </a:p>
          </p:txBody>
        </p:sp>
        <p:sp>
          <p:nvSpPr>
            <p:cNvPr id="36" name="Diamond 35">
              <a:extLst>
                <a:ext uri="{FF2B5EF4-FFF2-40B4-BE49-F238E27FC236}">
                  <a16:creationId xmlns:a16="http://schemas.microsoft.com/office/drawing/2014/main" id="{74EE7E50-2129-46CB-A048-8AFABA71449A}"/>
                </a:ext>
              </a:extLst>
            </p:cNvPr>
            <p:cNvSpPr/>
            <p:nvPr/>
          </p:nvSpPr>
          <p:spPr>
            <a:xfrm>
              <a:off x="5069514" y="9133612"/>
              <a:ext cx="4473213" cy="160605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Pathogen or Source identified</a:t>
              </a:r>
            </a:p>
          </p:txBody>
        </p:sp>
        <p:sp>
          <p:nvSpPr>
            <p:cNvPr id="38" name="Rectangle 37">
              <a:extLst>
                <a:ext uri="{FF2B5EF4-FFF2-40B4-BE49-F238E27FC236}">
                  <a16:creationId xmlns:a16="http://schemas.microsoft.com/office/drawing/2014/main" id="{69007924-3AB5-44F1-A207-AE39F6A7ED9C}"/>
                </a:ext>
              </a:extLst>
            </p:cNvPr>
            <p:cNvSpPr/>
            <p:nvPr/>
          </p:nvSpPr>
          <p:spPr>
            <a:xfrm>
              <a:off x="11068255" y="9499343"/>
              <a:ext cx="1565565" cy="86508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41" name="Rectangle 40">
              <a:extLst>
                <a:ext uri="{FF2B5EF4-FFF2-40B4-BE49-F238E27FC236}">
                  <a16:creationId xmlns:a16="http://schemas.microsoft.com/office/drawing/2014/main" id="{E73D0D02-152E-4442-A4E8-890DF8E6A7B1}"/>
                </a:ext>
              </a:extLst>
            </p:cNvPr>
            <p:cNvSpPr/>
            <p:nvPr/>
          </p:nvSpPr>
          <p:spPr>
            <a:xfrm>
              <a:off x="3618082" y="11122733"/>
              <a:ext cx="7376075" cy="1386809"/>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a:solidFill>
                    <a:schemeClr val="tx1"/>
                  </a:solidFill>
                </a:rPr>
                <a:t>Discontinue antimicrobial(s) and may discharge hospitalized infant if all </a:t>
              </a:r>
              <a:r>
                <a:rPr lang="en-US" sz="900" err="1">
                  <a:solidFill>
                    <a:schemeClr val="tx1"/>
                  </a:solidFill>
                </a:rPr>
                <a:t>Cx</a:t>
              </a:r>
              <a:r>
                <a:rPr lang="en-US" sz="900">
                  <a:solidFill>
                    <a:schemeClr val="tx1"/>
                  </a:solidFill>
                </a:rPr>
                <a:t>- at 24-36 </a:t>
              </a:r>
              <a:r>
                <a:rPr lang="en-US" sz="900" err="1">
                  <a:solidFill>
                    <a:schemeClr val="tx1"/>
                  </a:solidFill>
                </a:rPr>
                <a:t>hrs</a:t>
              </a:r>
              <a:r>
                <a:rPr lang="en-US" sz="900">
                  <a:solidFill>
                    <a:schemeClr val="tx1"/>
                  </a:solidFill>
                </a:rPr>
                <a:t> and HSV PCR- (if sent). </a:t>
              </a:r>
            </a:p>
            <a:p>
              <a:pPr marL="144661" indent="-144661">
                <a:buFont typeface="+mj-lt"/>
                <a:buAutoNum type="arabicPeriod"/>
              </a:pPr>
              <a:r>
                <a:rPr lang="en-US" sz="900">
                  <a:solidFill>
                    <a:schemeClr val="tx1"/>
                  </a:solidFill>
                </a:rPr>
                <a:t>Follow for duration of illness</a:t>
              </a:r>
              <a:endParaRPr lang="en-US">
                <a:solidFill>
                  <a:schemeClr val="tx1"/>
                </a:solidFill>
              </a:endParaRPr>
            </a:p>
          </p:txBody>
        </p:sp>
      </p:grpSp>
      <p:sp>
        <p:nvSpPr>
          <p:cNvPr id="44" name="TextBox 43">
            <a:extLst>
              <a:ext uri="{FF2B5EF4-FFF2-40B4-BE49-F238E27FC236}">
                <a16:creationId xmlns:a16="http://schemas.microsoft.com/office/drawing/2014/main" id="{9A476156-6352-4FC6-9D8D-7EB9DAF3A14F}"/>
              </a:ext>
            </a:extLst>
          </p:cNvPr>
          <p:cNvSpPr txBox="1"/>
          <p:nvPr/>
        </p:nvSpPr>
        <p:spPr>
          <a:xfrm>
            <a:off x="5017794" y="2111960"/>
            <a:ext cx="327334" cy="230832"/>
          </a:xfrm>
          <a:prstGeom prst="rect">
            <a:avLst/>
          </a:prstGeom>
          <a:noFill/>
        </p:spPr>
        <p:txBody>
          <a:bodyPr wrap="none" rtlCol="0">
            <a:spAutoFit/>
          </a:bodyPr>
          <a:lstStyle/>
          <a:p>
            <a:r>
              <a:rPr lang="en-US" sz="900"/>
              <a:t>NO</a:t>
            </a:r>
          </a:p>
        </p:txBody>
      </p:sp>
      <p:sp>
        <p:nvSpPr>
          <p:cNvPr id="47" name="TextBox 46">
            <a:extLst>
              <a:ext uri="{FF2B5EF4-FFF2-40B4-BE49-F238E27FC236}">
                <a16:creationId xmlns:a16="http://schemas.microsoft.com/office/drawing/2014/main" id="{1C9560ED-7208-4CDD-8F10-43522EB012DE}"/>
              </a:ext>
            </a:extLst>
          </p:cNvPr>
          <p:cNvSpPr txBox="1"/>
          <p:nvPr/>
        </p:nvSpPr>
        <p:spPr>
          <a:xfrm>
            <a:off x="6415063" y="5288519"/>
            <a:ext cx="327334" cy="230832"/>
          </a:xfrm>
          <a:prstGeom prst="rect">
            <a:avLst/>
          </a:prstGeom>
          <a:noFill/>
        </p:spPr>
        <p:txBody>
          <a:bodyPr wrap="none" rtlCol="0">
            <a:spAutoFit/>
          </a:bodyPr>
          <a:lstStyle/>
          <a:p>
            <a:r>
              <a:rPr lang="en-US" sz="900"/>
              <a:t>NO</a:t>
            </a:r>
          </a:p>
        </p:txBody>
      </p:sp>
      <p:sp>
        <p:nvSpPr>
          <p:cNvPr id="51" name="TextBox 50">
            <a:extLst>
              <a:ext uri="{FF2B5EF4-FFF2-40B4-BE49-F238E27FC236}">
                <a16:creationId xmlns:a16="http://schemas.microsoft.com/office/drawing/2014/main" id="{CE031C9F-1D35-463E-B4AD-E921DED2E8B0}"/>
              </a:ext>
            </a:extLst>
          </p:cNvPr>
          <p:cNvSpPr txBox="1"/>
          <p:nvPr/>
        </p:nvSpPr>
        <p:spPr>
          <a:xfrm>
            <a:off x="3339690" y="2565509"/>
            <a:ext cx="369119" cy="230832"/>
          </a:xfrm>
          <a:prstGeom prst="rect">
            <a:avLst/>
          </a:prstGeom>
          <a:noFill/>
        </p:spPr>
        <p:txBody>
          <a:bodyPr wrap="square" rtlCol="0">
            <a:spAutoFit/>
          </a:bodyPr>
          <a:lstStyle/>
          <a:p>
            <a:r>
              <a:rPr lang="en-US" sz="900"/>
              <a:t>YES</a:t>
            </a:r>
          </a:p>
        </p:txBody>
      </p:sp>
      <p:sp>
        <p:nvSpPr>
          <p:cNvPr id="52" name="Rectangle 51">
            <a:extLst>
              <a:ext uri="{FF2B5EF4-FFF2-40B4-BE49-F238E27FC236}">
                <a16:creationId xmlns:a16="http://schemas.microsoft.com/office/drawing/2014/main" id="{CE8258BA-F771-47F0-A445-4948F10644D6}"/>
              </a:ext>
            </a:extLst>
          </p:cNvPr>
          <p:cNvSpPr/>
          <p:nvPr/>
        </p:nvSpPr>
        <p:spPr>
          <a:xfrm>
            <a:off x="2334237" y="2112959"/>
            <a:ext cx="1295975" cy="32923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ysClr val="windowText" lastClr="000000"/>
              </a:solidFill>
            </a:endParaRPr>
          </a:p>
          <a:p>
            <a:pPr algn="ctr"/>
            <a:r>
              <a:rPr lang="en-US" sz="900" dirty="0">
                <a:solidFill>
                  <a:sysClr val="windowText" lastClr="000000"/>
                </a:solidFill>
              </a:rPr>
              <a:t>Confirm urine sent by bladder </a:t>
            </a:r>
            <a:r>
              <a:rPr lang="en-US" sz="900" dirty="0" err="1">
                <a:solidFill>
                  <a:sysClr val="windowText" lastClr="000000"/>
                </a:solidFill>
              </a:rPr>
              <a:t>cath</a:t>
            </a:r>
            <a:endParaRPr lang="en-US" sz="900" dirty="0">
              <a:solidFill>
                <a:sysClr val="windowText" lastClr="000000"/>
              </a:solidFill>
            </a:endParaRPr>
          </a:p>
          <a:p>
            <a:pPr algn="ctr"/>
            <a:endParaRPr lang="en-US" sz="900" dirty="0">
              <a:solidFill>
                <a:sysClr val="windowText" lastClr="000000"/>
              </a:solidFill>
            </a:endParaRPr>
          </a:p>
        </p:txBody>
      </p:sp>
      <p:sp>
        <p:nvSpPr>
          <p:cNvPr id="53" name="Diamond 52">
            <a:extLst>
              <a:ext uri="{FF2B5EF4-FFF2-40B4-BE49-F238E27FC236}">
                <a16:creationId xmlns:a16="http://schemas.microsoft.com/office/drawing/2014/main" id="{75D858EC-E7A1-4D55-83BA-E1EA9D296B37}"/>
              </a:ext>
            </a:extLst>
          </p:cNvPr>
          <p:cNvSpPr/>
          <p:nvPr/>
        </p:nvSpPr>
        <p:spPr>
          <a:xfrm>
            <a:off x="4549338" y="1768172"/>
            <a:ext cx="885708" cy="33744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 </a:t>
            </a:r>
          </a:p>
        </p:txBody>
      </p:sp>
      <p:sp>
        <p:nvSpPr>
          <p:cNvPr id="66" name="TextBox 65">
            <a:extLst>
              <a:ext uri="{FF2B5EF4-FFF2-40B4-BE49-F238E27FC236}">
                <a16:creationId xmlns:a16="http://schemas.microsoft.com/office/drawing/2014/main" id="{82373C07-6CCF-49B3-B4C4-2647914EC9CD}"/>
              </a:ext>
            </a:extLst>
          </p:cNvPr>
          <p:cNvSpPr txBox="1"/>
          <p:nvPr/>
        </p:nvSpPr>
        <p:spPr>
          <a:xfrm>
            <a:off x="4227380" y="1713162"/>
            <a:ext cx="399308" cy="230832"/>
          </a:xfrm>
          <a:prstGeom prst="rect">
            <a:avLst/>
          </a:prstGeom>
          <a:noFill/>
        </p:spPr>
        <p:txBody>
          <a:bodyPr wrap="square" rtlCol="0">
            <a:spAutoFit/>
          </a:bodyPr>
          <a:lstStyle/>
          <a:p>
            <a:r>
              <a:rPr lang="en-US" sz="900"/>
              <a:t>YES</a:t>
            </a: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2982226" y="1936891"/>
            <a:ext cx="1567113" cy="176067"/>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E9189A7-FDF1-42BC-8BF0-698D2793D151}"/>
              </a:ext>
            </a:extLst>
          </p:cNvPr>
          <p:cNvSpPr txBox="1"/>
          <p:nvPr/>
        </p:nvSpPr>
        <p:spPr>
          <a:xfrm>
            <a:off x="5028229" y="3098348"/>
            <a:ext cx="327334" cy="230832"/>
          </a:xfrm>
          <a:prstGeom prst="rect">
            <a:avLst/>
          </a:prstGeom>
          <a:noFill/>
        </p:spPr>
        <p:txBody>
          <a:bodyPr wrap="none" rtlCol="0">
            <a:spAutoFit/>
          </a:bodyPr>
          <a:lstStyle/>
          <a:p>
            <a:r>
              <a:rPr lang="en-US" sz="900"/>
              <a:t>NO</a:t>
            </a:r>
          </a:p>
        </p:txBody>
      </p:sp>
      <p:cxnSp>
        <p:nvCxnSpPr>
          <p:cNvPr id="87" name="Straight Arrow Connector 86">
            <a:extLst>
              <a:ext uri="{FF2B5EF4-FFF2-40B4-BE49-F238E27FC236}">
                <a16:creationId xmlns:a16="http://schemas.microsoft.com/office/drawing/2014/main" id="{8400ED04-C1BE-414C-AF94-CD1ACB12531B}"/>
              </a:ext>
            </a:extLst>
          </p:cNvPr>
          <p:cNvCxnSpPr>
            <a:cxnSpLocks/>
          </p:cNvCxnSpPr>
          <p:nvPr/>
        </p:nvCxnSpPr>
        <p:spPr>
          <a:xfrm flipH="1">
            <a:off x="1230089" y="2772572"/>
            <a:ext cx="2509143" cy="2192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79EE3FAF-601F-428D-B0B5-07CB81A7FF39}"/>
              </a:ext>
            </a:extLst>
          </p:cNvPr>
          <p:cNvCxnSpPr>
            <a:cxnSpLocks/>
            <a:stCxn id="23" idx="2"/>
            <a:endCxn id="98" idx="0"/>
          </p:cNvCxnSpPr>
          <p:nvPr/>
        </p:nvCxnSpPr>
        <p:spPr>
          <a:xfrm flipH="1">
            <a:off x="839675" y="2957788"/>
            <a:ext cx="832" cy="19964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8" name="Diamond 97">
            <a:extLst>
              <a:ext uri="{FF2B5EF4-FFF2-40B4-BE49-F238E27FC236}">
                <a16:creationId xmlns:a16="http://schemas.microsoft.com/office/drawing/2014/main" id="{38C392DD-B373-4258-BA89-18A07A791667}"/>
              </a:ext>
            </a:extLst>
          </p:cNvPr>
          <p:cNvSpPr/>
          <p:nvPr/>
        </p:nvSpPr>
        <p:spPr>
          <a:xfrm>
            <a:off x="246732" y="3157432"/>
            <a:ext cx="1185886" cy="457966"/>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obtained</a:t>
            </a:r>
          </a:p>
        </p:txBody>
      </p:sp>
      <p:sp>
        <p:nvSpPr>
          <p:cNvPr id="99" name="Diamond 98">
            <a:extLst>
              <a:ext uri="{FF2B5EF4-FFF2-40B4-BE49-F238E27FC236}">
                <a16:creationId xmlns:a16="http://schemas.microsoft.com/office/drawing/2014/main" id="{89855E73-75AC-4767-9298-CBC80E6832DA}"/>
              </a:ext>
            </a:extLst>
          </p:cNvPr>
          <p:cNvSpPr/>
          <p:nvPr/>
        </p:nvSpPr>
        <p:spPr>
          <a:xfrm>
            <a:off x="1701057" y="3049424"/>
            <a:ext cx="1598126" cy="68396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pleocytosis or traumatic</a:t>
            </a:r>
          </a:p>
        </p:txBody>
      </p:sp>
      <p:cxnSp>
        <p:nvCxnSpPr>
          <p:cNvPr id="113" name="Straight Arrow Connector 112">
            <a:extLst>
              <a:ext uri="{FF2B5EF4-FFF2-40B4-BE49-F238E27FC236}">
                <a16:creationId xmlns:a16="http://schemas.microsoft.com/office/drawing/2014/main" id="{39F09D3C-E8EE-414D-9DA5-0BF70A44E1AF}"/>
              </a:ext>
            </a:extLst>
          </p:cNvPr>
          <p:cNvCxnSpPr>
            <a:cxnSpLocks/>
            <a:stCxn id="98" idx="2"/>
            <a:endCxn id="65" idx="0"/>
          </p:cNvCxnSpPr>
          <p:nvPr/>
        </p:nvCxnSpPr>
        <p:spPr>
          <a:xfrm flipH="1">
            <a:off x="835272" y="3615398"/>
            <a:ext cx="4403" cy="46177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6A61103A-7E35-4DD0-B5E9-44B13DA5E537}"/>
              </a:ext>
            </a:extLst>
          </p:cNvPr>
          <p:cNvSpPr/>
          <p:nvPr/>
        </p:nvSpPr>
        <p:spPr>
          <a:xfrm>
            <a:off x="2918976" y="3720542"/>
            <a:ext cx="1143433" cy="853599"/>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chemeClr val="tx1"/>
                </a:solidFill>
              </a:rPr>
              <a:t>Administer </a:t>
            </a:r>
            <a:r>
              <a:rPr lang="en-US" sz="900" err="1">
                <a:solidFill>
                  <a:schemeClr val="tx1"/>
                </a:solidFill>
              </a:rPr>
              <a:t>Pabx</a:t>
            </a:r>
            <a:endParaRPr lang="en-US" sz="900">
              <a:solidFill>
                <a:schemeClr val="tx1"/>
              </a:solidFill>
            </a:endParaRPr>
          </a:p>
          <a:p>
            <a:pPr marL="171450" indent="-171450">
              <a:buFont typeface="+mj-lt"/>
              <a:buAutoNum type="arabicPeriod"/>
            </a:pPr>
            <a:r>
              <a:rPr lang="en-US" sz="900">
                <a:solidFill>
                  <a:schemeClr val="tx1"/>
                </a:solidFill>
              </a:rPr>
              <a:t>If CSF pleocytosis, then assess for cause and consider acyclovir</a:t>
            </a:r>
          </a:p>
        </p:txBody>
      </p:sp>
      <p:cxnSp>
        <p:nvCxnSpPr>
          <p:cNvPr id="77" name="Straight Arrow Connector 76">
            <a:extLst>
              <a:ext uri="{FF2B5EF4-FFF2-40B4-BE49-F238E27FC236}">
                <a16:creationId xmlns:a16="http://schemas.microsoft.com/office/drawing/2014/main" id="{F038CE39-B230-4638-BDC3-A7D05DBF00A5}"/>
              </a:ext>
            </a:extLst>
          </p:cNvPr>
          <p:cNvCxnSpPr>
            <a:cxnSpLocks/>
            <a:stCxn id="36" idx="2"/>
            <a:endCxn id="41" idx="0"/>
          </p:cNvCxnSpPr>
          <p:nvPr/>
        </p:nvCxnSpPr>
        <p:spPr>
          <a:xfrm>
            <a:off x="6288969" y="5334662"/>
            <a:ext cx="0" cy="16160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6682A6C-F095-4A60-8C08-A9E8A754B58B}"/>
              </a:ext>
            </a:extLst>
          </p:cNvPr>
          <p:cNvCxnSpPr>
            <a:cxnSpLocks/>
            <a:endCxn id="53" idx="0"/>
          </p:cNvCxnSpPr>
          <p:nvPr/>
        </p:nvCxnSpPr>
        <p:spPr>
          <a:xfrm flipH="1">
            <a:off x="4992192" y="1596826"/>
            <a:ext cx="1" cy="17134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ACFF553-329C-45C1-A288-B71BF0FF4E46}"/>
              </a:ext>
            </a:extLst>
          </p:cNvPr>
          <p:cNvCxnSpPr>
            <a:cxnSpLocks/>
            <a:stCxn id="53" idx="2"/>
          </p:cNvCxnSpPr>
          <p:nvPr/>
        </p:nvCxnSpPr>
        <p:spPr>
          <a:xfrm>
            <a:off x="4992192" y="2105612"/>
            <a:ext cx="0" cy="3198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625411C5-D5D7-4F59-B9EF-00A4CE9E0100}"/>
              </a:ext>
            </a:extLst>
          </p:cNvPr>
          <p:cNvSpPr txBox="1"/>
          <p:nvPr/>
        </p:nvSpPr>
        <p:spPr>
          <a:xfrm>
            <a:off x="7289582" y="4784223"/>
            <a:ext cx="372218" cy="230832"/>
          </a:xfrm>
          <a:prstGeom prst="rect">
            <a:avLst/>
          </a:prstGeom>
          <a:noFill/>
        </p:spPr>
        <p:txBody>
          <a:bodyPr wrap="none" rtlCol="0">
            <a:spAutoFit/>
          </a:bodyPr>
          <a:lstStyle/>
          <a:p>
            <a:r>
              <a:rPr lang="en-US" sz="900"/>
              <a:t>YES</a:t>
            </a:r>
          </a:p>
        </p:txBody>
      </p:sp>
      <p:cxnSp>
        <p:nvCxnSpPr>
          <p:cNvPr id="148" name="Straight Arrow Connector 147">
            <a:extLst>
              <a:ext uri="{FF2B5EF4-FFF2-40B4-BE49-F238E27FC236}">
                <a16:creationId xmlns:a16="http://schemas.microsoft.com/office/drawing/2014/main" id="{F01C68BF-0349-4683-8286-7C0B8E1BC5F3}"/>
              </a:ext>
            </a:extLst>
          </p:cNvPr>
          <p:cNvCxnSpPr>
            <a:cxnSpLocks/>
            <a:stCxn id="17" idx="2"/>
            <a:endCxn id="28" idx="0"/>
          </p:cNvCxnSpPr>
          <p:nvPr/>
        </p:nvCxnSpPr>
        <p:spPr>
          <a:xfrm>
            <a:off x="4995517" y="3111350"/>
            <a:ext cx="2132" cy="25311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9449D198-20DC-40B0-A286-712E22D6E6D3}"/>
              </a:ext>
            </a:extLst>
          </p:cNvPr>
          <p:cNvCxnSpPr>
            <a:cxnSpLocks/>
            <a:stCxn id="33" idx="3"/>
            <a:endCxn id="36" idx="1"/>
          </p:cNvCxnSpPr>
          <p:nvPr/>
        </p:nvCxnSpPr>
        <p:spPr>
          <a:xfrm>
            <a:off x="4998276" y="4995885"/>
            <a:ext cx="347125"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E1C1AE-A3A2-423E-B207-E871AEC0591F}"/>
              </a:ext>
            </a:extLst>
          </p:cNvPr>
          <p:cNvCxnSpPr>
            <a:cxnSpLocks/>
            <a:stCxn id="36" idx="3"/>
            <a:endCxn id="38" idx="1"/>
          </p:cNvCxnSpPr>
          <p:nvPr/>
        </p:nvCxnSpPr>
        <p:spPr>
          <a:xfrm flipV="1">
            <a:off x="7232537" y="4993879"/>
            <a:ext cx="643583" cy="200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A5FFD95E-EE0D-4FB7-BAF0-655B85DF600D}"/>
              </a:ext>
            </a:extLst>
          </p:cNvPr>
          <p:cNvSpPr txBox="1"/>
          <p:nvPr/>
        </p:nvSpPr>
        <p:spPr>
          <a:xfrm>
            <a:off x="1405099" y="3161105"/>
            <a:ext cx="457200" cy="369332"/>
          </a:xfrm>
          <a:prstGeom prst="rect">
            <a:avLst/>
          </a:prstGeom>
          <a:noFill/>
        </p:spPr>
        <p:txBody>
          <a:bodyPr wrap="square" rtlCol="0">
            <a:spAutoFit/>
          </a:bodyPr>
          <a:lstStyle/>
          <a:p>
            <a:r>
              <a:rPr lang="en-US" sz="900"/>
              <a:t>YES</a:t>
            </a:r>
          </a:p>
        </p:txBody>
      </p:sp>
      <p:sp>
        <p:nvSpPr>
          <p:cNvPr id="170" name="TextBox 169">
            <a:extLst>
              <a:ext uri="{FF2B5EF4-FFF2-40B4-BE49-F238E27FC236}">
                <a16:creationId xmlns:a16="http://schemas.microsoft.com/office/drawing/2014/main" id="{0A8C7542-6C20-4210-A8A0-36B85756B45B}"/>
              </a:ext>
            </a:extLst>
          </p:cNvPr>
          <p:cNvSpPr txBox="1"/>
          <p:nvPr/>
        </p:nvSpPr>
        <p:spPr>
          <a:xfrm>
            <a:off x="523000" y="4754135"/>
            <a:ext cx="327334" cy="230832"/>
          </a:xfrm>
          <a:prstGeom prst="rect">
            <a:avLst/>
          </a:prstGeom>
          <a:noFill/>
        </p:spPr>
        <p:txBody>
          <a:bodyPr wrap="none" rtlCol="0">
            <a:spAutoFit/>
          </a:bodyPr>
          <a:lstStyle/>
          <a:p>
            <a:r>
              <a:rPr lang="en-US" sz="900"/>
              <a:t>NO</a:t>
            </a:r>
          </a:p>
        </p:txBody>
      </p:sp>
      <p:cxnSp>
        <p:nvCxnSpPr>
          <p:cNvPr id="171" name="Straight Arrow Connector 170">
            <a:extLst>
              <a:ext uri="{FF2B5EF4-FFF2-40B4-BE49-F238E27FC236}">
                <a16:creationId xmlns:a16="http://schemas.microsoft.com/office/drawing/2014/main" id="{3EC02FED-AB70-4EEB-B1AA-3A08EA68D9EA}"/>
              </a:ext>
            </a:extLst>
          </p:cNvPr>
          <p:cNvCxnSpPr>
            <a:cxnSpLocks/>
            <a:stCxn id="65" idx="2"/>
            <a:endCxn id="30" idx="0"/>
          </p:cNvCxnSpPr>
          <p:nvPr/>
        </p:nvCxnSpPr>
        <p:spPr>
          <a:xfrm flipH="1">
            <a:off x="835272" y="4641204"/>
            <a:ext cx="1" cy="53288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Connector: Elbow 174">
            <a:extLst>
              <a:ext uri="{FF2B5EF4-FFF2-40B4-BE49-F238E27FC236}">
                <a16:creationId xmlns:a16="http://schemas.microsoft.com/office/drawing/2014/main" id="{F7F811CB-D450-4B47-A630-3B0A179B63D9}"/>
              </a:ext>
            </a:extLst>
          </p:cNvPr>
          <p:cNvCxnSpPr>
            <a:cxnSpLocks/>
            <a:stCxn id="30" idx="3"/>
            <a:endCxn id="33" idx="2"/>
          </p:cNvCxnSpPr>
          <p:nvPr/>
        </p:nvCxnSpPr>
        <p:spPr>
          <a:xfrm flipV="1">
            <a:off x="1417444" y="5138354"/>
            <a:ext cx="3250596" cy="176656"/>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5" name="Diamond 64">
            <a:extLst>
              <a:ext uri="{FF2B5EF4-FFF2-40B4-BE49-F238E27FC236}">
                <a16:creationId xmlns:a16="http://schemas.microsoft.com/office/drawing/2014/main" id="{B5531B72-E5D1-4C07-BD6C-5A56BA69CBE8}"/>
              </a:ext>
            </a:extLst>
          </p:cNvPr>
          <p:cNvSpPr/>
          <p:nvPr/>
        </p:nvSpPr>
        <p:spPr>
          <a:xfrm>
            <a:off x="265159" y="4077172"/>
            <a:ext cx="1140227" cy="564032"/>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Abnl UA, WBC or bands?</a:t>
            </a:r>
          </a:p>
        </p:txBody>
      </p:sp>
      <p:sp>
        <p:nvSpPr>
          <p:cNvPr id="74" name="TextBox 73">
            <a:extLst>
              <a:ext uri="{FF2B5EF4-FFF2-40B4-BE49-F238E27FC236}">
                <a16:creationId xmlns:a16="http://schemas.microsoft.com/office/drawing/2014/main" id="{3E5A81C1-0FE6-4249-AEB1-1CBA070C4F4C}"/>
              </a:ext>
            </a:extLst>
          </p:cNvPr>
          <p:cNvSpPr txBox="1"/>
          <p:nvPr/>
        </p:nvSpPr>
        <p:spPr>
          <a:xfrm>
            <a:off x="3224862" y="3152716"/>
            <a:ext cx="413732" cy="230832"/>
          </a:xfrm>
          <a:prstGeom prst="rect">
            <a:avLst/>
          </a:prstGeom>
          <a:noFill/>
        </p:spPr>
        <p:txBody>
          <a:bodyPr wrap="square" rtlCol="0">
            <a:spAutoFit/>
          </a:bodyPr>
          <a:lstStyle/>
          <a:p>
            <a:r>
              <a:rPr lang="en-US" sz="900"/>
              <a:t>YES</a:t>
            </a:r>
          </a:p>
        </p:txBody>
      </p:sp>
      <p:cxnSp>
        <p:nvCxnSpPr>
          <p:cNvPr id="61" name="Straight Arrow Connector 60">
            <a:extLst>
              <a:ext uri="{FF2B5EF4-FFF2-40B4-BE49-F238E27FC236}">
                <a16:creationId xmlns:a16="http://schemas.microsoft.com/office/drawing/2014/main" id="{1D733073-322B-4AE8-B8CC-A50157B395B3}"/>
              </a:ext>
            </a:extLst>
          </p:cNvPr>
          <p:cNvCxnSpPr>
            <a:cxnSpLocks/>
            <a:stCxn id="98" idx="3"/>
            <a:endCxn id="99" idx="1"/>
          </p:cNvCxnSpPr>
          <p:nvPr/>
        </p:nvCxnSpPr>
        <p:spPr>
          <a:xfrm>
            <a:off x="1432618" y="3386415"/>
            <a:ext cx="268439" cy="499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C6AE120-5175-4723-B40F-8D84F5A73C74}"/>
              </a:ext>
            </a:extLst>
          </p:cNvPr>
          <p:cNvSpPr txBox="1"/>
          <p:nvPr/>
        </p:nvSpPr>
        <p:spPr>
          <a:xfrm>
            <a:off x="476527" y="3634064"/>
            <a:ext cx="327334" cy="230832"/>
          </a:xfrm>
          <a:prstGeom prst="rect">
            <a:avLst/>
          </a:prstGeom>
          <a:noFill/>
        </p:spPr>
        <p:txBody>
          <a:bodyPr wrap="none" rtlCol="0">
            <a:spAutoFit/>
          </a:bodyPr>
          <a:lstStyle/>
          <a:p>
            <a:r>
              <a:rPr lang="en-US" sz="900"/>
              <a:t>NO</a:t>
            </a:r>
          </a:p>
        </p:txBody>
      </p:sp>
      <p:sp>
        <p:nvSpPr>
          <p:cNvPr id="106" name="TextBox 105">
            <a:extLst>
              <a:ext uri="{FF2B5EF4-FFF2-40B4-BE49-F238E27FC236}">
                <a16:creationId xmlns:a16="http://schemas.microsoft.com/office/drawing/2014/main" id="{756901F3-3221-42E4-A10B-B41494DB0C79}"/>
              </a:ext>
            </a:extLst>
          </p:cNvPr>
          <p:cNvSpPr txBox="1"/>
          <p:nvPr/>
        </p:nvSpPr>
        <p:spPr>
          <a:xfrm>
            <a:off x="1254237" y="4135715"/>
            <a:ext cx="457200" cy="369332"/>
          </a:xfrm>
          <a:prstGeom prst="rect">
            <a:avLst/>
          </a:prstGeom>
          <a:noFill/>
        </p:spPr>
        <p:txBody>
          <a:bodyPr wrap="square" rtlCol="0">
            <a:spAutoFit/>
          </a:bodyPr>
          <a:lstStyle/>
          <a:p>
            <a:r>
              <a:rPr lang="en-US" sz="900" dirty="0"/>
              <a:t>YES</a:t>
            </a:r>
          </a:p>
        </p:txBody>
      </p:sp>
      <p:cxnSp>
        <p:nvCxnSpPr>
          <p:cNvPr id="83" name="Straight Arrow Connector 82">
            <a:extLst>
              <a:ext uri="{FF2B5EF4-FFF2-40B4-BE49-F238E27FC236}">
                <a16:creationId xmlns:a16="http://schemas.microsoft.com/office/drawing/2014/main" id="{EBE12BF7-D9E0-48B3-B3FE-2B850BDB2D03}"/>
              </a:ext>
            </a:extLst>
          </p:cNvPr>
          <p:cNvCxnSpPr>
            <a:cxnSpLocks/>
            <a:stCxn id="65" idx="3"/>
            <a:endCxn id="80" idx="1"/>
          </p:cNvCxnSpPr>
          <p:nvPr/>
        </p:nvCxnSpPr>
        <p:spPr>
          <a:xfrm>
            <a:off x="1405385" y="4359189"/>
            <a:ext cx="169101" cy="155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A3C9305F-FF75-4E9B-B4FE-9E10F6E454B1}"/>
              </a:ext>
            </a:extLst>
          </p:cNvPr>
          <p:cNvCxnSpPr>
            <a:cxnSpLocks/>
            <a:stCxn id="99" idx="3"/>
            <a:endCxn id="132" idx="0"/>
          </p:cNvCxnSpPr>
          <p:nvPr/>
        </p:nvCxnSpPr>
        <p:spPr>
          <a:xfrm>
            <a:off x="3299182" y="3391406"/>
            <a:ext cx="191510" cy="329137"/>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6EAAA39A-28AF-4F25-B836-0583900117F2}"/>
              </a:ext>
            </a:extLst>
          </p:cNvPr>
          <p:cNvCxnSpPr>
            <a:cxnSpLocks/>
            <a:stCxn id="99" idx="2"/>
            <a:endCxn id="65" idx="0"/>
          </p:cNvCxnSpPr>
          <p:nvPr/>
        </p:nvCxnSpPr>
        <p:spPr>
          <a:xfrm rot="5400000">
            <a:off x="1495804" y="3072856"/>
            <a:ext cx="343785" cy="1664848"/>
          </a:xfrm>
          <a:prstGeom prst="bentConnector3">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202DA1EE-0B9C-4509-8453-2DE47C84783C}"/>
              </a:ext>
            </a:extLst>
          </p:cNvPr>
          <p:cNvSpPr txBox="1"/>
          <p:nvPr/>
        </p:nvSpPr>
        <p:spPr>
          <a:xfrm>
            <a:off x="2525912" y="3686325"/>
            <a:ext cx="327334" cy="230832"/>
          </a:xfrm>
          <a:prstGeom prst="rect">
            <a:avLst/>
          </a:prstGeom>
          <a:noFill/>
        </p:spPr>
        <p:txBody>
          <a:bodyPr wrap="none" rtlCol="0">
            <a:spAutoFit/>
          </a:bodyPr>
          <a:lstStyle/>
          <a:p>
            <a:r>
              <a:rPr lang="en-US" sz="900"/>
              <a:t>NO</a:t>
            </a:r>
          </a:p>
        </p:txBody>
      </p:sp>
      <p:cxnSp>
        <p:nvCxnSpPr>
          <p:cNvPr id="115" name="Connector: Elbow 114">
            <a:extLst>
              <a:ext uri="{FF2B5EF4-FFF2-40B4-BE49-F238E27FC236}">
                <a16:creationId xmlns:a16="http://schemas.microsoft.com/office/drawing/2014/main" id="{F78D7CFF-EA74-4296-A617-6ACBECFD7062}"/>
              </a:ext>
            </a:extLst>
          </p:cNvPr>
          <p:cNvCxnSpPr>
            <a:cxnSpLocks/>
            <a:stCxn id="132" idx="3"/>
            <a:endCxn id="33" idx="0"/>
          </p:cNvCxnSpPr>
          <p:nvPr/>
        </p:nvCxnSpPr>
        <p:spPr>
          <a:xfrm>
            <a:off x="4062408" y="4147342"/>
            <a:ext cx="605632" cy="706075"/>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7C9825FF-6FCE-4233-B3DC-CEA34E082DC7}"/>
              </a:ext>
            </a:extLst>
          </p:cNvPr>
          <p:cNvCxnSpPr>
            <a:cxnSpLocks/>
            <a:stCxn id="80" idx="2"/>
            <a:endCxn id="33" idx="1"/>
          </p:cNvCxnSpPr>
          <p:nvPr/>
        </p:nvCxnSpPr>
        <p:spPr>
          <a:xfrm rot="16200000" flipH="1">
            <a:off x="3073813" y="3731893"/>
            <a:ext cx="385370" cy="2142613"/>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D515B339-E125-43A8-BE81-B584F252B3AF}"/>
              </a:ext>
            </a:extLst>
          </p:cNvPr>
          <p:cNvSpPr/>
          <p:nvPr/>
        </p:nvSpPr>
        <p:spPr>
          <a:xfrm>
            <a:off x="6415063" y="1343553"/>
            <a:ext cx="2511338" cy="301752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 </a:t>
            </a:r>
            <a:r>
              <a:rPr lang="en-US" sz="900" dirty="0">
                <a:solidFill>
                  <a:schemeClr val="tx1"/>
                </a:solidFill>
              </a:rPr>
              <a:t>The AAP guidance </a:t>
            </a:r>
            <a:r>
              <a:rPr lang="en-US" sz="900" b="1" dirty="0">
                <a:solidFill>
                  <a:schemeClr val="tx1"/>
                </a:solidFill>
              </a:rPr>
              <a:t>excludes</a:t>
            </a:r>
            <a:r>
              <a:rPr lang="en-US" sz="900" dirty="0">
                <a:solidFill>
                  <a:schemeClr val="tx1"/>
                </a:solidFill>
              </a:rPr>
              <a:t> RSV patients.</a:t>
            </a:r>
            <a:endParaRPr lang="en-US" sz="900" b="1" dirty="0">
              <a:solidFill>
                <a:schemeClr val="tx1"/>
              </a:solidFill>
            </a:endParaRPr>
          </a:p>
          <a:p>
            <a:r>
              <a:rPr lang="en-US" sz="900" b="1" dirty="0">
                <a:solidFill>
                  <a:schemeClr val="tx1"/>
                </a:solidFill>
              </a:rPr>
              <a:t>† </a:t>
            </a:r>
            <a:r>
              <a:rPr lang="en-US" sz="900" dirty="0">
                <a:solidFill>
                  <a:schemeClr val="tx1"/>
                </a:solidFill>
              </a:rPr>
              <a:t>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900" dirty="0" err="1">
                <a:solidFill>
                  <a:schemeClr val="tx1"/>
                </a:solidFill>
              </a:rPr>
              <a:t>hrs</a:t>
            </a:r>
            <a:r>
              <a:rPr lang="en-US" sz="900" dirty="0">
                <a:solidFill>
                  <a:schemeClr val="tx1"/>
                </a:solidFill>
              </a:rPr>
              <a:t> before to 48 </a:t>
            </a:r>
            <a:r>
              <a:rPr lang="en-US" sz="900" dirty="0" err="1">
                <a:solidFill>
                  <a:schemeClr val="tx1"/>
                </a:solidFill>
              </a:rPr>
              <a:t>hrs</a:t>
            </a:r>
            <a:r>
              <a:rPr lang="en-US" sz="900" dirty="0">
                <a:solidFill>
                  <a:schemeClr val="tx1"/>
                </a:solidFill>
              </a:rPr>
              <a:t> after delivery. If liver function tests were obtained, then an elevated ALT also indicates a higher risk of HSV. For further details of evaluation and management of HSV see AAP Redbook.</a:t>
            </a:r>
            <a:endParaRPr lang="en-US" sz="900" b="1" dirty="0">
              <a:solidFill>
                <a:schemeClr val="tx1"/>
              </a:solidFill>
            </a:endParaRPr>
          </a:p>
          <a:p>
            <a:r>
              <a:rPr lang="en-US" sz="900" b="1" dirty="0">
                <a:solidFill>
                  <a:schemeClr val="tx1"/>
                </a:solidFill>
              </a:rPr>
              <a:t>‡ </a:t>
            </a:r>
            <a:r>
              <a:rPr lang="en-US" sz="900" dirty="0">
                <a:solidFill>
                  <a:schemeClr val="tx1"/>
                </a:solidFill>
              </a:rPr>
              <a:t>Bacterial meningitis is extremely rare in RSV + bronchiolitis</a:t>
            </a: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a:p>
            <a:r>
              <a:rPr lang="en-US" sz="900" dirty="0">
                <a:solidFill>
                  <a:schemeClr val="tx1"/>
                </a:solidFill>
              </a:rPr>
              <a:t>“</a:t>
            </a:r>
            <a:r>
              <a:rPr lang="en-US" sz="900" b="1" dirty="0">
                <a:solidFill>
                  <a:schemeClr val="tx1"/>
                </a:solidFill>
              </a:rPr>
              <a:t>Need Not</a:t>
            </a:r>
            <a:r>
              <a:rPr lang="en-US" sz="900" dirty="0">
                <a:solidFill>
                  <a:schemeClr val="tx1"/>
                </a:solidFill>
              </a:rPr>
              <a:t>” can be interpreted as ”Usually not indicated.” </a:t>
            </a:r>
          </a:p>
          <a:p>
            <a:endParaRPr lang="en-US" sz="900" dirty="0">
              <a:solidFill>
                <a:schemeClr val="tx1"/>
              </a:solidFill>
            </a:endParaRPr>
          </a:p>
        </p:txBody>
      </p:sp>
      <p:cxnSp>
        <p:nvCxnSpPr>
          <p:cNvPr id="35" name="Straight Arrow Connector 34">
            <a:extLst>
              <a:ext uri="{FF2B5EF4-FFF2-40B4-BE49-F238E27FC236}">
                <a16:creationId xmlns:a16="http://schemas.microsoft.com/office/drawing/2014/main" id="{DAABCC91-59A7-4176-BC3E-93148D6E3F4D}"/>
              </a:ext>
            </a:extLst>
          </p:cNvPr>
          <p:cNvCxnSpPr>
            <a:cxnSpLocks/>
            <a:stCxn id="52" idx="3"/>
            <a:endCxn id="44" idx="1"/>
          </p:cNvCxnSpPr>
          <p:nvPr/>
        </p:nvCxnSpPr>
        <p:spPr>
          <a:xfrm flipV="1">
            <a:off x="3630212" y="2227376"/>
            <a:ext cx="1387582"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205D9F64-4B5B-43E9-B1DB-EB31F3A13601}"/>
              </a:ext>
            </a:extLst>
          </p:cNvPr>
          <p:cNvCxnSpPr>
            <a:cxnSpLocks/>
          </p:cNvCxnSpPr>
          <p:nvPr/>
        </p:nvCxnSpPr>
        <p:spPr>
          <a:xfrm rot="5400000">
            <a:off x="4279622" y="4135390"/>
            <a:ext cx="1106446" cy="329609"/>
          </a:xfrm>
          <a:prstGeom prst="bentConnector3">
            <a:avLst>
              <a:gd name="adj1" fmla="val 3598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28471BAD-2969-46DC-8BA4-30E58E698051}"/>
              </a:ext>
            </a:extLst>
          </p:cNvPr>
          <p:cNvSpPr/>
          <p:nvPr/>
        </p:nvSpPr>
        <p:spPr>
          <a:xfrm>
            <a:off x="1574486" y="4110962"/>
            <a:ext cx="1241409" cy="49955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r>
              <a:rPr lang="en-US" sz="900" dirty="0">
                <a:solidFill>
                  <a:schemeClr val="tx1"/>
                </a:solidFill>
              </a:rPr>
              <a:t>1. May administer </a:t>
            </a:r>
            <a:r>
              <a:rPr lang="en-US" sz="900" dirty="0" err="1">
                <a:solidFill>
                  <a:schemeClr val="tx1"/>
                </a:solidFill>
              </a:rPr>
              <a:t>Pabx</a:t>
            </a:r>
            <a:endParaRPr lang="en-US" sz="900" dirty="0">
              <a:solidFill>
                <a:schemeClr val="tx1"/>
              </a:solidFill>
            </a:endParaRPr>
          </a:p>
          <a:p>
            <a:r>
              <a:rPr lang="en-US" sz="900" dirty="0">
                <a:solidFill>
                  <a:schemeClr val="tx1"/>
                </a:solidFill>
              </a:rPr>
              <a:t>2. If starting </a:t>
            </a:r>
            <a:r>
              <a:rPr lang="en-US" sz="900" dirty="0" err="1">
                <a:solidFill>
                  <a:schemeClr val="tx1"/>
                </a:solidFill>
              </a:rPr>
              <a:t>Pabx</a:t>
            </a:r>
            <a:r>
              <a:rPr lang="en-US" sz="900" dirty="0">
                <a:solidFill>
                  <a:schemeClr val="tx1"/>
                </a:solidFill>
              </a:rPr>
              <a:t>, recommend LP</a:t>
            </a:r>
          </a:p>
          <a:p>
            <a:pPr algn="ctr"/>
            <a:endParaRPr lang="en-US" sz="900" dirty="0">
              <a:solidFill>
                <a:schemeClr val="tx1"/>
              </a:solidFill>
            </a:endParaRPr>
          </a:p>
        </p:txBody>
      </p:sp>
      <p:sp>
        <p:nvSpPr>
          <p:cNvPr id="56" name="TextBox 55">
            <a:extLst>
              <a:ext uri="{FF2B5EF4-FFF2-40B4-BE49-F238E27FC236}">
                <a16:creationId xmlns:a16="http://schemas.microsoft.com/office/drawing/2014/main" id="{79C94091-1771-4DF7-8CB7-A67ACE09973F}"/>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0" name="Title 1">
            <a:extLst>
              <a:ext uri="{FF2B5EF4-FFF2-40B4-BE49-F238E27FC236}">
                <a16:creationId xmlns:a16="http://schemas.microsoft.com/office/drawing/2014/main" id="{96A58CE3-0F2E-459B-B82D-F70E70FA31D9}"/>
              </a:ext>
            </a:extLst>
          </p:cNvPr>
          <p:cNvSpPr txBox="1">
            <a:spLocks/>
          </p:cNvSpPr>
          <p:nvPr/>
        </p:nvSpPr>
        <p:spPr bwMode="gray">
          <a:xfrm>
            <a:off x="474993" y="360458"/>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7-21 Days Old, Well-Appearing Infant </a:t>
            </a:r>
          </a:p>
          <a:p>
            <a:r>
              <a:rPr lang="en-US" sz="2300" dirty="0">
                <a:solidFill>
                  <a:schemeClr val="tx1"/>
                </a:solidFill>
                <a:latin typeface="Microsoft Tai Le"/>
                <a:cs typeface="Microsoft Tai Le"/>
              </a:rPr>
              <a:t>with Bronchiolitis</a:t>
            </a:r>
            <a:endParaRPr lang="en-US" sz="23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2495793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7-21 Days Old,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Bronchiolitis</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74993" y="4098475"/>
            <a:ext cx="8226436" cy="1015663"/>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CBC, Blood culture, UA, and Urine cultures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Need not perform an LP if inflammatory markers are normal</a:t>
            </a:r>
          </a:p>
        </p:txBody>
      </p:sp>
      <p:sp>
        <p:nvSpPr>
          <p:cNvPr id="3" name="TextBox 2">
            <a:extLst>
              <a:ext uri="{FF2B5EF4-FFF2-40B4-BE49-F238E27FC236}">
                <a16:creationId xmlns:a16="http://schemas.microsoft.com/office/drawing/2014/main" id="{28295A83-3EF3-497A-8393-9379CA6E6D57}"/>
              </a:ext>
            </a:extLst>
          </p:cNvPr>
          <p:cNvSpPr txBox="1"/>
          <p:nvPr/>
        </p:nvSpPr>
        <p:spPr>
          <a:xfrm>
            <a:off x="453081" y="1325648"/>
            <a:ext cx="8226436" cy="2539157"/>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known bronchiolitis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clinical bronchiolitis from their algorithms because they are lower 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A review </a:t>
            </a:r>
            <a:r>
              <a:rPr lang="en-US" dirty="0">
                <a:solidFill>
                  <a:sysClr val="windowText" lastClr="000000"/>
                </a:solidFill>
                <a:latin typeface="Microsoft Tai Le" panose="020B0502040204020203" pitchFamily="34" charset="0"/>
                <a:cs typeface="Microsoft Tai Le" panose="020B0502040204020203" pitchFamily="34" charset="0"/>
              </a:rPr>
              <a:t>(Ralston et al) of 11 studies of febrile infants with clinical bronchiolitis found no cases of meningitis </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7-21 days who were well-appearing and RSV+: </a:t>
            </a:r>
          </a:p>
          <a:p>
            <a:pPr lvl="4"/>
            <a:r>
              <a:rPr lang="en-US" sz="1500"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1/18  had bacteremia without meningitis </a:t>
            </a:r>
          </a:p>
          <a:p>
            <a:r>
              <a:rPr lang="en-US" sz="1500" i="1" dirty="0">
                <a:solidFill>
                  <a:sysClr val="windowText" lastClr="000000"/>
                </a:solidFill>
                <a:cs typeface="Microsoft Tai Le" panose="020B0502040204020203" pitchFamily="34" charset="0"/>
              </a:rPr>
              <a:t>		      		    	0/18 had meningitis</a:t>
            </a:r>
          </a:p>
        </p:txBody>
      </p:sp>
      <p:sp>
        <p:nvSpPr>
          <p:cNvPr id="7" name="TextBox 6">
            <a:extLst>
              <a:ext uri="{FF2B5EF4-FFF2-40B4-BE49-F238E27FC236}">
                <a16:creationId xmlns:a16="http://schemas.microsoft.com/office/drawing/2014/main" id="{DD36DC74-4298-4BD1-9F1A-3F834E7F7796}"/>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937033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3094" y="1344590"/>
            <a:ext cx="2743200" cy="5125947"/>
            <a:chOff x="4137000" y="1410423"/>
            <a:chExt cx="3629807" cy="2390589"/>
          </a:xfrm>
        </p:grpSpPr>
        <p:sp>
          <p:nvSpPr>
            <p:cNvPr id="11" name="Rectangle 10">
              <a:extLst>
                <a:ext uri="{FF2B5EF4-FFF2-40B4-BE49-F238E27FC236}">
                  <a16:creationId xmlns:a16="http://schemas.microsoft.com/office/drawing/2014/main" id="{D16DD992-3020-481A-89A5-70797C986525}"/>
                </a:ext>
              </a:extLst>
            </p:cNvPr>
            <p:cNvSpPr/>
            <p:nvPr/>
          </p:nvSpPr>
          <p:spPr>
            <a:xfrm>
              <a:off x="4137000" y="1412898"/>
              <a:ext cx="3629803" cy="2388114"/>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younger than 14 days of age whose perinatal courses were complicated by maternal fever, infection, and/or antimicrobial use (excluding surgical prophylaxis or to treat GBS colonization).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Febrile infants with high suspicion of HSV infection (e.g., vesicles, seizures) or increased HSV </a:t>
              </a:r>
              <a:r>
                <a:rPr lang="en-US" sz="1100" dirty="0">
                  <a:solidFill>
                    <a:schemeClr val="tx1"/>
                  </a:solidFill>
                  <a:latin typeface="Calibri" panose="020F0502020204030204" pitchFamily="34" charset="0"/>
                  <a:cs typeface="Calibri" panose="020F0502020204030204" pitchFamily="34" charset="0"/>
                </a:rPr>
                <a:t>risk</a:t>
              </a:r>
              <a:r>
                <a:rPr lang="en-US" sz="1100" baseline="30000" dirty="0">
                  <a:solidFill>
                    <a:schemeClr val="tx1"/>
                  </a:solidFill>
                  <a:latin typeface="Calibri" panose="020F0502020204030204" pitchFamily="34" charset="0"/>
                  <a:cs typeface="Calibri" panose="020F0502020204030204" pitchFamily="34" charset="0"/>
                </a:rPr>
                <a:t>||</a:t>
              </a:r>
              <a:endParaRPr lang="en-US" sz="1100" dirty="0">
                <a:solidFill>
                  <a:schemeClr val="tx1"/>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a:t>
              </a:r>
              <a:r>
                <a:rPr lang="en-US" sz="1100" dirty="0">
                  <a:solidFill>
                    <a:sysClr val="windowText" lastClr="000000"/>
                  </a:solidFill>
                  <a:latin typeface="Calibri" panose="020F0502020204030204" pitchFamily="34" charset="0"/>
                  <a:cs typeface="Calibri" panose="020F0502020204030204" pitchFamily="34" charset="0"/>
                </a:rPr>
                <a:t>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10423"/>
              <a:ext cx="3629803" cy="12793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9978" y="1344590"/>
            <a:ext cx="2468880" cy="731520"/>
            <a:chOff x="5092117" y="1946246"/>
            <a:chExt cx="2575421" cy="975360"/>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97536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7-21 days of age, well-appearing, temp ≥ 38C</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946246"/>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49" y="1356940"/>
            <a:ext cx="2468880" cy="4480559"/>
            <a:chOff x="4137004" y="1454327"/>
            <a:chExt cx="3629804" cy="1631227"/>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7"/>
              <a:ext cx="3629803" cy="163122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r>
                <a:rPr lang="en-US" sz="1100" dirty="0">
                  <a:solidFill>
                    <a:schemeClr val="tx1"/>
                  </a:solidFill>
                  <a:latin typeface="Calibri" panose="020F0502020204030204" pitchFamily="34" charset="0"/>
                  <a:cs typeface="Calibri" panose="020F0502020204030204" pitchFamily="34" charset="0"/>
                </a:rPr>
                <a:t>*  AAP includes CRP to assess risk</a:t>
              </a:r>
            </a:p>
            <a:p>
              <a:r>
                <a:rPr lang="en-US" sz="1100" dirty="0">
                  <a:solidFill>
                    <a:schemeClr val="tx1"/>
                  </a:solidFill>
                  <a:latin typeface="Calibri" panose="020F0502020204030204" pitchFamily="34" charset="0"/>
                  <a:cs typeface="Calibri" panose="020F0502020204030204" pitchFamily="34" charset="0"/>
                </a:rPr>
                <a:t>†  AAP includes CRP &gt; 2.0 mg/dl or ANC &gt; 4000 to 5200 per mm as high risk</a:t>
              </a:r>
            </a:p>
            <a:p>
              <a:r>
                <a:rPr lang="en-US" sz="1100" dirty="0">
                  <a:solidFill>
                    <a:schemeClr val="tx1"/>
                  </a:solidFill>
                  <a:latin typeface="Calibri" panose="020F0502020204030204" pitchFamily="34" charset="0"/>
                  <a:cs typeface="Calibri" panose="020F0502020204030204" pitchFamily="34" charset="0"/>
                </a:rPr>
                <a:t>‡  Although uncommon, CSF pleocytosis may be due to HSV and prompt recognition and treatment is essential.</a:t>
              </a:r>
            </a:p>
            <a:p>
              <a:r>
                <a:rPr lang="en-US" sz="1100" dirty="0">
                  <a:solidFill>
                    <a:schemeClr val="tx1"/>
                  </a:solidFill>
                  <a:latin typeface="Calibri" panose="020F0502020204030204" pitchFamily="34" charset="0"/>
                  <a:cs typeface="Calibri" panose="020F0502020204030204" pitchFamily="34" charset="0"/>
                </a:rPr>
                <a:t>§  AAP recommends LP and </a:t>
              </a:r>
              <a:r>
                <a:rPr lang="en-US" sz="1100" dirty="0" err="1">
                  <a:solidFill>
                    <a:schemeClr val="tx1"/>
                  </a:solidFill>
                  <a:latin typeface="Calibri" panose="020F0502020204030204" pitchFamily="34" charset="0"/>
                  <a:cs typeface="Calibri" panose="020F0502020204030204" pitchFamily="34" charset="0"/>
                </a:rPr>
                <a:t>Pabx</a:t>
              </a:r>
              <a:r>
                <a:rPr lang="en-US" sz="1100" dirty="0">
                  <a:solidFill>
                    <a:schemeClr val="tx1"/>
                  </a:solidFill>
                  <a:latin typeface="Calibri" panose="020F0502020204030204" pitchFamily="34" charset="0"/>
                  <a:cs typeface="Calibri" panose="020F0502020204030204" pitchFamily="34" charset="0"/>
                </a:rPr>
                <a:t> in all infants 7-21 days.</a:t>
              </a:r>
            </a:p>
            <a:p>
              <a:r>
                <a:rPr lang="en-US" sz="1100" dirty="0">
                  <a:solidFill>
                    <a:schemeClr val="tx1"/>
                  </a:solidFill>
                  <a:latin typeface="Calibri" panose="020F0502020204030204" pitchFamily="34" charset="0"/>
                  <a:cs typeface="Calibri" panose="020F0502020204030204" pitchFamily="34" charset="0"/>
                </a:rPr>
                <a:t>¶  Recommendations of low-risk infants starting on </a:t>
              </a:r>
              <a:r>
                <a:rPr lang="en-US" sz="1100" dirty="0" err="1">
                  <a:solidFill>
                    <a:schemeClr val="tx1"/>
                  </a:solidFill>
                  <a:latin typeface="Calibri" panose="020F0502020204030204" pitchFamily="34" charset="0"/>
                  <a:cs typeface="Calibri" panose="020F0502020204030204" pitchFamily="34" charset="0"/>
                </a:rPr>
                <a:t>Pabx</a:t>
              </a:r>
              <a:endParaRPr lang="en-US" sz="1100" dirty="0">
                <a:solidFill>
                  <a:schemeClr val="tx1"/>
                </a:solidFill>
                <a:latin typeface="Calibri" panose="020F0502020204030204" pitchFamily="34" charset="0"/>
                <a:cs typeface="Calibri" panose="020F0502020204030204" pitchFamily="34" charset="0"/>
              </a:endParaRPr>
            </a:p>
            <a:p>
              <a:pPr>
                <a:defRPr/>
              </a:pPr>
              <a:r>
                <a:rPr lang="en-US" sz="1100" baseline="300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before to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3" cy="9987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9978" y="2328722"/>
            <a:ext cx="2468880" cy="3657599"/>
            <a:chOff x="4137004" y="1290047"/>
            <a:chExt cx="3629804" cy="1705795"/>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5" y="1290047"/>
              <a:ext cx="3629803" cy="1705795"/>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Abnl</a:t>
              </a:r>
              <a:r>
                <a:rPr lang="en-US" sz="1100" dirty="0">
                  <a:solidFill>
                    <a:sysClr val="windowText" lastClr="000000"/>
                  </a:solidFill>
                  <a:latin typeface="Calibri" panose="020F0502020204030204" pitchFamily="34" charset="0"/>
                  <a:cs typeface="Calibri" panose="020F0502020204030204" pitchFamily="34" charset="0"/>
                </a:rPr>
                <a:t>: abnormal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ALT: alanine transaminase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ANC: absolute neutrophil count</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CRP: C-reactive protein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GBS: Group B Strep</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WBC: white blood cell</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290047"/>
              <a:ext cx="3629802"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3" name="TextBox 22">
            <a:extLst>
              <a:ext uri="{FF2B5EF4-FFF2-40B4-BE49-F238E27FC236}">
                <a16:creationId xmlns:a16="http://schemas.microsoft.com/office/drawing/2014/main" id="{B9550810-E3C0-409A-9EB4-C7274F1FAE77}"/>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5" name="Title 1">
            <a:extLst>
              <a:ext uri="{FF2B5EF4-FFF2-40B4-BE49-F238E27FC236}">
                <a16:creationId xmlns:a16="http://schemas.microsoft.com/office/drawing/2014/main" id="{5666C7E2-5434-4AC7-9EB1-4A4DD027D0E2}"/>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7-21 Days Old, Well-Appearing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192048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131346" y="1227904"/>
            <a:ext cx="6728614" cy="4538028"/>
            <a:chOff x="-7696677" y="1794046"/>
            <a:chExt cx="15949306" cy="10756808"/>
          </a:xfrm>
        </p:grpSpPr>
        <p:sp>
          <p:nvSpPr>
            <p:cNvPr id="16" name="Rectangle 15">
              <a:extLst>
                <a:ext uri="{FF2B5EF4-FFF2-40B4-BE49-F238E27FC236}">
                  <a16:creationId xmlns:a16="http://schemas.microsoft.com/office/drawing/2014/main" id="{14C815F4-3E4B-4657-8DD6-3BDF96293D0A}"/>
                </a:ext>
              </a:extLst>
            </p:cNvPr>
            <p:cNvSpPr/>
            <p:nvPr/>
          </p:nvSpPr>
          <p:spPr>
            <a:xfrm>
              <a:off x="750897" y="1794046"/>
              <a:ext cx="5428620" cy="53039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algn="ctr"/>
              <a:r>
                <a:rPr lang="en-US" sz="900" dirty="0">
                  <a:solidFill>
                    <a:schemeClr val="tx1"/>
                  </a:solidFill>
                </a:rPr>
                <a:t>Perform UA, UCx, CBC w/diff, blood </a:t>
              </a:r>
              <a:r>
                <a:rPr lang="en-US" sz="900" dirty="0" err="1">
                  <a:solidFill>
                    <a:schemeClr val="tx1"/>
                  </a:solidFill>
                </a:rPr>
                <a:t>Cx</a:t>
              </a:r>
              <a:r>
                <a:rPr lang="en-US" sz="900" b="1" dirty="0">
                  <a:solidFill>
                    <a:schemeClr val="tx1"/>
                  </a:solidFill>
                </a:rPr>
                <a:t>*</a:t>
              </a:r>
            </a:p>
            <a:p>
              <a:pPr algn="ctr"/>
              <a:endParaRPr lang="en-US" sz="900" dirty="0"/>
            </a:p>
          </p:txBody>
        </p:sp>
        <p:sp>
          <p:nvSpPr>
            <p:cNvPr id="17" name="Diamond 16">
              <a:extLst>
                <a:ext uri="{FF2B5EF4-FFF2-40B4-BE49-F238E27FC236}">
                  <a16:creationId xmlns:a16="http://schemas.microsoft.com/office/drawing/2014/main" id="{1B3D07EF-FCBC-42E1-8E98-7DB1DE37CD41}"/>
                </a:ext>
              </a:extLst>
            </p:cNvPr>
            <p:cNvSpPr/>
            <p:nvPr/>
          </p:nvSpPr>
          <p:spPr>
            <a:xfrm>
              <a:off x="414569" y="5046224"/>
              <a:ext cx="6101278" cy="154636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UA+, WBC &lt; 5K or </a:t>
              </a:r>
            </a:p>
            <a:p>
              <a:pPr algn="ctr"/>
              <a:r>
                <a:rPr lang="en-US" sz="900" dirty="0">
                  <a:solidFill>
                    <a:schemeClr val="tx1"/>
                  </a:solidFill>
                </a:rPr>
                <a:t>&gt; 15K, bands &gt; 1.5K</a:t>
              </a:r>
            </a:p>
            <a:p>
              <a:pPr algn="ctr"/>
              <a:r>
                <a:rPr lang="en-US" sz="900" dirty="0">
                  <a:solidFill>
                    <a:schemeClr val="tx1"/>
                  </a:solidFill>
                </a:rPr>
                <a:t> or  temp &gt; 38.5C </a:t>
              </a:r>
              <a:r>
                <a:rPr lang="en-US" sz="900" b="1" dirty="0">
                  <a:solidFill>
                    <a:schemeClr val="tx1"/>
                  </a:solidFill>
                </a:rPr>
                <a:t>†</a:t>
              </a:r>
              <a:r>
                <a:rPr lang="en-US" sz="900" dirty="0">
                  <a:solidFill>
                    <a:schemeClr val="tx1"/>
                  </a:solidFill>
                </a:rPr>
                <a:t> </a:t>
              </a:r>
            </a:p>
          </p:txBody>
        </p:sp>
        <p:sp>
          <p:nvSpPr>
            <p:cNvPr id="23" name="Rectangle 22">
              <a:extLst>
                <a:ext uri="{FF2B5EF4-FFF2-40B4-BE49-F238E27FC236}">
                  <a16:creationId xmlns:a16="http://schemas.microsoft.com/office/drawing/2014/main" id="{A4920ECB-767F-4366-ABC7-08FB3EE731CD}"/>
                </a:ext>
              </a:extLst>
            </p:cNvPr>
            <p:cNvSpPr/>
            <p:nvPr/>
          </p:nvSpPr>
          <p:spPr>
            <a:xfrm>
              <a:off x="-1769687" y="5575698"/>
              <a:ext cx="1565564" cy="49183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Perform LP</a:t>
              </a:r>
            </a:p>
          </p:txBody>
        </p:sp>
        <p:sp>
          <p:nvSpPr>
            <p:cNvPr id="25" name="Diamond 24">
              <a:extLst>
                <a:ext uri="{FF2B5EF4-FFF2-40B4-BE49-F238E27FC236}">
                  <a16:creationId xmlns:a16="http://schemas.microsoft.com/office/drawing/2014/main" id="{730F8A8D-FC0B-4AC1-92B1-6930F3C36050}"/>
                </a:ext>
              </a:extLst>
            </p:cNvPr>
            <p:cNvSpPr/>
            <p:nvPr/>
          </p:nvSpPr>
          <p:spPr>
            <a:xfrm>
              <a:off x="-7696677" y="9440477"/>
              <a:ext cx="4123658" cy="186770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Abnl</a:t>
              </a:r>
              <a:r>
                <a:rPr lang="en-US" sz="900" dirty="0">
                  <a:solidFill>
                    <a:schemeClr val="tx1"/>
                  </a:solidFill>
                </a:rPr>
                <a:t> UA, WBC or bands</a:t>
              </a:r>
            </a:p>
          </p:txBody>
        </p:sp>
        <p:sp>
          <p:nvSpPr>
            <p:cNvPr id="30" name="Rectangle 29">
              <a:extLst>
                <a:ext uri="{FF2B5EF4-FFF2-40B4-BE49-F238E27FC236}">
                  <a16:creationId xmlns:a16="http://schemas.microsoft.com/office/drawing/2014/main" id="{2B1CBB63-E0B8-436A-9865-F1AFE38DEE57}"/>
                </a:ext>
              </a:extLst>
            </p:cNvPr>
            <p:cNvSpPr/>
            <p:nvPr/>
          </p:nvSpPr>
          <p:spPr>
            <a:xfrm>
              <a:off x="-7183047" y="11720399"/>
              <a:ext cx="3078913" cy="78371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May withhold </a:t>
              </a:r>
              <a:r>
                <a:rPr lang="en-US" sz="900" dirty="0" err="1">
                  <a:solidFill>
                    <a:schemeClr val="tx1"/>
                  </a:solidFill>
                </a:rPr>
                <a:t>Pabx</a:t>
              </a:r>
              <a:r>
                <a:rPr lang="en-US" sz="900" dirty="0">
                  <a:solidFill>
                    <a:schemeClr val="tx1"/>
                  </a:solidFill>
                </a:rPr>
                <a:t> </a:t>
              </a:r>
              <a:r>
                <a:rPr lang="en-US" sz="900" b="1" dirty="0">
                  <a:solidFill>
                    <a:schemeClr val="tx1"/>
                  </a:solidFill>
                </a:rPr>
                <a:t>§</a:t>
              </a:r>
            </a:p>
          </p:txBody>
        </p:sp>
        <p:sp>
          <p:nvSpPr>
            <p:cNvPr id="33" name="Rectangle 32">
              <a:extLst>
                <a:ext uri="{FF2B5EF4-FFF2-40B4-BE49-F238E27FC236}">
                  <a16:creationId xmlns:a16="http://schemas.microsoft.com/office/drawing/2014/main" id="{8BC7738E-2020-44FF-ACEA-1060D8515E86}"/>
                </a:ext>
              </a:extLst>
            </p:cNvPr>
            <p:cNvSpPr/>
            <p:nvPr/>
          </p:nvSpPr>
          <p:spPr>
            <a:xfrm>
              <a:off x="2682427" y="9169254"/>
              <a:ext cx="1565564" cy="67540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ADMIT</a:t>
              </a:r>
            </a:p>
          </p:txBody>
        </p:sp>
        <p:sp>
          <p:nvSpPr>
            <p:cNvPr id="36" name="Diamond 35">
              <a:extLst>
                <a:ext uri="{FF2B5EF4-FFF2-40B4-BE49-F238E27FC236}">
                  <a16:creationId xmlns:a16="http://schemas.microsoft.com/office/drawing/2014/main" id="{74EE7E50-2129-46CB-A048-8AFABA71449A}"/>
                </a:ext>
              </a:extLst>
            </p:cNvPr>
            <p:cNvSpPr/>
            <p:nvPr/>
          </p:nvSpPr>
          <p:spPr>
            <a:xfrm>
              <a:off x="4621200" y="8707616"/>
              <a:ext cx="2901795" cy="159335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Pathogen or Source identified</a:t>
              </a:r>
            </a:p>
          </p:txBody>
        </p:sp>
        <p:sp>
          <p:nvSpPr>
            <p:cNvPr id="41" name="Rectangle 40">
              <a:extLst>
                <a:ext uri="{FF2B5EF4-FFF2-40B4-BE49-F238E27FC236}">
                  <a16:creationId xmlns:a16="http://schemas.microsoft.com/office/drawing/2014/main" id="{E73D0D02-152E-4442-A4E8-890DF8E6A7B1}"/>
                </a:ext>
              </a:extLst>
            </p:cNvPr>
            <p:cNvSpPr/>
            <p:nvPr/>
          </p:nvSpPr>
          <p:spPr>
            <a:xfrm>
              <a:off x="3939541" y="10778948"/>
              <a:ext cx="4313088" cy="177190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dirty="0">
                  <a:solidFill>
                    <a:schemeClr val="tx1"/>
                  </a:solidFill>
                </a:rPr>
                <a:t>Discontinue antimicrobial(s) and may discharge hospitalized infant if all </a:t>
              </a:r>
              <a:r>
                <a:rPr lang="en-US" sz="900" dirty="0" err="1">
                  <a:solidFill>
                    <a:schemeClr val="tx1"/>
                  </a:solidFill>
                </a:rPr>
                <a:t>Cx</a:t>
              </a:r>
              <a:r>
                <a:rPr lang="en-US" sz="900" dirty="0">
                  <a:solidFill>
                    <a:schemeClr val="tx1"/>
                  </a:solidFill>
                </a:rPr>
                <a:t>- at 24-36 </a:t>
              </a:r>
              <a:r>
                <a:rPr lang="en-US" sz="900" dirty="0" err="1">
                  <a:solidFill>
                    <a:schemeClr val="tx1"/>
                  </a:solidFill>
                </a:rPr>
                <a:t>hrs</a:t>
              </a:r>
              <a:r>
                <a:rPr lang="en-US" sz="900" dirty="0">
                  <a:solidFill>
                    <a:schemeClr val="tx1"/>
                  </a:solidFill>
                </a:rPr>
                <a:t> and HSV PCR (if sent)</a:t>
              </a:r>
            </a:p>
            <a:p>
              <a:pPr marL="144661" indent="-144661">
                <a:buFont typeface="+mj-lt"/>
                <a:buAutoNum type="arabicPeriod"/>
              </a:pPr>
              <a:r>
                <a:rPr lang="en-US" sz="900" dirty="0">
                  <a:solidFill>
                    <a:schemeClr val="tx1"/>
                  </a:solidFill>
                </a:rPr>
                <a:t>Follow for duration of illness</a:t>
              </a:r>
            </a:p>
          </p:txBody>
        </p:sp>
      </p:grpSp>
      <p:sp>
        <p:nvSpPr>
          <p:cNvPr id="44" name="TextBox 43">
            <a:extLst>
              <a:ext uri="{FF2B5EF4-FFF2-40B4-BE49-F238E27FC236}">
                <a16:creationId xmlns:a16="http://schemas.microsoft.com/office/drawing/2014/main" id="{9A476156-6352-4FC6-9D8D-7EB9DAF3A14F}"/>
              </a:ext>
            </a:extLst>
          </p:cNvPr>
          <p:cNvSpPr txBox="1"/>
          <p:nvPr/>
        </p:nvSpPr>
        <p:spPr>
          <a:xfrm>
            <a:off x="4836805" y="2124821"/>
            <a:ext cx="327334" cy="230832"/>
          </a:xfrm>
          <a:prstGeom prst="rect">
            <a:avLst/>
          </a:prstGeom>
          <a:noFill/>
        </p:spPr>
        <p:txBody>
          <a:bodyPr wrap="none" rtlCol="0">
            <a:spAutoFit/>
          </a:bodyPr>
          <a:lstStyle/>
          <a:p>
            <a:r>
              <a:rPr lang="en-US" sz="900"/>
              <a:t>NO</a:t>
            </a:r>
          </a:p>
        </p:txBody>
      </p:sp>
      <p:sp>
        <p:nvSpPr>
          <p:cNvPr id="45" name="TextBox 44">
            <a:extLst>
              <a:ext uri="{FF2B5EF4-FFF2-40B4-BE49-F238E27FC236}">
                <a16:creationId xmlns:a16="http://schemas.microsoft.com/office/drawing/2014/main" id="{C312A9D4-F1C7-4DC5-9355-83924DD87EA9}"/>
              </a:ext>
            </a:extLst>
          </p:cNvPr>
          <p:cNvSpPr txBox="1"/>
          <p:nvPr/>
        </p:nvSpPr>
        <p:spPr>
          <a:xfrm>
            <a:off x="1803350" y="3644944"/>
            <a:ext cx="457200" cy="369332"/>
          </a:xfrm>
          <a:prstGeom prst="rect">
            <a:avLst/>
          </a:prstGeom>
          <a:noFill/>
        </p:spPr>
        <p:txBody>
          <a:bodyPr wrap="square" rtlCol="0">
            <a:spAutoFit/>
          </a:bodyPr>
          <a:lstStyle/>
          <a:p>
            <a:r>
              <a:rPr lang="en-US" sz="900" dirty="0"/>
              <a:t>YES</a:t>
            </a:r>
          </a:p>
        </p:txBody>
      </p:sp>
      <p:sp>
        <p:nvSpPr>
          <p:cNvPr id="46" name="TextBox 45">
            <a:extLst>
              <a:ext uri="{FF2B5EF4-FFF2-40B4-BE49-F238E27FC236}">
                <a16:creationId xmlns:a16="http://schemas.microsoft.com/office/drawing/2014/main" id="{FDCFC7A2-9907-4E31-8E0F-F437CB37E0FC}"/>
              </a:ext>
            </a:extLst>
          </p:cNvPr>
          <p:cNvSpPr txBox="1"/>
          <p:nvPr/>
        </p:nvSpPr>
        <p:spPr>
          <a:xfrm>
            <a:off x="2958064" y="3763559"/>
            <a:ext cx="327334" cy="230832"/>
          </a:xfrm>
          <a:prstGeom prst="rect">
            <a:avLst/>
          </a:prstGeom>
          <a:noFill/>
        </p:spPr>
        <p:txBody>
          <a:bodyPr wrap="none" rtlCol="0">
            <a:spAutoFit/>
          </a:bodyPr>
          <a:lstStyle/>
          <a:p>
            <a:r>
              <a:rPr lang="en-US" sz="900"/>
              <a:t>NO</a:t>
            </a:r>
          </a:p>
        </p:txBody>
      </p:sp>
      <p:sp>
        <p:nvSpPr>
          <p:cNvPr id="47" name="TextBox 46">
            <a:extLst>
              <a:ext uri="{FF2B5EF4-FFF2-40B4-BE49-F238E27FC236}">
                <a16:creationId xmlns:a16="http://schemas.microsoft.com/office/drawing/2014/main" id="{1C9560ED-7208-4CDD-8F10-43522EB012DE}"/>
              </a:ext>
            </a:extLst>
          </p:cNvPr>
          <p:cNvSpPr txBox="1"/>
          <p:nvPr/>
        </p:nvSpPr>
        <p:spPr>
          <a:xfrm>
            <a:off x="5950167" y="4776924"/>
            <a:ext cx="327334" cy="230832"/>
          </a:xfrm>
          <a:prstGeom prst="rect">
            <a:avLst/>
          </a:prstGeom>
          <a:noFill/>
        </p:spPr>
        <p:txBody>
          <a:bodyPr wrap="none" rtlCol="0">
            <a:spAutoFit/>
          </a:bodyPr>
          <a:lstStyle/>
          <a:p>
            <a:r>
              <a:rPr lang="en-US" sz="900"/>
              <a:t>NO</a:t>
            </a:r>
          </a:p>
        </p:txBody>
      </p:sp>
      <p:sp>
        <p:nvSpPr>
          <p:cNvPr id="51" name="TextBox 50">
            <a:extLst>
              <a:ext uri="{FF2B5EF4-FFF2-40B4-BE49-F238E27FC236}">
                <a16:creationId xmlns:a16="http://schemas.microsoft.com/office/drawing/2014/main" id="{CE031C9F-1D35-463E-B4AD-E921DED2E8B0}"/>
              </a:ext>
            </a:extLst>
          </p:cNvPr>
          <p:cNvSpPr txBox="1"/>
          <p:nvPr/>
        </p:nvSpPr>
        <p:spPr>
          <a:xfrm>
            <a:off x="3314283" y="2736321"/>
            <a:ext cx="369119" cy="230832"/>
          </a:xfrm>
          <a:prstGeom prst="rect">
            <a:avLst/>
          </a:prstGeom>
          <a:noFill/>
        </p:spPr>
        <p:txBody>
          <a:bodyPr wrap="square" rtlCol="0">
            <a:spAutoFit/>
          </a:bodyPr>
          <a:lstStyle/>
          <a:p>
            <a:r>
              <a:rPr lang="en-US" sz="900"/>
              <a:t>YES</a:t>
            </a:r>
          </a:p>
        </p:txBody>
      </p:sp>
      <p:sp>
        <p:nvSpPr>
          <p:cNvPr id="52" name="Rectangle 51">
            <a:extLst>
              <a:ext uri="{FF2B5EF4-FFF2-40B4-BE49-F238E27FC236}">
                <a16:creationId xmlns:a16="http://schemas.microsoft.com/office/drawing/2014/main" id="{CE8258BA-F771-47F0-A445-4948F10644D6}"/>
              </a:ext>
            </a:extLst>
          </p:cNvPr>
          <p:cNvSpPr/>
          <p:nvPr/>
        </p:nvSpPr>
        <p:spPr>
          <a:xfrm>
            <a:off x="3083362" y="1995749"/>
            <a:ext cx="1024212" cy="401701"/>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algn="ctr"/>
            <a:r>
              <a:rPr lang="en-US" sz="900" dirty="0">
                <a:solidFill>
                  <a:schemeClr val="tx1"/>
                </a:solidFill>
              </a:rPr>
              <a:t>Confirm urine sent by bladder </a:t>
            </a:r>
            <a:r>
              <a:rPr lang="en-US" sz="900" dirty="0" err="1">
                <a:solidFill>
                  <a:schemeClr val="tx1"/>
                </a:solidFill>
              </a:rPr>
              <a:t>cath</a:t>
            </a:r>
            <a:endParaRPr lang="en-US" sz="900" dirty="0">
              <a:solidFill>
                <a:schemeClr val="tx1"/>
              </a:solidFill>
            </a:endParaRPr>
          </a:p>
          <a:p>
            <a:pPr algn="ctr"/>
            <a:endParaRPr lang="en-US" sz="900" dirty="0">
              <a:solidFill>
                <a:schemeClr val="tx1"/>
              </a:solidFill>
            </a:endParaRPr>
          </a:p>
        </p:txBody>
      </p:sp>
      <p:sp>
        <p:nvSpPr>
          <p:cNvPr id="53" name="Diamond 52">
            <a:extLst>
              <a:ext uri="{FF2B5EF4-FFF2-40B4-BE49-F238E27FC236}">
                <a16:creationId xmlns:a16="http://schemas.microsoft.com/office/drawing/2014/main" id="{75D858EC-E7A1-4D55-83BA-E1EA9D296B37}"/>
              </a:ext>
            </a:extLst>
          </p:cNvPr>
          <p:cNvSpPr/>
          <p:nvPr/>
        </p:nvSpPr>
        <p:spPr>
          <a:xfrm>
            <a:off x="4448226" y="1620028"/>
            <a:ext cx="784082" cy="373926"/>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 </a:t>
            </a:r>
          </a:p>
        </p:txBody>
      </p:sp>
      <p:sp>
        <p:nvSpPr>
          <p:cNvPr id="66" name="TextBox 65">
            <a:extLst>
              <a:ext uri="{FF2B5EF4-FFF2-40B4-BE49-F238E27FC236}">
                <a16:creationId xmlns:a16="http://schemas.microsoft.com/office/drawing/2014/main" id="{82373C07-6CCF-49B3-B4C4-2647914EC9CD}"/>
              </a:ext>
            </a:extLst>
          </p:cNvPr>
          <p:cNvSpPr txBox="1"/>
          <p:nvPr/>
        </p:nvSpPr>
        <p:spPr>
          <a:xfrm>
            <a:off x="3904533" y="1622178"/>
            <a:ext cx="372218" cy="230832"/>
          </a:xfrm>
          <a:prstGeom prst="rect">
            <a:avLst/>
          </a:prstGeom>
          <a:noFill/>
        </p:spPr>
        <p:txBody>
          <a:bodyPr wrap="none" rtlCol="0">
            <a:spAutoFit/>
          </a:bodyPr>
          <a:lstStyle/>
          <a:p>
            <a:r>
              <a:rPr lang="en-US" sz="900"/>
              <a:t>YES</a:t>
            </a: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3595468" y="1806991"/>
            <a:ext cx="852758" cy="188758"/>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C09F399B-964F-408F-B4F9-57A4C8860845}"/>
              </a:ext>
            </a:extLst>
          </p:cNvPr>
          <p:cNvCxnSpPr>
            <a:cxnSpLocks/>
            <a:stCxn id="52" idx="2"/>
            <a:endCxn id="17" idx="0"/>
          </p:cNvCxnSpPr>
          <p:nvPr/>
        </p:nvCxnSpPr>
        <p:spPr>
          <a:xfrm rot="16200000" flipH="1">
            <a:off x="4116634" y="1876283"/>
            <a:ext cx="202466" cy="1244799"/>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E9189A7-FDF1-42BC-8BF0-698D2793D151}"/>
              </a:ext>
            </a:extLst>
          </p:cNvPr>
          <p:cNvSpPr txBox="1"/>
          <p:nvPr/>
        </p:nvSpPr>
        <p:spPr>
          <a:xfrm>
            <a:off x="4836805" y="3319950"/>
            <a:ext cx="327334" cy="230832"/>
          </a:xfrm>
          <a:prstGeom prst="rect">
            <a:avLst/>
          </a:prstGeom>
          <a:noFill/>
        </p:spPr>
        <p:txBody>
          <a:bodyPr wrap="none" rtlCol="0">
            <a:spAutoFit/>
          </a:bodyPr>
          <a:lstStyle/>
          <a:p>
            <a:r>
              <a:rPr lang="en-US" sz="900"/>
              <a:t>NO</a:t>
            </a:r>
          </a:p>
        </p:txBody>
      </p:sp>
      <p:cxnSp>
        <p:nvCxnSpPr>
          <p:cNvPr id="75" name="Connector: Elbow 74">
            <a:extLst>
              <a:ext uri="{FF2B5EF4-FFF2-40B4-BE49-F238E27FC236}">
                <a16:creationId xmlns:a16="http://schemas.microsoft.com/office/drawing/2014/main" id="{39196CB7-2823-4970-AF9C-71E476E5F37F}"/>
              </a:ext>
            </a:extLst>
          </p:cNvPr>
          <p:cNvCxnSpPr>
            <a:cxnSpLocks/>
            <a:stCxn id="25" idx="3"/>
            <a:endCxn id="132" idx="1"/>
          </p:cNvCxnSpPr>
          <p:nvPr/>
        </p:nvCxnSpPr>
        <p:spPr>
          <a:xfrm flipV="1">
            <a:off x="1871015" y="4489091"/>
            <a:ext cx="432325" cy="358619"/>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400ED04-C1BE-414C-AF94-CD1ACB12531B}"/>
              </a:ext>
            </a:extLst>
          </p:cNvPr>
          <p:cNvCxnSpPr>
            <a:cxnSpLocks/>
            <a:stCxn id="17" idx="1"/>
            <a:endCxn id="23" idx="3"/>
          </p:cNvCxnSpPr>
          <p:nvPr/>
        </p:nvCxnSpPr>
        <p:spPr>
          <a:xfrm flipH="1">
            <a:off x="3292267" y="2926103"/>
            <a:ext cx="261011" cy="93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79EE3FAF-601F-428D-B0B5-07CB81A7FF39}"/>
              </a:ext>
            </a:extLst>
          </p:cNvPr>
          <p:cNvCxnSpPr>
            <a:cxnSpLocks/>
            <a:stCxn id="23" idx="2"/>
            <a:endCxn id="98" idx="0"/>
          </p:cNvCxnSpPr>
          <p:nvPr/>
        </p:nvCxnSpPr>
        <p:spPr>
          <a:xfrm>
            <a:off x="2962031" y="3030782"/>
            <a:ext cx="1" cy="20457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8" name="Diamond 97">
            <a:extLst>
              <a:ext uri="{FF2B5EF4-FFF2-40B4-BE49-F238E27FC236}">
                <a16:creationId xmlns:a16="http://schemas.microsoft.com/office/drawing/2014/main" id="{38C392DD-B373-4258-BA89-18A07A791667}"/>
              </a:ext>
            </a:extLst>
          </p:cNvPr>
          <p:cNvSpPr/>
          <p:nvPr/>
        </p:nvSpPr>
        <p:spPr>
          <a:xfrm>
            <a:off x="2400008" y="3235360"/>
            <a:ext cx="1124047" cy="41070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obtained</a:t>
            </a:r>
          </a:p>
        </p:txBody>
      </p:sp>
      <p:sp>
        <p:nvSpPr>
          <p:cNvPr id="99" name="Diamond 98">
            <a:extLst>
              <a:ext uri="{FF2B5EF4-FFF2-40B4-BE49-F238E27FC236}">
                <a16:creationId xmlns:a16="http://schemas.microsoft.com/office/drawing/2014/main" id="{89855E73-75AC-4767-9298-CBC80E6832DA}"/>
              </a:ext>
            </a:extLst>
          </p:cNvPr>
          <p:cNvSpPr/>
          <p:nvPr/>
        </p:nvSpPr>
        <p:spPr>
          <a:xfrm>
            <a:off x="129603" y="3440377"/>
            <a:ext cx="1739668" cy="8541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pleocytosis</a:t>
            </a:r>
          </a:p>
          <a:p>
            <a:pPr algn="ctr"/>
            <a:r>
              <a:rPr lang="en-US" sz="900">
                <a:solidFill>
                  <a:schemeClr val="tx1"/>
                </a:solidFill>
              </a:rPr>
              <a:t>or traumatic</a:t>
            </a:r>
          </a:p>
        </p:txBody>
      </p:sp>
      <p:cxnSp>
        <p:nvCxnSpPr>
          <p:cNvPr id="113" name="Straight Arrow Connector 112">
            <a:extLst>
              <a:ext uri="{FF2B5EF4-FFF2-40B4-BE49-F238E27FC236}">
                <a16:creationId xmlns:a16="http://schemas.microsoft.com/office/drawing/2014/main" id="{39F09D3C-E8EE-414D-9DA5-0BF70A44E1AF}"/>
              </a:ext>
            </a:extLst>
          </p:cNvPr>
          <p:cNvCxnSpPr>
            <a:cxnSpLocks/>
            <a:stCxn id="98" idx="2"/>
            <a:endCxn id="132" idx="0"/>
          </p:cNvCxnSpPr>
          <p:nvPr/>
        </p:nvCxnSpPr>
        <p:spPr>
          <a:xfrm flipH="1">
            <a:off x="2958065" y="3646065"/>
            <a:ext cx="3967" cy="46026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F35B4DD2-9ACE-4957-BE87-2679189AEF9C}"/>
              </a:ext>
            </a:extLst>
          </p:cNvPr>
          <p:cNvCxnSpPr>
            <a:cxnSpLocks/>
            <a:stCxn id="98" idx="1"/>
            <a:endCxn id="99" idx="0"/>
          </p:cNvCxnSpPr>
          <p:nvPr/>
        </p:nvCxnSpPr>
        <p:spPr>
          <a:xfrm rot="10800000">
            <a:off x="999437" y="3440378"/>
            <a:ext cx="1400571" cy="335"/>
          </a:xfrm>
          <a:prstGeom prst="bentConnector4">
            <a:avLst>
              <a:gd name="adj1" fmla="val 18947"/>
              <a:gd name="adj2" fmla="val 627293"/>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6A61103A-7E35-4DD0-B5E9-44B13DA5E537}"/>
              </a:ext>
            </a:extLst>
          </p:cNvPr>
          <p:cNvSpPr/>
          <p:nvPr/>
        </p:nvSpPr>
        <p:spPr>
          <a:xfrm>
            <a:off x="2303340" y="4106333"/>
            <a:ext cx="1309451" cy="76551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chemeClr val="tx1"/>
                </a:solidFill>
              </a:rPr>
              <a:t>Administer </a:t>
            </a:r>
            <a:r>
              <a:rPr lang="en-US" sz="900" err="1">
                <a:solidFill>
                  <a:schemeClr val="tx1"/>
                </a:solidFill>
              </a:rPr>
              <a:t>Pabx</a:t>
            </a:r>
            <a:r>
              <a:rPr lang="en-US" sz="900">
                <a:solidFill>
                  <a:schemeClr val="tx1"/>
                </a:solidFill>
              </a:rPr>
              <a:t> (a)</a:t>
            </a:r>
          </a:p>
          <a:p>
            <a:pPr marL="171450" indent="-171450">
              <a:buFont typeface="+mj-lt"/>
              <a:buAutoNum type="arabicPeriod"/>
            </a:pPr>
            <a:r>
              <a:rPr lang="en-US" sz="900">
                <a:solidFill>
                  <a:schemeClr val="tx1"/>
                </a:solidFill>
              </a:rPr>
              <a:t>If CSF pleocytosis </a:t>
            </a:r>
            <a:r>
              <a:rPr lang="en-US" sz="900" b="1">
                <a:solidFill>
                  <a:schemeClr val="tx1"/>
                </a:solidFill>
              </a:rPr>
              <a:t>‡</a:t>
            </a:r>
            <a:r>
              <a:rPr lang="en-US" sz="900">
                <a:solidFill>
                  <a:schemeClr val="tx1"/>
                </a:solidFill>
              </a:rPr>
              <a:t>, then assess for cause and consider acyclovir</a:t>
            </a:r>
          </a:p>
        </p:txBody>
      </p:sp>
      <p:sp>
        <p:nvSpPr>
          <p:cNvPr id="137" name="TextBox 136">
            <a:extLst>
              <a:ext uri="{FF2B5EF4-FFF2-40B4-BE49-F238E27FC236}">
                <a16:creationId xmlns:a16="http://schemas.microsoft.com/office/drawing/2014/main" id="{F0201F79-0B96-4544-A0AB-F49406BD9754}"/>
              </a:ext>
            </a:extLst>
          </p:cNvPr>
          <p:cNvSpPr txBox="1"/>
          <p:nvPr/>
        </p:nvSpPr>
        <p:spPr>
          <a:xfrm>
            <a:off x="1009522" y="5184645"/>
            <a:ext cx="327334" cy="230832"/>
          </a:xfrm>
          <a:prstGeom prst="rect">
            <a:avLst/>
          </a:prstGeom>
          <a:noFill/>
        </p:spPr>
        <p:txBody>
          <a:bodyPr wrap="none" rtlCol="0">
            <a:spAutoFit/>
          </a:bodyPr>
          <a:lstStyle/>
          <a:p>
            <a:r>
              <a:rPr lang="en-US" sz="900"/>
              <a:t>NO</a:t>
            </a:r>
          </a:p>
        </p:txBody>
      </p:sp>
      <p:cxnSp>
        <p:nvCxnSpPr>
          <p:cNvPr id="77" name="Straight Arrow Connector 76">
            <a:extLst>
              <a:ext uri="{FF2B5EF4-FFF2-40B4-BE49-F238E27FC236}">
                <a16:creationId xmlns:a16="http://schemas.microsoft.com/office/drawing/2014/main" id="{F038CE39-B230-4638-BDC3-A7D05DBF00A5}"/>
              </a:ext>
            </a:extLst>
          </p:cNvPr>
          <p:cNvCxnSpPr>
            <a:cxnSpLocks/>
          </p:cNvCxnSpPr>
          <p:nvPr/>
        </p:nvCxnSpPr>
        <p:spPr>
          <a:xfrm>
            <a:off x="5935880" y="4809619"/>
            <a:ext cx="7144" cy="20447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6682A6C-F095-4A60-8C08-A9E8A754B58B}"/>
              </a:ext>
            </a:extLst>
          </p:cNvPr>
          <p:cNvCxnSpPr>
            <a:cxnSpLocks/>
            <a:stCxn id="16" idx="2"/>
            <a:endCxn id="53" idx="0"/>
          </p:cNvCxnSpPr>
          <p:nvPr/>
        </p:nvCxnSpPr>
        <p:spPr>
          <a:xfrm>
            <a:off x="4840267" y="1451663"/>
            <a:ext cx="0" cy="16836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ACFF553-329C-45C1-A288-B71BF0FF4E46}"/>
              </a:ext>
            </a:extLst>
          </p:cNvPr>
          <p:cNvCxnSpPr>
            <a:cxnSpLocks/>
            <a:stCxn id="53" idx="2"/>
            <a:endCxn id="17" idx="0"/>
          </p:cNvCxnSpPr>
          <p:nvPr/>
        </p:nvCxnSpPr>
        <p:spPr>
          <a:xfrm>
            <a:off x="4840267" y="1993954"/>
            <a:ext cx="0" cy="60596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00CF871-694B-4DEC-B0F7-001EBAA09CFA}"/>
              </a:ext>
            </a:extLst>
          </p:cNvPr>
          <p:cNvCxnSpPr>
            <a:cxnSpLocks/>
            <a:stCxn id="99" idx="2"/>
            <a:endCxn id="25" idx="0"/>
          </p:cNvCxnSpPr>
          <p:nvPr/>
        </p:nvCxnSpPr>
        <p:spPr>
          <a:xfrm>
            <a:off x="999437" y="4294491"/>
            <a:ext cx="1743" cy="15925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F01C68BF-0349-4683-8286-7C0B8E1BC5F3}"/>
              </a:ext>
            </a:extLst>
          </p:cNvPr>
          <p:cNvCxnSpPr>
            <a:cxnSpLocks/>
            <a:stCxn id="17" idx="2"/>
            <a:endCxn id="54" idx="0"/>
          </p:cNvCxnSpPr>
          <p:nvPr/>
        </p:nvCxnSpPr>
        <p:spPr>
          <a:xfrm>
            <a:off x="4840267" y="3252288"/>
            <a:ext cx="1" cy="37686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00D7B16E-858A-4382-BF22-F65F82060E72}"/>
              </a:ext>
            </a:extLst>
          </p:cNvPr>
          <p:cNvCxnSpPr>
            <a:cxnSpLocks/>
            <a:stCxn id="54" idx="2"/>
            <a:endCxn id="33" idx="0"/>
          </p:cNvCxnSpPr>
          <p:nvPr/>
        </p:nvCxnSpPr>
        <p:spPr>
          <a:xfrm flipH="1">
            <a:off x="4840267" y="4043115"/>
            <a:ext cx="1" cy="29620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9449D198-20DC-40B0-A286-712E22D6E6D3}"/>
              </a:ext>
            </a:extLst>
          </p:cNvPr>
          <p:cNvCxnSpPr>
            <a:cxnSpLocks/>
            <a:stCxn id="33" idx="3"/>
            <a:endCxn id="36" idx="1"/>
          </p:cNvCxnSpPr>
          <p:nvPr/>
        </p:nvCxnSpPr>
        <p:spPr>
          <a:xfrm flipV="1">
            <a:off x="5170503" y="4480665"/>
            <a:ext cx="193166" cy="826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A5FFD95E-EE0D-4FB7-BAF0-655B85DF600D}"/>
              </a:ext>
            </a:extLst>
          </p:cNvPr>
          <p:cNvSpPr txBox="1"/>
          <p:nvPr/>
        </p:nvSpPr>
        <p:spPr>
          <a:xfrm>
            <a:off x="1735339" y="3222107"/>
            <a:ext cx="457200" cy="369332"/>
          </a:xfrm>
          <a:prstGeom prst="rect">
            <a:avLst/>
          </a:prstGeom>
          <a:noFill/>
        </p:spPr>
        <p:txBody>
          <a:bodyPr wrap="square" rtlCol="0">
            <a:spAutoFit/>
          </a:bodyPr>
          <a:lstStyle/>
          <a:p>
            <a:r>
              <a:rPr lang="en-US" sz="900"/>
              <a:t>YES</a:t>
            </a:r>
          </a:p>
        </p:txBody>
      </p:sp>
      <p:sp>
        <p:nvSpPr>
          <p:cNvPr id="170" name="TextBox 169">
            <a:extLst>
              <a:ext uri="{FF2B5EF4-FFF2-40B4-BE49-F238E27FC236}">
                <a16:creationId xmlns:a16="http://schemas.microsoft.com/office/drawing/2014/main" id="{0A8C7542-6C20-4210-A8A0-36B85756B45B}"/>
              </a:ext>
            </a:extLst>
          </p:cNvPr>
          <p:cNvSpPr txBox="1"/>
          <p:nvPr/>
        </p:nvSpPr>
        <p:spPr>
          <a:xfrm>
            <a:off x="1023671" y="4245993"/>
            <a:ext cx="327334" cy="230832"/>
          </a:xfrm>
          <a:prstGeom prst="rect">
            <a:avLst/>
          </a:prstGeom>
          <a:noFill/>
        </p:spPr>
        <p:txBody>
          <a:bodyPr wrap="none" rtlCol="0">
            <a:spAutoFit/>
          </a:bodyPr>
          <a:lstStyle/>
          <a:p>
            <a:r>
              <a:rPr lang="en-US" sz="900"/>
              <a:t>NO</a:t>
            </a:r>
          </a:p>
        </p:txBody>
      </p:sp>
      <p:cxnSp>
        <p:nvCxnSpPr>
          <p:cNvPr id="171" name="Straight Arrow Connector 170">
            <a:extLst>
              <a:ext uri="{FF2B5EF4-FFF2-40B4-BE49-F238E27FC236}">
                <a16:creationId xmlns:a16="http://schemas.microsoft.com/office/drawing/2014/main" id="{3EC02FED-AB70-4EEB-B1AA-3A08EA68D9EA}"/>
              </a:ext>
            </a:extLst>
          </p:cNvPr>
          <p:cNvCxnSpPr>
            <a:cxnSpLocks/>
            <a:stCxn id="25" idx="2"/>
            <a:endCxn id="30" idx="0"/>
          </p:cNvCxnSpPr>
          <p:nvPr/>
        </p:nvCxnSpPr>
        <p:spPr>
          <a:xfrm flipH="1">
            <a:off x="997493" y="5241678"/>
            <a:ext cx="3688" cy="17390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Connector: Elbow 174">
            <a:extLst>
              <a:ext uri="{FF2B5EF4-FFF2-40B4-BE49-F238E27FC236}">
                <a16:creationId xmlns:a16="http://schemas.microsoft.com/office/drawing/2014/main" id="{F7F811CB-D450-4B47-A630-3B0A179B63D9}"/>
              </a:ext>
            </a:extLst>
          </p:cNvPr>
          <p:cNvCxnSpPr>
            <a:cxnSpLocks/>
            <a:stCxn id="30" idx="3"/>
            <a:endCxn id="33" idx="2"/>
          </p:cNvCxnSpPr>
          <p:nvPr/>
        </p:nvCxnSpPr>
        <p:spPr>
          <a:xfrm flipV="1">
            <a:off x="1646950" y="4624256"/>
            <a:ext cx="3193317" cy="956642"/>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D7C96248-2CFE-483D-876F-61554EEC501A}"/>
              </a:ext>
            </a:extLst>
          </p:cNvPr>
          <p:cNvCxnSpPr>
            <a:cxnSpLocks/>
            <a:stCxn id="132" idx="3"/>
            <a:endCxn id="33" idx="1"/>
          </p:cNvCxnSpPr>
          <p:nvPr/>
        </p:nvCxnSpPr>
        <p:spPr>
          <a:xfrm flipV="1">
            <a:off x="3612790" y="4481788"/>
            <a:ext cx="897240" cy="73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Connector: Elbow 203">
            <a:extLst>
              <a:ext uri="{FF2B5EF4-FFF2-40B4-BE49-F238E27FC236}">
                <a16:creationId xmlns:a16="http://schemas.microsoft.com/office/drawing/2014/main" id="{FE7B5B47-DD8F-4733-B53D-9C97DAA80F74}"/>
              </a:ext>
            </a:extLst>
          </p:cNvPr>
          <p:cNvCxnSpPr>
            <a:cxnSpLocks/>
            <a:stCxn id="99" idx="3"/>
            <a:endCxn id="132" idx="1"/>
          </p:cNvCxnSpPr>
          <p:nvPr/>
        </p:nvCxnSpPr>
        <p:spPr>
          <a:xfrm>
            <a:off x="1869270" y="3867434"/>
            <a:ext cx="434069" cy="621657"/>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72" name="Rectangle 171">
            <a:extLst>
              <a:ext uri="{FF2B5EF4-FFF2-40B4-BE49-F238E27FC236}">
                <a16:creationId xmlns:a16="http://schemas.microsoft.com/office/drawing/2014/main" id="{2417D3E9-0AD1-4EF2-97FB-87A3BCBA008F}"/>
              </a:ext>
            </a:extLst>
          </p:cNvPr>
          <p:cNvSpPr/>
          <p:nvPr/>
        </p:nvSpPr>
        <p:spPr>
          <a:xfrm>
            <a:off x="6690771" y="1227904"/>
            <a:ext cx="2290199" cy="2498884"/>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a:t>
            </a:r>
            <a:r>
              <a:rPr lang="en-US" sz="900" dirty="0">
                <a:solidFill>
                  <a:schemeClr val="tx1"/>
                </a:solidFill>
              </a:rPr>
              <a:t>  AAP includes CRP to assess risk</a:t>
            </a:r>
          </a:p>
          <a:p>
            <a:r>
              <a:rPr lang="en-US" sz="900" b="1" dirty="0">
                <a:solidFill>
                  <a:schemeClr val="tx1"/>
                </a:solidFill>
              </a:rPr>
              <a:t>†</a:t>
            </a:r>
            <a:r>
              <a:rPr lang="en-US" sz="900" dirty="0">
                <a:solidFill>
                  <a:schemeClr val="tx1"/>
                </a:solidFill>
              </a:rPr>
              <a:t>  AAP includes CRP &gt; 2.0 mg/dl or ANC &gt; 4000-5200 per mm as high risk</a:t>
            </a:r>
          </a:p>
          <a:p>
            <a:r>
              <a:rPr lang="en-US" sz="900" b="1" dirty="0">
                <a:solidFill>
                  <a:schemeClr val="tx1"/>
                </a:solidFill>
              </a:rPr>
              <a:t>‡</a:t>
            </a:r>
            <a:r>
              <a:rPr lang="en-US" sz="900" dirty="0">
                <a:solidFill>
                  <a:schemeClr val="tx1"/>
                </a:solidFill>
              </a:rPr>
              <a:t>  Although uncommon, CSF pleocytosis may be due to HSV and prompt recognition and treatment is essential.</a:t>
            </a:r>
          </a:p>
          <a:p>
            <a:r>
              <a:rPr lang="en-US" sz="900" b="1" dirty="0">
                <a:solidFill>
                  <a:schemeClr val="tx1"/>
                </a:solidFill>
              </a:rPr>
              <a:t>§</a:t>
            </a:r>
            <a:r>
              <a:rPr lang="en-US" sz="900" dirty="0">
                <a:solidFill>
                  <a:schemeClr val="tx1"/>
                </a:solidFill>
              </a:rPr>
              <a:t>  AAP recommends LP and </a:t>
            </a:r>
            <a:r>
              <a:rPr lang="en-US" sz="900" dirty="0" err="1">
                <a:solidFill>
                  <a:schemeClr val="tx1"/>
                </a:solidFill>
              </a:rPr>
              <a:t>Pabx</a:t>
            </a:r>
            <a:r>
              <a:rPr lang="en-US" sz="900" dirty="0">
                <a:solidFill>
                  <a:schemeClr val="tx1"/>
                </a:solidFill>
              </a:rPr>
              <a:t> in all infants 7-21 days, our recommendations based on published/unpublished KPNC-specific data. </a:t>
            </a:r>
          </a:p>
          <a:p>
            <a:r>
              <a:rPr lang="en-US" sz="900" b="1" dirty="0">
                <a:solidFill>
                  <a:schemeClr val="tx1"/>
                </a:solidFill>
              </a:rPr>
              <a:t>¶</a:t>
            </a:r>
            <a:r>
              <a:rPr lang="en-US" sz="900" dirty="0">
                <a:solidFill>
                  <a:schemeClr val="tx1"/>
                </a:solidFill>
              </a:rPr>
              <a:t>  See next section for recommendations of low-risk infants starting on </a:t>
            </a:r>
            <a:r>
              <a:rPr lang="en-US" sz="900" dirty="0" err="1">
                <a:solidFill>
                  <a:schemeClr val="tx1"/>
                </a:solidFill>
              </a:rPr>
              <a:t>Pabx</a:t>
            </a:r>
            <a:endParaRPr lang="en-US" sz="900" dirty="0">
              <a:solidFill>
                <a:schemeClr val="tx1"/>
              </a:solidFill>
            </a:endParaRP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p:txBody>
      </p:sp>
      <p:sp>
        <p:nvSpPr>
          <p:cNvPr id="54" name="Rectangle 53">
            <a:extLst>
              <a:ext uri="{FF2B5EF4-FFF2-40B4-BE49-F238E27FC236}">
                <a16:creationId xmlns:a16="http://schemas.microsoft.com/office/drawing/2014/main" id="{F2618E00-188A-4D56-949F-2D3A5884752D}"/>
              </a:ext>
            </a:extLst>
          </p:cNvPr>
          <p:cNvSpPr/>
          <p:nvPr/>
        </p:nvSpPr>
        <p:spPr>
          <a:xfrm>
            <a:off x="4189798" y="3629152"/>
            <a:ext cx="1300938" cy="41396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CONSULT PEDS</a:t>
            </a:r>
            <a:endParaRPr lang="en-US" sz="900" dirty="0">
              <a:solidFill>
                <a:schemeClr val="tx1"/>
              </a:solidFill>
            </a:endParaRPr>
          </a:p>
          <a:p>
            <a:pPr algn="ctr"/>
            <a:r>
              <a:rPr lang="en-US" sz="900" dirty="0">
                <a:solidFill>
                  <a:schemeClr val="tx1"/>
                </a:solidFill>
              </a:rPr>
              <a:t>May perform LP and may withhold </a:t>
            </a:r>
            <a:r>
              <a:rPr lang="en-US" sz="900" dirty="0" err="1">
                <a:solidFill>
                  <a:schemeClr val="tx1"/>
                </a:solidFill>
              </a:rPr>
              <a:t>Pabx</a:t>
            </a:r>
            <a:r>
              <a:rPr lang="en-US" sz="900" dirty="0">
                <a:solidFill>
                  <a:schemeClr val="tx1"/>
                </a:solidFill>
              </a:rPr>
              <a:t> </a:t>
            </a:r>
            <a:r>
              <a:rPr lang="en-US" sz="900" b="1" dirty="0">
                <a:solidFill>
                  <a:schemeClr val="tx1"/>
                </a:solidFill>
              </a:rPr>
              <a:t>§</a:t>
            </a:r>
            <a:r>
              <a:rPr lang="en-US" sz="900" dirty="0">
                <a:solidFill>
                  <a:schemeClr val="tx1"/>
                </a:solidFill>
              </a:rPr>
              <a:t> </a:t>
            </a:r>
            <a:r>
              <a:rPr lang="en-US" sz="900" b="1" dirty="0">
                <a:solidFill>
                  <a:schemeClr val="tx1"/>
                </a:solidFill>
              </a:rPr>
              <a:t>¶ </a:t>
            </a:r>
          </a:p>
        </p:txBody>
      </p:sp>
      <p:sp>
        <p:nvSpPr>
          <p:cNvPr id="55" name="TextBox 54">
            <a:extLst>
              <a:ext uri="{FF2B5EF4-FFF2-40B4-BE49-F238E27FC236}">
                <a16:creationId xmlns:a16="http://schemas.microsoft.com/office/drawing/2014/main" id="{7486E73E-ED56-44F9-B87C-ED0DC4E00F2E}"/>
              </a:ext>
            </a:extLst>
          </p:cNvPr>
          <p:cNvSpPr txBox="1"/>
          <p:nvPr/>
        </p:nvSpPr>
        <p:spPr>
          <a:xfrm>
            <a:off x="1754863" y="4613543"/>
            <a:ext cx="457200" cy="369332"/>
          </a:xfrm>
          <a:prstGeom prst="rect">
            <a:avLst/>
          </a:prstGeom>
          <a:noFill/>
        </p:spPr>
        <p:txBody>
          <a:bodyPr wrap="square" rtlCol="0">
            <a:spAutoFit/>
          </a:bodyPr>
          <a:lstStyle/>
          <a:p>
            <a:r>
              <a:rPr lang="en-US" sz="900" dirty="0"/>
              <a:t>YES</a:t>
            </a:r>
          </a:p>
        </p:txBody>
      </p:sp>
      <p:sp>
        <p:nvSpPr>
          <p:cNvPr id="3" name="TextBox 2">
            <a:extLst>
              <a:ext uri="{FF2B5EF4-FFF2-40B4-BE49-F238E27FC236}">
                <a16:creationId xmlns:a16="http://schemas.microsoft.com/office/drawing/2014/main" id="{67213412-D456-4C1B-B87F-910E0B625D7D}"/>
              </a:ext>
            </a:extLst>
          </p:cNvPr>
          <p:cNvSpPr txBox="1"/>
          <p:nvPr/>
        </p:nvSpPr>
        <p:spPr>
          <a:xfrm>
            <a:off x="5082693" y="3296867"/>
            <a:ext cx="1224987" cy="253916"/>
          </a:xfrm>
          <a:prstGeom prst="rect">
            <a:avLst/>
          </a:prstGeom>
          <a:noFill/>
        </p:spPr>
        <p:txBody>
          <a:bodyPr wrap="square" rtlCol="0">
            <a:spAutoFit/>
          </a:bodyPr>
          <a:lstStyle/>
          <a:p>
            <a:r>
              <a:rPr lang="en-US" sz="1050" b="1" dirty="0">
                <a:hlinkClick r:id="rId2" action="ppaction://hlinksldjump">
                  <a:extLst>
                    <a:ext uri="{A12FA001-AC4F-418D-AE19-62706E023703}">
                      <ahyp:hlinkClr xmlns:ahyp="http://schemas.microsoft.com/office/drawing/2018/hyperlinkcolor" val="tx"/>
                    </a:ext>
                  </a:extLst>
                </a:hlinkClick>
              </a:rPr>
              <a:t>Patient is low-risk</a:t>
            </a:r>
            <a:endParaRPr lang="en-US" sz="1050" b="1" dirty="0"/>
          </a:p>
        </p:txBody>
      </p:sp>
      <p:grpSp>
        <p:nvGrpSpPr>
          <p:cNvPr id="56" name="Group 55">
            <a:extLst>
              <a:ext uri="{FF2B5EF4-FFF2-40B4-BE49-F238E27FC236}">
                <a16:creationId xmlns:a16="http://schemas.microsoft.com/office/drawing/2014/main" id="{F80CF864-23A9-47B8-9BB1-551A15191ABB}"/>
              </a:ext>
            </a:extLst>
          </p:cNvPr>
          <p:cNvGrpSpPr/>
          <p:nvPr/>
        </p:nvGrpSpPr>
        <p:grpSpPr>
          <a:xfrm>
            <a:off x="6498089" y="3980447"/>
            <a:ext cx="2489320" cy="1481537"/>
            <a:chOff x="7699889" y="4332141"/>
            <a:chExt cx="3319093" cy="1975383"/>
          </a:xfrm>
        </p:grpSpPr>
        <p:sp>
          <p:nvSpPr>
            <p:cNvPr id="57" name="Rectangle 56">
              <a:extLst>
                <a:ext uri="{FF2B5EF4-FFF2-40B4-BE49-F238E27FC236}">
                  <a16:creationId xmlns:a16="http://schemas.microsoft.com/office/drawing/2014/main" id="{63B2D5DC-02E5-4077-801C-FA3AAF3BA672}"/>
                </a:ext>
              </a:extLst>
            </p:cNvPr>
            <p:cNvSpPr/>
            <p:nvPr/>
          </p:nvSpPr>
          <p:spPr>
            <a:xfrm>
              <a:off x="9723195" y="4332141"/>
              <a:ext cx="1295787" cy="16450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Complete treatment with oral antimicrobials </a:t>
              </a:r>
            </a:p>
            <a:p>
              <a:pPr marL="171450" indent="-171450">
                <a:buFont typeface="+mj-lt"/>
                <a:buAutoNum type="arabicPeriod"/>
              </a:pPr>
              <a:r>
                <a:rPr lang="en-US" sz="900" dirty="0">
                  <a:solidFill>
                    <a:schemeClr val="tx1"/>
                  </a:solidFill>
                </a:rPr>
                <a:t>Discharge hospitalized infants</a:t>
              </a:r>
            </a:p>
          </p:txBody>
        </p:sp>
        <p:cxnSp>
          <p:nvCxnSpPr>
            <p:cNvPr id="58" name="Straight Arrow Connector 57">
              <a:extLst>
                <a:ext uri="{FF2B5EF4-FFF2-40B4-BE49-F238E27FC236}">
                  <a16:creationId xmlns:a16="http://schemas.microsoft.com/office/drawing/2014/main" id="{0A2F6716-4E46-4F9A-9E98-3E8A156CD199}"/>
                </a:ext>
              </a:extLst>
            </p:cNvPr>
            <p:cNvCxnSpPr>
              <a:cxnSpLocks/>
              <a:stCxn id="36" idx="3"/>
              <a:endCxn id="60" idx="1"/>
            </p:cNvCxnSpPr>
            <p:nvPr/>
          </p:nvCxnSpPr>
          <p:spPr>
            <a:xfrm flipV="1">
              <a:off x="7771965" y="4992038"/>
              <a:ext cx="366595" cy="706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FB3DA17-1BF6-4320-BDF3-7FEAE69E8999}"/>
                </a:ext>
              </a:extLst>
            </p:cNvPr>
            <p:cNvSpPr txBox="1"/>
            <p:nvPr/>
          </p:nvSpPr>
          <p:spPr>
            <a:xfrm>
              <a:off x="7699889" y="4660152"/>
              <a:ext cx="522241" cy="307776"/>
            </a:xfrm>
            <a:prstGeom prst="rect">
              <a:avLst/>
            </a:prstGeom>
            <a:noFill/>
          </p:spPr>
          <p:txBody>
            <a:bodyPr wrap="square" rtlCol="0">
              <a:spAutoFit/>
            </a:bodyPr>
            <a:lstStyle/>
            <a:p>
              <a:r>
                <a:rPr lang="en-US" sz="900" dirty="0"/>
                <a:t>YES</a:t>
              </a:r>
            </a:p>
          </p:txBody>
        </p:sp>
        <p:sp>
          <p:nvSpPr>
            <p:cNvPr id="60" name="Diamond 59">
              <a:extLst>
                <a:ext uri="{FF2B5EF4-FFF2-40B4-BE49-F238E27FC236}">
                  <a16:creationId xmlns:a16="http://schemas.microsoft.com/office/drawing/2014/main" id="{54E77C41-B34B-4C1B-9BE2-F3980DB1434B}"/>
                </a:ext>
              </a:extLst>
            </p:cNvPr>
            <p:cNvSpPr/>
            <p:nvPr/>
          </p:nvSpPr>
          <p:spPr>
            <a:xfrm>
              <a:off x="8138560" y="4432741"/>
              <a:ext cx="1296833" cy="111859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Source limited to urine</a:t>
              </a:r>
            </a:p>
          </p:txBody>
        </p:sp>
        <p:sp>
          <p:nvSpPr>
            <p:cNvPr id="61" name="Rectangle 60">
              <a:extLst>
                <a:ext uri="{FF2B5EF4-FFF2-40B4-BE49-F238E27FC236}">
                  <a16:creationId xmlns:a16="http://schemas.microsoft.com/office/drawing/2014/main" id="{882005E4-AA2D-44B1-8796-FB067D0ADCB6}"/>
                </a:ext>
              </a:extLst>
            </p:cNvPr>
            <p:cNvSpPr/>
            <p:nvPr/>
          </p:nvSpPr>
          <p:spPr>
            <a:xfrm>
              <a:off x="8392398" y="5844954"/>
              <a:ext cx="880630" cy="4625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62" name="TextBox 61">
              <a:extLst>
                <a:ext uri="{FF2B5EF4-FFF2-40B4-BE49-F238E27FC236}">
                  <a16:creationId xmlns:a16="http://schemas.microsoft.com/office/drawing/2014/main" id="{E478B0ED-366C-48EE-ACB6-1AEBA7F8914F}"/>
                </a:ext>
              </a:extLst>
            </p:cNvPr>
            <p:cNvSpPr txBox="1"/>
            <p:nvPr/>
          </p:nvSpPr>
          <p:spPr>
            <a:xfrm>
              <a:off x="9324037" y="4698092"/>
              <a:ext cx="522243" cy="307776"/>
            </a:xfrm>
            <a:prstGeom prst="rect">
              <a:avLst/>
            </a:prstGeom>
            <a:noFill/>
          </p:spPr>
          <p:txBody>
            <a:bodyPr wrap="square" rtlCol="0">
              <a:spAutoFit/>
            </a:bodyPr>
            <a:lstStyle/>
            <a:p>
              <a:r>
                <a:rPr lang="en-US" sz="900"/>
                <a:t>YES</a:t>
              </a:r>
            </a:p>
          </p:txBody>
        </p:sp>
        <p:cxnSp>
          <p:nvCxnSpPr>
            <p:cNvPr id="63" name="Straight Arrow Connector 62">
              <a:extLst>
                <a:ext uri="{FF2B5EF4-FFF2-40B4-BE49-F238E27FC236}">
                  <a16:creationId xmlns:a16="http://schemas.microsoft.com/office/drawing/2014/main" id="{E361C828-CAFF-4376-B91F-9D6541C9081B}"/>
                </a:ext>
              </a:extLst>
            </p:cNvPr>
            <p:cNvCxnSpPr>
              <a:cxnSpLocks/>
              <a:stCxn id="60" idx="3"/>
            </p:cNvCxnSpPr>
            <p:nvPr/>
          </p:nvCxnSpPr>
          <p:spPr>
            <a:xfrm flipV="1">
              <a:off x="9435393" y="4986278"/>
              <a:ext cx="291481" cy="576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10D8B5D-8787-4A89-99B1-83E58647B664}"/>
                </a:ext>
              </a:extLst>
            </p:cNvPr>
            <p:cNvCxnSpPr>
              <a:cxnSpLocks/>
            </p:cNvCxnSpPr>
            <p:nvPr/>
          </p:nvCxnSpPr>
          <p:spPr>
            <a:xfrm>
              <a:off x="8811690" y="5574094"/>
              <a:ext cx="2438" cy="26498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AC90642-A2F4-4540-86B7-BAE2EA875563}"/>
                </a:ext>
              </a:extLst>
            </p:cNvPr>
            <p:cNvSpPr txBox="1"/>
            <p:nvPr/>
          </p:nvSpPr>
          <p:spPr>
            <a:xfrm>
              <a:off x="8837049" y="5532879"/>
              <a:ext cx="436445" cy="307776"/>
            </a:xfrm>
            <a:prstGeom prst="rect">
              <a:avLst/>
            </a:prstGeom>
            <a:noFill/>
          </p:spPr>
          <p:txBody>
            <a:bodyPr wrap="none" rtlCol="0">
              <a:spAutoFit/>
            </a:bodyPr>
            <a:lstStyle/>
            <a:p>
              <a:r>
                <a:rPr lang="en-US" sz="900"/>
                <a:t>NO</a:t>
              </a:r>
            </a:p>
          </p:txBody>
        </p:sp>
      </p:grpSp>
      <p:sp>
        <p:nvSpPr>
          <p:cNvPr id="67" name="TextBox 66">
            <a:extLst>
              <a:ext uri="{FF2B5EF4-FFF2-40B4-BE49-F238E27FC236}">
                <a16:creationId xmlns:a16="http://schemas.microsoft.com/office/drawing/2014/main" id="{E57AA8F3-5F4E-408F-A8E1-29485B4BCD0E}"/>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9" name="Title 1">
            <a:extLst>
              <a:ext uri="{FF2B5EF4-FFF2-40B4-BE49-F238E27FC236}">
                <a16:creationId xmlns:a16="http://schemas.microsoft.com/office/drawing/2014/main" id="{C84BF5BB-C129-4F89-9856-36187EA485CC}"/>
              </a:ext>
            </a:extLst>
          </p:cNvPr>
          <p:cNvSpPr txBox="1">
            <a:spLocks/>
          </p:cNvSpPr>
          <p:nvPr/>
        </p:nvSpPr>
        <p:spPr bwMode="gray">
          <a:xfrm>
            <a:off x="474993" y="360458"/>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7-21 Days Old, Well-Appearing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492586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189560A-3D8B-4B83-8ED1-58C6AB418573}"/>
              </a:ext>
            </a:extLst>
          </p:cNvPr>
          <p:cNvGrpSpPr/>
          <p:nvPr/>
        </p:nvGrpSpPr>
        <p:grpSpPr>
          <a:xfrm>
            <a:off x="530711" y="1408104"/>
            <a:ext cx="7911662" cy="4828270"/>
            <a:chOff x="530711" y="1408104"/>
            <a:chExt cx="7911662" cy="4828270"/>
          </a:xfrm>
        </p:grpSpPr>
        <p:sp>
          <p:nvSpPr>
            <p:cNvPr id="41" name="Rectangle 40">
              <a:extLst>
                <a:ext uri="{FF2B5EF4-FFF2-40B4-BE49-F238E27FC236}">
                  <a16:creationId xmlns:a16="http://schemas.microsoft.com/office/drawing/2014/main" id="{E73D0D02-152E-4442-A4E8-890DF8E6A7B1}"/>
                </a:ext>
              </a:extLst>
            </p:cNvPr>
            <p:cNvSpPr/>
            <p:nvPr/>
          </p:nvSpPr>
          <p:spPr>
            <a:xfrm>
              <a:off x="2953247" y="5564178"/>
              <a:ext cx="2242795" cy="67219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a:solidFill>
                    <a:schemeClr val="tx1"/>
                  </a:solidFill>
                </a:rPr>
                <a:t>Discontinue antimicrobial(s) and may discharge hospitalized infant if all </a:t>
              </a:r>
              <a:r>
                <a:rPr lang="en-US" sz="900" err="1">
                  <a:solidFill>
                    <a:schemeClr val="tx1"/>
                  </a:solidFill>
                </a:rPr>
                <a:t>Cx</a:t>
              </a:r>
              <a:r>
                <a:rPr lang="en-US" sz="900">
                  <a:solidFill>
                    <a:schemeClr val="tx1"/>
                  </a:solidFill>
                </a:rPr>
                <a:t>- at 24-36 </a:t>
              </a:r>
              <a:r>
                <a:rPr lang="en-US" sz="900" err="1">
                  <a:solidFill>
                    <a:schemeClr val="tx1"/>
                  </a:solidFill>
                </a:rPr>
                <a:t>hrs</a:t>
              </a:r>
              <a:r>
                <a:rPr lang="en-US" sz="900">
                  <a:solidFill>
                    <a:schemeClr val="tx1"/>
                  </a:solidFill>
                </a:rPr>
                <a:t> and HSV PCR (if sent)</a:t>
              </a:r>
            </a:p>
            <a:p>
              <a:pPr marL="144661" indent="-144661">
                <a:buFont typeface="+mj-lt"/>
                <a:buAutoNum type="arabicPeriod"/>
              </a:pPr>
              <a:r>
                <a:rPr lang="en-US" sz="900">
                  <a:solidFill>
                    <a:schemeClr val="tx1"/>
                  </a:solidFill>
                </a:rPr>
                <a:t>Follow for duration of illness</a:t>
              </a:r>
            </a:p>
          </p:txBody>
        </p:sp>
        <p:sp>
          <p:nvSpPr>
            <p:cNvPr id="47" name="TextBox 46">
              <a:extLst>
                <a:ext uri="{FF2B5EF4-FFF2-40B4-BE49-F238E27FC236}">
                  <a16:creationId xmlns:a16="http://schemas.microsoft.com/office/drawing/2014/main" id="{1C9560ED-7208-4CDD-8F10-43522EB012DE}"/>
                </a:ext>
              </a:extLst>
            </p:cNvPr>
            <p:cNvSpPr txBox="1"/>
            <p:nvPr/>
          </p:nvSpPr>
          <p:spPr>
            <a:xfrm>
              <a:off x="3945780" y="3442568"/>
              <a:ext cx="327334" cy="230832"/>
            </a:xfrm>
            <a:prstGeom prst="rect">
              <a:avLst/>
            </a:prstGeom>
            <a:noFill/>
          </p:spPr>
          <p:txBody>
            <a:bodyPr wrap="none" rtlCol="0">
              <a:spAutoFit/>
            </a:bodyPr>
            <a:lstStyle/>
            <a:p>
              <a:r>
                <a:rPr lang="en-US" sz="900"/>
                <a:t>NO</a:t>
              </a:r>
            </a:p>
          </p:txBody>
        </p:sp>
        <p:cxnSp>
          <p:nvCxnSpPr>
            <p:cNvPr id="77" name="Straight Arrow Connector 76">
              <a:extLst>
                <a:ext uri="{FF2B5EF4-FFF2-40B4-BE49-F238E27FC236}">
                  <a16:creationId xmlns:a16="http://schemas.microsoft.com/office/drawing/2014/main" id="{F038CE39-B230-4638-BDC3-A7D05DBF00A5}"/>
                </a:ext>
              </a:extLst>
            </p:cNvPr>
            <p:cNvCxnSpPr>
              <a:cxnSpLocks/>
              <a:endCxn id="93" idx="0"/>
            </p:cNvCxnSpPr>
            <p:nvPr/>
          </p:nvCxnSpPr>
          <p:spPr>
            <a:xfrm flipH="1">
              <a:off x="3961944" y="3322344"/>
              <a:ext cx="2645" cy="41396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625411C5-D5D7-4F59-B9EF-00A4CE9E0100}"/>
                </a:ext>
              </a:extLst>
            </p:cNvPr>
            <p:cNvSpPr txBox="1"/>
            <p:nvPr/>
          </p:nvSpPr>
          <p:spPr>
            <a:xfrm>
              <a:off x="4573801" y="2893719"/>
              <a:ext cx="372218" cy="230832"/>
            </a:xfrm>
            <a:prstGeom prst="rect">
              <a:avLst/>
            </a:prstGeom>
            <a:noFill/>
          </p:spPr>
          <p:txBody>
            <a:bodyPr wrap="none" rtlCol="0">
              <a:spAutoFit/>
            </a:bodyPr>
            <a:lstStyle/>
            <a:p>
              <a:r>
                <a:rPr lang="en-US" sz="900"/>
                <a:t>YES</a:t>
              </a:r>
            </a:p>
          </p:txBody>
        </p:sp>
        <p:cxnSp>
          <p:nvCxnSpPr>
            <p:cNvPr id="168" name="Straight Arrow Connector 167">
              <a:extLst>
                <a:ext uri="{FF2B5EF4-FFF2-40B4-BE49-F238E27FC236}">
                  <a16:creationId xmlns:a16="http://schemas.microsoft.com/office/drawing/2014/main" id="{29E1C1AE-A3A2-423E-B207-E871AEC0591F}"/>
                </a:ext>
              </a:extLst>
            </p:cNvPr>
            <p:cNvCxnSpPr>
              <a:cxnSpLocks/>
            </p:cNvCxnSpPr>
            <p:nvPr/>
          </p:nvCxnSpPr>
          <p:spPr>
            <a:xfrm flipV="1">
              <a:off x="4509794" y="3107330"/>
              <a:ext cx="567101" cy="558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2618E00-188A-4D56-949F-2D3A5884752D}"/>
                </a:ext>
              </a:extLst>
            </p:cNvPr>
            <p:cNvSpPr/>
            <p:nvPr/>
          </p:nvSpPr>
          <p:spPr>
            <a:xfrm>
              <a:off x="633662" y="1626550"/>
              <a:ext cx="1300938" cy="41396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algn="ctr"/>
              <a:r>
                <a:rPr lang="en-US" sz="900" dirty="0">
                  <a:solidFill>
                    <a:schemeClr val="tx1"/>
                  </a:solidFill>
                </a:rPr>
                <a:t>May withhold </a:t>
              </a:r>
              <a:r>
                <a:rPr lang="en-US" sz="900" dirty="0" err="1">
                  <a:solidFill>
                    <a:schemeClr val="tx1"/>
                  </a:solidFill>
                </a:rPr>
                <a:t>Pabx</a:t>
              </a:r>
              <a:r>
                <a:rPr lang="en-US" sz="900" b="1" dirty="0">
                  <a:solidFill>
                    <a:schemeClr val="tx1"/>
                  </a:solidFill>
                </a:rPr>
                <a:t> </a:t>
              </a:r>
              <a:endParaRPr lang="en-US" sz="900" b="1" baseline="30000" dirty="0">
                <a:solidFill>
                  <a:schemeClr val="tx1"/>
                </a:solidFill>
              </a:endParaRPr>
            </a:p>
            <a:p>
              <a:pPr algn="ctr"/>
              <a:endParaRPr lang="en-US" sz="900" dirty="0">
                <a:solidFill>
                  <a:schemeClr val="tx1"/>
                </a:solidFill>
              </a:endParaRPr>
            </a:p>
          </p:txBody>
        </p:sp>
        <p:sp>
          <p:nvSpPr>
            <p:cNvPr id="61" name="Diamond 60">
              <a:extLst>
                <a:ext uri="{FF2B5EF4-FFF2-40B4-BE49-F238E27FC236}">
                  <a16:creationId xmlns:a16="http://schemas.microsoft.com/office/drawing/2014/main" id="{F9272F4A-70AE-4D84-8E89-B03FD3C053C9}"/>
                </a:ext>
              </a:extLst>
            </p:cNvPr>
            <p:cNvSpPr/>
            <p:nvPr/>
          </p:nvSpPr>
          <p:spPr>
            <a:xfrm>
              <a:off x="3406322" y="2911639"/>
              <a:ext cx="1124047" cy="41070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obtained</a:t>
              </a:r>
            </a:p>
          </p:txBody>
        </p:sp>
        <p:sp>
          <p:nvSpPr>
            <p:cNvPr id="62" name="Diamond 61">
              <a:extLst>
                <a:ext uri="{FF2B5EF4-FFF2-40B4-BE49-F238E27FC236}">
                  <a16:creationId xmlns:a16="http://schemas.microsoft.com/office/drawing/2014/main" id="{6154F734-BD3C-4F2B-A03B-4D0E008D15CF}"/>
                </a:ext>
              </a:extLst>
            </p:cNvPr>
            <p:cNvSpPr/>
            <p:nvPr/>
          </p:nvSpPr>
          <p:spPr>
            <a:xfrm>
              <a:off x="5075733" y="2680273"/>
              <a:ext cx="1739668" cy="8541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pleocytosis</a:t>
              </a:r>
            </a:p>
            <a:p>
              <a:pPr algn="ctr"/>
              <a:r>
                <a:rPr lang="en-US" sz="900">
                  <a:solidFill>
                    <a:schemeClr val="tx1"/>
                  </a:solidFill>
                </a:rPr>
                <a:t>or traumatic</a:t>
              </a:r>
            </a:p>
          </p:txBody>
        </p:sp>
        <p:sp>
          <p:nvSpPr>
            <p:cNvPr id="80" name="Diamond 79">
              <a:extLst>
                <a:ext uri="{FF2B5EF4-FFF2-40B4-BE49-F238E27FC236}">
                  <a16:creationId xmlns:a16="http://schemas.microsoft.com/office/drawing/2014/main" id="{5A7E8B14-457E-44DE-806C-8F226617A2C9}"/>
                </a:ext>
              </a:extLst>
            </p:cNvPr>
            <p:cNvSpPr/>
            <p:nvPr/>
          </p:nvSpPr>
          <p:spPr>
            <a:xfrm>
              <a:off x="530711" y="2794610"/>
              <a:ext cx="1506840" cy="67219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Plan to start </a:t>
              </a:r>
              <a:r>
                <a:rPr lang="en-US" sz="900" err="1">
                  <a:solidFill>
                    <a:schemeClr val="tx1"/>
                  </a:solidFill>
                </a:rPr>
                <a:t>Pabx</a:t>
              </a:r>
              <a:endParaRPr lang="en-US" sz="900">
                <a:solidFill>
                  <a:schemeClr val="tx1"/>
                </a:solidFill>
              </a:endParaRPr>
            </a:p>
          </p:txBody>
        </p:sp>
        <p:sp>
          <p:nvSpPr>
            <p:cNvPr id="81" name="Rectangle 80">
              <a:extLst>
                <a:ext uri="{FF2B5EF4-FFF2-40B4-BE49-F238E27FC236}">
                  <a16:creationId xmlns:a16="http://schemas.microsoft.com/office/drawing/2014/main" id="{28969122-907C-461A-BF1C-8D3B43FC358F}"/>
                </a:ext>
              </a:extLst>
            </p:cNvPr>
            <p:cNvSpPr/>
            <p:nvPr/>
          </p:nvSpPr>
          <p:spPr>
            <a:xfrm>
              <a:off x="2314458" y="2909394"/>
              <a:ext cx="777533" cy="43587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Perform LP</a:t>
              </a:r>
            </a:p>
          </p:txBody>
        </p:sp>
        <p:sp>
          <p:nvSpPr>
            <p:cNvPr id="79" name="Rectangle 78">
              <a:extLst>
                <a:ext uri="{FF2B5EF4-FFF2-40B4-BE49-F238E27FC236}">
                  <a16:creationId xmlns:a16="http://schemas.microsoft.com/office/drawing/2014/main" id="{56C42401-4A8D-47BD-B045-C54A3D5F347D}"/>
                </a:ext>
              </a:extLst>
            </p:cNvPr>
            <p:cNvSpPr/>
            <p:nvPr/>
          </p:nvSpPr>
          <p:spPr>
            <a:xfrm>
              <a:off x="7123599" y="2720865"/>
              <a:ext cx="1309451" cy="76551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chemeClr val="tx1"/>
                  </a:solidFill>
                </a:rPr>
                <a:t>Administer </a:t>
              </a:r>
              <a:r>
                <a:rPr lang="en-US" sz="900" err="1">
                  <a:solidFill>
                    <a:schemeClr val="tx1"/>
                  </a:solidFill>
                </a:rPr>
                <a:t>Pabx</a:t>
              </a:r>
              <a:endParaRPr lang="en-US" sz="900">
                <a:solidFill>
                  <a:schemeClr val="tx1"/>
                </a:solidFill>
              </a:endParaRPr>
            </a:p>
            <a:p>
              <a:pPr marL="171450" indent="-171450">
                <a:buFont typeface="+mj-lt"/>
                <a:buAutoNum type="arabicPeriod"/>
              </a:pPr>
              <a:r>
                <a:rPr lang="en-US" sz="900">
                  <a:solidFill>
                    <a:schemeClr val="tx1"/>
                  </a:solidFill>
                </a:rPr>
                <a:t>If CSF pleocytosis </a:t>
              </a:r>
              <a:r>
                <a:rPr lang="en-US" sz="900" b="1">
                  <a:solidFill>
                    <a:schemeClr val="tx1"/>
                  </a:solidFill>
                </a:rPr>
                <a:t>‡</a:t>
              </a:r>
              <a:r>
                <a:rPr lang="en-US" sz="900">
                  <a:solidFill>
                    <a:schemeClr val="tx1"/>
                  </a:solidFill>
                </a:rPr>
                <a:t>, then assess for cause and consider acyclovir</a:t>
              </a:r>
            </a:p>
          </p:txBody>
        </p:sp>
        <p:cxnSp>
          <p:nvCxnSpPr>
            <p:cNvPr id="82" name="Straight Arrow Connector 81">
              <a:extLst>
                <a:ext uri="{FF2B5EF4-FFF2-40B4-BE49-F238E27FC236}">
                  <a16:creationId xmlns:a16="http://schemas.microsoft.com/office/drawing/2014/main" id="{91AB384D-00DE-4CF2-BCC4-9E019E01DE2D}"/>
                </a:ext>
              </a:extLst>
            </p:cNvPr>
            <p:cNvCxnSpPr>
              <a:cxnSpLocks/>
              <a:stCxn id="81" idx="3"/>
              <a:endCxn id="61" idx="1"/>
            </p:cNvCxnSpPr>
            <p:nvPr/>
          </p:nvCxnSpPr>
          <p:spPr>
            <a:xfrm flipV="1">
              <a:off x="3091990" y="3116992"/>
              <a:ext cx="314331" cy="1034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54A3E7-01E4-4456-95D8-935E385B2C73}"/>
                </a:ext>
              </a:extLst>
            </p:cNvPr>
            <p:cNvCxnSpPr>
              <a:cxnSpLocks/>
              <a:stCxn id="80" idx="3"/>
              <a:endCxn id="81" idx="1"/>
            </p:cNvCxnSpPr>
            <p:nvPr/>
          </p:nvCxnSpPr>
          <p:spPr>
            <a:xfrm flipV="1">
              <a:off x="2037551" y="3127333"/>
              <a:ext cx="276906" cy="337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0F167FE-8D40-4E9C-A27E-29B3F60D7FB6}"/>
                </a:ext>
              </a:extLst>
            </p:cNvPr>
            <p:cNvCxnSpPr>
              <a:cxnSpLocks/>
              <a:stCxn id="62" idx="3"/>
              <a:endCxn id="79" idx="1"/>
            </p:cNvCxnSpPr>
            <p:nvPr/>
          </p:nvCxnSpPr>
          <p:spPr>
            <a:xfrm flipV="1">
              <a:off x="6815401" y="3103623"/>
              <a:ext cx="308198" cy="370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76B7ADB-18A3-4392-862B-A5B521C1906A}"/>
                </a:ext>
              </a:extLst>
            </p:cNvPr>
            <p:cNvSpPr txBox="1"/>
            <p:nvPr/>
          </p:nvSpPr>
          <p:spPr>
            <a:xfrm>
              <a:off x="5988381" y="3499149"/>
              <a:ext cx="327334" cy="230832"/>
            </a:xfrm>
            <a:prstGeom prst="rect">
              <a:avLst/>
            </a:prstGeom>
            <a:noFill/>
          </p:spPr>
          <p:txBody>
            <a:bodyPr wrap="none" rtlCol="0">
              <a:spAutoFit/>
            </a:bodyPr>
            <a:lstStyle/>
            <a:p>
              <a:r>
                <a:rPr lang="en-US" sz="900"/>
                <a:t>NO</a:t>
              </a:r>
            </a:p>
          </p:txBody>
        </p:sp>
        <p:sp>
          <p:nvSpPr>
            <p:cNvPr id="92" name="TextBox 91">
              <a:extLst>
                <a:ext uri="{FF2B5EF4-FFF2-40B4-BE49-F238E27FC236}">
                  <a16:creationId xmlns:a16="http://schemas.microsoft.com/office/drawing/2014/main" id="{C592D96C-44C1-4C64-82EF-C69E30DCF25D}"/>
                </a:ext>
              </a:extLst>
            </p:cNvPr>
            <p:cNvSpPr txBox="1"/>
            <p:nvPr/>
          </p:nvSpPr>
          <p:spPr>
            <a:xfrm>
              <a:off x="1284131" y="3955523"/>
              <a:ext cx="327334" cy="230832"/>
            </a:xfrm>
            <a:prstGeom prst="rect">
              <a:avLst/>
            </a:prstGeom>
            <a:noFill/>
          </p:spPr>
          <p:txBody>
            <a:bodyPr wrap="none" rtlCol="0">
              <a:spAutoFit/>
            </a:bodyPr>
            <a:lstStyle/>
            <a:p>
              <a:r>
                <a:rPr lang="en-US" sz="900"/>
                <a:t>NO</a:t>
              </a:r>
            </a:p>
          </p:txBody>
        </p:sp>
        <p:sp>
          <p:nvSpPr>
            <p:cNvPr id="93" name="Rectangle 92">
              <a:extLst>
                <a:ext uri="{FF2B5EF4-FFF2-40B4-BE49-F238E27FC236}">
                  <a16:creationId xmlns:a16="http://schemas.microsoft.com/office/drawing/2014/main" id="{9FCF0885-BB2A-4CE5-AADE-817E29870717}"/>
                </a:ext>
              </a:extLst>
            </p:cNvPr>
            <p:cNvSpPr/>
            <p:nvPr/>
          </p:nvSpPr>
          <p:spPr>
            <a:xfrm>
              <a:off x="3311476" y="3736307"/>
              <a:ext cx="1300938" cy="49955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endParaRPr>
            </a:p>
            <a:p>
              <a:r>
                <a:rPr lang="en-US" sz="900">
                  <a:solidFill>
                    <a:schemeClr val="tx1"/>
                  </a:solidFill>
                </a:rPr>
                <a:t>1. May administer </a:t>
              </a:r>
              <a:r>
                <a:rPr lang="en-US" sz="900" err="1">
                  <a:solidFill>
                    <a:schemeClr val="tx1"/>
                  </a:solidFill>
                </a:rPr>
                <a:t>Pabx</a:t>
              </a:r>
              <a:endParaRPr lang="en-US" sz="900">
                <a:solidFill>
                  <a:schemeClr val="tx1"/>
                </a:solidFill>
              </a:endParaRPr>
            </a:p>
            <a:p>
              <a:r>
                <a:rPr lang="en-US" sz="900">
                  <a:solidFill>
                    <a:schemeClr val="tx1"/>
                  </a:solidFill>
                </a:rPr>
                <a:t>2. If starting </a:t>
              </a:r>
              <a:r>
                <a:rPr lang="en-US" sz="900" err="1">
                  <a:solidFill>
                    <a:schemeClr val="tx1"/>
                  </a:solidFill>
                </a:rPr>
                <a:t>Pabx</a:t>
              </a:r>
              <a:r>
                <a:rPr lang="en-US" sz="900">
                  <a:solidFill>
                    <a:schemeClr val="tx1"/>
                  </a:solidFill>
                </a:rPr>
                <a:t>, should re-attempt LP</a:t>
              </a:r>
            </a:p>
            <a:p>
              <a:pPr algn="ctr"/>
              <a:endParaRPr lang="en-US" sz="900">
                <a:solidFill>
                  <a:schemeClr val="tx1"/>
                </a:solidFill>
              </a:endParaRPr>
            </a:p>
          </p:txBody>
        </p:sp>
        <p:cxnSp>
          <p:nvCxnSpPr>
            <p:cNvPr id="27" name="Connector: Elbow 26">
              <a:extLst>
                <a:ext uri="{FF2B5EF4-FFF2-40B4-BE49-F238E27FC236}">
                  <a16:creationId xmlns:a16="http://schemas.microsoft.com/office/drawing/2014/main" id="{E655BEF9-5D96-4B93-AF37-3BB6E7F2F6FD}"/>
                </a:ext>
              </a:extLst>
            </p:cNvPr>
            <p:cNvCxnSpPr>
              <a:cxnSpLocks/>
              <a:stCxn id="53" idx="2"/>
              <a:endCxn id="103" idx="0"/>
            </p:cNvCxnSpPr>
            <p:nvPr/>
          </p:nvCxnSpPr>
          <p:spPr>
            <a:xfrm rot="5400000">
              <a:off x="4700163" y="3420045"/>
              <a:ext cx="510002" cy="1994922"/>
            </a:xfrm>
            <a:prstGeom prst="bentConnector3">
              <a:avLst>
                <a:gd name="adj1" fmla="val 50000"/>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92D27113-DC53-4DD9-BEA2-0A4AFF205D13}"/>
                </a:ext>
              </a:extLst>
            </p:cNvPr>
            <p:cNvSpPr txBox="1"/>
            <p:nvPr/>
          </p:nvSpPr>
          <p:spPr>
            <a:xfrm>
              <a:off x="6776861" y="2881962"/>
              <a:ext cx="372218" cy="230832"/>
            </a:xfrm>
            <a:prstGeom prst="rect">
              <a:avLst/>
            </a:prstGeom>
            <a:noFill/>
          </p:spPr>
          <p:txBody>
            <a:bodyPr wrap="none" rtlCol="0">
              <a:spAutoFit/>
            </a:bodyPr>
            <a:lstStyle/>
            <a:p>
              <a:r>
                <a:rPr lang="en-US" sz="900"/>
                <a:t>YES</a:t>
              </a:r>
            </a:p>
          </p:txBody>
        </p:sp>
        <p:sp>
          <p:nvSpPr>
            <p:cNvPr id="100" name="TextBox 99">
              <a:extLst>
                <a:ext uri="{FF2B5EF4-FFF2-40B4-BE49-F238E27FC236}">
                  <a16:creationId xmlns:a16="http://schemas.microsoft.com/office/drawing/2014/main" id="{89EDAB2C-B45A-449D-900E-7FB4E2E821B2}"/>
                </a:ext>
              </a:extLst>
            </p:cNvPr>
            <p:cNvSpPr txBox="1"/>
            <p:nvPr/>
          </p:nvSpPr>
          <p:spPr>
            <a:xfrm>
              <a:off x="1962455" y="2907269"/>
              <a:ext cx="372218" cy="230832"/>
            </a:xfrm>
            <a:prstGeom prst="rect">
              <a:avLst/>
            </a:prstGeom>
            <a:noFill/>
          </p:spPr>
          <p:txBody>
            <a:bodyPr wrap="none" rtlCol="0">
              <a:spAutoFit/>
            </a:bodyPr>
            <a:lstStyle/>
            <a:p>
              <a:r>
                <a:rPr lang="en-US" sz="900"/>
                <a:t>YES</a:t>
              </a:r>
            </a:p>
          </p:txBody>
        </p:sp>
        <p:sp>
          <p:nvSpPr>
            <p:cNvPr id="103" name="Diamond 102">
              <a:extLst>
                <a:ext uri="{FF2B5EF4-FFF2-40B4-BE49-F238E27FC236}">
                  <a16:creationId xmlns:a16="http://schemas.microsoft.com/office/drawing/2014/main" id="{95CB925A-95D5-49AA-8347-87F0F5B0E8F8}"/>
                </a:ext>
              </a:extLst>
            </p:cNvPr>
            <p:cNvSpPr/>
            <p:nvPr/>
          </p:nvSpPr>
          <p:spPr>
            <a:xfrm>
              <a:off x="3204283" y="4672507"/>
              <a:ext cx="1506840" cy="67219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Pathogen or Source identified</a:t>
              </a:r>
            </a:p>
          </p:txBody>
        </p:sp>
        <p:sp>
          <p:nvSpPr>
            <p:cNvPr id="104" name="TextBox 103">
              <a:extLst>
                <a:ext uri="{FF2B5EF4-FFF2-40B4-BE49-F238E27FC236}">
                  <a16:creationId xmlns:a16="http://schemas.microsoft.com/office/drawing/2014/main" id="{49956B85-875D-49DC-B649-7EE3C925611E}"/>
                </a:ext>
              </a:extLst>
            </p:cNvPr>
            <p:cNvSpPr txBox="1"/>
            <p:nvPr/>
          </p:nvSpPr>
          <p:spPr>
            <a:xfrm>
              <a:off x="3961944" y="5304831"/>
              <a:ext cx="327334" cy="230832"/>
            </a:xfrm>
            <a:prstGeom prst="rect">
              <a:avLst/>
            </a:prstGeom>
            <a:noFill/>
          </p:spPr>
          <p:txBody>
            <a:bodyPr wrap="none" rtlCol="0">
              <a:spAutoFit/>
            </a:bodyPr>
            <a:lstStyle/>
            <a:p>
              <a:r>
                <a:rPr lang="en-US" sz="900"/>
                <a:t>NO</a:t>
              </a:r>
            </a:p>
          </p:txBody>
        </p:sp>
        <p:cxnSp>
          <p:nvCxnSpPr>
            <p:cNvPr id="105" name="Straight Arrow Connector 104">
              <a:extLst>
                <a:ext uri="{FF2B5EF4-FFF2-40B4-BE49-F238E27FC236}">
                  <a16:creationId xmlns:a16="http://schemas.microsoft.com/office/drawing/2014/main" id="{B4EB5B21-A46A-4D06-A4C6-0C73701AC376}"/>
                </a:ext>
              </a:extLst>
            </p:cNvPr>
            <p:cNvCxnSpPr>
              <a:cxnSpLocks/>
            </p:cNvCxnSpPr>
            <p:nvPr/>
          </p:nvCxnSpPr>
          <p:spPr>
            <a:xfrm>
              <a:off x="3951686" y="5345188"/>
              <a:ext cx="0" cy="20387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985AA9D4-F58D-4E7C-96FC-3CD5FC93933E}"/>
                </a:ext>
              </a:extLst>
            </p:cNvPr>
            <p:cNvCxnSpPr>
              <a:cxnSpLocks/>
              <a:stCxn id="80" idx="2"/>
              <a:endCxn id="103" idx="1"/>
            </p:cNvCxnSpPr>
            <p:nvPr/>
          </p:nvCxnSpPr>
          <p:spPr>
            <a:xfrm rot="16200000" flipH="1">
              <a:off x="1473308" y="3277630"/>
              <a:ext cx="1541799" cy="1920152"/>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BC0D5933-24FA-4688-A937-CA10A9103B3F}"/>
                </a:ext>
              </a:extLst>
            </p:cNvPr>
            <p:cNvCxnSpPr>
              <a:cxnSpLocks/>
              <a:stCxn id="93" idx="2"/>
              <a:endCxn id="103" idx="0"/>
            </p:cNvCxnSpPr>
            <p:nvPr/>
          </p:nvCxnSpPr>
          <p:spPr>
            <a:xfrm flipH="1">
              <a:off x="3957703" y="4235860"/>
              <a:ext cx="4242" cy="43664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D46A9011-C881-4AEF-B19E-B92661EFE89F}"/>
                </a:ext>
              </a:extLst>
            </p:cNvPr>
            <p:cNvCxnSpPr>
              <a:cxnSpLocks/>
              <a:stCxn id="79" idx="2"/>
              <a:endCxn id="103" idx="0"/>
            </p:cNvCxnSpPr>
            <p:nvPr/>
          </p:nvCxnSpPr>
          <p:spPr>
            <a:xfrm rot="5400000">
              <a:off x="5274951" y="2169133"/>
              <a:ext cx="1186126" cy="3820622"/>
            </a:xfrm>
            <a:prstGeom prst="bentConnector3">
              <a:avLst>
                <a:gd name="adj1" fmla="val 7829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054C0D8-A29B-428F-B600-8DFB899ABE10}"/>
                </a:ext>
              </a:extLst>
            </p:cNvPr>
            <p:cNvCxnSpPr>
              <a:cxnSpLocks/>
              <a:stCxn id="54" idx="2"/>
              <a:endCxn id="39" idx="0"/>
            </p:cNvCxnSpPr>
            <p:nvPr/>
          </p:nvCxnSpPr>
          <p:spPr>
            <a:xfrm>
              <a:off x="1284131" y="2040513"/>
              <a:ext cx="0" cy="19574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DE892359-E7E1-42D6-A623-59F6BD130697}"/>
                </a:ext>
              </a:extLst>
            </p:cNvPr>
            <p:cNvSpPr/>
            <p:nvPr/>
          </p:nvSpPr>
          <p:spPr>
            <a:xfrm>
              <a:off x="953895" y="2236257"/>
              <a:ext cx="660473" cy="27034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ADMIT</a:t>
              </a:r>
            </a:p>
          </p:txBody>
        </p:sp>
        <p:cxnSp>
          <p:nvCxnSpPr>
            <p:cNvPr id="42" name="Straight Arrow Connector 41">
              <a:extLst>
                <a:ext uri="{FF2B5EF4-FFF2-40B4-BE49-F238E27FC236}">
                  <a16:creationId xmlns:a16="http://schemas.microsoft.com/office/drawing/2014/main" id="{972C08E2-201D-4075-B4B8-0836B9C002D2}"/>
                </a:ext>
              </a:extLst>
            </p:cNvPr>
            <p:cNvCxnSpPr>
              <a:cxnSpLocks/>
              <a:stCxn id="39" idx="2"/>
              <a:endCxn id="80" idx="0"/>
            </p:cNvCxnSpPr>
            <p:nvPr/>
          </p:nvCxnSpPr>
          <p:spPr>
            <a:xfrm>
              <a:off x="1284131" y="2506604"/>
              <a:ext cx="0" cy="28800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6FE0520E-917B-48FB-ADFD-9F0CD6AB45E9}"/>
                </a:ext>
              </a:extLst>
            </p:cNvPr>
            <p:cNvSpPr/>
            <p:nvPr/>
          </p:nvSpPr>
          <p:spPr>
            <a:xfrm>
              <a:off x="5302156" y="3748542"/>
              <a:ext cx="1300938" cy="41396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endParaRPr>
            </a:p>
            <a:p>
              <a:pPr algn="ctr"/>
              <a:r>
                <a:rPr lang="en-US" sz="900">
                  <a:solidFill>
                    <a:schemeClr val="tx1"/>
                  </a:solidFill>
                </a:rPr>
                <a:t>May administer </a:t>
              </a:r>
              <a:r>
                <a:rPr lang="en-US" sz="900" err="1">
                  <a:solidFill>
                    <a:schemeClr val="tx1"/>
                  </a:solidFill>
                </a:rPr>
                <a:t>Pabx</a:t>
              </a:r>
              <a:endParaRPr lang="en-US" sz="900">
                <a:solidFill>
                  <a:schemeClr val="tx1"/>
                </a:solidFill>
              </a:endParaRPr>
            </a:p>
            <a:p>
              <a:pPr algn="ctr"/>
              <a:endParaRPr lang="en-US" sz="900">
                <a:solidFill>
                  <a:schemeClr val="tx1"/>
                </a:solidFill>
              </a:endParaRPr>
            </a:p>
          </p:txBody>
        </p:sp>
        <p:cxnSp>
          <p:nvCxnSpPr>
            <p:cNvPr id="26" name="Connector: Elbow 25">
              <a:extLst>
                <a:ext uri="{FF2B5EF4-FFF2-40B4-BE49-F238E27FC236}">
                  <a16:creationId xmlns:a16="http://schemas.microsoft.com/office/drawing/2014/main" id="{FA13FF1D-5000-49AE-9C9D-EDD323B2CA43}"/>
                </a:ext>
              </a:extLst>
            </p:cNvPr>
            <p:cNvCxnSpPr>
              <a:cxnSpLocks/>
              <a:stCxn id="93" idx="1"/>
              <a:endCxn id="81" idx="2"/>
            </p:cNvCxnSpPr>
            <p:nvPr/>
          </p:nvCxnSpPr>
          <p:spPr>
            <a:xfrm rot="10800000">
              <a:off x="2703224" y="3345273"/>
              <a:ext cx="608252" cy="640811"/>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BE57DCB-9880-4B56-A3E7-80AF40E8ED8E}"/>
                </a:ext>
              </a:extLst>
            </p:cNvPr>
            <p:cNvCxnSpPr>
              <a:cxnSpLocks/>
              <a:stCxn id="62" idx="2"/>
              <a:endCxn id="53" idx="0"/>
            </p:cNvCxnSpPr>
            <p:nvPr/>
          </p:nvCxnSpPr>
          <p:spPr>
            <a:xfrm>
              <a:off x="5945568" y="3534387"/>
              <a:ext cx="7058" cy="21415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5C95C0F3-B6AF-4841-B0FA-82EF4E21A9F4}"/>
                </a:ext>
              </a:extLst>
            </p:cNvPr>
            <p:cNvGrpSpPr/>
            <p:nvPr/>
          </p:nvGrpSpPr>
          <p:grpSpPr>
            <a:xfrm>
              <a:off x="4712882" y="4500255"/>
              <a:ext cx="3134238" cy="1467969"/>
              <a:chOff x="7848165" y="4434696"/>
              <a:chExt cx="4178984" cy="1957287"/>
            </a:xfrm>
          </p:grpSpPr>
          <p:sp>
            <p:nvSpPr>
              <p:cNvPr id="85" name="Rectangle 84">
                <a:extLst>
                  <a:ext uri="{FF2B5EF4-FFF2-40B4-BE49-F238E27FC236}">
                    <a16:creationId xmlns:a16="http://schemas.microsoft.com/office/drawing/2014/main" id="{716F846D-EBF8-4BD9-8252-542063B6ADB0}"/>
                  </a:ext>
                </a:extLst>
              </p:cNvPr>
              <p:cNvSpPr/>
              <p:nvPr/>
            </p:nvSpPr>
            <p:spPr>
              <a:xfrm>
                <a:off x="10663509" y="4434696"/>
                <a:ext cx="1363640" cy="149021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Complete treatment with oral antimicrobials </a:t>
                </a:r>
              </a:p>
              <a:p>
                <a:pPr marL="171450" indent="-171450">
                  <a:buFont typeface="+mj-lt"/>
                  <a:buAutoNum type="arabicPeriod"/>
                </a:pPr>
                <a:r>
                  <a:rPr lang="en-US" sz="900" dirty="0">
                    <a:solidFill>
                      <a:schemeClr val="tx1"/>
                    </a:solidFill>
                  </a:rPr>
                  <a:t>Discharge hospitalized infants</a:t>
                </a:r>
              </a:p>
            </p:txBody>
          </p:sp>
          <p:cxnSp>
            <p:nvCxnSpPr>
              <p:cNvPr id="86" name="Straight Arrow Connector 85">
                <a:extLst>
                  <a:ext uri="{FF2B5EF4-FFF2-40B4-BE49-F238E27FC236}">
                    <a16:creationId xmlns:a16="http://schemas.microsoft.com/office/drawing/2014/main" id="{8A241737-4249-4FDC-A3DE-9C7BF283E60A}"/>
                  </a:ext>
                </a:extLst>
              </p:cNvPr>
              <p:cNvCxnSpPr>
                <a:cxnSpLocks/>
                <a:endCxn id="89" idx="1"/>
              </p:cNvCxnSpPr>
              <p:nvPr/>
            </p:nvCxnSpPr>
            <p:spPr>
              <a:xfrm>
                <a:off x="7848165" y="5115884"/>
                <a:ext cx="475903" cy="501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EC88F838-C3F1-4A55-B9AE-C73D677F40AC}"/>
                  </a:ext>
                </a:extLst>
              </p:cNvPr>
              <p:cNvSpPr txBox="1"/>
              <p:nvPr/>
            </p:nvSpPr>
            <p:spPr>
              <a:xfrm>
                <a:off x="7863866" y="4671892"/>
                <a:ext cx="522243" cy="307776"/>
              </a:xfrm>
              <a:prstGeom prst="rect">
                <a:avLst/>
              </a:prstGeom>
              <a:noFill/>
            </p:spPr>
            <p:txBody>
              <a:bodyPr wrap="square" rtlCol="0">
                <a:spAutoFit/>
              </a:bodyPr>
              <a:lstStyle/>
              <a:p>
                <a:r>
                  <a:rPr lang="en-US" sz="900"/>
                  <a:t>YES</a:t>
                </a:r>
              </a:p>
            </p:txBody>
          </p:sp>
          <p:sp>
            <p:nvSpPr>
              <p:cNvPr id="89" name="Diamond 88">
                <a:extLst>
                  <a:ext uri="{FF2B5EF4-FFF2-40B4-BE49-F238E27FC236}">
                    <a16:creationId xmlns:a16="http://schemas.microsoft.com/office/drawing/2014/main" id="{CD19F8A0-EF4F-4C7B-AD7E-AA66FFA9E6D1}"/>
                  </a:ext>
                </a:extLst>
              </p:cNvPr>
              <p:cNvSpPr/>
              <p:nvPr/>
            </p:nvSpPr>
            <p:spPr>
              <a:xfrm>
                <a:off x="8324068" y="4561605"/>
                <a:ext cx="2004243" cy="1118591"/>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Source limited to urine</a:t>
                </a:r>
              </a:p>
            </p:txBody>
          </p:sp>
          <p:sp>
            <p:nvSpPr>
              <p:cNvPr id="90" name="Rectangle 89">
                <a:extLst>
                  <a:ext uri="{FF2B5EF4-FFF2-40B4-BE49-F238E27FC236}">
                    <a16:creationId xmlns:a16="http://schemas.microsoft.com/office/drawing/2014/main" id="{0BD15600-FF12-47FC-9258-ECFBE8F5C8BA}"/>
                  </a:ext>
                </a:extLst>
              </p:cNvPr>
              <p:cNvSpPr/>
              <p:nvPr/>
            </p:nvSpPr>
            <p:spPr>
              <a:xfrm>
                <a:off x="8900348" y="5929413"/>
                <a:ext cx="880631" cy="4625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91" name="TextBox 90">
                <a:extLst>
                  <a:ext uri="{FF2B5EF4-FFF2-40B4-BE49-F238E27FC236}">
                    <a16:creationId xmlns:a16="http://schemas.microsoft.com/office/drawing/2014/main" id="{6045B34A-DDA0-4999-94E9-BCB7127E197F}"/>
                  </a:ext>
                </a:extLst>
              </p:cNvPr>
              <p:cNvSpPr txBox="1"/>
              <p:nvPr/>
            </p:nvSpPr>
            <p:spPr>
              <a:xfrm>
                <a:off x="10214725" y="4676401"/>
                <a:ext cx="522243" cy="307776"/>
              </a:xfrm>
              <a:prstGeom prst="rect">
                <a:avLst/>
              </a:prstGeom>
              <a:noFill/>
            </p:spPr>
            <p:txBody>
              <a:bodyPr wrap="square" rtlCol="0">
                <a:spAutoFit/>
              </a:bodyPr>
              <a:lstStyle/>
              <a:p>
                <a:r>
                  <a:rPr lang="en-US" sz="900" dirty="0"/>
                  <a:t>YES</a:t>
                </a:r>
              </a:p>
            </p:txBody>
          </p:sp>
          <p:cxnSp>
            <p:nvCxnSpPr>
              <p:cNvPr id="94" name="Straight Arrow Connector 93">
                <a:extLst>
                  <a:ext uri="{FF2B5EF4-FFF2-40B4-BE49-F238E27FC236}">
                    <a16:creationId xmlns:a16="http://schemas.microsoft.com/office/drawing/2014/main" id="{7D67075B-A448-4FA4-B516-C15664B944BE}"/>
                  </a:ext>
                </a:extLst>
              </p:cNvPr>
              <p:cNvCxnSpPr>
                <a:cxnSpLocks/>
                <a:stCxn id="89" idx="3"/>
              </p:cNvCxnSpPr>
              <p:nvPr/>
            </p:nvCxnSpPr>
            <p:spPr>
              <a:xfrm>
                <a:off x="10328312" y="5120901"/>
                <a:ext cx="323212"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3A70F90-F832-403E-B2F8-FDA3D3259D4B}"/>
                  </a:ext>
                </a:extLst>
              </p:cNvPr>
              <p:cNvCxnSpPr>
                <a:cxnSpLocks/>
              </p:cNvCxnSpPr>
              <p:nvPr/>
            </p:nvCxnSpPr>
            <p:spPr>
              <a:xfrm>
                <a:off x="9337306" y="5674893"/>
                <a:ext cx="2439" cy="26498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042C3FB-CD02-49E3-A657-51C98832B971}"/>
                  </a:ext>
                </a:extLst>
              </p:cNvPr>
              <p:cNvSpPr txBox="1"/>
              <p:nvPr/>
            </p:nvSpPr>
            <p:spPr>
              <a:xfrm>
                <a:off x="9398838" y="5635349"/>
                <a:ext cx="436445" cy="307777"/>
              </a:xfrm>
              <a:prstGeom prst="rect">
                <a:avLst/>
              </a:prstGeom>
              <a:noFill/>
            </p:spPr>
            <p:txBody>
              <a:bodyPr wrap="none" rtlCol="0">
                <a:spAutoFit/>
              </a:bodyPr>
              <a:lstStyle/>
              <a:p>
                <a:r>
                  <a:rPr lang="en-US" sz="900" dirty="0"/>
                  <a:t>NO</a:t>
                </a:r>
              </a:p>
            </p:txBody>
          </p:sp>
        </p:grpSp>
        <p:sp>
          <p:nvSpPr>
            <p:cNvPr id="48" name="Rectangle 47">
              <a:extLst>
                <a:ext uri="{FF2B5EF4-FFF2-40B4-BE49-F238E27FC236}">
                  <a16:creationId xmlns:a16="http://schemas.microsoft.com/office/drawing/2014/main" id="{2E2D2086-0AB9-4BD8-8282-528642BEC559}"/>
                </a:ext>
              </a:extLst>
            </p:cNvPr>
            <p:cNvSpPr/>
            <p:nvPr/>
          </p:nvSpPr>
          <p:spPr>
            <a:xfrm>
              <a:off x="5206407" y="1408104"/>
              <a:ext cx="3235966" cy="109728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r>
                <a:rPr lang="en-US" sz="900" b="1" dirty="0">
                  <a:solidFill>
                    <a:schemeClr val="tx1"/>
                  </a:solidFill>
                </a:rPr>
                <a:t>Footnotes:</a:t>
              </a:r>
            </a:p>
            <a:p>
              <a:r>
                <a:rPr lang="en-US" sz="900" b="1" dirty="0">
                  <a:solidFill>
                    <a:schemeClr val="tx1"/>
                  </a:solidFill>
                </a:rPr>
                <a:t>‡</a:t>
              </a:r>
              <a:r>
                <a:rPr lang="en-US" sz="900" dirty="0">
                  <a:solidFill>
                    <a:schemeClr val="tx1"/>
                  </a:solidFill>
                </a:rPr>
                <a:t>  Although uncommon, CSF pleocytosis may be due to HSV and prompt recognition and treatment is essential.</a:t>
              </a: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endParaRPr lang="en-US" sz="900" dirty="0">
                <a:solidFill>
                  <a:schemeClr val="tx1"/>
                </a:solidFill>
                <a:cs typeface="Calibri"/>
              </a:endParaRPr>
            </a:p>
          </p:txBody>
        </p:sp>
      </p:grpSp>
      <p:sp>
        <p:nvSpPr>
          <p:cNvPr id="49" name="TextBox 48">
            <a:extLst>
              <a:ext uri="{FF2B5EF4-FFF2-40B4-BE49-F238E27FC236}">
                <a16:creationId xmlns:a16="http://schemas.microsoft.com/office/drawing/2014/main" id="{F0E0E57B-B10C-419C-99E1-E57BCCA9184E}"/>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50" name="Title 1">
            <a:extLst>
              <a:ext uri="{FF2B5EF4-FFF2-40B4-BE49-F238E27FC236}">
                <a16:creationId xmlns:a16="http://schemas.microsoft.com/office/drawing/2014/main" id="{29072BCA-8635-4561-914F-7B2E7CA36F76}"/>
              </a:ext>
            </a:extLst>
          </p:cNvPr>
          <p:cNvSpPr txBox="1">
            <a:spLocks/>
          </p:cNvSpPr>
          <p:nvPr/>
        </p:nvSpPr>
        <p:spPr bwMode="gray">
          <a:xfrm>
            <a:off x="469292"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7-21 Days Old, Well-Appearing Infant </a:t>
            </a:r>
          </a:p>
          <a:p>
            <a:r>
              <a:rPr lang="en-US" sz="2300" dirty="0">
                <a:solidFill>
                  <a:schemeClr val="tx1"/>
                </a:solidFill>
                <a:latin typeface="Microsoft Tai Le"/>
                <a:cs typeface="Microsoft Tai Le"/>
              </a:rPr>
              <a:t>with normal initial labs</a:t>
            </a:r>
            <a:endParaRPr lang="en-US" sz="23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437482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Autofit/>
          </a:bodyPr>
          <a:lstStyle/>
          <a:p>
            <a:pPr algn="ctr"/>
            <a:r>
              <a:rPr lang="en-US" sz="2200" dirty="0">
                <a:solidFill>
                  <a:schemeClr val="tx1"/>
                </a:solidFill>
                <a:latin typeface="Microsoft Tai Le"/>
                <a:cs typeface="Microsoft Tai Le"/>
              </a:rPr>
              <a:t>Febrile, 7-21 Days Old,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normal initial labs</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72654" y="3236254"/>
            <a:ext cx="8226436" cy="163121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Consult with Pediatrics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Admission</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May perform LP</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May administer parenteral antibiotic</a:t>
            </a:r>
          </a:p>
        </p:txBody>
      </p:sp>
      <p:sp>
        <p:nvSpPr>
          <p:cNvPr id="3" name="TextBox 2">
            <a:extLst>
              <a:ext uri="{FF2B5EF4-FFF2-40B4-BE49-F238E27FC236}">
                <a16:creationId xmlns:a16="http://schemas.microsoft.com/office/drawing/2014/main" id="{9C879687-C016-4EC4-82C2-FD2F52B57407}"/>
              </a:ext>
            </a:extLst>
          </p:cNvPr>
          <p:cNvSpPr txBox="1"/>
          <p:nvPr/>
        </p:nvSpPr>
        <p:spPr>
          <a:xfrm>
            <a:off x="472654" y="1322371"/>
            <a:ext cx="8219712" cy="1869743"/>
          </a:xfrm>
          <a:prstGeom prst="rect">
            <a:avLst/>
          </a:prstGeom>
          <a:noFill/>
        </p:spPr>
        <p:txBody>
          <a:bodyPr wrap="square" lIns="68580" tIns="34290" rIns="68580" bIns="34290" rtlCol="0" anchor="t">
            <a:spAutoFit/>
          </a:bodyPr>
          <a:lstStyle/>
          <a:p>
            <a:r>
              <a:rPr lang="en-US" sz="2000" b="1" u="sng" dirty="0">
                <a:latin typeface="Microsoft Tai Le"/>
                <a:cs typeface="Microsoft Tai Le"/>
              </a:rPr>
              <a:t>This infant is low risk </a:t>
            </a:r>
            <a:endParaRPr lang="en-US" sz="2000" b="1" u="sng" dirty="0">
              <a:solidFill>
                <a:sysClr val="windowText" lastClr="000000"/>
              </a:solidFill>
              <a:latin typeface="Microsoft Tai Le" panose="020B0502040204020203" pitchFamily="34" charset="0"/>
              <a:cs typeface="Microsoft Tai Le" panose="020B0502040204020203" pitchFamily="34" charset="0"/>
            </a:endParaRPr>
          </a:p>
          <a:p>
            <a:pPr marL="257175" indent="-257175">
              <a:buFont typeface="Arial" panose="020B0604020202020204" pitchFamily="34" charset="0"/>
              <a:buChar char="•"/>
            </a:pPr>
            <a:r>
              <a:rPr lang="en-US" b="1" dirty="0">
                <a:latin typeface="Microsoft Tai Le"/>
                <a:cs typeface="Microsoft Tai Le"/>
              </a:rPr>
              <a:t>Data and analysis </a:t>
            </a:r>
            <a:r>
              <a:rPr lang="en-US" dirty="0">
                <a:latin typeface="Microsoft Tai Le"/>
                <a:cs typeface="Microsoft Tai Le"/>
              </a:rPr>
              <a:t>from KPNC febrile infants seen in the ED from 2010-2019 found that of those age 7-21 days who had no high-risk criteria and normal inflammatory markers (temp &lt; 101.3F, WBC 5-15K, Bands &lt; 1.5k): </a:t>
            </a:r>
            <a:endParaRPr lang="en-US" dirty="0">
              <a:latin typeface="Microsoft Tai Le" panose="020B0502040204020203" pitchFamily="34" charset="0"/>
              <a:cs typeface="Microsoft Tai Le" panose="020B0502040204020203" pitchFamily="34" charset="0"/>
            </a:endParaRPr>
          </a:p>
          <a:p>
            <a:r>
              <a:rPr lang="en-US" sz="1500" i="1" dirty="0">
                <a:latin typeface="Calibri"/>
                <a:cs typeface="Microsoft Tai Le"/>
              </a:rPr>
              <a:t>                                       				1/74</a:t>
            </a:r>
            <a:r>
              <a:rPr lang="en-US" sz="1500" i="1" dirty="0">
                <a:cs typeface="Microsoft Tai Le"/>
              </a:rPr>
              <a:t> had bacteremia without meningitis</a:t>
            </a:r>
            <a:endParaRPr lang="en-US" sz="1500" i="1" dirty="0">
              <a:cs typeface="Microsoft Tai Le" panose="020B0502040204020203" pitchFamily="34" charset="0"/>
            </a:endParaRPr>
          </a:p>
          <a:p>
            <a:r>
              <a:rPr lang="en-US" sz="1500" i="1" dirty="0">
                <a:cs typeface="Microsoft Tai Le"/>
              </a:rPr>
              <a:t>                                       				0 /74 had meningitis</a:t>
            </a:r>
            <a:endParaRPr lang="en-US" sz="1500" i="1" dirty="0">
              <a:cs typeface="Microsoft Tai Le" panose="020B0502040204020203" pitchFamily="34" charset="0"/>
            </a:endParaRPr>
          </a:p>
          <a:p>
            <a:pPr lvl="8"/>
            <a:r>
              <a:rPr lang="en-US" sz="1200" i="1" dirty="0">
                <a:cs typeface="Microsoft Tai Le"/>
              </a:rPr>
              <a:t>                                                                      </a:t>
            </a:r>
          </a:p>
        </p:txBody>
      </p:sp>
      <p:sp>
        <p:nvSpPr>
          <p:cNvPr id="7" name="TextBox 6">
            <a:extLst>
              <a:ext uri="{FF2B5EF4-FFF2-40B4-BE49-F238E27FC236}">
                <a16:creationId xmlns:a16="http://schemas.microsoft.com/office/drawing/2014/main" id="{F42E8C7A-A2C3-483E-9326-8F73DDB8C6B1}"/>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538876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4483" y="35051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Infant, </a:t>
            </a:r>
            <a:r>
              <a:rPr lang="en-US" sz="2200" dirty="0">
                <a:solidFill>
                  <a:sysClr val="windowText" lastClr="000000"/>
                </a:solidFill>
                <a:latin typeface="Microsoft Tai Le" panose="020B0502040204020203" pitchFamily="34" charset="0"/>
                <a:cs typeface="Microsoft Tai Le" panose="020B0502040204020203" pitchFamily="34" charset="0"/>
              </a:rPr>
              <a:t>Isolated COVID-19 Positive </a:t>
            </a:r>
          </a:p>
        </p:txBody>
      </p:sp>
      <p:sp>
        <p:nvSpPr>
          <p:cNvPr id="9" name="Rectangle 8">
            <a:extLst>
              <a:ext uri="{FF2B5EF4-FFF2-40B4-BE49-F238E27FC236}">
                <a16:creationId xmlns:a16="http://schemas.microsoft.com/office/drawing/2014/main" id="{C95DA26A-CF1C-DF49-B317-718087E3A7BB}"/>
              </a:ext>
            </a:extLst>
          </p:cNvPr>
          <p:cNvSpPr/>
          <p:nvPr/>
        </p:nvSpPr>
        <p:spPr>
          <a:xfrm>
            <a:off x="464483" y="2933952"/>
            <a:ext cx="8226436" cy="2531462"/>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r>
              <a:rPr lang="en-US" sz="2000" dirty="0">
                <a:latin typeface="Microsoft Tai Le"/>
                <a:cs typeface="Microsoft Tai Le"/>
              </a:rPr>
              <a:t>For those at </a:t>
            </a:r>
            <a:r>
              <a:rPr lang="en-US" sz="2000" b="1" dirty="0">
                <a:latin typeface="Microsoft Tai Le"/>
                <a:cs typeface="Microsoft Tai Le"/>
              </a:rPr>
              <a:t>baseline low-risk:</a:t>
            </a:r>
          </a:p>
          <a:p>
            <a:pPr marL="685800" lvl="1" indent="-342900">
              <a:buFont typeface="Arial" panose="020B0604020202020204" pitchFamily="34" charset="0"/>
              <a:buChar char="•"/>
            </a:pPr>
            <a:r>
              <a:rPr lang="en-US" sz="2000" b="1" dirty="0">
                <a:latin typeface="Microsoft Tai Le"/>
                <a:cs typeface="Microsoft Tai Le"/>
              </a:rPr>
              <a:t>Age 7-21 days: </a:t>
            </a:r>
            <a:r>
              <a:rPr lang="en-US" sz="2000" dirty="0">
                <a:latin typeface="Microsoft Tai Le"/>
                <a:cs typeface="Microsoft Tai Le"/>
              </a:rPr>
              <a:t>Consult with Pediatrics</a:t>
            </a:r>
          </a:p>
          <a:p>
            <a:pPr marL="685800" lvl="1" indent="-342900">
              <a:buFont typeface="Arial" panose="020B0604020202020204" pitchFamily="34" charset="0"/>
              <a:buChar char="•"/>
              <a:defRPr/>
            </a:pPr>
            <a:r>
              <a:rPr lang="en-US" sz="2000" b="1" dirty="0">
                <a:latin typeface="Microsoft Tai Le"/>
                <a:cs typeface="Microsoft Tai Le"/>
              </a:rPr>
              <a:t>Age 22-60 days: </a:t>
            </a:r>
            <a:endParaRPr lang="en-US" sz="2000" b="1" dirty="0">
              <a:latin typeface="Microsoft Tai Le" panose="020B0502040204020203" pitchFamily="34" charset="0"/>
              <a:cs typeface="Microsoft Tai Le" panose="020B0502040204020203" pitchFamily="34" charset="0"/>
            </a:endParaRPr>
          </a:p>
          <a:p>
            <a:pPr marL="1028700" lvl="2" indent="-342900">
              <a:buFont typeface="Arial" panose="020B0604020202020204" pitchFamily="34" charset="0"/>
              <a:buChar char="•"/>
              <a:defRPr/>
            </a:pPr>
            <a:r>
              <a:rPr lang="en-US" sz="2000" dirty="0">
                <a:latin typeface="Microsoft Tai Le"/>
                <a:cs typeface="Microsoft Tai Le"/>
              </a:rPr>
              <a:t>CBC and blood culture, UA and urine culture</a:t>
            </a:r>
          </a:p>
          <a:p>
            <a:pPr marL="1028700" lvl="2" indent="-342900">
              <a:buFont typeface="Arial" panose="020B0604020202020204" pitchFamily="34" charset="0"/>
              <a:buChar char="•"/>
              <a:defRPr/>
            </a:pPr>
            <a:r>
              <a:rPr lang="en-US" sz="2000" dirty="0">
                <a:latin typeface="Microsoft Tai Le"/>
                <a:cs typeface="Microsoft Tai Le"/>
              </a:rPr>
              <a:t>Disposition in discussion with Pediatrics</a:t>
            </a:r>
          </a:p>
          <a:p>
            <a:pPr marL="685800" lvl="1" indent="-342900">
              <a:buFont typeface="Arial" panose="020B0604020202020204" pitchFamily="34" charset="0"/>
              <a:buChar char="•"/>
            </a:pPr>
            <a:r>
              <a:rPr lang="en-US" sz="2000" b="1" dirty="0">
                <a:latin typeface="Microsoft Tai Le"/>
                <a:cs typeface="Microsoft Tai Le"/>
              </a:rPr>
              <a:t>61-90 days: </a:t>
            </a:r>
            <a:r>
              <a:rPr lang="en-US" sz="2000" dirty="0">
                <a:latin typeface="Microsoft Tai Le"/>
                <a:cs typeface="Microsoft Tai Le"/>
              </a:rPr>
              <a:t>Need not perform UA and urine culture</a:t>
            </a:r>
          </a:p>
          <a:p>
            <a:r>
              <a:rPr lang="en-US" sz="2000" b="1" dirty="0">
                <a:latin typeface="Microsoft Tai Le"/>
                <a:cs typeface="Microsoft Tai Le"/>
              </a:rPr>
              <a:t>High-risk baseline: </a:t>
            </a:r>
            <a:r>
              <a:rPr lang="en-US" sz="2000" dirty="0">
                <a:latin typeface="Microsoft Tai Le"/>
                <a:cs typeface="Microsoft Tai Le"/>
              </a:rPr>
              <a:t>Consult with Pediatrics</a:t>
            </a:r>
          </a:p>
        </p:txBody>
      </p:sp>
      <p:sp>
        <p:nvSpPr>
          <p:cNvPr id="3" name="TextBox 2">
            <a:extLst>
              <a:ext uri="{FF2B5EF4-FFF2-40B4-BE49-F238E27FC236}">
                <a16:creationId xmlns:a16="http://schemas.microsoft.com/office/drawing/2014/main" id="{256360C3-933B-4442-BDFB-2C439951A6BD}"/>
              </a:ext>
            </a:extLst>
          </p:cNvPr>
          <p:cNvSpPr txBox="1"/>
          <p:nvPr/>
        </p:nvSpPr>
        <p:spPr>
          <a:xfrm>
            <a:off x="458782" y="1317258"/>
            <a:ext cx="8226436" cy="1231106"/>
          </a:xfrm>
          <a:prstGeom prst="rect">
            <a:avLst/>
          </a:prstGeom>
          <a:noFill/>
        </p:spPr>
        <p:txBody>
          <a:bodyPr wrap="square" rtlCol="0">
            <a:spAutoFit/>
          </a:bodyPr>
          <a:lstStyle/>
          <a:p>
            <a:r>
              <a:rPr lang="en-US" sz="2000" b="1" u="sng" dirty="0">
                <a:latin typeface="Microsoft Tai Le"/>
                <a:cs typeface="Microsoft Tai Le"/>
              </a:rPr>
              <a:t>Known COVID+ infant</a:t>
            </a:r>
          </a:p>
          <a:p>
            <a:pPr marL="257175" indent="-257175">
              <a:buFont typeface="Arial" panose="020B0604020202020204" pitchFamily="34" charset="0"/>
              <a:buChar char="•"/>
            </a:pPr>
            <a:r>
              <a:rPr lang="en-US" b="1" dirty="0">
                <a:latin typeface="Microsoft Tai Le"/>
                <a:cs typeface="Microsoft Tai Le"/>
              </a:rPr>
              <a:t>No data </a:t>
            </a:r>
            <a:r>
              <a:rPr lang="en-US" dirty="0">
                <a:latin typeface="Microsoft Tai Le"/>
                <a:cs typeface="Microsoft Tai Le"/>
              </a:rPr>
              <a:t>are currently available to inform management </a:t>
            </a:r>
            <a:endParaRPr lang="en-US" dirty="0">
              <a:latin typeface="Microsoft Tai Le" panose="020B0502040204020203" pitchFamily="34" charset="0"/>
              <a:cs typeface="Microsoft Tai Le" panose="020B0502040204020203" pitchFamily="34" charset="0"/>
            </a:endParaRPr>
          </a:p>
          <a:p>
            <a:pPr marL="257175" indent="-257175">
              <a:buFont typeface="Arial" panose="020B0604020202020204" pitchFamily="34" charset="0"/>
              <a:buChar char="•"/>
            </a:pPr>
            <a:r>
              <a:rPr lang="en-US" dirty="0">
                <a:latin typeface="Microsoft Tai Le"/>
                <a:cs typeface="Microsoft Tai Le"/>
              </a:rPr>
              <a:t>Until additional data are obtained, </a:t>
            </a:r>
            <a:r>
              <a:rPr lang="en-US" b="1" dirty="0">
                <a:latin typeface="Microsoft Tai Le"/>
                <a:cs typeface="Microsoft Tai Le"/>
              </a:rPr>
              <a:t>test and treat based on other age and risk matched criteria</a:t>
            </a:r>
          </a:p>
        </p:txBody>
      </p:sp>
      <p:sp>
        <p:nvSpPr>
          <p:cNvPr id="7" name="TextBox 6">
            <a:extLst>
              <a:ext uri="{FF2B5EF4-FFF2-40B4-BE49-F238E27FC236}">
                <a16:creationId xmlns:a16="http://schemas.microsoft.com/office/drawing/2014/main" id="{339B3E91-4226-4B2F-B2ED-776FD4D256D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1471326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27</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566737"/>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165065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Management of 22 to 28 days old </a:t>
            </a:r>
          </a:p>
        </p:txBody>
      </p:sp>
      <p:grpSp>
        <p:nvGrpSpPr>
          <p:cNvPr id="9" name="Group 4">
            <a:extLst>
              <a:ext uri="{FF2B5EF4-FFF2-40B4-BE49-F238E27FC236}">
                <a16:creationId xmlns:a16="http://schemas.microsoft.com/office/drawing/2014/main" id="{6FAB5B0E-5ECE-4D83-8FBF-FD741014B91F}"/>
              </a:ext>
            </a:extLst>
          </p:cNvPr>
          <p:cNvGrpSpPr>
            <a:grpSpLocks/>
          </p:cNvGrpSpPr>
          <p:nvPr/>
        </p:nvGrpSpPr>
        <p:grpSpPr bwMode="auto">
          <a:xfrm>
            <a:off x="0" y="3247230"/>
            <a:ext cx="9144000" cy="2862263"/>
            <a:chOff x="0" y="1150"/>
            <a:chExt cx="5760" cy="1803"/>
          </a:xfrm>
        </p:grpSpPr>
        <p:sp>
          <p:nvSpPr>
            <p:cNvPr id="10" name="Rectangle 5">
              <a:extLst>
                <a:ext uri="{FF2B5EF4-FFF2-40B4-BE49-F238E27FC236}">
                  <a16:creationId xmlns:a16="http://schemas.microsoft.com/office/drawing/2014/main" id="{8BA300B0-156D-4AB3-B99A-1D784B6BB869}"/>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1" name="Line 6">
              <a:extLst>
                <a:ext uri="{FF2B5EF4-FFF2-40B4-BE49-F238E27FC236}">
                  <a16:creationId xmlns:a16="http://schemas.microsoft.com/office/drawing/2014/main" id="{417F91B2-7172-41B4-90A6-8160FF057041}"/>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2" name="Rectangle 8">
            <a:extLst>
              <a:ext uri="{FF2B5EF4-FFF2-40B4-BE49-F238E27FC236}">
                <a16:creationId xmlns:a16="http://schemas.microsoft.com/office/drawing/2014/main" id="{5AF25031-331B-42BB-B1A6-5C42A7325D82}"/>
              </a:ext>
            </a:extLst>
          </p:cNvPr>
          <p:cNvSpPr>
            <a:spLocks noChangeArrowheads="1"/>
          </p:cNvSpPr>
          <p:nvPr/>
        </p:nvSpPr>
        <p:spPr bwMode="gray">
          <a:xfrm>
            <a:off x="1399190" y="2674368"/>
            <a:ext cx="6695747" cy="222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eaLnBrk="1" hangingPunct="1">
              <a:spcBef>
                <a:spcPct val="50000"/>
              </a:spcBef>
              <a:buNone/>
            </a:pPr>
            <a:r>
              <a:rPr lang="en-US" altLang="en-US" sz="3600" dirty="0">
                <a:solidFill>
                  <a:srgbClr val="FFFFFF"/>
                </a:solidFill>
              </a:rPr>
              <a:t>Level 1: Flowchart</a:t>
            </a:r>
          </a:p>
          <a:p>
            <a:pPr eaLnBrk="1" hangingPunct="1">
              <a:spcBef>
                <a:spcPct val="50000"/>
              </a:spcBef>
              <a:buNone/>
            </a:pPr>
            <a:r>
              <a:rPr lang="en-US" altLang="en-US" sz="3600" dirty="0">
                <a:solidFill>
                  <a:srgbClr val="FFFFFF"/>
                </a:solidFill>
              </a:rPr>
              <a:t>Level 2: Definitions and specifications</a:t>
            </a:r>
          </a:p>
          <a:p>
            <a:pPr eaLnBrk="1" hangingPunct="1">
              <a:spcBef>
                <a:spcPct val="50000"/>
              </a:spcBef>
              <a:buNone/>
            </a:pPr>
            <a:r>
              <a:rPr lang="en-US" altLang="en-US" sz="3600" dirty="0">
                <a:solidFill>
                  <a:srgbClr val="FFFFFF"/>
                </a:solidFill>
              </a:rPr>
              <a:t>Level 3: CA-FIRST protocol details </a:t>
            </a:r>
          </a:p>
        </p:txBody>
      </p:sp>
    </p:spTree>
    <p:extLst>
      <p:ext uri="{BB962C8B-B14F-4D97-AF65-F5344CB8AC3E}">
        <p14:creationId xmlns:p14="http://schemas.microsoft.com/office/powerpoint/2010/main" val="4106977837"/>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28</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22 to 28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1: Flowchart</a:t>
            </a:r>
          </a:p>
        </p:txBody>
      </p:sp>
    </p:spTree>
    <p:extLst>
      <p:ext uri="{BB962C8B-B14F-4D97-AF65-F5344CB8AC3E}">
        <p14:creationId xmlns:p14="http://schemas.microsoft.com/office/powerpoint/2010/main" val="4116078963"/>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4AAC73-8463-4116-85B3-C4D70A0076FA}"/>
              </a:ext>
            </a:extLst>
          </p:cNvPr>
          <p:cNvSpPr/>
          <p:nvPr/>
        </p:nvSpPr>
        <p:spPr>
          <a:xfrm>
            <a:off x="284939" y="145447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Well-appearing?</a:t>
            </a:r>
            <a:endParaRPr lang="en-US" sz="825" dirty="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1C129EA-7CC0-4C66-9DF4-4A4D270120A7}"/>
              </a:ext>
            </a:extLst>
          </p:cNvPr>
          <p:cNvSpPr/>
          <p:nvPr/>
        </p:nvSpPr>
        <p:spPr>
          <a:xfrm>
            <a:off x="1657199" y="1396013"/>
            <a:ext cx="20574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HSV based on risk</a:t>
            </a:r>
            <a:r>
              <a:rPr lang="en-US" sz="825" baseline="30000" dirty="0">
                <a:solidFill>
                  <a:srgbClr val="000000"/>
                </a:solidFill>
                <a:ea typeface="Calibri" panose="020F0502020204030204" pitchFamily="34" charset="0"/>
                <a:cs typeface="Times New Roman" panose="02020603050405020304" pitchFamily="18" charset="0"/>
              </a:rPr>
              <a:t> 1,3</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 </a:t>
            </a:r>
            <a:r>
              <a:rPr lang="en-US" sz="825" dirty="0">
                <a:solidFill>
                  <a:srgbClr val="000000"/>
                </a:solidFill>
                <a:ea typeface="Calibri" panose="020F0502020204030204" pitchFamily="34" charset="0"/>
                <a:cs typeface="Times New Roman" panose="02020603050405020304" pitchFamily="18" charset="0"/>
              </a:rPr>
              <a:t>consider acyclovir </a:t>
            </a:r>
            <a:r>
              <a:rPr lang="en-US" sz="825" baseline="30000" dirty="0">
                <a:solidFill>
                  <a:srgbClr val="000000"/>
                </a:solidFill>
                <a:ea typeface="Calibri" panose="020F0502020204030204" pitchFamily="34" charset="0"/>
                <a:cs typeface="Times New Roman" panose="02020603050405020304" pitchFamily="18" charset="0"/>
              </a:rPr>
              <a:t>1,3</a:t>
            </a:r>
            <a:endParaRPr lang="en-US" sz="825" dirty="0">
              <a:ea typeface="Calibri" panose="020F0502020204030204" pitchFamily="34" charset="0"/>
              <a:cs typeface="Times New Roman" panose="02020603050405020304" pitchFamily="18" charset="0"/>
            </a:endParaRPr>
          </a:p>
        </p:txBody>
      </p:sp>
      <p:sp>
        <p:nvSpPr>
          <p:cNvPr id="7" name="TextBox 43">
            <a:extLst>
              <a:ext uri="{FF2B5EF4-FFF2-40B4-BE49-F238E27FC236}">
                <a16:creationId xmlns:a16="http://schemas.microsoft.com/office/drawing/2014/main" id="{9A476156-6352-4FC6-9D8D-7EB9DAF3A14F}"/>
              </a:ext>
            </a:extLst>
          </p:cNvPr>
          <p:cNvSpPr txBox="1"/>
          <p:nvPr/>
        </p:nvSpPr>
        <p:spPr>
          <a:xfrm>
            <a:off x="1321060" y="1434419"/>
            <a:ext cx="274320" cy="182880"/>
          </a:xfrm>
          <a:prstGeom prst="rect">
            <a:avLst/>
          </a:prstGeom>
          <a:noFill/>
        </p:spPr>
        <p:txBody>
          <a:bodyPr wrap="none" rtlCol="0">
            <a:sp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endPar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E30F78FD-4BF7-4EC2-AEF0-ADC65415B208}"/>
              </a:ext>
            </a:extLst>
          </p:cNvPr>
          <p:cNvSpPr/>
          <p:nvPr/>
        </p:nvSpPr>
        <p:spPr>
          <a:xfrm>
            <a:off x="285511" y="210570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High risk infant? </a:t>
            </a:r>
            <a:r>
              <a:rPr lang="en-US" sz="825" baseline="30000" dirty="0">
                <a:solidFill>
                  <a:srgbClr val="000000"/>
                </a:solidFill>
                <a:ea typeface="Calibri" panose="020F0502020204030204" pitchFamily="34" charset="0"/>
                <a:cs typeface="Times New Roman" panose="02020603050405020304" pitchFamily="18" charset="0"/>
              </a:rPr>
              <a:t>1</a:t>
            </a:r>
            <a:endParaRPr lang="en-US" sz="825" dirty="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2EEAA836-A0BE-460E-AA57-8D42F5D78FFC}"/>
              </a:ext>
            </a:extLst>
          </p:cNvPr>
          <p:cNvSpPr/>
          <p:nvPr/>
        </p:nvSpPr>
        <p:spPr>
          <a:xfrm>
            <a:off x="1659660" y="2046087"/>
            <a:ext cx="2478716"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a:t>
            </a:r>
            <a:endParaRPr lang="en-US" sz="825" dirty="0">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HSV in discussion with pediatrics.</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 </a:t>
            </a:r>
            <a:r>
              <a:rPr lang="en-US" sz="825" dirty="0">
                <a:solidFill>
                  <a:srgbClr val="000000"/>
                </a:solidFill>
                <a:ea typeface="Calibri" panose="020F0502020204030204" pitchFamily="34" charset="0"/>
                <a:cs typeface="Times New Roman" panose="02020603050405020304" pitchFamily="18" charset="0"/>
              </a:rPr>
              <a:t>consider acyclovir </a:t>
            </a:r>
            <a:r>
              <a:rPr lang="en-US" sz="825" baseline="30000" dirty="0">
                <a:solidFill>
                  <a:srgbClr val="000000"/>
                </a:solidFill>
                <a:ea typeface="Calibri" panose="020F0502020204030204" pitchFamily="34" charset="0"/>
                <a:cs typeface="Times New Roman" panose="02020603050405020304" pitchFamily="18" charset="0"/>
              </a:rPr>
              <a:t>1,3</a:t>
            </a:r>
            <a:endParaRPr lang="en-US" sz="825" dirty="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D47E620F-D206-4495-A619-67BAC399113C}"/>
              </a:ext>
            </a:extLst>
          </p:cNvPr>
          <p:cNvSpPr/>
          <p:nvPr/>
        </p:nvSpPr>
        <p:spPr>
          <a:xfrm>
            <a:off x="284939" y="2758818"/>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Focal infection? </a:t>
            </a:r>
            <a:r>
              <a:rPr lang="en-US" sz="825" baseline="30000" dirty="0">
                <a:solidFill>
                  <a:srgbClr val="000000"/>
                </a:solidFill>
                <a:ea typeface="Calibri" panose="020F0502020204030204" pitchFamily="34" charset="0"/>
                <a:cs typeface="Times New Roman" panose="02020603050405020304" pitchFamily="18" charset="0"/>
              </a:rPr>
              <a:t>2</a:t>
            </a:r>
            <a:endParaRPr lang="en-US" sz="825" dirty="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A3252E03-AE9A-420D-90DC-F9C349F9AE11}"/>
              </a:ext>
            </a:extLst>
          </p:cNvPr>
          <p:cNvSpPr/>
          <p:nvPr/>
        </p:nvSpPr>
        <p:spPr>
          <a:xfrm>
            <a:off x="1656567" y="2760199"/>
            <a:ext cx="2057400" cy="3429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a:t>
            </a:r>
            <a:endParaRPr lang="en-US" sz="825" dirty="0">
              <a:ea typeface="Calibri" panose="020F0502020204030204" pitchFamily="34" charset="0"/>
              <a:cs typeface="Times New Roman" panose="02020603050405020304" pitchFamily="18" charset="0"/>
            </a:endParaRPr>
          </a:p>
        </p:txBody>
      </p:sp>
      <p:sp>
        <p:nvSpPr>
          <p:cNvPr id="20" name="TextBox 43">
            <a:extLst>
              <a:ext uri="{FF2B5EF4-FFF2-40B4-BE49-F238E27FC236}">
                <a16:creationId xmlns:a16="http://schemas.microsoft.com/office/drawing/2014/main" id="{41D87251-7B0F-468B-9065-5DF83BBCEE6A}"/>
              </a:ext>
            </a:extLst>
          </p:cNvPr>
          <p:cNvSpPr txBox="1"/>
          <p:nvPr/>
        </p:nvSpPr>
        <p:spPr>
          <a:xfrm>
            <a:off x="508146" y="310578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21" name="Rectangle 20">
            <a:extLst>
              <a:ext uri="{FF2B5EF4-FFF2-40B4-BE49-F238E27FC236}">
                <a16:creationId xmlns:a16="http://schemas.microsoft.com/office/drawing/2014/main" id="{48DE9810-2091-4E71-AD7C-FF6E9AEB7DC8}"/>
              </a:ext>
            </a:extLst>
          </p:cNvPr>
          <p:cNvSpPr/>
          <p:nvPr/>
        </p:nvSpPr>
        <p:spPr>
          <a:xfrm>
            <a:off x="286464" y="341021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Bronchiolitis?</a:t>
            </a:r>
            <a:endParaRPr lang="en-US" sz="825" dirty="0">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E5B3E3A9-47B2-4602-837E-8A23F0F908B0}"/>
              </a:ext>
            </a:extLst>
          </p:cNvPr>
          <p:cNvSpPr/>
          <p:nvPr/>
        </p:nvSpPr>
        <p:spPr>
          <a:xfrm>
            <a:off x="3717657" y="3409839"/>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a:t>
            </a:r>
            <a:endParaRPr lang="en-US" sz="825" dirty="0">
              <a:ea typeface="Calibri" panose="020F0502020204030204" pitchFamily="34" charset="0"/>
              <a:cs typeface="Times New Roman" panose="02020603050405020304" pitchFamily="18" charset="0"/>
            </a:endParaRPr>
          </a:p>
        </p:txBody>
      </p:sp>
      <p:sp>
        <p:nvSpPr>
          <p:cNvPr id="26" name="TextBox 43">
            <a:extLst>
              <a:ext uri="{FF2B5EF4-FFF2-40B4-BE49-F238E27FC236}">
                <a16:creationId xmlns:a16="http://schemas.microsoft.com/office/drawing/2014/main" id="{B0E62588-715E-42B6-8D72-487E23D785A8}"/>
              </a:ext>
            </a:extLst>
          </p:cNvPr>
          <p:cNvSpPr txBox="1"/>
          <p:nvPr/>
        </p:nvSpPr>
        <p:spPr>
          <a:xfrm>
            <a:off x="507108" y="375291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27" name="Rectangle 26">
            <a:extLst>
              <a:ext uri="{FF2B5EF4-FFF2-40B4-BE49-F238E27FC236}">
                <a16:creationId xmlns:a16="http://schemas.microsoft.com/office/drawing/2014/main" id="{0CA6D3A3-462D-42A5-94A2-32B0A8E67C6F}"/>
              </a:ext>
            </a:extLst>
          </p:cNvPr>
          <p:cNvSpPr/>
          <p:nvPr/>
        </p:nvSpPr>
        <p:spPr>
          <a:xfrm>
            <a:off x="4600933" y="210853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73" name="TextBox 43">
            <a:extLst>
              <a:ext uri="{FF2B5EF4-FFF2-40B4-BE49-F238E27FC236}">
                <a16:creationId xmlns:a16="http://schemas.microsoft.com/office/drawing/2014/main" id="{4639843C-B8A7-44B8-B283-AC974F2B16E2}"/>
              </a:ext>
            </a:extLst>
          </p:cNvPr>
          <p:cNvSpPr txBox="1"/>
          <p:nvPr/>
        </p:nvSpPr>
        <p:spPr>
          <a:xfrm>
            <a:off x="4833029" y="191784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4" name="Rectangle 73">
            <a:extLst>
              <a:ext uri="{FF2B5EF4-FFF2-40B4-BE49-F238E27FC236}">
                <a16:creationId xmlns:a16="http://schemas.microsoft.com/office/drawing/2014/main" id="{D40ED8B2-92DB-4B5D-9F87-63F43E20CBD9}"/>
              </a:ext>
            </a:extLst>
          </p:cNvPr>
          <p:cNvSpPr/>
          <p:nvPr/>
        </p:nvSpPr>
        <p:spPr>
          <a:xfrm>
            <a:off x="6889663" y="1320968"/>
            <a:ext cx="205740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unless concern for respiratory decompensation, f/u 24-36 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sp>
        <p:nvSpPr>
          <p:cNvPr id="77" name="Rectangle 76">
            <a:extLst>
              <a:ext uri="{FF2B5EF4-FFF2-40B4-BE49-F238E27FC236}">
                <a16:creationId xmlns:a16="http://schemas.microsoft.com/office/drawing/2014/main" id="{2AC4682D-89BD-4724-BEE9-F804F7976F45}"/>
              </a:ext>
            </a:extLst>
          </p:cNvPr>
          <p:cNvSpPr/>
          <p:nvPr/>
        </p:nvSpPr>
        <p:spPr>
          <a:xfrm>
            <a:off x="288162" y="4062336"/>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a:t>
            </a:r>
            <a:endParaRPr lang="en-US" sz="825" dirty="0">
              <a:ea typeface="Calibri" panose="020F0502020204030204" pitchFamily="34" charset="0"/>
              <a:cs typeface="Times New Roman" panose="02020603050405020304" pitchFamily="18" charset="0"/>
            </a:endParaRPr>
          </a:p>
        </p:txBody>
      </p:sp>
      <p:sp>
        <p:nvSpPr>
          <p:cNvPr id="78" name="Rectangle 77">
            <a:extLst>
              <a:ext uri="{FF2B5EF4-FFF2-40B4-BE49-F238E27FC236}">
                <a16:creationId xmlns:a16="http://schemas.microsoft.com/office/drawing/2014/main" id="{A478BD71-6392-4A44-8170-D1C4D5AB8F3A}"/>
              </a:ext>
            </a:extLst>
          </p:cNvPr>
          <p:cNvSpPr/>
          <p:nvPr/>
        </p:nvSpPr>
        <p:spPr>
          <a:xfrm>
            <a:off x="1999899" y="406604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CBC,</a:t>
            </a:r>
          </a:p>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 or &gt; 38.5 C?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82" name="Rectangle 81">
            <a:extLst>
              <a:ext uri="{FF2B5EF4-FFF2-40B4-BE49-F238E27FC236}">
                <a16:creationId xmlns:a16="http://schemas.microsoft.com/office/drawing/2014/main" id="{FAA1ADF7-D93A-4B5D-8B2E-F8D5C8859B4B}"/>
              </a:ext>
            </a:extLst>
          </p:cNvPr>
          <p:cNvSpPr/>
          <p:nvPr/>
        </p:nvSpPr>
        <p:spPr>
          <a:xfrm>
            <a:off x="3713646" y="4064506"/>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a:t>
            </a:r>
          </a:p>
        </p:txBody>
      </p:sp>
      <p:sp>
        <p:nvSpPr>
          <p:cNvPr id="86" name="TextBox 43">
            <a:extLst>
              <a:ext uri="{FF2B5EF4-FFF2-40B4-BE49-F238E27FC236}">
                <a16:creationId xmlns:a16="http://schemas.microsoft.com/office/drawing/2014/main" id="{1E2781C8-A88C-4644-ADB7-0DC3C25AD0C3}"/>
              </a:ext>
            </a:extLst>
          </p:cNvPr>
          <p:cNvSpPr txBox="1"/>
          <p:nvPr/>
        </p:nvSpPr>
        <p:spPr>
          <a:xfrm>
            <a:off x="2233519" y="4410270"/>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8" name="Rectangle 87">
            <a:extLst>
              <a:ext uri="{FF2B5EF4-FFF2-40B4-BE49-F238E27FC236}">
                <a16:creationId xmlns:a16="http://schemas.microsoft.com/office/drawing/2014/main" id="{B85ECD8E-3301-467B-A742-D231F41667BF}"/>
              </a:ext>
            </a:extLst>
          </p:cNvPr>
          <p:cNvSpPr/>
          <p:nvPr/>
        </p:nvSpPr>
        <p:spPr>
          <a:xfrm>
            <a:off x="5425615" y="4061564"/>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CSF positive?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89" name="TextBox 43">
            <a:extLst>
              <a:ext uri="{FF2B5EF4-FFF2-40B4-BE49-F238E27FC236}">
                <a16:creationId xmlns:a16="http://schemas.microsoft.com/office/drawing/2014/main" id="{7DDE6042-319B-407F-9BA7-744945C69845}"/>
              </a:ext>
            </a:extLst>
          </p:cNvPr>
          <p:cNvSpPr txBox="1"/>
          <p:nvPr/>
        </p:nvSpPr>
        <p:spPr>
          <a:xfrm>
            <a:off x="6449933" y="404455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1" name="Rectangle 90">
            <a:extLst>
              <a:ext uri="{FF2B5EF4-FFF2-40B4-BE49-F238E27FC236}">
                <a16:creationId xmlns:a16="http://schemas.microsoft.com/office/drawing/2014/main" id="{0B5DD1F7-1CB7-449C-840A-982057F685B1}"/>
              </a:ext>
            </a:extLst>
          </p:cNvPr>
          <p:cNvSpPr/>
          <p:nvPr/>
        </p:nvSpPr>
        <p:spPr>
          <a:xfrm>
            <a:off x="7136779" y="4003864"/>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HSV based on risk</a:t>
            </a:r>
            <a:r>
              <a:rPr lang="en-US" sz="825" baseline="30000" dirty="0">
                <a:solidFill>
                  <a:srgbClr val="000000"/>
                </a:solidFill>
                <a:ea typeface="Calibri" panose="020F0502020204030204" pitchFamily="34" charset="0"/>
                <a:cs typeface="Times New Roman" panose="02020603050405020304" pitchFamily="18" charset="0"/>
              </a:rPr>
              <a:t> 3,4</a:t>
            </a:r>
            <a:endParaRPr lang="en-US" sz="825" dirty="0">
              <a:solidFill>
                <a:srgbClr val="000000"/>
              </a:solidFill>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consider acyclovir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93" name="TextBox 43">
            <a:extLst>
              <a:ext uri="{FF2B5EF4-FFF2-40B4-BE49-F238E27FC236}">
                <a16:creationId xmlns:a16="http://schemas.microsoft.com/office/drawing/2014/main" id="{41E17A15-2963-4622-936B-3A73F0E7FFEC}"/>
              </a:ext>
            </a:extLst>
          </p:cNvPr>
          <p:cNvSpPr txBox="1"/>
          <p:nvPr/>
        </p:nvSpPr>
        <p:spPr>
          <a:xfrm>
            <a:off x="5661898" y="3845597"/>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4" name="Rectangle 93">
            <a:extLst>
              <a:ext uri="{FF2B5EF4-FFF2-40B4-BE49-F238E27FC236}">
                <a16:creationId xmlns:a16="http://schemas.microsoft.com/office/drawing/2014/main" id="{72AC176F-2298-4D38-AC7A-C9FBC5F2C1C4}"/>
              </a:ext>
            </a:extLst>
          </p:cNvPr>
          <p:cNvSpPr/>
          <p:nvPr/>
        </p:nvSpPr>
        <p:spPr>
          <a:xfrm>
            <a:off x="7136779" y="3353550"/>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95" name="Rectangle 94">
            <a:extLst>
              <a:ext uri="{FF2B5EF4-FFF2-40B4-BE49-F238E27FC236}">
                <a16:creationId xmlns:a16="http://schemas.microsoft.com/office/drawing/2014/main" id="{BFC516D3-4F8F-4A80-B096-ABDD6526C64B}"/>
              </a:ext>
            </a:extLst>
          </p:cNvPr>
          <p:cNvSpPr/>
          <p:nvPr/>
        </p:nvSpPr>
        <p:spPr>
          <a:xfrm>
            <a:off x="5426699" y="340962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or CBC?</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97" name="TextBox 43">
            <a:extLst>
              <a:ext uri="{FF2B5EF4-FFF2-40B4-BE49-F238E27FC236}">
                <a16:creationId xmlns:a16="http://schemas.microsoft.com/office/drawing/2014/main" id="{1621DACC-B75C-40C8-B98F-BE8F7BEA5DDA}"/>
              </a:ext>
            </a:extLst>
          </p:cNvPr>
          <p:cNvSpPr txBox="1"/>
          <p:nvPr/>
        </p:nvSpPr>
        <p:spPr>
          <a:xfrm>
            <a:off x="6457192" y="339100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9" name="Rectangle 98">
            <a:extLst>
              <a:ext uri="{FF2B5EF4-FFF2-40B4-BE49-F238E27FC236}">
                <a16:creationId xmlns:a16="http://schemas.microsoft.com/office/drawing/2014/main" id="{508181DB-443C-4163-972B-5E4C67AE1DBA}"/>
              </a:ext>
            </a:extLst>
          </p:cNvPr>
          <p:cNvSpPr/>
          <p:nvPr/>
        </p:nvSpPr>
        <p:spPr>
          <a:xfrm>
            <a:off x="7137976" y="2709049"/>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Consider withholding</a:t>
            </a:r>
            <a:endParaRPr lang="en-US" sz="825" dirty="0">
              <a:ea typeface="Calibri" panose="020F0502020204030204" pitchFamily="34" charset="0"/>
              <a:cs typeface="Times New Roman" panose="02020603050405020304" pitchFamily="18" charset="0"/>
            </a:endParaRPr>
          </a:p>
        </p:txBody>
      </p:sp>
      <p:cxnSp>
        <p:nvCxnSpPr>
          <p:cNvPr id="104" name="Connector: Elbow 103">
            <a:extLst>
              <a:ext uri="{FF2B5EF4-FFF2-40B4-BE49-F238E27FC236}">
                <a16:creationId xmlns:a16="http://schemas.microsoft.com/office/drawing/2014/main" id="{63A64CA8-B37B-4CF4-B11C-4B76575D8BC9}"/>
              </a:ext>
            </a:extLst>
          </p:cNvPr>
          <p:cNvCxnSpPr>
            <a:stCxn id="4" idx="3"/>
            <a:endCxn id="6" idx="1"/>
          </p:cNvCxnSpPr>
          <p:nvPr/>
        </p:nvCxnSpPr>
        <p:spPr>
          <a:xfrm>
            <a:off x="1313640" y="1625926"/>
            <a:ext cx="343559" cy="116"/>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6087A641-7E6B-4A69-BD5B-0808A6D81912}"/>
              </a:ext>
            </a:extLst>
          </p:cNvPr>
          <p:cNvCxnSpPr>
            <a:stCxn id="4" idx="2"/>
            <a:endCxn id="10" idx="0"/>
          </p:cNvCxnSpPr>
          <p:nvPr/>
        </p:nvCxnSpPr>
        <p:spPr>
          <a:xfrm rot="16200000" flipH="1">
            <a:off x="645414" y="1951252"/>
            <a:ext cx="308324" cy="57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06F3A8-74F0-4689-BF02-BA2B11F77136}"/>
              </a:ext>
            </a:extLst>
          </p:cNvPr>
          <p:cNvCxnSpPr>
            <a:stCxn id="10" idx="2"/>
            <a:endCxn id="15" idx="0"/>
          </p:cNvCxnSpPr>
          <p:nvPr/>
        </p:nvCxnSpPr>
        <p:spPr>
          <a:xfrm rot="5400000">
            <a:off x="644467" y="2603423"/>
            <a:ext cx="310217" cy="57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110AF22E-B42F-4DFA-B574-759A261C60EC}"/>
              </a:ext>
            </a:extLst>
          </p:cNvPr>
          <p:cNvCxnSpPr>
            <a:stCxn id="15" idx="2"/>
            <a:endCxn id="21" idx="0"/>
          </p:cNvCxnSpPr>
          <p:nvPr/>
        </p:nvCxnSpPr>
        <p:spPr>
          <a:xfrm rot="16200000" flipH="1">
            <a:off x="645043" y="3255965"/>
            <a:ext cx="30849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605917D0-1F7F-4FCE-9BD7-B76B12A44FE7}"/>
              </a:ext>
            </a:extLst>
          </p:cNvPr>
          <p:cNvCxnSpPr>
            <a:stCxn id="21" idx="2"/>
            <a:endCxn id="77" idx="0"/>
          </p:cNvCxnSpPr>
          <p:nvPr/>
        </p:nvCxnSpPr>
        <p:spPr>
          <a:xfrm rot="16200000" flipH="1">
            <a:off x="646203" y="3907724"/>
            <a:ext cx="309223"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088D9C92-D705-4899-997A-EF71DE83E9CC}"/>
              </a:ext>
            </a:extLst>
          </p:cNvPr>
          <p:cNvCxnSpPr>
            <a:cxnSpLocks/>
            <a:stCxn id="10" idx="3"/>
            <a:endCxn id="13" idx="1"/>
          </p:cNvCxnSpPr>
          <p:nvPr/>
        </p:nvCxnSpPr>
        <p:spPr>
          <a:xfrm flipV="1">
            <a:off x="1314211" y="2276116"/>
            <a:ext cx="345449" cy="103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D7E8C136-6376-42C7-8717-BDA7EFDBB9E9}"/>
              </a:ext>
            </a:extLst>
          </p:cNvPr>
          <p:cNvCxnSpPr>
            <a:stCxn id="21" idx="3"/>
            <a:endCxn id="24" idx="1"/>
          </p:cNvCxnSpPr>
          <p:nvPr/>
        </p:nvCxnSpPr>
        <p:spPr>
          <a:xfrm flipV="1">
            <a:off x="1315164" y="3581290"/>
            <a:ext cx="2402493" cy="374"/>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951278DF-24C3-4E17-BDAF-B33E3864BE46}"/>
              </a:ext>
            </a:extLst>
          </p:cNvPr>
          <p:cNvCxnSpPr>
            <a:stCxn id="78" idx="3"/>
            <a:endCxn id="82" idx="1"/>
          </p:cNvCxnSpPr>
          <p:nvPr/>
        </p:nvCxnSpPr>
        <p:spPr>
          <a:xfrm flipV="1">
            <a:off x="3028599" y="4235956"/>
            <a:ext cx="685047" cy="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13127B73-DE81-46E2-8A81-7E5B889CC361}"/>
              </a:ext>
            </a:extLst>
          </p:cNvPr>
          <p:cNvCxnSpPr>
            <a:stCxn id="82" idx="3"/>
            <a:endCxn id="88" idx="1"/>
          </p:cNvCxnSpPr>
          <p:nvPr/>
        </p:nvCxnSpPr>
        <p:spPr>
          <a:xfrm flipV="1">
            <a:off x="4742346" y="4233014"/>
            <a:ext cx="683269" cy="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3627F1DA-79A1-4BE4-90EC-50B60534DF72}"/>
              </a:ext>
            </a:extLst>
          </p:cNvPr>
          <p:cNvCxnSpPr>
            <a:cxnSpLocks/>
            <a:stCxn id="95" idx="3"/>
            <a:endCxn id="94" idx="1"/>
          </p:cNvCxnSpPr>
          <p:nvPr/>
        </p:nvCxnSpPr>
        <p:spPr>
          <a:xfrm>
            <a:off x="6455399" y="3581073"/>
            <a:ext cx="685800" cy="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3" name="TextBox 43">
            <a:extLst>
              <a:ext uri="{FF2B5EF4-FFF2-40B4-BE49-F238E27FC236}">
                <a16:creationId xmlns:a16="http://schemas.microsoft.com/office/drawing/2014/main" id="{67698FD7-604A-4089-BD6B-5290B24CB945}"/>
              </a:ext>
            </a:extLst>
          </p:cNvPr>
          <p:cNvSpPr txBox="1"/>
          <p:nvPr/>
        </p:nvSpPr>
        <p:spPr>
          <a:xfrm>
            <a:off x="5653874" y="321551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36" name="Connector: Elbow 235">
            <a:extLst>
              <a:ext uri="{FF2B5EF4-FFF2-40B4-BE49-F238E27FC236}">
                <a16:creationId xmlns:a16="http://schemas.microsoft.com/office/drawing/2014/main" id="{1F25E9DE-1026-49C6-960D-0B444DAE7EC2}"/>
              </a:ext>
            </a:extLst>
          </p:cNvPr>
          <p:cNvCxnSpPr>
            <a:stCxn id="15" idx="3"/>
            <a:endCxn id="18" idx="1"/>
          </p:cNvCxnSpPr>
          <p:nvPr/>
        </p:nvCxnSpPr>
        <p:spPr>
          <a:xfrm>
            <a:off x="1313640" y="2930268"/>
            <a:ext cx="34292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D8184CDE-BDCB-4FD1-B88A-EC0481B02CE3}"/>
              </a:ext>
            </a:extLst>
          </p:cNvPr>
          <p:cNvSpPr/>
          <p:nvPr/>
        </p:nvSpPr>
        <p:spPr>
          <a:xfrm>
            <a:off x="6879427" y="2006213"/>
            <a:ext cx="205740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unless concern for respiratory decompensation, f/u 12-24 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Blood</a:t>
            </a:r>
          </a:p>
          <a:p>
            <a:r>
              <a:rPr lang="en-US" sz="825" dirty="0">
                <a:solidFill>
                  <a:srgbClr val="000000"/>
                </a:solidFill>
                <a:ea typeface="Calibri" panose="020F0502020204030204" pitchFamily="34" charset="0"/>
                <a:cs typeface="Times New Roman" panose="02020603050405020304" pitchFamily="18" charset="0"/>
              </a:rPr>
              <a:t>Antibiotics: Oral</a:t>
            </a:r>
          </a:p>
        </p:txBody>
      </p:sp>
      <p:cxnSp>
        <p:nvCxnSpPr>
          <p:cNvPr id="5" name="Connector: Elbow 4">
            <a:extLst>
              <a:ext uri="{FF2B5EF4-FFF2-40B4-BE49-F238E27FC236}">
                <a16:creationId xmlns:a16="http://schemas.microsoft.com/office/drawing/2014/main" id="{F919454D-3DEC-4A74-8E71-A10E1CEF981F}"/>
              </a:ext>
            </a:extLst>
          </p:cNvPr>
          <p:cNvCxnSpPr>
            <a:cxnSpLocks/>
            <a:stCxn id="27" idx="3"/>
            <a:endCxn id="84" idx="1"/>
          </p:cNvCxnSpPr>
          <p:nvPr/>
        </p:nvCxnSpPr>
        <p:spPr>
          <a:xfrm>
            <a:off x="5629633" y="2279981"/>
            <a:ext cx="1249794" cy="55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A01B077E-5D82-4C76-A213-E082A9252FF5}"/>
              </a:ext>
            </a:extLst>
          </p:cNvPr>
          <p:cNvSpPr/>
          <p:nvPr/>
        </p:nvSpPr>
        <p:spPr>
          <a:xfrm>
            <a:off x="2001287" y="4716084"/>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Consider CSF</a:t>
            </a:r>
          </a:p>
        </p:txBody>
      </p:sp>
      <p:sp>
        <p:nvSpPr>
          <p:cNvPr id="107" name="Rectangle 106">
            <a:extLst>
              <a:ext uri="{FF2B5EF4-FFF2-40B4-BE49-F238E27FC236}">
                <a16:creationId xmlns:a16="http://schemas.microsoft.com/office/drawing/2014/main" id="{279CAC60-9478-46B5-8911-49377CDA8626}"/>
              </a:ext>
            </a:extLst>
          </p:cNvPr>
          <p:cNvSpPr/>
          <p:nvPr/>
        </p:nvSpPr>
        <p:spPr>
          <a:xfrm>
            <a:off x="3714557" y="471230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825" dirty="0">
                <a:solidFill>
                  <a:srgbClr val="000000"/>
                </a:solidFill>
                <a:ea typeface="Calibri" panose="020F0502020204030204" pitchFamily="34" charset="0"/>
                <a:cs typeface="Times New Roman" panose="02020603050405020304" pitchFamily="18" charset="0"/>
              </a:rPr>
              <a:t>LP deferred?</a:t>
            </a:r>
            <a:endParaRPr lang="en-US" sz="825" dirty="0">
              <a:ea typeface="Calibri" panose="020F0502020204030204" pitchFamily="34" charset="0"/>
              <a:cs typeface="Times New Roman" panose="02020603050405020304" pitchFamily="18" charset="0"/>
            </a:endParaRPr>
          </a:p>
        </p:txBody>
      </p:sp>
      <p:sp>
        <p:nvSpPr>
          <p:cNvPr id="108" name="Rectangle 107">
            <a:extLst>
              <a:ext uri="{FF2B5EF4-FFF2-40B4-BE49-F238E27FC236}">
                <a16:creationId xmlns:a16="http://schemas.microsoft.com/office/drawing/2014/main" id="{6C4EE95C-8E4A-4BB3-9143-D4F3A07E6A56}"/>
              </a:ext>
            </a:extLst>
          </p:cNvPr>
          <p:cNvSpPr/>
          <p:nvPr/>
        </p:nvSpPr>
        <p:spPr>
          <a:xfrm>
            <a:off x="3336189" y="5361427"/>
            <a:ext cx="1783080" cy="460058"/>
          </a:xfrm>
          <a:prstGeom prst="rect">
            <a:avLst/>
          </a:prstGeom>
          <a:solidFill>
            <a:srgbClr val="CCCCFF"/>
          </a:solidFill>
          <a:ln w="28575"/>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CSF if antibiotics are to be given Antibiotics: Consider withholding</a:t>
            </a:r>
            <a:endParaRPr lang="en-US" sz="825" dirty="0">
              <a:ea typeface="Calibri" panose="020F0502020204030204" pitchFamily="34" charset="0"/>
              <a:cs typeface="Times New Roman" panose="02020603050405020304" pitchFamily="18" charset="0"/>
            </a:endParaRPr>
          </a:p>
        </p:txBody>
      </p:sp>
      <p:sp>
        <p:nvSpPr>
          <p:cNvPr id="109" name="Rectangle 108">
            <a:extLst>
              <a:ext uri="{FF2B5EF4-FFF2-40B4-BE49-F238E27FC236}">
                <a16:creationId xmlns:a16="http://schemas.microsoft.com/office/drawing/2014/main" id="{339DB047-C767-4017-AF0C-BD4C48BFF0E7}"/>
              </a:ext>
            </a:extLst>
          </p:cNvPr>
          <p:cNvSpPr/>
          <p:nvPr/>
        </p:nvSpPr>
        <p:spPr>
          <a:xfrm>
            <a:off x="5429843" y="471230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CSF positive?</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117" name="Rectangle 116">
            <a:extLst>
              <a:ext uri="{FF2B5EF4-FFF2-40B4-BE49-F238E27FC236}">
                <a16:creationId xmlns:a16="http://schemas.microsoft.com/office/drawing/2014/main" id="{A8D0DE21-8FD7-41DE-91BD-8D2232EDEFBB}"/>
              </a:ext>
            </a:extLst>
          </p:cNvPr>
          <p:cNvSpPr/>
          <p:nvPr/>
        </p:nvSpPr>
        <p:spPr>
          <a:xfrm>
            <a:off x="7144754" y="4657210"/>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HSV based on risk</a:t>
            </a:r>
            <a:r>
              <a:rPr lang="en-US" sz="825" baseline="30000" dirty="0">
                <a:solidFill>
                  <a:srgbClr val="000000"/>
                </a:solidFill>
                <a:ea typeface="Calibri" panose="020F0502020204030204" pitchFamily="34" charset="0"/>
                <a:cs typeface="Times New Roman" panose="02020603050405020304" pitchFamily="18" charset="0"/>
              </a:rPr>
              <a:t> 3,4</a:t>
            </a:r>
            <a:endParaRPr lang="en-US" sz="825" dirty="0">
              <a:solidFill>
                <a:srgbClr val="000000"/>
              </a:solidFill>
              <a:ea typeface="Calibri" panose="020F0502020204030204" pitchFamily="34" charset="0"/>
              <a:cs typeface="Times New Roman" panose="02020603050405020304" pitchFamily="18" charset="0"/>
            </a:endParaRP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consider acyclovir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119" name="Rectangle 118">
            <a:extLst>
              <a:ext uri="{FF2B5EF4-FFF2-40B4-BE49-F238E27FC236}">
                <a16:creationId xmlns:a16="http://schemas.microsoft.com/office/drawing/2014/main" id="{ECAF9838-47C9-47B1-8631-EAAF8565873E}"/>
              </a:ext>
            </a:extLst>
          </p:cNvPr>
          <p:cNvSpPr/>
          <p:nvPr/>
        </p:nvSpPr>
        <p:spPr>
          <a:xfrm>
            <a:off x="7163983" y="5360057"/>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24 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Abx prior to discharge</a:t>
            </a:r>
          </a:p>
        </p:txBody>
      </p:sp>
      <p:cxnSp>
        <p:nvCxnSpPr>
          <p:cNvPr id="65" name="Connector: Elbow 64">
            <a:extLst>
              <a:ext uri="{FF2B5EF4-FFF2-40B4-BE49-F238E27FC236}">
                <a16:creationId xmlns:a16="http://schemas.microsoft.com/office/drawing/2014/main" id="{4970C6CB-3955-421E-9A86-0E4C778C0DCE}"/>
              </a:ext>
            </a:extLst>
          </p:cNvPr>
          <p:cNvCxnSpPr>
            <a:stCxn id="27" idx="0"/>
            <a:endCxn id="74" idx="1"/>
          </p:cNvCxnSpPr>
          <p:nvPr/>
        </p:nvCxnSpPr>
        <p:spPr>
          <a:xfrm rot="5400000" flipH="1" flipV="1">
            <a:off x="5745851" y="964720"/>
            <a:ext cx="513243" cy="1774380"/>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6EEDA41A-C6FB-4A2D-966F-2BB232C6015A}"/>
              </a:ext>
            </a:extLst>
          </p:cNvPr>
          <p:cNvCxnSpPr>
            <a:cxnSpLocks/>
            <a:stCxn id="88" idx="3"/>
            <a:endCxn id="91" idx="1"/>
          </p:cNvCxnSpPr>
          <p:nvPr/>
        </p:nvCxnSpPr>
        <p:spPr>
          <a:xfrm>
            <a:off x="6454315" y="4233014"/>
            <a:ext cx="682464" cy="879"/>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F4862C9A-0A6A-4D4F-A70D-78CF267AE7B4}"/>
              </a:ext>
            </a:extLst>
          </p:cNvPr>
          <p:cNvCxnSpPr>
            <a:stCxn id="95" idx="0"/>
            <a:endCxn id="99" idx="1"/>
          </p:cNvCxnSpPr>
          <p:nvPr/>
        </p:nvCxnSpPr>
        <p:spPr>
          <a:xfrm rot="5400000" flipH="1" flipV="1">
            <a:off x="6304240" y="2575887"/>
            <a:ext cx="470546" cy="1196927"/>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1A602290-B68D-4F52-BBE9-2ED9BFE3A900}"/>
              </a:ext>
            </a:extLst>
          </p:cNvPr>
          <p:cNvCxnSpPr>
            <a:stCxn id="77" idx="3"/>
            <a:endCxn id="78" idx="1"/>
          </p:cNvCxnSpPr>
          <p:nvPr/>
        </p:nvCxnSpPr>
        <p:spPr>
          <a:xfrm>
            <a:off x="1316862" y="4233786"/>
            <a:ext cx="68303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Connector: Elbow 154">
            <a:extLst>
              <a:ext uri="{FF2B5EF4-FFF2-40B4-BE49-F238E27FC236}">
                <a16:creationId xmlns:a16="http://schemas.microsoft.com/office/drawing/2014/main" id="{A015AC97-5462-4957-815E-5FCC6ECBBEB2}"/>
              </a:ext>
            </a:extLst>
          </p:cNvPr>
          <p:cNvCxnSpPr>
            <a:cxnSpLocks/>
            <a:stCxn id="78" idx="2"/>
            <a:endCxn id="105" idx="0"/>
          </p:cNvCxnSpPr>
          <p:nvPr/>
        </p:nvCxnSpPr>
        <p:spPr>
          <a:xfrm rot="16200000" flipH="1">
            <a:off x="2360679" y="4562513"/>
            <a:ext cx="307141"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Connector: Elbow 158">
            <a:extLst>
              <a:ext uri="{FF2B5EF4-FFF2-40B4-BE49-F238E27FC236}">
                <a16:creationId xmlns:a16="http://schemas.microsoft.com/office/drawing/2014/main" id="{D18D7A7C-95CC-4F02-9F57-FB6D64E67213}"/>
              </a:ext>
            </a:extLst>
          </p:cNvPr>
          <p:cNvCxnSpPr>
            <a:stCxn id="105" idx="3"/>
            <a:endCxn id="107" idx="1"/>
          </p:cNvCxnSpPr>
          <p:nvPr/>
        </p:nvCxnSpPr>
        <p:spPr>
          <a:xfrm flipV="1">
            <a:off x="3029987" y="4883753"/>
            <a:ext cx="684570"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Connector: Elbow 160">
            <a:extLst>
              <a:ext uri="{FF2B5EF4-FFF2-40B4-BE49-F238E27FC236}">
                <a16:creationId xmlns:a16="http://schemas.microsoft.com/office/drawing/2014/main" id="{0343DF8C-AA63-454C-B2D4-7B997A2D5BEC}"/>
              </a:ext>
            </a:extLst>
          </p:cNvPr>
          <p:cNvCxnSpPr>
            <a:stCxn id="107" idx="2"/>
            <a:endCxn id="108" idx="0"/>
          </p:cNvCxnSpPr>
          <p:nvPr/>
        </p:nvCxnSpPr>
        <p:spPr>
          <a:xfrm rot="5400000">
            <a:off x="4075205" y="5207726"/>
            <a:ext cx="306225" cy="1178"/>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Connector: Elbow 166">
            <a:extLst>
              <a:ext uri="{FF2B5EF4-FFF2-40B4-BE49-F238E27FC236}">
                <a16:creationId xmlns:a16="http://schemas.microsoft.com/office/drawing/2014/main" id="{1B221158-2D0B-4079-B6B5-C06B7CBBA6E9}"/>
              </a:ext>
            </a:extLst>
          </p:cNvPr>
          <p:cNvCxnSpPr>
            <a:cxnSpLocks/>
            <a:stCxn id="109" idx="3"/>
            <a:endCxn id="117" idx="1"/>
          </p:cNvCxnSpPr>
          <p:nvPr/>
        </p:nvCxnSpPr>
        <p:spPr>
          <a:xfrm>
            <a:off x="6458543" y="4883753"/>
            <a:ext cx="686211"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or: Elbow 168">
            <a:extLst>
              <a:ext uri="{FF2B5EF4-FFF2-40B4-BE49-F238E27FC236}">
                <a16:creationId xmlns:a16="http://schemas.microsoft.com/office/drawing/2014/main" id="{1EF77CF7-DDA7-4E2B-A43A-C02499284F23}"/>
              </a:ext>
            </a:extLst>
          </p:cNvPr>
          <p:cNvCxnSpPr>
            <a:stCxn id="109" idx="2"/>
            <a:endCxn id="119" idx="1"/>
          </p:cNvCxnSpPr>
          <p:nvPr/>
        </p:nvCxnSpPr>
        <p:spPr>
          <a:xfrm rot="16200000" flipH="1">
            <a:off x="6286645" y="4712749"/>
            <a:ext cx="534884" cy="1219790"/>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27E8E0D7-7BD7-4E44-8023-D8588A448BF5}"/>
              </a:ext>
            </a:extLst>
          </p:cNvPr>
          <p:cNvCxnSpPr>
            <a:stCxn id="24" idx="3"/>
            <a:endCxn id="27" idx="2"/>
          </p:cNvCxnSpPr>
          <p:nvPr/>
        </p:nvCxnSpPr>
        <p:spPr>
          <a:xfrm flipV="1">
            <a:off x="4746357" y="2451432"/>
            <a:ext cx="368926" cy="1129858"/>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8" name="TextBox 43">
            <a:extLst>
              <a:ext uri="{FF2B5EF4-FFF2-40B4-BE49-F238E27FC236}">
                <a16:creationId xmlns:a16="http://schemas.microsoft.com/office/drawing/2014/main" id="{1B489278-D2AF-46A6-9A64-763A199217E3}"/>
              </a:ext>
            </a:extLst>
          </p:cNvPr>
          <p:cNvSpPr txBox="1"/>
          <p:nvPr/>
        </p:nvSpPr>
        <p:spPr>
          <a:xfrm>
            <a:off x="510288" y="179422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9" name="TextBox 43">
            <a:extLst>
              <a:ext uri="{FF2B5EF4-FFF2-40B4-BE49-F238E27FC236}">
                <a16:creationId xmlns:a16="http://schemas.microsoft.com/office/drawing/2014/main" id="{323754C4-6FE5-438B-AF77-F1BD014F9723}"/>
              </a:ext>
            </a:extLst>
          </p:cNvPr>
          <p:cNvSpPr txBox="1"/>
          <p:nvPr/>
        </p:nvSpPr>
        <p:spPr>
          <a:xfrm>
            <a:off x="510477" y="245210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29" name="Connector: Elbow 228">
            <a:extLst>
              <a:ext uri="{FF2B5EF4-FFF2-40B4-BE49-F238E27FC236}">
                <a16:creationId xmlns:a16="http://schemas.microsoft.com/office/drawing/2014/main" id="{0326F7FD-A145-43D2-882E-CE67602ED7AA}"/>
              </a:ext>
            </a:extLst>
          </p:cNvPr>
          <p:cNvCxnSpPr>
            <a:stCxn id="107" idx="3"/>
            <a:endCxn id="109" idx="1"/>
          </p:cNvCxnSpPr>
          <p:nvPr/>
        </p:nvCxnSpPr>
        <p:spPr>
          <a:xfrm>
            <a:off x="4743257" y="4883753"/>
            <a:ext cx="686586"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Connector: Elbow 230">
            <a:extLst>
              <a:ext uri="{FF2B5EF4-FFF2-40B4-BE49-F238E27FC236}">
                <a16:creationId xmlns:a16="http://schemas.microsoft.com/office/drawing/2014/main" id="{9AFC587A-5B8D-4033-B0FA-D90D14C52086}"/>
              </a:ext>
            </a:extLst>
          </p:cNvPr>
          <p:cNvCxnSpPr>
            <a:stCxn id="88" idx="0"/>
            <a:endCxn id="95" idx="2"/>
          </p:cNvCxnSpPr>
          <p:nvPr/>
        </p:nvCxnSpPr>
        <p:spPr>
          <a:xfrm rot="5400000" flipH="1" flipV="1">
            <a:off x="5785987" y="3906502"/>
            <a:ext cx="309041" cy="108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6" name="TextBox 43">
            <a:extLst>
              <a:ext uri="{FF2B5EF4-FFF2-40B4-BE49-F238E27FC236}">
                <a16:creationId xmlns:a16="http://schemas.microsoft.com/office/drawing/2014/main" id="{29E7C5A7-3C0E-40A6-A7C4-6E98E0EBED42}"/>
              </a:ext>
            </a:extLst>
          </p:cNvPr>
          <p:cNvSpPr txBox="1"/>
          <p:nvPr/>
        </p:nvSpPr>
        <p:spPr>
          <a:xfrm>
            <a:off x="6456348" y="468700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247" name="TextBox 43">
            <a:extLst>
              <a:ext uri="{FF2B5EF4-FFF2-40B4-BE49-F238E27FC236}">
                <a16:creationId xmlns:a16="http://schemas.microsoft.com/office/drawing/2014/main" id="{A36FD1DB-87DC-4042-AD67-1A74D1E60155}"/>
              </a:ext>
            </a:extLst>
          </p:cNvPr>
          <p:cNvSpPr txBox="1"/>
          <p:nvPr/>
        </p:nvSpPr>
        <p:spPr>
          <a:xfrm>
            <a:off x="5664999" y="5057790"/>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0" name="TextBox 43">
            <a:extLst>
              <a:ext uri="{FF2B5EF4-FFF2-40B4-BE49-F238E27FC236}">
                <a16:creationId xmlns:a16="http://schemas.microsoft.com/office/drawing/2014/main" id="{F7E1D6E8-8424-4ED9-BB8B-DA61BE9C0F0B}"/>
              </a:ext>
            </a:extLst>
          </p:cNvPr>
          <p:cNvSpPr txBox="1"/>
          <p:nvPr/>
        </p:nvSpPr>
        <p:spPr>
          <a:xfrm>
            <a:off x="4737824" y="4689970"/>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1" name="TextBox 43">
            <a:extLst>
              <a:ext uri="{FF2B5EF4-FFF2-40B4-BE49-F238E27FC236}">
                <a16:creationId xmlns:a16="http://schemas.microsoft.com/office/drawing/2014/main" id="{8C2F544F-A574-487C-AA59-8DAA227726E1}"/>
              </a:ext>
            </a:extLst>
          </p:cNvPr>
          <p:cNvSpPr txBox="1"/>
          <p:nvPr/>
        </p:nvSpPr>
        <p:spPr>
          <a:xfrm>
            <a:off x="3944930" y="506021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75" name="TextBox 74">
            <a:extLst>
              <a:ext uri="{FF2B5EF4-FFF2-40B4-BE49-F238E27FC236}">
                <a16:creationId xmlns:a16="http://schemas.microsoft.com/office/drawing/2014/main" id="{390FD3D6-2702-4F3D-9266-A83703F87C0E}"/>
              </a:ext>
            </a:extLst>
          </p:cNvPr>
          <p:cNvSpPr txBox="1"/>
          <p:nvPr/>
        </p:nvSpPr>
        <p:spPr>
          <a:xfrm>
            <a:off x="323494" y="836197"/>
            <a:ext cx="8412431" cy="369332"/>
          </a:xfrm>
          <a:prstGeom prst="rect">
            <a:avLst/>
          </a:prstGeom>
          <a:noFill/>
        </p:spPr>
        <p:txBody>
          <a:bodyPr wrap="none" rtlCol="0">
            <a:spAutoFit/>
          </a:bodyPr>
          <a:lstStyle/>
          <a:p>
            <a:r>
              <a:rPr lang="en-US" b="1" u="sng" dirty="0"/>
              <a:t>Emergency Department and Urgent Care Management of Febrile Infants Aged 22 to 28 Days</a:t>
            </a:r>
          </a:p>
        </p:txBody>
      </p:sp>
      <p:sp>
        <p:nvSpPr>
          <p:cNvPr id="76" name="Rectangle 75">
            <a:extLst>
              <a:ext uri="{FF2B5EF4-FFF2-40B4-BE49-F238E27FC236}">
                <a16:creationId xmlns:a16="http://schemas.microsoft.com/office/drawing/2014/main" id="{E2EAC54F-93F8-45CE-953B-44DAF6373733}"/>
              </a:ext>
            </a:extLst>
          </p:cNvPr>
          <p:cNvSpPr/>
          <p:nvPr/>
        </p:nvSpPr>
        <p:spPr>
          <a:xfrm>
            <a:off x="1656567" y="2701983"/>
            <a:ext cx="2057400" cy="4572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 Discuss with Pediatrics.</a:t>
            </a:r>
            <a:endParaRPr lang="en-US" sz="825" dirty="0">
              <a:ea typeface="Calibri" panose="020F0502020204030204" pitchFamily="34" charset="0"/>
              <a:cs typeface="Times New Roman" panose="02020603050405020304" pitchFamily="18" charset="0"/>
            </a:endParaRPr>
          </a:p>
        </p:txBody>
      </p:sp>
      <p:sp>
        <p:nvSpPr>
          <p:cNvPr id="79" name="TextBox 78">
            <a:extLst>
              <a:ext uri="{FF2B5EF4-FFF2-40B4-BE49-F238E27FC236}">
                <a16:creationId xmlns:a16="http://schemas.microsoft.com/office/drawing/2014/main" id="{0C39F074-443C-44EC-9640-A6B5F193F1F9}"/>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80" name="TextBox 43">
            <a:extLst>
              <a:ext uri="{FF2B5EF4-FFF2-40B4-BE49-F238E27FC236}">
                <a16:creationId xmlns:a16="http://schemas.microsoft.com/office/drawing/2014/main" id="{0321B944-9DC4-4DDD-9ED5-7B3DD39AD7D2}"/>
              </a:ext>
            </a:extLst>
          </p:cNvPr>
          <p:cNvSpPr txBox="1"/>
          <p:nvPr/>
        </p:nvSpPr>
        <p:spPr>
          <a:xfrm>
            <a:off x="1316720" y="208604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3" name="TextBox 43">
            <a:extLst>
              <a:ext uri="{FF2B5EF4-FFF2-40B4-BE49-F238E27FC236}">
                <a16:creationId xmlns:a16="http://schemas.microsoft.com/office/drawing/2014/main" id="{EFD5DCF7-5C17-4C23-AC2E-752F307ADA44}"/>
              </a:ext>
            </a:extLst>
          </p:cNvPr>
          <p:cNvSpPr txBox="1"/>
          <p:nvPr/>
        </p:nvSpPr>
        <p:spPr>
          <a:xfrm>
            <a:off x="1318659" y="273768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5" name="TextBox 43">
            <a:extLst>
              <a:ext uri="{FF2B5EF4-FFF2-40B4-BE49-F238E27FC236}">
                <a16:creationId xmlns:a16="http://schemas.microsoft.com/office/drawing/2014/main" id="{83F1A673-DE2E-4CF6-972D-C048052D89B1}"/>
              </a:ext>
            </a:extLst>
          </p:cNvPr>
          <p:cNvSpPr txBox="1"/>
          <p:nvPr/>
        </p:nvSpPr>
        <p:spPr>
          <a:xfrm>
            <a:off x="1319830" y="339333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7" name="TextBox 43">
            <a:extLst>
              <a:ext uri="{FF2B5EF4-FFF2-40B4-BE49-F238E27FC236}">
                <a16:creationId xmlns:a16="http://schemas.microsoft.com/office/drawing/2014/main" id="{2FD730F9-09A1-47DE-936E-D773F078BF35}"/>
              </a:ext>
            </a:extLst>
          </p:cNvPr>
          <p:cNvSpPr txBox="1"/>
          <p:nvPr/>
        </p:nvSpPr>
        <p:spPr>
          <a:xfrm>
            <a:off x="3031552" y="404814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0" name="TextBox 43">
            <a:extLst>
              <a:ext uri="{FF2B5EF4-FFF2-40B4-BE49-F238E27FC236}">
                <a16:creationId xmlns:a16="http://schemas.microsoft.com/office/drawing/2014/main" id="{D501495F-764E-4DA6-976F-D35BA405C618}"/>
              </a:ext>
            </a:extLst>
          </p:cNvPr>
          <p:cNvSpPr txBox="1"/>
          <p:nvPr/>
        </p:nvSpPr>
        <p:spPr>
          <a:xfrm>
            <a:off x="5630493" y="209045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6" name="TextBox 95">
            <a:extLst>
              <a:ext uri="{FF2B5EF4-FFF2-40B4-BE49-F238E27FC236}">
                <a16:creationId xmlns:a16="http://schemas.microsoft.com/office/drawing/2014/main" id="{6A003CAF-009F-4962-A117-1607D33B58A4}"/>
              </a:ext>
            </a:extLst>
          </p:cNvPr>
          <p:cNvSpPr txBox="1"/>
          <p:nvPr/>
        </p:nvSpPr>
        <p:spPr>
          <a:xfrm>
            <a:off x="2088858" y="6334180"/>
            <a:ext cx="4295163" cy="430887"/>
          </a:xfrm>
          <a:prstGeom prst="rect">
            <a:avLst/>
          </a:prstGeom>
          <a:solidFill>
            <a:srgbClr val="CCFFCC"/>
          </a:solidFill>
          <a:ln>
            <a:solidFill>
              <a:schemeClr val="tx1"/>
            </a:solidFill>
          </a:ln>
        </p:spPr>
        <p:txBody>
          <a:bodyPr wrap="square" rtlCol="0">
            <a:spAutoFit/>
          </a:bodyPr>
          <a:lstStyle/>
          <a:p>
            <a:r>
              <a:rPr lang="en-US" sz="1100" dirty="0"/>
              <a:t>Superscripts will link to “Definitions and specifications” for this age group</a:t>
            </a:r>
          </a:p>
          <a:p>
            <a:r>
              <a:rPr lang="en-US" sz="1100" dirty="0"/>
              <a:t>A link at the bottom will direct to “CA-FIRST protocol details” for this age group</a:t>
            </a:r>
          </a:p>
        </p:txBody>
      </p:sp>
    </p:spTree>
    <p:extLst>
      <p:ext uri="{BB962C8B-B14F-4D97-AF65-F5344CB8AC3E}">
        <p14:creationId xmlns:p14="http://schemas.microsoft.com/office/powerpoint/2010/main" val="2612977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30</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22 to 28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2: Definitions and specifications</a:t>
            </a:r>
          </a:p>
        </p:txBody>
      </p:sp>
    </p:spTree>
    <p:extLst>
      <p:ext uri="{BB962C8B-B14F-4D97-AF65-F5344CB8AC3E}">
        <p14:creationId xmlns:p14="http://schemas.microsoft.com/office/powerpoint/2010/main" val="3435015721"/>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69D5B2-E31D-494B-BBC0-D9EBDF579C5A}"/>
              </a:ext>
            </a:extLst>
          </p:cNvPr>
          <p:cNvSpPr txBox="1"/>
          <p:nvPr/>
        </p:nvSpPr>
        <p:spPr>
          <a:xfrm>
            <a:off x="367741" y="879253"/>
            <a:ext cx="4114800" cy="5595378"/>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Terminology</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“Consider” suggests that management is  dependent on specific patient circumstances. A pediatrics consult may be helpful.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1: High risk infants</a:t>
            </a:r>
            <a:endParaRPr lang="en-US" sz="1200" b="1" dirty="0">
              <a:latin typeface="Calibri" panose="020F0502020204030204" pitchFamily="34" charset="0"/>
              <a:ea typeface="Times New Roman" panose="02020603050405020304" pitchFamily="18"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Premature infants &lt; 37 weeks gestational age.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Documented or suspected immune compromise.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Neonatal course was complicated by surgery or infection.</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Congenital or chromosomal abnormalities.</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A high risk of herpes simplex infections based on history or exam, including vesicles, seizures, mucous membrane ulcers</a:t>
            </a:r>
            <a:r>
              <a:rPr lang="en-US" sz="1200" dirty="0">
                <a:latin typeface="Calibri" panose="020F0502020204030204" pitchFamily="34" charset="0"/>
                <a:ea typeface="Calibri" panose="020F0502020204030204" pitchFamily="34" charset="0"/>
                <a:cs typeface="Calibri" panose="020F0502020204030204" pitchFamily="34" charset="0"/>
              </a:rPr>
              <a:t>, or a </a:t>
            </a:r>
            <a:r>
              <a:rPr lang="en-US" sz="1200" dirty="0">
                <a:latin typeface="Calibri" panose="020F0502020204030204" pitchFamily="34" charset="0"/>
                <a:cs typeface="Calibri" panose="020F0502020204030204" pitchFamily="34" charset="0"/>
              </a:rPr>
              <a:t>maternal history of genital HSV.</a:t>
            </a:r>
          </a:p>
          <a:p>
            <a:endParaRPr lang="en-US" sz="1200" dirty="0">
              <a:latin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2: </a:t>
            </a:r>
            <a:r>
              <a:rPr lang="en-US" sz="1200" b="1" dirty="0">
                <a:latin typeface="Calibri" panose="020F0502020204030204" pitchFamily="34" charset="0"/>
                <a:ea typeface="Calibri" panose="020F0502020204030204" pitchFamily="34" charset="0"/>
                <a:cs typeface="Calibri" panose="020F0502020204030204" pitchFamily="34" charset="0"/>
              </a:rPr>
              <a:t>Focal bacterial infections: </a:t>
            </a:r>
            <a:r>
              <a:rPr lang="en-US" sz="1200" dirty="0">
                <a:latin typeface="Calibri" panose="020F0502020204030204" pitchFamily="34" charset="0"/>
                <a:ea typeface="Calibri" panose="020F0502020204030204" pitchFamily="34" charset="0"/>
                <a:cs typeface="Calibri" panose="020F0502020204030204" pitchFamily="34" charset="0"/>
              </a:rPr>
              <a:t>Cellulitis, omphalitis, septic arthritis, osteomyelitis, </a:t>
            </a:r>
            <a:r>
              <a:rPr lang="en-US" sz="1200" dirty="0" err="1">
                <a:latin typeface="Calibri" panose="020F0502020204030204" pitchFamily="34" charset="0"/>
                <a:ea typeface="Calibri" panose="020F0502020204030204" pitchFamily="34" charset="0"/>
                <a:cs typeface="Calibri" panose="020F0502020204030204" pitchFamily="34" charset="0"/>
              </a:rPr>
              <a:t>ect</a:t>
            </a:r>
            <a:r>
              <a:rPr lang="en-US" sz="1200" dirty="0">
                <a:latin typeface="Calibri" panose="020F0502020204030204" pitchFamily="34" charset="0"/>
                <a:ea typeface="Calibri" panose="020F0502020204030204" pitchFamily="34" charset="0"/>
                <a:cs typeface="Calibri" panose="020F0502020204030204" pitchFamily="34" charset="0"/>
              </a:rPr>
              <a:t>. </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3: Labs results concerning for a high risk of HSV</a:t>
            </a:r>
            <a:r>
              <a:rPr lang="en-US" sz="1200" b="1" dirty="0">
                <a:latin typeface="Calibri" panose="020F0502020204030204" pitchFamily="34" charset="0"/>
                <a:cs typeface="Calibri" panose="020F0502020204030204" pitchFamily="34" charset="0"/>
              </a:rPr>
              <a:t>: </a:t>
            </a:r>
            <a:r>
              <a:rPr lang="en-US" sz="1200" dirty="0">
                <a:latin typeface="Calibri" panose="020F0502020204030204" pitchFamily="34" charset="0"/>
                <a:ea typeface="Calibri" panose="020F0502020204030204" pitchFamily="34" charset="0"/>
                <a:cs typeface="Calibri" panose="020F0502020204030204" pitchFamily="34" charset="0"/>
              </a:rPr>
              <a:t>CSF pleocytosis with a negative gram stain, leukopenia, thrombocytopenia, elevated ALT.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4: Recommended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Urine studies</a:t>
            </a:r>
            <a:r>
              <a:rPr lang="en-US" sz="1200" dirty="0">
                <a:latin typeface="Calibri" panose="020F0502020204030204" pitchFamily="34" charset="0"/>
                <a:cs typeface="Calibri" panose="020F0502020204030204" pitchFamily="34" charset="0"/>
              </a:rPr>
              <a:t>: catheterized urinalysis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catheterized urine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Blood studies</a:t>
            </a:r>
            <a:r>
              <a:rPr lang="en-US" sz="1200" dirty="0">
                <a:latin typeface="Calibri" panose="020F0502020204030204" pitchFamily="34" charset="0"/>
                <a:cs typeface="Calibri" panose="020F0502020204030204" pitchFamily="34" charset="0"/>
              </a:rPr>
              <a:t>: complete blood count with differential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p:txBody>
      </p:sp>
      <p:sp>
        <p:nvSpPr>
          <p:cNvPr id="85" name="TextBox 84">
            <a:extLst>
              <a:ext uri="{FF2B5EF4-FFF2-40B4-BE49-F238E27FC236}">
                <a16:creationId xmlns:a16="http://schemas.microsoft.com/office/drawing/2014/main" id="{FB955280-2781-402A-895A-EE47F66A86F9}"/>
              </a:ext>
            </a:extLst>
          </p:cNvPr>
          <p:cNvSpPr txBox="1"/>
          <p:nvPr/>
        </p:nvSpPr>
        <p:spPr>
          <a:xfrm>
            <a:off x="4684038" y="874248"/>
            <a:ext cx="4114800" cy="4350293"/>
          </a:xfrm>
          <a:prstGeom prst="rect">
            <a:avLst/>
          </a:prstGeom>
          <a:noFill/>
        </p:spPr>
        <p:txBody>
          <a:bodyPr wrap="square" rtlCol="0">
            <a:spAutoFit/>
          </a:bodyPr>
          <a:lstStyle/>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Cerebrospinal fluid studies</a:t>
            </a:r>
            <a:r>
              <a:rPr lang="en-US" sz="1200" dirty="0">
                <a:latin typeface="Calibri" panose="020F0502020204030204" pitchFamily="34" charset="0"/>
                <a:cs typeface="Calibri" panose="020F0502020204030204" pitchFamily="34" charset="0"/>
              </a:rPr>
              <a:t>: cell count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Gram stain </a:t>
            </a:r>
            <a:r>
              <a:rPr lang="en-US" sz="1200" i="1" u="sng" dirty="0">
                <a:latin typeface="Calibri" panose="020F0502020204030204" pitchFamily="34" charset="0"/>
                <a:cs typeface="Calibri" panose="020F0502020204030204" pitchFamily="34" charset="0"/>
              </a:rPr>
              <a:t>AND </a:t>
            </a:r>
            <a:r>
              <a:rPr lang="en-US" sz="1200" dirty="0">
                <a:latin typeface="Calibri" panose="020F0502020204030204" pitchFamily="34" charset="0"/>
                <a:cs typeface="Calibri" panose="020F0502020204030204" pitchFamily="34" charset="0"/>
              </a:rPr>
              <a:t>glucose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protein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Herpes simplex virus studies</a:t>
            </a:r>
            <a:r>
              <a:rPr lang="en-US" sz="1200" dirty="0">
                <a:latin typeface="Calibri" panose="020F0502020204030204" pitchFamily="34" charset="0"/>
                <a:cs typeface="Calibri" panose="020F0502020204030204" pitchFamily="34" charset="0"/>
              </a:rPr>
              <a:t>: CSF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serum HSV PCR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surface swab HSV PCRs (conjunctiva </a:t>
            </a:r>
            <a:r>
              <a:rPr lang="en-US" sz="1200" i="1" u="sng" dirty="0">
                <a:latin typeface="Calibri" panose="020F0502020204030204" pitchFamily="34" charset="0"/>
                <a:cs typeface="Calibri" panose="020F0502020204030204" pitchFamily="34" charset="0"/>
              </a:rPr>
              <a:t>AND </a:t>
            </a:r>
            <a:r>
              <a:rPr lang="en-US" sz="1200" dirty="0">
                <a:latin typeface="Calibri" panose="020F0502020204030204" pitchFamily="34" charset="0"/>
                <a:cs typeface="Calibri" panose="020F0502020204030204" pitchFamily="34" charset="0"/>
              </a:rPr>
              <a:t>NP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skin [including lanced vesicles]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rectal)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ALT.</a:t>
            </a: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5: Definitions of positive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CSF</a:t>
            </a:r>
            <a:r>
              <a:rPr lang="en-US" sz="1200" dirty="0">
                <a:latin typeface="Calibri" panose="020F0502020204030204" pitchFamily="34" charset="0"/>
                <a:cs typeface="Calibri" panose="020F0502020204030204" pitchFamily="34" charset="0"/>
              </a:rPr>
              <a:t>: White count with pleocytosis for age or traumatic tap. </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UA</a:t>
            </a:r>
            <a:r>
              <a:rPr lang="en-US" sz="1200" dirty="0">
                <a:latin typeface="Calibri" panose="020F0502020204030204" pitchFamily="34" charset="0"/>
                <a:cs typeface="Calibri" panose="020F0502020204030204" pitchFamily="34" charset="0"/>
              </a:rPr>
              <a:t>: Positive leukocyte esterase on dipstick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&gt;5 WBC per high powered field (centrifuged)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 10 WBCs/mm3 (uncentrifuged). </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CBC</a:t>
            </a:r>
            <a:r>
              <a:rPr lang="en-US" sz="1200" dirty="0">
                <a:latin typeface="Calibri" panose="020F0502020204030204" pitchFamily="34" charset="0"/>
                <a:cs typeface="Calibri" panose="020F0502020204030204" pitchFamily="34" charset="0"/>
              </a:rPr>
              <a:t>: Total white blood cell count &lt; 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total white blood cell count &gt; 15,000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bands &gt; 1,500.</a:t>
            </a: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6: Antibiotics recommendations based on initial work up</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Urinary tract infection</a:t>
            </a:r>
            <a:r>
              <a:rPr lang="en-US" sz="1200" dirty="0">
                <a:latin typeface="Calibri" panose="020F0502020204030204" pitchFamily="34" charset="0"/>
                <a:cs typeface="Calibri" panose="020F0502020204030204" pitchFamily="34" charset="0"/>
              </a:rPr>
              <a:t>: Ceftriaxone 50mg/kg q24h</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No focus identified</a:t>
            </a:r>
            <a:r>
              <a:rPr lang="en-US" sz="1200" dirty="0">
                <a:latin typeface="Calibri" panose="020F0502020204030204" pitchFamily="34" charset="0"/>
                <a:cs typeface="Calibri" panose="020F0502020204030204" pitchFamily="34" charset="0"/>
              </a:rPr>
              <a:t>: Ceftriaxone 50mg/kg q24h</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suspected</a:t>
            </a:r>
            <a:r>
              <a:rPr lang="en-US" sz="1200" dirty="0">
                <a:latin typeface="Calibri" panose="020F0502020204030204" pitchFamily="34" charset="0"/>
                <a:cs typeface="Calibri" panose="020F0502020204030204" pitchFamily="34" charset="0"/>
              </a:rPr>
              <a:t>: Ampicillin (100mg/kg q8h)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Ceftazidime (50mg/kg q8h), </a:t>
            </a:r>
            <a:r>
              <a:rPr lang="en-US" sz="1200" i="1" u="sng" dirty="0">
                <a:latin typeface="Calibri" panose="020F0502020204030204" pitchFamily="34" charset="0"/>
                <a:cs typeface="Calibri" panose="020F0502020204030204" pitchFamily="34" charset="0"/>
              </a:rPr>
              <a:t>+/-</a:t>
            </a:r>
            <a:r>
              <a:rPr lang="en-US" sz="1200" dirty="0">
                <a:latin typeface="Calibri" panose="020F0502020204030204" pitchFamily="34" charset="0"/>
                <a:cs typeface="Calibri" panose="020F0502020204030204" pitchFamily="34" charset="0"/>
              </a:rPr>
              <a:t> Gentamicin (5mg/kg q24h)]</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HSV suspected</a:t>
            </a:r>
            <a:r>
              <a:rPr lang="en-US" sz="1200" dirty="0">
                <a:latin typeface="Calibri" panose="020F0502020204030204" pitchFamily="34" charset="0"/>
                <a:cs typeface="Calibri" panose="020F0502020204030204" pitchFamily="34" charset="0"/>
              </a:rPr>
              <a:t>: Acyclovir IV (20 mg/kg q8h) </a:t>
            </a:r>
          </a:p>
        </p:txBody>
      </p:sp>
      <p:sp>
        <p:nvSpPr>
          <p:cNvPr id="5" name="TextBox 4">
            <a:extLst>
              <a:ext uri="{FF2B5EF4-FFF2-40B4-BE49-F238E27FC236}">
                <a16:creationId xmlns:a16="http://schemas.microsoft.com/office/drawing/2014/main" id="{93E3B726-B7E3-4659-A7B6-0E6153437ED6}"/>
              </a:ext>
            </a:extLst>
          </p:cNvPr>
          <p:cNvSpPr txBox="1"/>
          <p:nvPr/>
        </p:nvSpPr>
        <p:spPr>
          <a:xfrm>
            <a:off x="323494" y="368610"/>
            <a:ext cx="8412431" cy="369332"/>
          </a:xfrm>
          <a:prstGeom prst="rect">
            <a:avLst/>
          </a:prstGeom>
          <a:noFill/>
        </p:spPr>
        <p:txBody>
          <a:bodyPr wrap="none" rtlCol="0">
            <a:spAutoFit/>
          </a:bodyPr>
          <a:lstStyle/>
          <a:p>
            <a:r>
              <a:rPr lang="en-US" b="1" u="sng" dirty="0"/>
              <a:t>Emergency Department and Urgent Care Management of Febrile Infants Aged 22 to 28 Days</a:t>
            </a:r>
          </a:p>
        </p:txBody>
      </p:sp>
      <p:sp>
        <p:nvSpPr>
          <p:cNvPr id="6" name="TextBox 5">
            <a:extLst>
              <a:ext uri="{FF2B5EF4-FFF2-40B4-BE49-F238E27FC236}">
                <a16:creationId xmlns:a16="http://schemas.microsoft.com/office/drawing/2014/main" id="{74F9009A-EE91-4077-9A26-616C07D66E06}"/>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7" name="TextBox 6">
            <a:extLst>
              <a:ext uri="{FF2B5EF4-FFF2-40B4-BE49-F238E27FC236}">
                <a16:creationId xmlns:a16="http://schemas.microsoft.com/office/drawing/2014/main" id="{3ED218CD-8321-4185-8837-B067E477FDEF}"/>
              </a:ext>
            </a:extLst>
          </p:cNvPr>
          <p:cNvSpPr txBox="1"/>
          <p:nvPr/>
        </p:nvSpPr>
        <p:spPr>
          <a:xfrm>
            <a:off x="2088858" y="6468118"/>
            <a:ext cx="4295163" cy="261610"/>
          </a:xfrm>
          <a:prstGeom prst="rect">
            <a:avLst/>
          </a:prstGeom>
          <a:solidFill>
            <a:srgbClr val="CCFFCC"/>
          </a:solidFill>
          <a:ln>
            <a:solidFill>
              <a:schemeClr val="tx1"/>
            </a:solidFill>
          </a:ln>
        </p:spPr>
        <p:txBody>
          <a:bodyPr wrap="square" rtlCol="0">
            <a:spAutoFit/>
          </a:bodyPr>
          <a:lstStyle/>
          <a:p>
            <a:r>
              <a:rPr lang="en-US" sz="1100" dirty="0"/>
              <a:t>A link at the bottom will direct to “CA-FIRST protocol details” for this age group</a:t>
            </a:r>
          </a:p>
        </p:txBody>
      </p:sp>
    </p:spTree>
    <p:extLst>
      <p:ext uri="{BB962C8B-B14F-4D97-AF65-F5344CB8AC3E}">
        <p14:creationId xmlns:p14="http://schemas.microsoft.com/office/powerpoint/2010/main" val="3390891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32</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22 to 28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Level 3: CA-FIRST protocol details </a:t>
            </a:r>
          </a:p>
        </p:txBody>
      </p:sp>
    </p:spTree>
    <p:extLst>
      <p:ext uri="{BB962C8B-B14F-4D97-AF65-F5344CB8AC3E}">
        <p14:creationId xmlns:p14="http://schemas.microsoft.com/office/powerpoint/2010/main" val="3778074134"/>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58782" y="3545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7-28 Days Old, Ill-Appearing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58782" y="3596899"/>
            <a:ext cx="8226436" cy="163121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Admission</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 full septic work-up </a:t>
            </a:r>
          </a:p>
          <a:p>
            <a:pPr marL="685800" lvl="1" indent="-342900">
              <a:buFont typeface="Arial" panose="020B0604020202020204" pitchFamily="34" charset="0"/>
              <a:buChar char="•"/>
            </a:pPr>
            <a:r>
              <a:rPr lang="en-US" sz="2000" dirty="0">
                <a:solidFill>
                  <a:sysClr val="windowText" lastClr="000000"/>
                </a:solidFill>
                <a:latin typeface="Microsoft Tai Le" panose="020B0502040204020203" pitchFamily="34" charset="0"/>
                <a:cs typeface="Microsoft Tai Le" panose="020B0502040204020203" pitchFamily="34" charset="0"/>
              </a:rPr>
              <a:t>CBC, UA, CSF studies, and Blood, Urine, and CSF Cultures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Parenteral antibiotics</a:t>
            </a:r>
          </a:p>
        </p:txBody>
      </p:sp>
      <p:sp>
        <p:nvSpPr>
          <p:cNvPr id="3" name="TextBox 2">
            <a:extLst>
              <a:ext uri="{FF2B5EF4-FFF2-40B4-BE49-F238E27FC236}">
                <a16:creationId xmlns:a16="http://schemas.microsoft.com/office/drawing/2014/main" id="{A106BEA8-AA92-435C-AB17-884DDA437255}"/>
              </a:ext>
            </a:extLst>
          </p:cNvPr>
          <p:cNvSpPr txBox="1"/>
          <p:nvPr/>
        </p:nvSpPr>
        <p:spPr>
          <a:xfrm>
            <a:off x="458782" y="1327488"/>
            <a:ext cx="8226436" cy="1962076"/>
          </a:xfrm>
          <a:prstGeom prst="rect">
            <a:avLst/>
          </a:prstGeom>
          <a:noFill/>
        </p:spPr>
        <p:txBody>
          <a:bodyPr wrap="square" lIns="68580" tIns="34290" rIns="68580" bIns="34290" rtlCol="0" anchor="t">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Ill-appearing infants are very high risk</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and Roseville Protocol </a:t>
            </a:r>
            <a:r>
              <a:rPr lang="en-US" dirty="0">
                <a:solidFill>
                  <a:sysClr val="windowText" lastClr="000000"/>
                </a:solidFill>
                <a:latin typeface="Microsoft Tai Le" panose="020B0502040204020203" pitchFamily="34" charset="0"/>
                <a:cs typeface="Microsoft Tai Le" panose="020B0502040204020203" pitchFamily="34" charset="0"/>
              </a:rPr>
              <a:t>exclude ill-appearing infants because they are very high risk</a:t>
            </a:r>
          </a:p>
          <a:p>
            <a:pPr marL="342900" indent="-342900">
              <a:buFont typeface="Arial" panose="020B0604020202020204" pitchFamily="34" charset="0"/>
              <a:buChar char="•"/>
            </a:pPr>
            <a:r>
              <a:rPr lang="en-US" b="1" dirty="0">
                <a:latin typeface="Microsoft Tai Le"/>
                <a:cs typeface="Microsoft Tai Le"/>
              </a:rPr>
              <a:t>Data and analysis </a:t>
            </a:r>
            <a:r>
              <a:rPr lang="en-US" dirty="0">
                <a:latin typeface="Microsoft Tai Le"/>
                <a:cs typeface="Microsoft Tai Le"/>
              </a:rPr>
              <a:t>from KPNC febrile infants seen in the ED from 2010-2019 found that of those age 7-28 days with isolated ill-appearance:  </a:t>
            </a:r>
          </a:p>
          <a:p>
            <a:pPr lvl="4"/>
            <a:r>
              <a:rPr lang="en-US" sz="1500" i="1" dirty="0">
                <a:latin typeface="Microsoft Tai Le"/>
                <a:cs typeface="Microsoft Tai Le"/>
              </a:rPr>
              <a:t>			</a:t>
            </a:r>
            <a:r>
              <a:rPr lang="en-US" sz="1500" i="1" dirty="0">
                <a:latin typeface="Calibri"/>
                <a:cs typeface="Microsoft Tai Le"/>
              </a:rPr>
              <a:t>6/52 (1</a:t>
            </a:r>
            <a:r>
              <a:rPr lang="en-US" sz="1500" i="1" dirty="0">
                <a:cs typeface="Microsoft Tai Le"/>
              </a:rPr>
              <a:t>2%) had bacteremia without meningitis </a:t>
            </a:r>
            <a:endParaRPr lang="en-US" sz="1500" i="1" dirty="0">
              <a:cs typeface="Microsoft Tai Le" panose="020B0502040204020203" pitchFamily="34" charset="0"/>
            </a:endParaRPr>
          </a:p>
          <a:p>
            <a:r>
              <a:rPr lang="en-US" sz="1500" i="1" dirty="0">
                <a:cs typeface="Microsoft Tai Le"/>
              </a:rPr>
              <a:t>                                           			3/52 (6%) had meningitis</a:t>
            </a:r>
          </a:p>
        </p:txBody>
      </p:sp>
      <p:sp>
        <p:nvSpPr>
          <p:cNvPr id="7" name="TextBox 6">
            <a:extLst>
              <a:ext uri="{FF2B5EF4-FFF2-40B4-BE49-F238E27FC236}">
                <a16:creationId xmlns:a16="http://schemas.microsoft.com/office/drawing/2014/main" id="{850D23D0-98C5-4E8A-A7E3-8338CB7E7B4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1995498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4993" y="1340174"/>
            <a:ext cx="2743200" cy="927465"/>
            <a:chOff x="4137003" y="1490318"/>
            <a:chExt cx="3629804" cy="573315"/>
          </a:xfrm>
        </p:grpSpPr>
        <p:sp>
          <p:nvSpPr>
            <p:cNvPr id="11" name="Rectangle 10">
              <a:extLst>
                <a:ext uri="{FF2B5EF4-FFF2-40B4-BE49-F238E27FC236}">
                  <a16:creationId xmlns:a16="http://schemas.microsoft.com/office/drawing/2014/main" id="{D16DD992-3020-481A-89A5-70797C986525}"/>
                </a:ext>
              </a:extLst>
            </p:cNvPr>
            <p:cNvSpPr/>
            <p:nvPr/>
          </p:nvSpPr>
          <p:spPr>
            <a:xfrm>
              <a:off x="4137003" y="1496294"/>
              <a:ext cx="3629803" cy="567339"/>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90318"/>
              <a:ext cx="3629803" cy="16957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74718" y="1340174"/>
            <a:ext cx="2468880" cy="3764831"/>
            <a:chOff x="5092114" y="1874390"/>
            <a:chExt cx="2575424" cy="5019775"/>
          </a:xfrm>
        </p:grpSpPr>
        <p:sp>
          <p:nvSpPr>
            <p:cNvPr id="14" name="Rectangle 13">
              <a:extLst>
                <a:ext uri="{FF2B5EF4-FFF2-40B4-BE49-F238E27FC236}">
                  <a16:creationId xmlns:a16="http://schemas.microsoft.com/office/drawing/2014/main" id="{49C843C5-C192-4904-A44C-33EC13CA7947}"/>
                </a:ext>
              </a:extLst>
            </p:cNvPr>
            <p:cNvSpPr/>
            <p:nvPr/>
          </p:nvSpPr>
          <p:spPr>
            <a:xfrm>
              <a:off x="5092117" y="1895445"/>
              <a:ext cx="2575421" cy="499872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7-28 days of age, temp ≥ 38C:</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younger than &lt; 14 days of age whose perinatal courses were complicated by maternal fever, infection, and/or antimicrobial use (excluding surgical prophylaxis or to treat GBS colonization)</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chemeClr val="tx1"/>
                  </a:solidFill>
                  <a:latin typeface="Calibri" panose="020F0502020204030204" pitchFamily="34" charset="0"/>
                  <a:cs typeface="Calibri" panose="020F0502020204030204" pitchFamily="34" charset="0"/>
                </a:rPr>
                <a:t>Infants </a:t>
              </a:r>
              <a:r>
                <a:rPr lang="en-US" sz="1100" dirty="0">
                  <a:solidFill>
                    <a:sysClr val="windowText" lastClr="000000"/>
                  </a:solidFill>
                  <a:latin typeface="Calibri" panose="020F0502020204030204" pitchFamily="34" charset="0"/>
                  <a:cs typeface="Calibri" panose="020F0502020204030204" pitchFamily="34" charset="0"/>
                </a:rPr>
                <a:t>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Ill appearance</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4" y="1874390"/>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00126" y="1349842"/>
            <a:ext cx="2468880" cy="3291840"/>
            <a:chOff x="4137004" y="1454327"/>
            <a:chExt cx="3629804" cy="127500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7"/>
              <a:ext cx="3629803" cy="127500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chemeClr val="tx1"/>
                </a:solidFill>
                <a:latin typeface="Calibri" panose="020F0502020204030204" pitchFamily="34" charset="0"/>
                <a:cs typeface="Calibri" panose="020F0502020204030204" pitchFamily="34" charset="0"/>
              </a:endParaRPr>
            </a:p>
            <a:p>
              <a:pPr>
                <a:defRPr/>
              </a:pPr>
              <a:r>
                <a:rPr lang="en-US" sz="1100" dirty="0">
                  <a:solidFill>
                    <a:schemeClr val="tx1"/>
                  </a:solidFill>
                  <a:latin typeface="Calibri" panose="020F0502020204030204" pitchFamily="34" charset="0"/>
                  <a:cs typeface="Calibri" panose="020F0502020204030204" pitchFamily="34" charset="0"/>
                </a:rPr>
                <a:t>* 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1100" dirty="0" err="1">
                  <a:solidFill>
                    <a:schemeClr val="tx1"/>
                  </a:solidFill>
                  <a:latin typeface="Calibri" panose="020F0502020204030204" pitchFamily="34" charset="0"/>
                  <a:cs typeface="Calibri" panose="020F0502020204030204" pitchFamily="34" charset="0"/>
                </a:rPr>
                <a:t>hrs</a:t>
              </a:r>
              <a:r>
                <a:rPr lang="en-US" sz="1100" dirty="0">
                  <a:solidFill>
                    <a:schemeClr val="tx1"/>
                  </a:solidFill>
                  <a:latin typeface="Calibri" panose="020F0502020204030204" pitchFamily="34" charset="0"/>
                  <a:cs typeface="Calibri" panose="020F0502020204030204" pitchFamily="34" charset="0"/>
                </a:rPr>
                <a:t> before to 48 </a:t>
              </a:r>
              <a:r>
                <a:rPr lang="en-US" sz="1100" dirty="0" err="1">
                  <a:solidFill>
                    <a:schemeClr val="tx1"/>
                  </a:solidFill>
                  <a:latin typeface="Calibri" panose="020F0502020204030204" pitchFamily="34" charset="0"/>
                  <a:cs typeface="Calibri" panose="020F0502020204030204" pitchFamily="34" charset="0"/>
                </a:rPr>
                <a:t>hrs</a:t>
              </a:r>
              <a:r>
                <a:rPr lang="en-US" sz="1100" dirty="0">
                  <a:solidFill>
                    <a:schemeClr val="tx1"/>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a:p>
              <a:pPr lvl="0">
                <a:defRPr/>
              </a:pPr>
              <a:r>
                <a:rPr lang="en-US" sz="1100" dirty="0">
                  <a:solidFill>
                    <a:schemeClr val="tx1"/>
                  </a:solidFill>
                  <a:latin typeface="Calibri" panose="020F0502020204030204" pitchFamily="34" charset="0"/>
                  <a:cs typeface="Calibri" panose="020F0502020204030204" pitchFamily="34" charset="0"/>
                </a:rPr>
                <a:t>† HSV studies: CSF for HSV PCR, HSV PCR of serum and surface swabs: conjunctiva, NP, skin (vesicles if present), and rectal</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2" cy="10625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460535" y="3218384"/>
            <a:ext cx="2743200" cy="2743201"/>
            <a:chOff x="4137004" y="1421140"/>
            <a:chExt cx="3629804" cy="1279347"/>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5" y="1421140"/>
              <a:ext cx="3629803" cy="1279347"/>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ALT: alanine transaminase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GBS: Group B streptococcus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21140"/>
              <a:ext cx="3629803"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Abbreviations</a:t>
              </a:r>
            </a:p>
          </p:txBody>
        </p:sp>
      </p:grpSp>
      <p:sp>
        <p:nvSpPr>
          <p:cNvPr id="26" name="Rectangle 25">
            <a:extLst>
              <a:ext uri="{FF2B5EF4-FFF2-40B4-BE49-F238E27FC236}">
                <a16:creationId xmlns:a16="http://schemas.microsoft.com/office/drawing/2014/main" id="{6C223F5D-FED9-4184-9016-CC34D585029A}"/>
              </a:ext>
            </a:extLst>
          </p:cNvPr>
          <p:cNvSpPr/>
          <p:nvPr/>
        </p:nvSpPr>
        <p:spPr>
          <a:xfrm>
            <a:off x="917735" y="2587749"/>
            <a:ext cx="1828800" cy="36576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a:solidFill>
                  <a:sysClr val="windowText" lastClr="000000"/>
                </a:solidFill>
                <a:latin typeface="Calibri" panose="020F0502020204030204" pitchFamily="34" charset="0"/>
                <a:cs typeface="Calibri" panose="020F0502020204030204" pitchFamily="34" charset="0"/>
              </a:rPr>
              <a:t>Consult Pediatrics</a:t>
            </a:r>
          </a:p>
        </p:txBody>
      </p:sp>
      <p:sp>
        <p:nvSpPr>
          <p:cNvPr id="2" name="Arrow: Down 1">
            <a:extLst>
              <a:ext uri="{FF2B5EF4-FFF2-40B4-BE49-F238E27FC236}">
                <a16:creationId xmlns:a16="http://schemas.microsoft.com/office/drawing/2014/main" id="{D7F62E7E-816C-4EBC-B00B-48A4D5922454}"/>
              </a:ext>
            </a:extLst>
          </p:cNvPr>
          <p:cNvSpPr/>
          <p:nvPr/>
        </p:nvSpPr>
        <p:spPr>
          <a:xfrm>
            <a:off x="1631681" y="2276788"/>
            <a:ext cx="408967" cy="30053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A453361-C461-4AF5-B0B6-A627221F6137}"/>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5" name="Title 1">
            <a:extLst>
              <a:ext uri="{FF2B5EF4-FFF2-40B4-BE49-F238E27FC236}">
                <a16:creationId xmlns:a16="http://schemas.microsoft.com/office/drawing/2014/main" id="{402D0558-B07D-458D-A6E8-B87259B0439D}"/>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7-28 Days Old, High-Risk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1334741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42FCDBA1-01F4-4F27-B6A1-EBA684ED5CA2}"/>
              </a:ext>
            </a:extLst>
          </p:cNvPr>
          <p:cNvGrpSpPr/>
          <p:nvPr/>
        </p:nvGrpSpPr>
        <p:grpSpPr>
          <a:xfrm>
            <a:off x="1820540" y="1324396"/>
            <a:ext cx="4686558" cy="4505600"/>
            <a:chOff x="2443105" y="564718"/>
            <a:chExt cx="6248744" cy="6007466"/>
          </a:xfrm>
        </p:grpSpPr>
        <p:cxnSp>
          <p:nvCxnSpPr>
            <p:cNvPr id="107" name="Straight Arrow Connector 106">
              <a:extLst>
                <a:ext uri="{FF2B5EF4-FFF2-40B4-BE49-F238E27FC236}">
                  <a16:creationId xmlns:a16="http://schemas.microsoft.com/office/drawing/2014/main" id="{E134854B-A251-4F40-87E3-AC622CF7407F}"/>
                </a:ext>
              </a:extLst>
            </p:cNvPr>
            <p:cNvCxnSpPr>
              <a:cxnSpLocks/>
              <a:stCxn id="39" idx="2"/>
              <a:endCxn id="28" idx="0"/>
            </p:cNvCxnSpPr>
            <p:nvPr/>
          </p:nvCxnSpPr>
          <p:spPr>
            <a:xfrm flipH="1">
              <a:off x="6262496" y="3177381"/>
              <a:ext cx="3693" cy="58787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E1C1AE-A3A2-423E-B207-E871AEC0591F}"/>
                </a:ext>
              </a:extLst>
            </p:cNvPr>
            <p:cNvCxnSpPr>
              <a:cxnSpLocks/>
              <a:stCxn id="36" idx="3"/>
              <a:endCxn id="38" idx="1"/>
            </p:cNvCxnSpPr>
            <p:nvPr/>
          </p:nvCxnSpPr>
          <p:spPr>
            <a:xfrm>
              <a:off x="7263112" y="4940441"/>
              <a:ext cx="406063" cy="341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6F55B3C-F645-48E1-8479-3A06F36872ED}"/>
                </a:ext>
              </a:extLst>
            </p:cNvPr>
            <p:cNvGrpSpPr/>
            <p:nvPr/>
          </p:nvGrpSpPr>
          <p:grpSpPr>
            <a:xfrm>
              <a:off x="2443105" y="564718"/>
              <a:ext cx="6248744" cy="6007466"/>
              <a:chOff x="2443105" y="564718"/>
              <a:chExt cx="6248744" cy="6007466"/>
            </a:xfrm>
          </p:grpSpPr>
          <p:cxnSp>
            <p:nvCxnSpPr>
              <p:cNvPr id="77" name="Straight Arrow Connector 76">
                <a:extLst>
                  <a:ext uri="{FF2B5EF4-FFF2-40B4-BE49-F238E27FC236}">
                    <a16:creationId xmlns:a16="http://schemas.microsoft.com/office/drawing/2014/main" id="{F038CE39-B230-4638-BDC3-A7D05DBF00A5}"/>
                  </a:ext>
                </a:extLst>
              </p:cNvPr>
              <p:cNvCxnSpPr>
                <a:cxnSpLocks/>
                <a:stCxn id="36" idx="2"/>
                <a:endCxn id="41" idx="0"/>
              </p:cNvCxnSpPr>
              <p:nvPr/>
            </p:nvCxnSpPr>
            <p:spPr>
              <a:xfrm flipH="1">
                <a:off x="6265038" y="5384077"/>
                <a:ext cx="737" cy="4127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D012303-B061-4C86-8B2C-C804E7B417EC}"/>
                  </a:ext>
                </a:extLst>
              </p:cNvPr>
              <p:cNvGrpSpPr/>
              <p:nvPr/>
            </p:nvGrpSpPr>
            <p:grpSpPr>
              <a:xfrm>
                <a:off x="2443105" y="564718"/>
                <a:ext cx="6248744" cy="6007466"/>
                <a:chOff x="2413903" y="315115"/>
                <a:chExt cx="6248744" cy="6007466"/>
              </a:xfrm>
            </p:grpSpPr>
            <p:cxnSp>
              <p:nvCxnSpPr>
                <p:cNvPr id="95" name="Straight Arrow Connector 94">
                  <a:extLst>
                    <a:ext uri="{FF2B5EF4-FFF2-40B4-BE49-F238E27FC236}">
                      <a16:creationId xmlns:a16="http://schemas.microsoft.com/office/drawing/2014/main" id="{36682A6C-F095-4A60-8C08-A9E8A754B58B}"/>
                    </a:ext>
                  </a:extLst>
                </p:cNvPr>
                <p:cNvCxnSpPr>
                  <a:cxnSpLocks/>
                  <a:stCxn id="16" idx="2"/>
                  <a:endCxn id="53" idx="0"/>
                </p:cNvCxnSpPr>
                <p:nvPr/>
              </p:nvCxnSpPr>
              <p:spPr>
                <a:xfrm>
                  <a:off x="6234241" y="765035"/>
                  <a:ext cx="0" cy="29396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625411C5-D5D7-4F59-B9EF-00A4CE9E0100}"/>
                    </a:ext>
                  </a:extLst>
                </p:cNvPr>
                <p:cNvSpPr txBox="1"/>
                <p:nvPr/>
              </p:nvSpPr>
              <p:spPr>
                <a:xfrm>
                  <a:off x="7130460" y="4344005"/>
                  <a:ext cx="496291" cy="307776"/>
                </a:xfrm>
                <a:prstGeom prst="rect">
                  <a:avLst/>
                </a:prstGeom>
                <a:noFill/>
              </p:spPr>
              <p:txBody>
                <a:bodyPr wrap="none" rtlCol="0">
                  <a:spAutoFit/>
                </a:bodyPr>
                <a:lstStyle/>
                <a:p>
                  <a:r>
                    <a:rPr lang="en-US" sz="900"/>
                    <a:t>YES</a:t>
                  </a:r>
                </a:p>
              </p:txBody>
            </p:sp>
            <p:grpSp>
              <p:nvGrpSpPr>
                <p:cNvPr id="17" name="Group 16">
                  <a:extLst>
                    <a:ext uri="{FF2B5EF4-FFF2-40B4-BE49-F238E27FC236}">
                      <a16:creationId xmlns:a16="http://schemas.microsoft.com/office/drawing/2014/main" id="{940545A6-E826-4F38-8023-BD705581FBC3}"/>
                    </a:ext>
                  </a:extLst>
                </p:cNvPr>
                <p:cNvGrpSpPr/>
                <p:nvPr/>
              </p:nvGrpSpPr>
              <p:grpSpPr>
                <a:xfrm>
                  <a:off x="2413903" y="315115"/>
                  <a:ext cx="6248744" cy="6007466"/>
                  <a:chOff x="2413903" y="315115"/>
                  <a:chExt cx="6248744" cy="6007466"/>
                </a:xfrm>
              </p:grpSpPr>
              <p:sp>
                <p:nvSpPr>
                  <p:cNvPr id="44" name="TextBox 43">
                    <a:extLst>
                      <a:ext uri="{FF2B5EF4-FFF2-40B4-BE49-F238E27FC236}">
                        <a16:creationId xmlns:a16="http://schemas.microsoft.com/office/drawing/2014/main" id="{9A476156-6352-4FC6-9D8D-7EB9DAF3A14F}"/>
                      </a:ext>
                    </a:extLst>
                  </p:cNvPr>
                  <p:cNvSpPr txBox="1"/>
                  <p:nvPr/>
                </p:nvSpPr>
                <p:spPr>
                  <a:xfrm>
                    <a:off x="6377754" y="1705330"/>
                    <a:ext cx="436445" cy="307776"/>
                  </a:xfrm>
                  <a:prstGeom prst="rect">
                    <a:avLst/>
                  </a:prstGeom>
                  <a:noFill/>
                </p:spPr>
                <p:txBody>
                  <a:bodyPr wrap="none" rtlCol="0">
                    <a:spAutoFit/>
                  </a:bodyPr>
                  <a:lstStyle/>
                  <a:p>
                    <a:r>
                      <a:rPr lang="en-US" sz="900"/>
                      <a:t>NO</a:t>
                    </a:r>
                  </a:p>
                </p:txBody>
              </p:sp>
              <p:sp>
                <p:nvSpPr>
                  <p:cNvPr id="55" name="TextBox 54">
                    <a:extLst>
                      <a:ext uri="{FF2B5EF4-FFF2-40B4-BE49-F238E27FC236}">
                        <a16:creationId xmlns:a16="http://schemas.microsoft.com/office/drawing/2014/main" id="{6DEED599-EA22-43E4-927A-A26138A30984}"/>
                      </a:ext>
                    </a:extLst>
                  </p:cNvPr>
                  <p:cNvSpPr txBox="1"/>
                  <p:nvPr/>
                </p:nvSpPr>
                <p:spPr>
                  <a:xfrm>
                    <a:off x="6228023" y="5134472"/>
                    <a:ext cx="436445" cy="307776"/>
                  </a:xfrm>
                  <a:prstGeom prst="rect">
                    <a:avLst/>
                  </a:prstGeom>
                  <a:noFill/>
                </p:spPr>
                <p:txBody>
                  <a:bodyPr wrap="none" rtlCol="0">
                    <a:spAutoFit/>
                  </a:bodyPr>
                  <a:lstStyle/>
                  <a:p>
                    <a:r>
                      <a:rPr lang="en-US" sz="900"/>
                      <a:t>NO</a:t>
                    </a:r>
                  </a:p>
                </p:txBody>
              </p:sp>
              <p:grpSp>
                <p:nvGrpSpPr>
                  <p:cNvPr id="15" name="Group 14">
                    <a:extLst>
                      <a:ext uri="{FF2B5EF4-FFF2-40B4-BE49-F238E27FC236}">
                        <a16:creationId xmlns:a16="http://schemas.microsoft.com/office/drawing/2014/main" id="{1A24A6EF-92AF-4184-9A77-F84DD82BE535}"/>
                      </a:ext>
                    </a:extLst>
                  </p:cNvPr>
                  <p:cNvGrpSpPr/>
                  <p:nvPr/>
                </p:nvGrpSpPr>
                <p:grpSpPr>
                  <a:xfrm>
                    <a:off x="2413903" y="315115"/>
                    <a:ext cx="6248744" cy="6007466"/>
                    <a:chOff x="2413903" y="315115"/>
                    <a:chExt cx="6248744" cy="6007466"/>
                  </a:xfrm>
                </p:grpSpPr>
                <p:cxnSp>
                  <p:nvCxnSpPr>
                    <p:cNvPr id="101" name="Straight Arrow Connector 100">
                      <a:extLst>
                        <a:ext uri="{FF2B5EF4-FFF2-40B4-BE49-F238E27FC236}">
                          <a16:creationId xmlns:a16="http://schemas.microsoft.com/office/drawing/2014/main" id="{3ACFF553-329C-45C1-A288-B71BF0FF4E46}"/>
                        </a:ext>
                      </a:extLst>
                    </p:cNvPr>
                    <p:cNvCxnSpPr>
                      <a:cxnSpLocks/>
                      <a:stCxn id="53" idx="2"/>
                      <a:endCxn id="39" idx="0"/>
                    </p:cNvCxnSpPr>
                    <p:nvPr/>
                  </p:nvCxnSpPr>
                  <p:spPr>
                    <a:xfrm>
                      <a:off x="6234241" y="1508922"/>
                      <a:ext cx="2746" cy="79090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E29B4CC4-C15C-43A9-9A70-74CF5F07836E}"/>
                        </a:ext>
                      </a:extLst>
                    </p:cNvPr>
                    <p:cNvGrpSpPr/>
                    <p:nvPr/>
                  </p:nvGrpSpPr>
                  <p:grpSpPr>
                    <a:xfrm>
                      <a:off x="2413903" y="315115"/>
                      <a:ext cx="6248744" cy="6007466"/>
                      <a:chOff x="2413903" y="315115"/>
                      <a:chExt cx="6248744" cy="6007466"/>
                    </a:xfrm>
                  </p:grpSpPr>
                  <p:sp>
                    <p:nvSpPr>
                      <p:cNvPr id="39" name="Diamond 38">
                        <a:extLst>
                          <a:ext uri="{FF2B5EF4-FFF2-40B4-BE49-F238E27FC236}">
                            <a16:creationId xmlns:a16="http://schemas.microsoft.com/office/drawing/2014/main" id="{FD7B96CD-89B4-49BF-994D-C630F2C73CB0}"/>
                          </a:ext>
                        </a:extLst>
                      </p:cNvPr>
                      <p:cNvSpPr/>
                      <p:nvPr/>
                    </p:nvSpPr>
                    <p:spPr>
                      <a:xfrm>
                        <a:off x="5067573" y="2299831"/>
                        <a:ext cx="2338828" cy="62794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ysClr val="windowText" lastClr="000000"/>
                            </a:solidFill>
                          </a:rPr>
                          <a:t>Increased HSV Risk</a:t>
                        </a:r>
                        <a:r>
                          <a:rPr lang="en-US" sz="900" b="1">
                            <a:solidFill>
                              <a:sysClr val="windowText" lastClr="000000"/>
                            </a:solidFill>
                          </a:rPr>
                          <a:t>*</a:t>
                        </a:r>
                        <a:r>
                          <a:rPr lang="en-US" sz="900">
                            <a:solidFill>
                              <a:sysClr val="windowText" lastClr="000000"/>
                            </a:solidFill>
                          </a:rPr>
                          <a:t> </a:t>
                        </a:r>
                      </a:p>
                    </p:txBody>
                  </p:sp>
                  <p:sp>
                    <p:nvSpPr>
                      <p:cNvPr id="53" name="Diamond 52">
                        <a:extLst>
                          <a:ext uri="{FF2B5EF4-FFF2-40B4-BE49-F238E27FC236}">
                            <a16:creationId xmlns:a16="http://schemas.microsoft.com/office/drawing/2014/main" id="{75D858EC-E7A1-4D55-83BA-E1EA9D296B37}"/>
                          </a:ext>
                        </a:extLst>
                      </p:cNvPr>
                      <p:cNvSpPr/>
                      <p:nvPr/>
                    </p:nvSpPr>
                    <p:spPr>
                      <a:xfrm>
                        <a:off x="5692182" y="1059002"/>
                        <a:ext cx="1084117" cy="44992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 </a:t>
                        </a:r>
                      </a:p>
                    </p:txBody>
                  </p:sp>
                  <p:cxnSp>
                    <p:nvCxnSpPr>
                      <p:cNvPr id="62" name="Connector: Elbow 61">
                        <a:extLst>
                          <a:ext uri="{FF2B5EF4-FFF2-40B4-BE49-F238E27FC236}">
                            <a16:creationId xmlns:a16="http://schemas.microsoft.com/office/drawing/2014/main" id="{3AF8871F-E01A-447C-B8A7-43948EDCF995}"/>
                          </a:ext>
                        </a:extLst>
                      </p:cNvPr>
                      <p:cNvCxnSpPr>
                        <a:cxnSpLocks/>
                        <a:stCxn id="39" idx="1"/>
                        <a:endCxn id="54" idx="0"/>
                      </p:cNvCxnSpPr>
                      <p:nvPr/>
                    </p:nvCxnSpPr>
                    <p:spPr>
                      <a:xfrm rot="10800000" flipV="1">
                        <a:off x="3383717" y="2613805"/>
                        <a:ext cx="1683856" cy="209414"/>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7A84E384-7A82-49C9-9375-706AB44FD226}"/>
                          </a:ext>
                        </a:extLst>
                      </p:cNvPr>
                      <p:cNvGrpSpPr/>
                      <p:nvPr/>
                    </p:nvGrpSpPr>
                    <p:grpSpPr>
                      <a:xfrm>
                        <a:off x="2413903" y="315115"/>
                        <a:ext cx="6248744" cy="6007466"/>
                        <a:chOff x="2413903" y="315115"/>
                        <a:chExt cx="6248744" cy="6007466"/>
                      </a:xfrm>
                    </p:grpSpPr>
                    <p:grpSp>
                      <p:nvGrpSpPr>
                        <p:cNvPr id="12" name="Group 11">
                          <a:extLst>
                            <a:ext uri="{FF2B5EF4-FFF2-40B4-BE49-F238E27FC236}">
                              <a16:creationId xmlns:a16="http://schemas.microsoft.com/office/drawing/2014/main" id="{46ECE9C3-C3DD-4ECC-8CAB-127FFA7DB762}"/>
                            </a:ext>
                          </a:extLst>
                        </p:cNvPr>
                        <p:cNvGrpSpPr/>
                        <p:nvPr/>
                      </p:nvGrpSpPr>
                      <p:grpSpPr>
                        <a:xfrm>
                          <a:off x="4555868" y="1022832"/>
                          <a:ext cx="1033512" cy="1806416"/>
                          <a:chOff x="4555868" y="1022832"/>
                          <a:chExt cx="1033512" cy="1806416"/>
                        </a:xfrm>
                      </p:grpSpPr>
                      <p:sp>
                        <p:nvSpPr>
                          <p:cNvPr id="2" name="TextBox 1">
                            <a:extLst>
                              <a:ext uri="{FF2B5EF4-FFF2-40B4-BE49-F238E27FC236}">
                                <a16:creationId xmlns:a16="http://schemas.microsoft.com/office/drawing/2014/main" id="{B3A294D1-9205-488A-A9D6-4186444C3EF3}"/>
                              </a:ext>
                            </a:extLst>
                          </p:cNvPr>
                          <p:cNvSpPr txBox="1"/>
                          <p:nvPr/>
                        </p:nvSpPr>
                        <p:spPr>
                          <a:xfrm>
                            <a:off x="4555868" y="2336805"/>
                            <a:ext cx="413367" cy="492443"/>
                          </a:xfrm>
                          <a:prstGeom prst="rect">
                            <a:avLst/>
                          </a:prstGeom>
                          <a:noFill/>
                        </p:spPr>
                        <p:txBody>
                          <a:bodyPr wrap="square" rtlCol="0">
                            <a:spAutoFit/>
                          </a:bodyPr>
                          <a:lstStyle/>
                          <a:p>
                            <a:r>
                              <a:rPr lang="en-US" sz="900"/>
                              <a:t>YES</a:t>
                            </a:r>
                          </a:p>
                        </p:txBody>
                      </p:sp>
                      <p:sp>
                        <p:nvSpPr>
                          <p:cNvPr id="66" name="TextBox 65">
                            <a:extLst>
                              <a:ext uri="{FF2B5EF4-FFF2-40B4-BE49-F238E27FC236}">
                                <a16:creationId xmlns:a16="http://schemas.microsoft.com/office/drawing/2014/main" id="{82373C07-6CCF-49B3-B4C4-2647914EC9CD}"/>
                              </a:ext>
                            </a:extLst>
                          </p:cNvPr>
                          <p:cNvSpPr txBox="1"/>
                          <p:nvPr/>
                        </p:nvSpPr>
                        <p:spPr>
                          <a:xfrm>
                            <a:off x="5093090" y="1022832"/>
                            <a:ext cx="496290" cy="307776"/>
                          </a:xfrm>
                          <a:prstGeom prst="rect">
                            <a:avLst/>
                          </a:prstGeom>
                          <a:noFill/>
                        </p:spPr>
                        <p:txBody>
                          <a:bodyPr wrap="none" rtlCol="0">
                            <a:spAutoFit/>
                          </a:bodyPr>
                          <a:lstStyle/>
                          <a:p>
                            <a:r>
                              <a:rPr lang="en-US" sz="900"/>
                              <a:t>YES</a:t>
                            </a:r>
                          </a:p>
                        </p:txBody>
                      </p:sp>
                    </p:grpSp>
                    <p:grpSp>
                      <p:nvGrpSpPr>
                        <p:cNvPr id="9" name="Group 8">
                          <a:extLst>
                            <a:ext uri="{FF2B5EF4-FFF2-40B4-BE49-F238E27FC236}">
                              <a16:creationId xmlns:a16="http://schemas.microsoft.com/office/drawing/2014/main" id="{54E7E205-72DB-47A0-82AC-3DFE61A07758}"/>
                            </a:ext>
                          </a:extLst>
                        </p:cNvPr>
                        <p:cNvGrpSpPr/>
                        <p:nvPr/>
                      </p:nvGrpSpPr>
                      <p:grpSpPr>
                        <a:xfrm>
                          <a:off x="2413903" y="315115"/>
                          <a:ext cx="6248744" cy="6007466"/>
                          <a:chOff x="2413903" y="315115"/>
                          <a:chExt cx="6248744" cy="6007466"/>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4180140" y="315115"/>
                            <a:ext cx="4482507" cy="6007466"/>
                            <a:chOff x="-169704" y="-323293"/>
                            <a:chExt cx="7968902" cy="10679939"/>
                          </a:xfrm>
                        </p:grpSpPr>
                        <p:sp>
                          <p:nvSpPr>
                            <p:cNvPr id="16" name="Rectangle 15">
                              <a:extLst>
                                <a:ext uri="{FF2B5EF4-FFF2-40B4-BE49-F238E27FC236}">
                                  <a16:creationId xmlns:a16="http://schemas.microsoft.com/office/drawing/2014/main" id="{14C815F4-3E4B-4657-8DD6-3BDF96293D0A}"/>
                                </a:ext>
                              </a:extLst>
                            </p:cNvPr>
                            <p:cNvSpPr/>
                            <p:nvPr/>
                          </p:nvSpPr>
                          <p:spPr>
                            <a:xfrm>
                              <a:off x="691763" y="-323293"/>
                              <a:ext cx="5580536" cy="79985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endParaRPr>
                            </a:p>
                            <a:p>
                              <a:r>
                                <a:rPr lang="en-US" sz="900" dirty="0">
                                  <a:solidFill>
                                    <a:schemeClr val="tx1"/>
                                  </a:solidFill>
                                </a:rPr>
                                <a:t>Perform UA, UCx, CBC w/diff, blood </a:t>
                              </a:r>
                              <a:r>
                                <a:rPr lang="en-US" sz="900" dirty="0" err="1">
                                  <a:solidFill>
                                    <a:schemeClr val="tx1"/>
                                  </a:solidFill>
                                </a:rPr>
                                <a:t>Cx</a:t>
                              </a:r>
                              <a:r>
                                <a:rPr lang="en-US" sz="900" dirty="0">
                                  <a:solidFill>
                                    <a:schemeClr val="tx1"/>
                                  </a:solidFill>
                                </a:rPr>
                                <a:t> and LP</a:t>
                              </a:r>
                            </a:p>
                            <a:p>
                              <a:endParaRPr lang="en-US" sz="900" dirty="0">
                                <a:solidFill>
                                  <a:schemeClr val="tx1"/>
                                </a:solidFill>
                              </a:endParaRPr>
                            </a:p>
                          </p:txBody>
                        </p:sp>
                        <p:sp>
                          <p:nvSpPr>
                            <p:cNvPr id="28" name="Rectangle 27">
                              <a:extLst>
                                <a:ext uri="{FF2B5EF4-FFF2-40B4-BE49-F238E27FC236}">
                                  <a16:creationId xmlns:a16="http://schemas.microsoft.com/office/drawing/2014/main" id="{7D944722-CFD4-41F1-850D-378C92D1900A}"/>
                                </a:ext>
                              </a:extLst>
                            </p:cNvPr>
                            <p:cNvSpPr/>
                            <p:nvPr/>
                          </p:nvSpPr>
                          <p:spPr>
                            <a:xfrm>
                              <a:off x="2028824" y="5366548"/>
                              <a:ext cx="2903046" cy="92735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ysClr val="windowText" lastClr="000000"/>
                                  </a:solidFill>
                                </a:rPr>
                                <a:t>Initiate </a:t>
                              </a:r>
                              <a:r>
                                <a:rPr lang="en-US" sz="900" dirty="0" err="1">
                                  <a:solidFill>
                                    <a:sysClr val="windowText" lastClr="000000"/>
                                  </a:solidFill>
                                </a:rPr>
                                <a:t>Pabx</a:t>
                              </a:r>
                              <a:endParaRPr lang="en-US" sz="900" dirty="0">
                                <a:solidFill>
                                  <a:sysClr val="windowText" lastClr="000000"/>
                                </a:solidFill>
                              </a:endParaRPr>
                            </a:p>
                            <a:p>
                              <a:pPr marL="171450" indent="-171450">
                                <a:buFont typeface="+mj-lt"/>
                                <a:buAutoNum type="arabicPeriod"/>
                              </a:pPr>
                              <a:r>
                                <a:rPr lang="en-US" sz="900" dirty="0">
                                  <a:solidFill>
                                    <a:sysClr val="windowText" lastClr="000000"/>
                                  </a:solidFill>
                                </a:rPr>
                                <a:t>Observe in hospital</a:t>
                              </a:r>
                            </a:p>
                          </p:txBody>
                        </p:sp>
                        <p:sp>
                          <p:nvSpPr>
                            <p:cNvPr id="36" name="Diamond 35">
                              <a:extLst>
                                <a:ext uri="{FF2B5EF4-FFF2-40B4-BE49-F238E27FC236}">
                                  <a16:creationId xmlns:a16="http://schemas.microsoft.com/office/drawing/2014/main" id="{74EE7E50-2129-46CB-A048-8AFABA71449A}"/>
                                </a:ext>
                              </a:extLst>
                            </p:cNvPr>
                            <p:cNvSpPr/>
                            <p:nvPr/>
                          </p:nvSpPr>
                          <p:spPr>
                            <a:xfrm>
                              <a:off x="1713133" y="6667081"/>
                              <a:ext cx="3546088" cy="157737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ysClr val="windowText" lastClr="000000"/>
                                  </a:solidFill>
                                </a:rPr>
                                <a:t>Pathogen or Source identified</a:t>
                              </a:r>
                            </a:p>
                          </p:txBody>
                        </p:sp>
                        <p:sp>
                          <p:nvSpPr>
                            <p:cNvPr id="38" name="Rectangle 37">
                              <a:extLst>
                                <a:ext uri="{FF2B5EF4-FFF2-40B4-BE49-F238E27FC236}">
                                  <a16:creationId xmlns:a16="http://schemas.microsoft.com/office/drawing/2014/main" id="{69007924-3AB5-44F1-A207-AE39F6A7ED9C}"/>
                                </a:ext>
                              </a:extLst>
                            </p:cNvPr>
                            <p:cNvSpPr/>
                            <p:nvPr/>
                          </p:nvSpPr>
                          <p:spPr>
                            <a:xfrm>
                              <a:off x="5981111" y="7069944"/>
                              <a:ext cx="1818087" cy="78380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Treat infection</a:t>
                              </a:r>
                            </a:p>
                          </p:txBody>
                        </p:sp>
                        <p:sp>
                          <p:nvSpPr>
                            <p:cNvPr id="41" name="Rectangle 40">
                              <a:extLst>
                                <a:ext uri="{FF2B5EF4-FFF2-40B4-BE49-F238E27FC236}">
                                  <a16:creationId xmlns:a16="http://schemas.microsoft.com/office/drawing/2014/main" id="{E73D0D02-152E-4442-A4E8-890DF8E6A7B1}"/>
                                </a:ext>
                              </a:extLst>
                            </p:cNvPr>
                            <p:cNvSpPr/>
                            <p:nvPr/>
                          </p:nvSpPr>
                          <p:spPr>
                            <a:xfrm>
                              <a:off x="-169704" y="8978150"/>
                              <a:ext cx="7309140" cy="137849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a:solidFill>
                                    <a:schemeClr val="tx1"/>
                                  </a:solidFill>
                                </a:rPr>
                                <a:t>Discontinue antimicrobial(s) and may discharge hospitalized infant if all </a:t>
                              </a:r>
                              <a:r>
                                <a:rPr lang="en-US" sz="900" err="1">
                                  <a:solidFill>
                                    <a:schemeClr val="tx1"/>
                                  </a:solidFill>
                                </a:rPr>
                                <a:t>Cx</a:t>
                              </a:r>
                              <a:r>
                                <a:rPr lang="en-US" sz="900">
                                  <a:solidFill>
                                    <a:schemeClr val="tx1"/>
                                  </a:solidFill>
                                </a:rPr>
                                <a:t>- at 24-36 </a:t>
                              </a:r>
                              <a:r>
                                <a:rPr lang="en-US" sz="900" err="1">
                                  <a:solidFill>
                                    <a:schemeClr val="tx1"/>
                                  </a:solidFill>
                                </a:rPr>
                                <a:t>hrs</a:t>
                              </a:r>
                              <a:r>
                                <a:rPr lang="en-US" sz="900">
                                  <a:solidFill>
                                    <a:schemeClr val="tx1"/>
                                  </a:solidFill>
                                </a:rPr>
                                <a:t> and HSV PCR- (if sent) </a:t>
                              </a:r>
                            </a:p>
                            <a:p>
                              <a:pPr marL="144661" indent="-144661">
                                <a:buFont typeface="+mj-lt"/>
                                <a:buAutoNum type="arabicPeriod"/>
                              </a:pPr>
                              <a:r>
                                <a:rPr lang="en-US" sz="900">
                                  <a:solidFill>
                                    <a:schemeClr val="tx1"/>
                                  </a:solidFill>
                                </a:rPr>
                                <a:t>Follow for duration of illness</a:t>
                              </a:r>
                            </a:p>
                          </p:txBody>
                        </p:sp>
                      </p:grpSp>
                      <p:sp>
                        <p:nvSpPr>
                          <p:cNvPr id="52" name="Rectangle 51">
                            <a:extLst>
                              <a:ext uri="{FF2B5EF4-FFF2-40B4-BE49-F238E27FC236}">
                                <a16:creationId xmlns:a16="http://schemas.microsoft.com/office/drawing/2014/main" id="{CE8258BA-F771-47F0-A445-4948F10644D6}"/>
                              </a:ext>
                            </a:extLst>
                          </p:cNvPr>
                          <p:cNvSpPr/>
                          <p:nvPr/>
                        </p:nvSpPr>
                        <p:spPr>
                          <a:xfrm>
                            <a:off x="3309651" y="1579296"/>
                            <a:ext cx="1670776" cy="50897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ysClr val="windowText" lastClr="000000"/>
                              </a:solidFill>
                            </a:endParaRPr>
                          </a:p>
                          <a:p>
                            <a:pPr algn="ctr"/>
                            <a:r>
                              <a:rPr lang="en-US" sz="900">
                                <a:solidFill>
                                  <a:sysClr val="windowText" lastClr="000000"/>
                                </a:solidFill>
                              </a:rPr>
                              <a:t>Confirm urine sent by bladder </a:t>
                            </a:r>
                            <a:r>
                              <a:rPr lang="en-US" sz="900" err="1">
                                <a:solidFill>
                                  <a:sysClr val="windowText" lastClr="000000"/>
                                </a:solidFill>
                              </a:rPr>
                              <a:t>cath</a:t>
                            </a:r>
                            <a:endParaRPr lang="en-US" sz="900">
                              <a:solidFill>
                                <a:sysClr val="windowText" lastClr="000000"/>
                              </a:solidFill>
                            </a:endParaRPr>
                          </a:p>
                          <a:p>
                            <a:pPr algn="ctr"/>
                            <a:endParaRPr lang="en-US" sz="900">
                              <a:solidFill>
                                <a:sysClr val="windowText" lastClr="000000"/>
                              </a:solidFill>
                            </a:endParaRPr>
                          </a:p>
                        </p:txBody>
                      </p:sp>
                      <p:sp>
                        <p:nvSpPr>
                          <p:cNvPr id="54" name="Rectangle 53">
                            <a:extLst>
                              <a:ext uri="{FF2B5EF4-FFF2-40B4-BE49-F238E27FC236}">
                                <a16:creationId xmlns:a16="http://schemas.microsoft.com/office/drawing/2014/main" id="{7DB56A54-8D91-4E7E-B854-3A4C015C7815}"/>
                              </a:ext>
                            </a:extLst>
                          </p:cNvPr>
                          <p:cNvSpPr/>
                          <p:nvPr/>
                        </p:nvSpPr>
                        <p:spPr>
                          <a:xfrm>
                            <a:off x="2413903" y="2823219"/>
                            <a:ext cx="1939627" cy="58323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ysClr val="windowText" lastClr="000000"/>
                              </a:solidFill>
                            </a:endParaRPr>
                          </a:p>
                          <a:p>
                            <a:pPr algn="ctr"/>
                            <a:r>
                              <a:rPr lang="en-US" sz="900">
                                <a:solidFill>
                                  <a:sysClr val="windowText" lastClr="000000"/>
                                </a:solidFill>
                              </a:rPr>
                              <a:t>Send HSV studies </a:t>
                            </a:r>
                            <a:r>
                              <a:rPr lang="en-US" sz="900" b="1">
                                <a:solidFill>
                                  <a:schemeClr val="tx1"/>
                                </a:solidFill>
                              </a:rPr>
                              <a:t>†</a:t>
                            </a:r>
                            <a:endParaRPr lang="en-US" sz="900">
                              <a:solidFill>
                                <a:sysClr val="windowText" lastClr="000000"/>
                              </a:solidFill>
                            </a:endParaRPr>
                          </a:p>
                          <a:p>
                            <a:pPr algn="ctr"/>
                            <a:r>
                              <a:rPr lang="en-US" sz="900">
                                <a:solidFill>
                                  <a:sysClr val="windowText" lastClr="000000"/>
                                </a:solidFill>
                              </a:rPr>
                              <a:t>Initiate acyclovir</a:t>
                            </a:r>
                          </a:p>
                          <a:p>
                            <a:pPr algn="ctr"/>
                            <a:endParaRPr lang="en-US" sz="900">
                              <a:solidFill>
                                <a:sysClr val="windowText" lastClr="000000"/>
                              </a:solidFill>
                            </a:endParaRP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4145040" y="1283962"/>
                            <a:ext cx="1547143" cy="295334"/>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grpSp>
              <p:cxnSp>
                <p:nvCxnSpPr>
                  <p:cNvPr id="32" name="Straight Arrow Connector 31">
                    <a:extLst>
                      <a:ext uri="{FF2B5EF4-FFF2-40B4-BE49-F238E27FC236}">
                        <a16:creationId xmlns:a16="http://schemas.microsoft.com/office/drawing/2014/main" id="{9A15820E-E515-4511-868B-76A76068B4C0}"/>
                      </a:ext>
                    </a:extLst>
                  </p:cNvPr>
                  <p:cNvCxnSpPr>
                    <a:cxnSpLocks/>
                    <a:stCxn id="28" idx="2"/>
                    <a:endCxn id="36" idx="0"/>
                  </p:cNvCxnSpPr>
                  <p:nvPr/>
                </p:nvCxnSpPr>
                <p:spPr>
                  <a:xfrm>
                    <a:off x="6233294" y="4037288"/>
                    <a:ext cx="3279" cy="20991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BA6BE57B-F5FD-4E12-AC44-8A323916BB50}"/>
                      </a:ext>
                    </a:extLst>
                  </p:cNvPr>
                  <p:cNvSpPr txBox="1"/>
                  <p:nvPr/>
                </p:nvSpPr>
                <p:spPr>
                  <a:xfrm>
                    <a:off x="6237059" y="2990956"/>
                    <a:ext cx="446372" cy="307776"/>
                  </a:xfrm>
                  <a:prstGeom prst="rect">
                    <a:avLst/>
                  </a:prstGeom>
                  <a:noFill/>
                </p:spPr>
                <p:txBody>
                  <a:bodyPr wrap="square" rtlCol="0">
                    <a:spAutoFit/>
                  </a:bodyPr>
                  <a:lstStyle/>
                  <a:p>
                    <a:r>
                      <a:rPr lang="en-US" sz="900"/>
                      <a:t>NO</a:t>
                    </a:r>
                  </a:p>
                </p:txBody>
              </p:sp>
            </p:grpSp>
          </p:grpSp>
        </p:grpSp>
      </p:grpSp>
      <p:cxnSp>
        <p:nvCxnSpPr>
          <p:cNvPr id="82" name="Straight Arrow Connector 81">
            <a:extLst>
              <a:ext uri="{FF2B5EF4-FFF2-40B4-BE49-F238E27FC236}">
                <a16:creationId xmlns:a16="http://schemas.microsoft.com/office/drawing/2014/main" id="{EB181090-D20F-41F5-A018-1D9E6BFAC648}"/>
              </a:ext>
            </a:extLst>
          </p:cNvPr>
          <p:cNvCxnSpPr>
            <a:cxnSpLocks/>
            <a:stCxn id="54" idx="3"/>
            <a:endCxn id="81" idx="1"/>
          </p:cNvCxnSpPr>
          <p:nvPr/>
        </p:nvCxnSpPr>
        <p:spPr>
          <a:xfrm>
            <a:off x="3275260" y="3424187"/>
            <a:ext cx="1412647"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D34CE595-AF19-49B6-957D-B5A906A5861E}"/>
              </a:ext>
            </a:extLst>
          </p:cNvPr>
          <p:cNvCxnSpPr>
            <a:stCxn id="52" idx="3"/>
          </p:cNvCxnSpPr>
          <p:nvPr/>
        </p:nvCxnSpPr>
        <p:spPr>
          <a:xfrm>
            <a:off x="3745433" y="2463398"/>
            <a:ext cx="942474"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5" name="Rectangle 134">
            <a:extLst>
              <a:ext uri="{FF2B5EF4-FFF2-40B4-BE49-F238E27FC236}">
                <a16:creationId xmlns:a16="http://schemas.microsoft.com/office/drawing/2014/main" id="{350E8B9E-9026-4771-B180-D68F832E410D}"/>
              </a:ext>
            </a:extLst>
          </p:cNvPr>
          <p:cNvSpPr/>
          <p:nvPr/>
        </p:nvSpPr>
        <p:spPr>
          <a:xfrm>
            <a:off x="6507098" y="1601352"/>
            <a:ext cx="2354819" cy="219456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pPr lvl="0">
              <a:defRPr/>
            </a:pPr>
            <a:r>
              <a:rPr lang="en-US" sz="900" b="1" dirty="0">
                <a:solidFill>
                  <a:sysClr val="windowText" lastClr="000000"/>
                </a:solidFill>
              </a:rPr>
              <a:t>*</a:t>
            </a:r>
            <a:r>
              <a:rPr lang="en-US" sz="900" dirty="0">
                <a:solidFill>
                  <a:sysClr val="windowText" lastClr="000000"/>
                </a:solidFill>
              </a:rPr>
              <a:t> 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900" dirty="0" err="1">
                <a:solidFill>
                  <a:sysClr val="windowText" lastClr="000000"/>
                </a:solidFill>
              </a:rPr>
              <a:t>hrs</a:t>
            </a:r>
            <a:r>
              <a:rPr lang="en-US" sz="900" dirty="0">
                <a:solidFill>
                  <a:sysClr val="windowText" lastClr="000000"/>
                </a:solidFill>
              </a:rPr>
              <a:t> before to 48 </a:t>
            </a:r>
            <a:r>
              <a:rPr lang="en-US" sz="900" dirty="0" err="1">
                <a:solidFill>
                  <a:sysClr val="windowText" lastClr="000000"/>
                </a:solidFill>
              </a:rPr>
              <a:t>hrs</a:t>
            </a:r>
            <a:r>
              <a:rPr lang="en-US" sz="900" dirty="0">
                <a:solidFill>
                  <a:sysClr val="windowText" lastClr="000000"/>
                </a:solidFill>
              </a:rPr>
              <a:t> after delivery. If liver function tests were obtained, then an elevated ALT also indicates a higher risk of HSV. For further details of evaluation and management of HSV see AAP Redbook.</a:t>
            </a:r>
          </a:p>
          <a:p>
            <a:pPr lvl="0">
              <a:defRPr/>
            </a:pPr>
            <a:r>
              <a:rPr lang="en-US" sz="900" b="1" dirty="0">
                <a:solidFill>
                  <a:schemeClr val="tx1"/>
                </a:solidFill>
              </a:rPr>
              <a:t>† </a:t>
            </a:r>
            <a:r>
              <a:rPr lang="en-US" sz="900" dirty="0">
                <a:solidFill>
                  <a:sysClr val="windowText" lastClr="000000"/>
                </a:solidFill>
              </a:rPr>
              <a:t>HSV studies: CSF for HSV PCR, HSV PCR of serum and surface swabs: conjunctiva, NP, skin (vesicles if present), and rectal</a:t>
            </a:r>
          </a:p>
          <a:p>
            <a:endParaRPr lang="en-US" sz="825" dirty="0">
              <a:solidFill>
                <a:schemeClr val="tx1"/>
              </a:solidFill>
            </a:endParaRPr>
          </a:p>
          <a:p>
            <a:endParaRPr lang="en-US" sz="825" dirty="0">
              <a:solidFill>
                <a:schemeClr val="tx1"/>
              </a:solidFill>
            </a:endParaRPr>
          </a:p>
          <a:p>
            <a:endParaRPr lang="en-US" sz="825" dirty="0">
              <a:solidFill>
                <a:schemeClr val="tx1"/>
              </a:solidFill>
            </a:endParaRPr>
          </a:p>
          <a:p>
            <a:endParaRPr lang="en-US" sz="788" dirty="0">
              <a:solidFill>
                <a:schemeClr val="tx1"/>
              </a:solidFill>
            </a:endParaRPr>
          </a:p>
        </p:txBody>
      </p:sp>
      <p:sp>
        <p:nvSpPr>
          <p:cNvPr id="42" name="TextBox 41">
            <a:extLst>
              <a:ext uri="{FF2B5EF4-FFF2-40B4-BE49-F238E27FC236}">
                <a16:creationId xmlns:a16="http://schemas.microsoft.com/office/drawing/2014/main" id="{0EC6079B-800B-4EB2-A3C7-230D9201245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46" name="Title 1">
            <a:extLst>
              <a:ext uri="{FF2B5EF4-FFF2-40B4-BE49-F238E27FC236}">
                <a16:creationId xmlns:a16="http://schemas.microsoft.com/office/drawing/2014/main" id="{8A510EA7-EA4D-43B9-B718-BA4CC8CF514E}"/>
              </a:ext>
            </a:extLst>
          </p:cNvPr>
          <p:cNvSpPr txBox="1">
            <a:spLocks/>
          </p:cNvSpPr>
          <p:nvPr/>
        </p:nvSpPr>
        <p:spPr bwMode="gray">
          <a:xfrm>
            <a:off x="474993" y="360458"/>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7-28 Days Old, High-Risk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2041416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4993" y="1329938"/>
            <a:ext cx="2743200" cy="913982"/>
            <a:chOff x="4137003" y="1454324"/>
            <a:chExt cx="3642503" cy="489203"/>
          </a:xfrm>
        </p:grpSpPr>
        <p:sp>
          <p:nvSpPr>
            <p:cNvPr id="11" name="Rectangle 10">
              <a:extLst>
                <a:ext uri="{FF2B5EF4-FFF2-40B4-BE49-F238E27FC236}">
                  <a16:creationId xmlns:a16="http://schemas.microsoft.com/office/drawing/2014/main" id="{D16DD992-3020-481A-89A5-70797C986525}"/>
                </a:ext>
              </a:extLst>
            </p:cNvPr>
            <p:cNvSpPr/>
            <p:nvPr/>
          </p:nvSpPr>
          <p:spPr>
            <a:xfrm>
              <a:off x="4137003" y="1454324"/>
              <a:ext cx="3642503" cy="489203"/>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within the last 48 </a:t>
              </a:r>
              <a:r>
                <a:rPr lang="en-US" sz="1100" dirty="0" err="1">
                  <a:solidFill>
                    <a:sysClr val="windowText" lastClr="000000"/>
                  </a:solidFill>
                  <a:latin typeface="Calibri" panose="020F0502020204030204" pitchFamily="34" charset="0"/>
                  <a:cs typeface="Calibri" panose="020F0502020204030204" pitchFamily="34" charset="0"/>
                </a:rPr>
                <a:t>hrs</a:t>
              </a: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42502" cy="14682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90931" y="1329518"/>
            <a:ext cx="2468880" cy="3107016"/>
            <a:chOff x="4570495" y="1946245"/>
            <a:chExt cx="3097044" cy="4924791"/>
          </a:xfrm>
        </p:grpSpPr>
        <p:sp>
          <p:nvSpPr>
            <p:cNvPr id="14" name="Rectangle 13">
              <a:extLst>
                <a:ext uri="{FF2B5EF4-FFF2-40B4-BE49-F238E27FC236}">
                  <a16:creationId xmlns:a16="http://schemas.microsoft.com/office/drawing/2014/main" id="{49C843C5-C192-4904-A44C-33EC13CA7947}"/>
                </a:ext>
              </a:extLst>
            </p:cNvPr>
            <p:cNvSpPr/>
            <p:nvPr/>
          </p:nvSpPr>
          <p:spPr>
            <a:xfrm>
              <a:off x="4570495" y="1946245"/>
              <a:ext cx="3097044" cy="4924791"/>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22-60 days, well-appearing, temp ≥ 38C, with clinical bronchiolitis (with or without a positive test for RSV) AND one of the following:</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p:txBody>
        </p:sp>
        <p:sp>
          <p:nvSpPr>
            <p:cNvPr id="15" name="Rectangle 14">
              <a:extLst>
                <a:ext uri="{FF2B5EF4-FFF2-40B4-BE49-F238E27FC236}">
                  <a16:creationId xmlns:a16="http://schemas.microsoft.com/office/drawing/2014/main" id="{A8FF4DF0-213D-4ACE-A088-E77513CE29A8}"/>
                </a:ext>
              </a:extLst>
            </p:cNvPr>
            <p:cNvSpPr/>
            <p:nvPr/>
          </p:nvSpPr>
          <p:spPr>
            <a:xfrm>
              <a:off x="4570495" y="1946247"/>
              <a:ext cx="3097044" cy="434812"/>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50" y="1329943"/>
            <a:ext cx="2468880" cy="3566161"/>
            <a:chOff x="4137004" y="1454324"/>
            <a:chExt cx="3629804" cy="189565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4"/>
              <a:ext cx="3629803" cy="189565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defRPr/>
              </a:pPr>
              <a:r>
                <a:rPr lang="en-US" sz="1100" dirty="0">
                  <a:solidFill>
                    <a:sysClr val="windowText" lastClr="000000"/>
                  </a:solidFill>
                  <a:latin typeface="Calibri" panose="020F0502020204030204" pitchFamily="34" charset="0"/>
                  <a:cs typeface="Calibri" panose="020F0502020204030204" pitchFamily="34" charset="0"/>
                </a:rPr>
                <a:t>* The AAP guidance </a:t>
              </a:r>
              <a:r>
                <a:rPr lang="en-US" sz="1100" b="1" dirty="0">
                  <a:solidFill>
                    <a:sysClr val="windowText" lastClr="000000"/>
                  </a:solidFill>
                  <a:latin typeface="Calibri" panose="020F0502020204030204" pitchFamily="34" charset="0"/>
                  <a:cs typeface="Calibri" panose="020F0502020204030204" pitchFamily="34" charset="0"/>
                </a:rPr>
                <a:t>excludes </a:t>
              </a:r>
              <a:r>
                <a:rPr lang="en-US" sz="1100" dirty="0">
                  <a:solidFill>
                    <a:sysClr val="windowText" lastClr="000000"/>
                  </a:solidFill>
                  <a:latin typeface="Calibri" panose="020F0502020204030204" pitchFamily="34" charset="0"/>
                  <a:cs typeface="Calibri" panose="020F0502020204030204" pitchFamily="34" charset="0"/>
                </a:rPr>
                <a:t>RSV patients.</a:t>
              </a:r>
            </a:p>
            <a:p>
              <a:pPr>
                <a:defRPr/>
              </a:pPr>
              <a:r>
                <a:rPr lang="en-US" sz="1100" dirty="0">
                  <a:solidFill>
                    <a:schemeClr val="tx1"/>
                  </a:solidFill>
                  <a:latin typeface="Calibri" panose="020F0502020204030204" pitchFamily="34" charset="0"/>
                  <a:cs typeface="Calibri" panose="020F0502020204030204" pitchFamily="34" charset="0"/>
                </a:rPr>
                <a:t>†</a:t>
              </a:r>
              <a:r>
                <a:rPr lang="en-US" sz="1100" b="1"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Bacterial meningitis is extremely rare in RSV + clinical bronchiolitis</a:t>
              </a:r>
            </a:p>
            <a:p>
              <a:pPr lvl="0">
                <a:defRPr/>
              </a:pPr>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If observed at home, then recommend prescription for oral antimicrobial to treat presumed UTI.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3" cy="14582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90930" y="4655765"/>
            <a:ext cx="2468881" cy="1745432"/>
            <a:chOff x="4180096" y="1446604"/>
            <a:chExt cx="3629804" cy="594865"/>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80096" y="1449355"/>
              <a:ext cx="3629803" cy="59211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complete blood count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80097" y="1446604"/>
              <a:ext cx="3629803" cy="93492"/>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2" name="TextBox 21">
            <a:extLst>
              <a:ext uri="{FF2B5EF4-FFF2-40B4-BE49-F238E27FC236}">
                <a16:creationId xmlns:a16="http://schemas.microsoft.com/office/drawing/2014/main" id="{3677CA9B-599E-4F6A-B8C8-FEC387557DCB}"/>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3" name="Title 1">
            <a:extLst>
              <a:ext uri="{FF2B5EF4-FFF2-40B4-BE49-F238E27FC236}">
                <a16:creationId xmlns:a16="http://schemas.microsoft.com/office/drawing/2014/main" id="{CE7DD65E-991E-4CDF-A83F-DA63F11E8CFF}"/>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High-Risk,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29" name="Rectangle 28">
            <a:extLst>
              <a:ext uri="{FF2B5EF4-FFF2-40B4-BE49-F238E27FC236}">
                <a16:creationId xmlns:a16="http://schemas.microsoft.com/office/drawing/2014/main" id="{68CD7597-F937-4E86-A522-6A3C39347980}"/>
              </a:ext>
            </a:extLst>
          </p:cNvPr>
          <p:cNvSpPr/>
          <p:nvPr/>
        </p:nvSpPr>
        <p:spPr>
          <a:xfrm>
            <a:off x="882151" y="2769896"/>
            <a:ext cx="1828800" cy="36576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dirty="0">
                <a:solidFill>
                  <a:sysClr val="windowText" lastClr="000000"/>
                </a:solidFill>
                <a:latin typeface="Calibri" panose="020F0502020204030204" pitchFamily="34" charset="0"/>
                <a:cs typeface="Calibri" panose="020F0502020204030204" pitchFamily="34" charset="0"/>
              </a:rPr>
              <a:t>Consult Pediatrics</a:t>
            </a:r>
          </a:p>
        </p:txBody>
      </p:sp>
      <p:sp>
        <p:nvSpPr>
          <p:cNvPr id="30" name="Arrow: Down 29">
            <a:extLst>
              <a:ext uri="{FF2B5EF4-FFF2-40B4-BE49-F238E27FC236}">
                <a16:creationId xmlns:a16="http://schemas.microsoft.com/office/drawing/2014/main" id="{507DB909-EC06-4C30-BB53-4FA090D00C0C}"/>
              </a:ext>
            </a:extLst>
          </p:cNvPr>
          <p:cNvSpPr/>
          <p:nvPr/>
        </p:nvSpPr>
        <p:spPr>
          <a:xfrm>
            <a:off x="1548911" y="2252901"/>
            <a:ext cx="503339" cy="51699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9553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C32F098D-73B8-412E-B0AC-EF044FE8705D}"/>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30" name="Title 1">
            <a:extLst>
              <a:ext uri="{FF2B5EF4-FFF2-40B4-BE49-F238E27FC236}">
                <a16:creationId xmlns:a16="http://schemas.microsoft.com/office/drawing/2014/main" id="{E75341BA-3D6A-43C0-9CCE-EC4BAC0EE59C}"/>
              </a:ext>
            </a:extLst>
          </p:cNvPr>
          <p:cNvSpPr txBox="1">
            <a:spLocks/>
          </p:cNvSpPr>
          <p:nvPr/>
        </p:nvSpPr>
        <p:spPr bwMode="gray">
          <a:xfrm>
            <a:off x="47499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High-Risk,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grpSp>
        <p:nvGrpSpPr>
          <p:cNvPr id="27" name="Group 26">
            <a:extLst>
              <a:ext uri="{FF2B5EF4-FFF2-40B4-BE49-F238E27FC236}">
                <a16:creationId xmlns:a16="http://schemas.microsoft.com/office/drawing/2014/main" id="{71515E87-B2FD-4048-B3D2-239EE28ACAE0}"/>
              </a:ext>
            </a:extLst>
          </p:cNvPr>
          <p:cNvGrpSpPr/>
          <p:nvPr/>
        </p:nvGrpSpPr>
        <p:grpSpPr>
          <a:xfrm>
            <a:off x="1690631" y="1883504"/>
            <a:ext cx="3691545" cy="3090993"/>
            <a:chOff x="3023164" y="1317577"/>
            <a:chExt cx="4922060" cy="4121324"/>
          </a:xfrm>
        </p:grpSpPr>
        <p:cxnSp>
          <p:nvCxnSpPr>
            <p:cNvPr id="31" name="Straight Arrow Connector 30">
              <a:extLst>
                <a:ext uri="{FF2B5EF4-FFF2-40B4-BE49-F238E27FC236}">
                  <a16:creationId xmlns:a16="http://schemas.microsoft.com/office/drawing/2014/main" id="{1031729C-E503-4717-B04E-DF066BED1F29}"/>
                </a:ext>
              </a:extLst>
            </p:cNvPr>
            <p:cNvCxnSpPr>
              <a:cxnSpLocks/>
              <a:stCxn id="47" idx="2"/>
              <a:endCxn id="45" idx="0"/>
            </p:cNvCxnSpPr>
            <p:nvPr/>
          </p:nvCxnSpPr>
          <p:spPr>
            <a:xfrm>
              <a:off x="6423714" y="1942563"/>
              <a:ext cx="11681" cy="7007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58F94DC0-E3B7-4A4D-AA5A-B0E35CEAF547}"/>
                </a:ext>
              </a:extLst>
            </p:cNvPr>
            <p:cNvGrpSpPr/>
            <p:nvPr/>
          </p:nvGrpSpPr>
          <p:grpSpPr>
            <a:xfrm>
              <a:off x="3023164" y="1317577"/>
              <a:ext cx="4922060" cy="4121324"/>
              <a:chOff x="2860201" y="1179078"/>
              <a:chExt cx="4922060" cy="4121324"/>
            </a:xfrm>
          </p:grpSpPr>
          <p:sp>
            <p:nvSpPr>
              <p:cNvPr id="34" name="TextBox 33">
                <a:extLst>
                  <a:ext uri="{FF2B5EF4-FFF2-40B4-BE49-F238E27FC236}">
                    <a16:creationId xmlns:a16="http://schemas.microsoft.com/office/drawing/2014/main" id="{F1BABFBD-14B8-4438-8267-D0F0F40B287B}"/>
                  </a:ext>
                </a:extLst>
              </p:cNvPr>
              <p:cNvSpPr txBox="1"/>
              <p:nvPr/>
            </p:nvSpPr>
            <p:spPr>
              <a:xfrm>
                <a:off x="6230261" y="3429857"/>
                <a:ext cx="447132"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a:solidFill>
                      <a:prstClr val="black"/>
                    </a:solidFill>
                    <a:latin typeface="+mj-lt"/>
                    <a:cs typeface="+mn-cs"/>
                  </a:rPr>
                  <a:t>NO</a:t>
                </a:r>
              </a:p>
            </p:txBody>
          </p:sp>
          <p:sp>
            <p:nvSpPr>
              <p:cNvPr id="35" name="Rectangle 34">
                <a:extLst>
                  <a:ext uri="{FF2B5EF4-FFF2-40B4-BE49-F238E27FC236}">
                    <a16:creationId xmlns:a16="http://schemas.microsoft.com/office/drawing/2014/main" id="{F0C6DD19-5F6A-43D5-9CBA-DB8A9A031825}"/>
                  </a:ext>
                </a:extLst>
              </p:cNvPr>
              <p:cNvSpPr/>
              <p:nvPr/>
            </p:nvSpPr>
            <p:spPr>
              <a:xfrm>
                <a:off x="2860201" y="3568356"/>
                <a:ext cx="1765376" cy="60730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900" dirty="0">
                  <a:solidFill>
                    <a:sysClr val="windowText" lastClr="000000"/>
                  </a:solidFill>
                  <a:latin typeface="+mj-lt"/>
                </a:endParaRPr>
              </a:p>
              <a:p>
                <a:pPr algn="ctr" defTabSz="685800" eaLnBrk="1" fontAlgn="auto" hangingPunct="1">
                  <a:spcBef>
                    <a:spcPts val="0"/>
                  </a:spcBef>
                  <a:spcAft>
                    <a:spcPts val="0"/>
                  </a:spcAft>
                  <a:defRPr/>
                </a:pPr>
                <a:r>
                  <a:rPr lang="en-US" sz="900" dirty="0">
                    <a:solidFill>
                      <a:sysClr val="windowText" lastClr="000000"/>
                    </a:solidFill>
                    <a:latin typeface="+mj-lt"/>
                  </a:rPr>
                  <a:t>Confirm urine sent by bladder </a:t>
                </a:r>
                <a:r>
                  <a:rPr lang="en-US" sz="900" dirty="0" err="1">
                    <a:solidFill>
                      <a:sysClr val="windowText" lastClr="000000"/>
                    </a:solidFill>
                    <a:latin typeface="+mj-lt"/>
                  </a:rPr>
                  <a:t>cath</a:t>
                </a:r>
                <a:endParaRPr lang="en-US" sz="900" dirty="0">
                  <a:solidFill>
                    <a:sysClr val="windowText" lastClr="000000"/>
                  </a:solidFill>
                  <a:latin typeface="+mj-lt"/>
                </a:endParaRPr>
              </a:p>
              <a:p>
                <a:pPr algn="ctr" defTabSz="685800" eaLnBrk="1" fontAlgn="auto" hangingPunct="1">
                  <a:spcBef>
                    <a:spcPts val="0"/>
                  </a:spcBef>
                  <a:spcAft>
                    <a:spcPts val="0"/>
                  </a:spcAft>
                  <a:defRPr/>
                </a:pPr>
                <a:endParaRPr lang="en-US" sz="900" dirty="0">
                  <a:solidFill>
                    <a:sysClr val="windowText" lastClr="000000"/>
                  </a:solidFill>
                  <a:latin typeface="+mj-lt"/>
                </a:endParaRPr>
              </a:p>
            </p:txBody>
          </p:sp>
          <p:sp>
            <p:nvSpPr>
              <p:cNvPr id="37" name="TextBox 36">
                <a:extLst>
                  <a:ext uri="{FF2B5EF4-FFF2-40B4-BE49-F238E27FC236}">
                    <a16:creationId xmlns:a16="http://schemas.microsoft.com/office/drawing/2014/main" id="{3525F164-4A72-40AF-AFA9-76AD012AAC11}"/>
                  </a:ext>
                </a:extLst>
              </p:cNvPr>
              <p:cNvSpPr txBox="1"/>
              <p:nvPr/>
            </p:nvSpPr>
            <p:spPr>
              <a:xfrm>
                <a:off x="4491096" y="2677553"/>
                <a:ext cx="496291"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dirty="0">
                    <a:solidFill>
                      <a:prstClr val="black"/>
                    </a:solidFill>
                    <a:latin typeface="+mj-lt"/>
                    <a:cs typeface="+mn-cs"/>
                  </a:rPr>
                  <a:t>YES</a:t>
                </a:r>
              </a:p>
            </p:txBody>
          </p:sp>
          <p:cxnSp>
            <p:nvCxnSpPr>
              <p:cNvPr id="39" name="Connector: Elbow 38">
                <a:extLst>
                  <a:ext uri="{FF2B5EF4-FFF2-40B4-BE49-F238E27FC236}">
                    <a16:creationId xmlns:a16="http://schemas.microsoft.com/office/drawing/2014/main" id="{F4422BF2-970B-43BB-973E-702B450DCCA3}"/>
                  </a:ext>
                </a:extLst>
              </p:cNvPr>
              <p:cNvCxnSpPr>
                <a:cxnSpLocks/>
                <a:stCxn id="45" idx="1"/>
                <a:endCxn id="35" idx="0"/>
              </p:cNvCxnSpPr>
              <p:nvPr/>
            </p:nvCxnSpPr>
            <p:spPr>
              <a:xfrm rot="10800000" flipV="1">
                <a:off x="3742890" y="2937778"/>
                <a:ext cx="1743303" cy="630577"/>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3665CDBC-EB37-4C5E-BF49-9155823FD543}"/>
                  </a:ext>
                </a:extLst>
              </p:cNvPr>
              <p:cNvGrpSpPr/>
              <p:nvPr/>
            </p:nvGrpSpPr>
            <p:grpSpPr>
              <a:xfrm>
                <a:off x="4739241" y="1179078"/>
                <a:ext cx="3043020" cy="4121324"/>
                <a:chOff x="4739241" y="1179078"/>
                <a:chExt cx="3043020" cy="4121324"/>
              </a:xfrm>
            </p:grpSpPr>
            <p:grpSp>
              <p:nvGrpSpPr>
                <p:cNvPr id="42" name="Group 41">
                  <a:extLst>
                    <a:ext uri="{FF2B5EF4-FFF2-40B4-BE49-F238E27FC236}">
                      <a16:creationId xmlns:a16="http://schemas.microsoft.com/office/drawing/2014/main" id="{2B4CCD67-F54C-4FB0-A189-62C565C0BED4}"/>
                    </a:ext>
                  </a:extLst>
                </p:cNvPr>
                <p:cNvGrpSpPr/>
                <p:nvPr/>
              </p:nvGrpSpPr>
              <p:grpSpPr>
                <a:xfrm>
                  <a:off x="4739241" y="1179078"/>
                  <a:ext cx="3043020" cy="4121324"/>
                  <a:chOff x="800350" y="1339845"/>
                  <a:chExt cx="5409807" cy="7326800"/>
                </a:xfrm>
              </p:grpSpPr>
              <p:sp>
                <p:nvSpPr>
                  <p:cNvPr id="47" name="Rectangle 46">
                    <a:extLst>
                      <a:ext uri="{FF2B5EF4-FFF2-40B4-BE49-F238E27FC236}">
                        <a16:creationId xmlns:a16="http://schemas.microsoft.com/office/drawing/2014/main" id="{46CF3ABB-EC54-41BD-BD12-439D24A22B46}"/>
                      </a:ext>
                    </a:extLst>
                  </p:cNvPr>
                  <p:cNvSpPr/>
                  <p:nvPr/>
                </p:nvSpPr>
                <p:spPr>
                  <a:xfrm>
                    <a:off x="800350" y="1339845"/>
                    <a:ext cx="5409807" cy="111108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900" dirty="0">
                      <a:solidFill>
                        <a:prstClr val="black"/>
                      </a:solidFill>
                      <a:latin typeface="+mj-lt"/>
                    </a:endParaRPr>
                  </a:p>
                  <a:p>
                    <a:pPr algn="ctr" defTabSz="685800" eaLnBrk="1" fontAlgn="auto" hangingPunct="1">
                      <a:spcBef>
                        <a:spcPts val="0"/>
                      </a:spcBef>
                      <a:spcAft>
                        <a:spcPts val="0"/>
                      </a:spcAft>
                      <a:defRPr/>
                    </a:pPr>
                    <a:r>
                      <a:rPr lang="en-US" sz="900" dirty="0">
                        <a:solidFill>
                          <a:prstClr val="black"/>
                        </a:solidFill>
                        <a:latin typeface="+mj-lt"/>
                      </a:rPr>
                      <a:t>Perform UA, UCx, CBC w/diff, and blood </a:t>
                    </a:r>
                    <a:r>
                      <a:rPr lang="en-US" sz="900" dirty="0" err="1">
                        <a:solidFill>
                          <a:prstClr val="black"/>
                        </a:solidFill>
                        <a:latin typeface="+mj-lt"/>
                      </a:rPr>
                      <a:t>Cx</a:t>
                    </a:r>
                    <a:endParaRPr lang="en-US" sz="900" dirty="0">
                      <a:solidFill>
                        <a:prstClr val="black"/>
                      </a:solidFill>
                      <a:latin typeface="+mj-lt"/>
                    </a:endParaRPr>
                  </a:p>
                  <a:p>
                    <a:pPr algn="ctr" defTabSz="685800" eaLnBrk="1" fontAlgn="auto" hangingPunct="1">
                      <a:spcBef>
                        <a:spcPts val="0"/>
                      </a:spcBef>
                      <a:spcAft>
                        <a:spcPts val="0"/>
                      </a:spcAft>
                      <a:defRPr/>
                    </a:pPr>
                    <a:endParaRPr lang="en-US" sz="900" dirty="0">
                      <a:solidFill>
                        <a:prstClr val="black"/>
                      </a:solidFill>
                      <a:latin typeface="+mj-lt"/>
                    </a:endParaRPr>
                  </a:p>
                </p:txBody>
              </p:sp>
              <p:sp>
                <p:nvSpPr>
                  <p:cNvPr id="48" name="Rectangle 47">
                    <a:extLst>
                      <a:ext uri="{FF2B5EF4-FFF2-40B4-BE49-F238E27FC236}">
                        <a16:creationId xmlns:a16="http://schemas.microsoft.com/office/drawing/2014/main" id="{1682DD05-7B4E-4336-B7FC-7735BE9D8B8C}"/>
                      </a:ext>
                    </a:extLst>
                  </p:cNvPr>
                  <p:cNvSpPr/>
                  <p:nvPr/>
                </p:nvSpPr>
                <p:spPr>
                  <a:xfrm>
                    <a:off x="1211007" y="7464707"/>
                    <a:ext cx="4630021" cy="120193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900" dirty="0">
                        <a:solidFill>
                          <a:sysClr val="windowText" lastClr="000000"/>
                        </a:solidFill>
                        <a:latin typeface="+mj-lt"/>
                      </a:rPr>
                      <a:t>LP, </a:t>
                    </a:r>
                    <a:r>
                      <a:rPr lang="en-US" sz="900" dirty="0" err="1">
                        <a:solidFill>
                          <a:sysClr val="windowText" lastClr="000000"/>
                        </a:solidFill>
                        <a:latin typeface="+mj-lt"/>
                      </a:rPr>
                      <a:t>Pabx</a:t>
                    </a:r>
                    <a:r>
                      <a:rPr lang="en-US" sz="900" dirty="0">
                        <a:solidFill>
                          <a:sysClr val="windowText" lastClr="000000"/>
                        </a:solidFill>
                        <a:latin typeface="+mj-lt"/>
                      </a:rPr>
                      <a:t> and disposition in discussion with Pediatrics</a:t>
                    </a:r>
                    <a:r>
                      <a:rPr lang="en-US" sz="900" b="1" dirty="0">
                        <a:latin typeface="+mj-lt"/>
                      </a:rPr>
                      <a:t> </a:t>
                    </a:r>
                    <a:r>
                      <a:rPr lang="en-US" sz="900" b="1" dirty="0">
                        <a:solidFill>
                          <a:schemeClr val="tx1"/>
                        </a:solidFill>
                        <a:latin typeface="+mj-lt"/>
                      </a:rPr>
                      <a:t>‡</a:t>
                    </a:r>
                  </a:p>
                </p:txBody>
              </p:sp>
            </p:grpSp>
            <p:sp>
              <p:nvSpPr>
                <p:cNvPr id="45" name="Diamond 44">
                  <a:extLst>
                    <a:ext uri="{FF2B5EF4-FFF2-40B4-BE49-F238E27FC236}">
                      <a16:creationId xmlns:a16="http://schemas.microsoft.com/office/drawing/2014/main" id="{61D6E94C-4900-4EED-A034-F87170F32347}"/>
                    </a:ext>
                  </a:extLst>
                </p:cNvPr>
                <p:cNvSpPr/>
                <p:nvPr/>
              </p:nvSpPr>
              <p:spPr>
                <a:xfrm>
                  <a:off x="5486192" y="2504767"/>
                  <a:ext cx="1572479" cy="86602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900">
                      <a:solidFill>
                        <a:prstClr val="black"/>
                      </a:solidFill>
                      <a:latin typeface="+mj-lt"/>
                    </a:rPr>
                    <a:t>UA+ </a:t>
                  </a:r>
                </a:p>
              </p:txBody>
            </p:sp>
            <p:cxnSp>
              <p:nvCxnSpPr>
                <p:cNvPr id="46" name="Straight Arrow Connector 45">
                  <a:extLst>
                    <a:ext uri="{FF2B5EF4-FFF2-40B4-BE49-F238E27FC236}">
                      <a16:creationId xmlns:a16="http://schemas.microsoft.com/office/drawing/2014/main" id="{D719BE47-3705-4F91-8257-3066B1F37E8F}"/>
                    </a:ext>
                  </a:extLst>
                </p:cNvPr>
                <p:cNvCxnSpPr>
                  <a:cxnSpLocks/>
                  <a:stCxn id="45" idx="2"/>
                  <a:endCxn id="48" idx="0"/>
                </p:cNvCxnSpPr>
                <p:nvPr/>
              </p:nvCxnSpPr>
              <p:spPr>
                <a:xfrm flipH="1">
                  <a:off x="6272431" y="3370790"/>
                  <a:ext cx="1" cy="125352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cxnSp>
        <p:nvCxnSpPr>
          <p:cNvPr id="49" name="Straight Arrow Connector 48">
            <a:extLst>
              <a:ext uri="{FF2B5EF4-FFF2-40B4-BE49-F238E27FC236}">
                <a16:creationId xmlns:a16="http://schemas.microsoft.com/office/drawing/2014/main" id="{B822142D-7F15-4B73-BE93-35F8791F8723}"/>
              </a:ext>
            </a:extLst>
          </p:cNvPr>
          <p:cNvCxnSpPr>
            <a:cxnSpLocks/>
            <a:stCxn id="35" idx="3"/>
          </p:cNvCxnSpPr>
          <p:nvPr/>
        </p:nvCxnSpPr>
        <p:spPr>
          <a:xfrm>
            <a:off x="3014663" y="3903201"/>
            <a:ext cx="1226196"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D7ED9E5-B229-4830-BEFA-6F1A1D4F4C0B}"/>
              </a:ext>
            </a:extLst>
          </p:cNvPr>
          <p:cNvSpPr/>
          <p:nvPr/>
        </p:nvSpPr>
        <p:spPr>
          <a:xfrm>
            <a:off x="6042996" y="1883504"/>
            <a:ext cx="2724149" cy="1744002"/>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 </a:t>
            </a:r>
            <a:r>
              <a:rPr lang="en-US" sz="900" dirty="0">
                <a:solidFill>
                  <a:sysClr val="windowText" lastClr="000000"/>
                </a:solidFill>
              </a:rPr>
              <a:t>If observed at home, then recommend oral antimicrobials to treat presumed UTI if UA positive. Clinicians may manage infants at home if ALL following criteria are met: </a:t>
            </a:r>
            <a:r>
              <a:rPr lang="en-US" sz="900" b="1" dirty="0">
                <a:solidFill>
                  <a:sysClr val="windowText" lastClr="000000"/>
                </a:solidFill>
              </a:rPr>
              <a:t>1) Verbal teaching and written instructions </a:t>
            </a:r>
            <a:r>
              <a:rPr lang="en-US" sz="900" dirty="0">
                <a:solidFill>
                  <a:sysClr val="windowText" lastClr="000000"/>
                </a:solidFill>
              </a:rPr>
              <a:t>have been provided for monitoring throughout the period at home  </a:t>
            </a:r>
            <a:r>
              <a:rPr lang="en-US" sz="900" b="1" dirty="0">
                <a:solidFill>
                  <a:sysClr val="windowText" lastClr="000000"/>
                </a:solidFill>
              </a:rPr>
              <a:t>2)</a:t>
            </a:r>
            <a:r>
              <a:rPr lang="en-US" sz="900" dirty="0">
                <a:solidFill>
                  <a:sysClr val="windowText" lastClr="000000"/>
                </a:solidFill>
              </a:rPr>
              <a:t> Follow-up plans</a:t>
            </a:r>
            <a:r>
              <a:rPr lang="en-US" sz="900" b="1" dirty="0">
                <a:solidFill>
                  <a:sysClr val="windowText" lastClr="000000"/>
                </a:solidFill>
              </a:rPr>
              <a:t> </a:t>
            </a:r>
            <a:r>
              <a:rPr lang="en-US" sz="900" dirty="0">
                <a:solidFill>
                  <a:sysClr val="windowText" lastClr="000000"/>
                </a:solidFill>
              </a:rPr>
              <a:t>for </a:t>
            </a:r>
            <a:r>
              <a:rPr lang="en-US" sz="900" b="1" dirty="0">
                <a:solidFill>
                  <a:sysClr val="windowText" lastClr="000000"/>
                </a:solidFill>
              </a:rPr>
              <a:t>re-evaluation</a:t>
            </a:r>
            <a:r>
              <a:rPr lang="en-US" sz="900" dirty="0">
                <a:solidFill>
                  <a:sysClr val="windowText" lastClr="000000"/>
                </a:solidFill>
              </a:rPr>
              <a:t> have been developed and are in place </a:t>
            </a:r>
            <a:r>
              <a:rPr lang="en-US" sz="900" b="1" dirty="0">
                <a:solidFill>
                  <a:sysClr val="windowText" lastClr="000000"/>
                </a:solidFill>
              </a:rPr>
              <a:t>3)</a:t>
            </a:r>
            <a:r>
              <a:rPr lang="en-US" sz="900" dirty="0">
                <a:solidFill>
                  <a:sysClr val="windowText" lastClr="000000"/>
                </a:solidFill>
              </a:rPr>
              <a:t> </a:t>
            </a:r>
            <a:r>
              <a:rPr lang="en-US" sz="900" b="1" dirty="0">
                <a:solidFill>
                  <a:sysClr val="windowText" lastClr="000000"/>
                </a:solidFill>
              </a:rPr>
              <a:t>Plans have been developed and are in place in case of change in clinical status</a:t>
            </a:r>
            <a:r>
              <a:rPr lang="en-US" sz="900" dirty="0">
                <a:solidFill>
                  <a:sysClr val="windowText" lastClr="000000"/>
                </a:solidFill>
              </a:rPr>
              <a:t>, including means of communication between family and providers and access to emergency medical care.</a:t>
            </a:r>
          </a:p>
        </p:txBody>
      </p:sp>
    </p:spTree>
    <p:extLst>
      <p:ext uri="{BB962C8B-B14F-4D97-AF65-F5344CB8AC3E}">
        <p14:creationId xmlns:p14="http://schemas.microsoft.com/office/powerpoint/2010/main" val="1893211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3095" y="1325377"/>
            <a:ext cx="2743200" cy="3559890"/>
            <a:chOff x="4137000" y="1454327"/>
            <a:chExt cx="3629807" cy="1918602"/>
          </a:xfrm>
        </p:grpSpPr>
        <p:sp>
          <p:nvSpPr>
            <p:cNvPr id="11" name="Rectangle 10">
              <a:extLst>
                <a:ext uri="{FF2B5EF4-FFF2-40B4-BE49-F238E27FC236}">
                  <a16:creationId xmlns:a16="http://schemas.microsoft.com/office/drawing/2014/main" id="{D16DD992-3020-481A-89A5-70797C986525}"/>
                </a:ext>
              </a:extLst>
            </p:cNvPr>
            <p:cNvSpPr/>
            <p:nvPr/>
          </p:nvSpPr>
          <p:spPr>
            <a:xfrm>
              <a:off x="4137000" y="1492754"/>
              <a:ext cx="3629803" cy="1880175"/>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within the last 48 </a:t>
              </a:r>
              <a:r>
                <a:rPr lang="en-US" sz="1100" dirty="0" err="1">
                  <a:solidFill>
                    <a:sysClr val="windowText" lastClr="000000"/>
                  </a:solidFill>
                  <a:latin typeface="Calibri" panose="020F0502020204030204" pitchFamily="34" charset="0"/>
                  <a:cs typeface="Calibri" panose="020F0502020204030204" pitchFamily="34" charset="0"/>
                </a:rPr>
                <a:t>hrs</a:t>
              </a: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4784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8310" y="1325377"/>
            <a:ext cx="2468880" cy="910054"/>
            <a:chOff x="5092117" y="1946246"/>
            <a:chExt cx="2575421" cy="1236598"/>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123659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22-60 days, well-appearing, temp ≥ 38C, with clinical bronchiolitis (with or without a positive test for RSV)</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946246"/>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49" y="1313423"/>
            <a:ext cx="2468880" cy="3571845"/>
            <a:chOff x="4137004" y="1447015"/>
            <a:chExt cx="3629804" cy="99765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47015"/>
              <a:ext cx="3629803" cy="99765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825"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 The AAP guidance excludes RSV patients.</a:t>
              </a:r>
            </a:p>
            <a:p>
              <a:pPr lvl="0">
                <a:defRPr/>
              </a:pPr>
              <a:r>
                <a:rPr lang="en-US" sz="1100" dirty="0">
                  <a:solidFill>
                    <a:sysClr val="windowText" lastClr="000000"/>
                  </a:solidFill>
                  <a:latin typeface="Calibri" panose="020F0502020204030204" pitchFamily="34" charset="0"/>
                  <a:cs typeface="Calibri" panose="020F0502020204030204" pitchFamily="34" charset="0"/>
                </a:rPr>
                <a:t>† Bacterial meningitis is extremely rare in RSV + clinical bronchiolitis</a:t>
              </a:r>
            </a:p>
            <a:p>
              <a:pPr lvl="0">
                <a:defRPr/>
              </a:pPr>
              <a:r>
                <a:rPr lang="en-US" sz="1100" dirty="0">
                  <a:solidFill>
                    <a:sysClr val="windowText" lastClr="000000"/>
                  </a:solidFill>
                  <a:latin typeface="Calibri" panose="020F0502020204030204" pitchFamily="34" charset="0"/>
                  <a:cs typeface="Calibri" panose="020F0502020204030204" pitchFamily="34" charset="0"/>
                </a:rPr>
                <a:t>‡ If observed at home, then recommend prescription for oral antimicrobial to treat presumed UTI.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47015"/>
              <a:ext cx="3629803" cy="7662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8310" y="2504389"/>
            <a:ext cx="2468880" cy="2115576"/>
            <a:chOff x="4137002" y="1454327"/>
            <a:chExt cx="3629805" cy="968937"/>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2" y="1491546"/>
              <a:ext cx="3629804" cy="931718"/>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complete blood count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4327"/>
              <a:ext cx="3629803" cy="125639"/>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3" name="TextBox 22">
            <a:extLst>
              <a:ext uri="{FF2B5EF4-FFF2-40B4-BE49-F238E27FC236}">
                <a16:creationId xmlns:a16="http://schemas.microsoft.com/office/drawing/2014/main" id="{A582B58A-17BA-4CDB-BDB4-6A70744DDA7A}"/>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5" name="Title 1">
            <a:extLst>
              <a:ext uri="{FF2B5EF4-FFF2-40B4-BE49-F238E27FC236}">
                <a16:creationId xmlns:a16="http://schemas.microsoft.com/office/drawing/2014/main" id="{3E48011F-500A-4174-8BCC-D0A19DE5030E}"/>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Low-Risk,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bronchiolitis</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973186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110C9BB-3AC4-4C0C-920B-1B30D1CA9D39}"/>
              </a:ext>
            </a:extLst>
          </p:cNvPr>
          <p:cNvGrpSpPr/>
          <p:nvPr/>
        </p:nvGrpSpPr>
        <p:grpSpPr>
          <a:xfrm>
            <a:off x="889102" y="1601474"/>
            <a:ext cx="5229787" cy="3968305"/>
            <a:chOff x="2205197" y="614260"/>
            <a:chExt cx="6973049" cy="5291073"/>
          </a:xfrm>
        </p:grpSpPr>
        <p:cxnSp>
          <p:nvCxnSpPr>
            <p:cNvPr id="28" name="Straight Arrow Connector 27">
              <a:extLst>
                <a:ext uri="{FF2B5EF4-FFF2-40B4-BE49-F238E27FC236}">
                  <a16:creationId xmlns:a16="http://schemas.microsoft.com/office/drawing/2014/main" id="{182E1749-49F0-4761-B6F2-04783389ADC3}"/>
                </a:ext>
              </a:extLst>
            </p:cNvPr>
            <p:cNvCxnSpPr>
              <a:cxnSpLocks/>
              <a:stCxn id="23" idx="2"/>
              <a:endCxn id="29" idx="0"/>
            </p:cNvCxnSpPr>
            <p:nvPr/>
          </p:nvCxnSpPr>
          <p:spPr>
            <a:xfrm>
              <a:off x="7105886" y="2883908"/>
              <a:ext cx="6687" cy="150208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90C9071-29FE-4465-AF6B-99E980BA52FF}"/>
                </a:ext>
              </a:extLst>
            </p:cNvPr>
            <p:cNvGrpSpPr/>
            <p:nvPr/>
          </p:nvGrpSpPr>
          <p:grpSpPr>
            <a:xfrm>
              <a:off x="2205197" y="614260"/>
              <a:ext cx="6973049" cy="5291073"/>
              <a:chOff x="2205197" y="614260"/>
              <a:chExt cx="6973049" cy="5291073"/>
            </a:xfrm>
          </p:grpSpPr>
          <p:sp>
            <p:nvSpPr>
              <p:cNvPr id="21" name="TextBox 20">
                <a:extLst>
                  <a:ext uri="{FF2B5EF4-FFF2-40B4-BE49-F238E27FC236}">
                    <a16:creationId xmlns:a16="http://schemas.microsoft.com/office/drawing/2014/main" id="{DB81D492-7C0D-4A0C-999C-36E8D9DE504A}"/>
                  </a:ext>
                </a:extLst>
              </p:cNvPr>
              <p:cNvSpPr txBox="1"/>
              <p:nvPr/>
            </p:nvSpPr>
            <p:spPr>
              <a:xfrm>
                <a:off x="7250142" y="3153717"/>
                <a:ext cx="498427" cy="369332"/>
              </a:xfrm>
              <a:prstGeom prst="rect">
                <a:avLst/>
              </a:prstGeom>
              <a:noFill/>
            </p:spPr>
            <p:txBody>
              <a:bodyPr wrap="none" rtlCol="0">
                <a:spAutoFit/>
              </a:bodyPr>
              <a:lstStyle/>
              <a:p>
                <a:r>
                  <a:rPr lang="en-US" sz="1200"/>
                  <a:t>NO</a:t>
                </a:r>
              </a:p>
            </p:txBody>
          </p:sp>
          <p:cxnSp>
            <p:nvCxnSpPr>
              <p:cNvPr id="27" name="Straight Arrow Connector 26">
                <a:extLst>
                  <a:ext uri="{FF2B5EF4-FFF2-40B4-BE49-F238E27FC236}">
                    <a16:creationId xmlns:a16="http://schemas.microsoft.com/office/drawing/2014/main" id="{62715D02-BF5D-4954-9511-0C74AEC78385}"/>
                  </a:ext>
                </a:extLst>
              </p:cNvPr>
              <p:cNvCxnSpPr>
                <a:cxnSpLocks/>
                <a:stCxn id="16" idx="2"/>
                <a:endCxn id="23" idx="0"/>
              </p:cNvCxnSpPr>
              <p:nvPr/>
            </p:nvCxnSpPr>
            <p:spPr>
              <a:xfrm>
                <a:off x="7105886" y="1196115"/>
                <a:ext cx="0" cy="87387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AE7080B-6787-4CAE-939C-79DB0756D376}"/>
                  </a:ext>
                </a:extLst>
              </p:cNvPr>
              <p:cNvGrpSpPr/>
              <p:nvPr/>
            </p:nvGrpSpPr>
            <p:grpSpPr>
              <a:xfrm>
                <a:off x="2205197" y="614260"/>
                <a:ext cx="6973049" cy="5291073"/>
                <a:chOff x="2205197" y="614260"/>
                <a:chExt cx="6973049" cy="5291073"/>
              </a:xfrm>
            </p:grpSpPr>
            <p:grpSp>
              <p:nvGrpSpPr>
                <p:cNvPr id="6" name="Group 5">
                  <a:extLst>
                    <a:ext uri="{FF2B5EF4-FFF2-40B4-BE49-F238E27FC236}">
                      <a16:creationId xmlns:a16="http://schemas.microsoft.com/office/drawing/2014/main" id="{ECD19815-3ABA-4EF8-9C46-DB3094FC9BD4}"/>
                    </a:ext>
                  </a:extLst>
                </p:cNvPr>
                <p:cNvGrpSpPr/>
                <p:nvPr/>
              </p:nvGrpSpPr>
              <p:grpSpPr>
                <a:xfrm>
                  <a:off x="5753348" y="614260"/>
                  <a:ext cx="1977298" cy="1775402"/>
                  <a:chOff x="1247250" y="1092018"/>
                  <a:chExt cx="3515197" cy="3156272"/>
                </a:xfrm>
              </p:grpSpPr>
              <p:sp>
                <p:nvSpPr>
                  <p:cNvPr id="16" name="Rectangle 15">
                    <a:extLst>
                      <a:ext uri="{FF2B5EF4-FFF2-40B4-BE49-F238E27FC236}">
                        <a16:creationId xmlns:a16="http://schemas.microsoft.com/office/drawing/2014/main" id="{14C815F4-3E4B-4657-8DD6-3BDF96293D0A}"/>
                      </a:ext>
                    </a:extLst>
                  </p:cNvPr>
                  <p:cNvSpPr/>
                  <p:nvPr/>
                </p:nvSpPr>
                <p:spPr>
                  <a:xfrm>
                    <a:off x="2541076" y="1092018"/>
                    <a:ext cx="2221371" cy="1034409"/>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r>
                      <a:rPr lang="en-US" sz="1200" dirty="0">
                        <a:solidFill>
                          <a:schemeClr val="tx1"/>
                        </a:solidFill>
                      </a:rPr>
                      <a:t>UA &amp; UCx</a:t>
                    </a:r>
                  </a:p>
                  <a:p>
                    <a:pPr algn="ctr"/>
                    <a:endParaRPr lang="en-US" sz="1200" dirty="0">
                      <a:solidFill>
                        <a:schemeClr val="tx1"/>
                      </a:solidFill>
                    </a:endParaRPr>
                  </a:p>
                </p:txBody>
              </p:sp>
              <p:sp>
                <p:nvSpPr>
                  <p:cNvPr id="2" name="TextBox 1">
                    <a:extLst>
                      <a:ext uri="{FF2B5EF4-FFF2-40B4-BE49-F238E27FC236}">
                        <a16:creationId xmlns:a16="http://schemas.microsoft.com/office/drawing/2014/main" id="{B3A294D1-9205-488A-A9D6-4186444C3EF3}"/>
                      </a:ext>
                    </a:extLst>
                  </p:cNvPr>
                  <p:cNvSpPr txBox="1"/>
                  <p:nvPr/>
                </p:nvSpPr>
                <p:spPr>
                  <a:xfrm>
                    <a:off x="1247250" y="3591700"/>
                    <a:ext cx="1041882" cy="656590"/>
                  </a:xfrm>
                  <a:prstGeom prst="rect">
                    <a:avLst/>
                  </a:prstGeom>
                  <a:noFill/>
                </p:spPr>
                <p:txBody>
                  <a:bodyPr wrap="none" rtlCol="0">
                    <a:spAutoFit/>
                  </a:bodyPr>
                  <a:lstStyle/>
                  <a:p>
                    <a:r>
                      <a:rPr lang="en-US" sz="1200"/>
                      <a:t>YES</a:t>
                    </a:r>
                  </a:p>
                </p:txBody>
              </p:sp>
            </p:grpSp>
            <p:sp>
              <p:nvSpPr>
                <p:cNvPr id="23" name="Diamond 22">
                  <a:extLst>
                    <a:ext uri="{FF2B5EF4-FFF2-40B4-BE49-F238E27FC236}">
                      <a16:creationId xmlns:a16="http://schemas.microsoft.com/office/drawing/2014/main" id="{120AEB69-28C6-4AEC-8FD9-DDF1346B7BCD}"/>
                    </a:ext>
                  </a:extLst>
                </p:cNvPr>
                <p:cNvSpPr/>
                <p:nvPr/>
              </p:nvSpPr>
              <p:spPr>
                <a:xfrm>
                  <a:off x="6363404" y="2069994"/>
                  <a:ext cx="1484964" cy="8139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UA+ </a:t>
                  </a:r>
                </a:p>
              </p:txBody>
            </p:sp>
            <p:sp>
              <p:nvSpPr>
                <p:cNvPr id="29" name="Rectangle 28">
                  <a:extLst>
                    <a:ext uri="{FF2B5EF4-FFF2-40B4-BE49-F238E27FC236}">
                      <a16:creationId xmlns:a16="http://schemas.microsoft.com/office/drawing/2014/main" id="{B1766528-CAD5-420F-BBC4-41501CB071A1}"/>
                    </a:ext>
                  </a:extLst>
                </p:cNvPr>
                <p:cNvSpPr/>
                <p:nvPr/>
              </p:nvSpPr>
              <p:spPr>
                <a:xfrm>
                  <a:off x="5046899" y="4385996"/>
                  <a:ext cx="4131347" cy="151933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1200">
                      <a:solidFill>
                        <a:schemeClr val="tx1"/>
                      </a:solidFill>
                    </a:rPr>
                    <a:t>Need not perform CBC , blood culture or LP*</a:t>
                  </a:r>
                </a:p>
                <a:p>
                  <a:pPr marL="171450" indent="-171450">
                    <a:buAutoNum type="arabicPeriod"/>
                  </a:pPr>
                  <a:r>
                    <a:rPr lang="en-US" sz="1200">
                      <a:solidFill>
                        <a:schemeClr val="tx1"/>
                      </a:solidFill>
                    </a:rPr>
                    <a:t>Need not administer antimicrobials</a:t>
                  </a:r>
                </a:p>
                <a:p>
                  <a:pPr marL="171450" indent="-171450">
                    <a:buAutoNum type="arabicPeriod"/>
                  </a:pPr>
                  <a:r>
                    <a:rPr lang="en-US" sz="1200">
                      <a:solidFill>
                        <a:schemeClr val="tx1"/>
                      </a:solidFill>
                    </a:rPr>
                    <a:t>Unless concern for respiratory decompensation, observe closely at home</a:t>
                  </a:r>
                  <a:r>
                    <a:rPr lang="en-US" sz="1200" b="1">
                      <a:solidFill>
                        <a:schemeClr val="tx1"/>
                      </a:solidFill>
                    </a:rPr>
                    <a:t> † </a:t>
                  </a:r>
                </a:p>
                <a:p>
                  <a:pPr marL="171450" indent="-171450">
                    <a:buAutoNum type="arabicPeriod"/>
                  </a:pPr>
                  <a:r>
                    <a:rPr lang="en-US" sz="1200">
                      <a:solidFill>
                        <a:schemeClr val="tx1"/>
                      </a:solidFill>
                    </a:rPr>
                    <a:t>Follow-up within 24-36 </a:t>
                  </a:r>
                  <a:r>
                    <a:rPr lang="en-US" sz="1200" err="1">
                      <a:solidFill>
                        <a:schemeClr val="tx1"/>
                      </a:solidFill>
                    </a:rPr>
                    <a:t>hrs</a:t>
                  </a:r>
                  <a:r>
                    <a:rPr lang="en-US" sz="1200">
                      <a:solidFill>
                        <a:schemeClr val="tx1"/>
                      </a:solidFill>
                    </a:rPr>
                    <a:t> </a:t>
                  </a:r>
                </a:p>
              </p:txBody>
            </p:sp>
            <p:sp>
              <p:nvSpPr>
                <p:cNvPr id="31" name="Rectangle 30">
                  <a:extLst>
                    <a:ext uri="{FF2B5EF4-FFF2-40B4-BE49-F238E27FC236}">
                      <a16:creationId xmlns:a16="http://schemas.microsoft.com/office/drawing/2014/main" id="{3B16064F-1545-4E6A-8B74-275B3AAE9085}"/>
                    </a:ext>
                  </a:extLst>
                </p:cNvPr>
                <p:cNvSpPr/>
                <p:nvPr/>
              </p:nvSpPr>
              <p:spPr>
                <a:xfrm>
                  <a:off x="2205197" y="1316291"/>
                  <a:ext cx="3269701" cy="233082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1450" indent="-171450">
                    <a:buAutoNum type="arabicPeriod"/>
                  </a:pPr>
                  <a:r>
                    <a:rPr lang="en-US" sz="1200" dirty="0">
                      <a:solidFill>
                        <a:schemeClr val="tx1"/>
                      </a:solidFill>
                    </a:rPr>
                    <a:t>Confirm urine sent by bladder </a:t>
                  </a:r>
                  <a:r>
                    <a:rPr lang="en-US" sz="1200" dirty="0" err="1">
                      <a:solidFill>
                        <a:schemeClr val="tx1"/>
                      </a:solidFill>
                    </a:rPr>
                    <a:t>cath</a:t>
                  </a:r>
                  <a:r>
                    <a:rPr lang="en-US" sz="1200" dirty="0">
                      <a:solidFill>
                        <a:schemeClr val="tx1"/>
                      </a:solidFill>
                    </a:rPr>
                    <a:t> </a:t>
                  </a:r>
                </a:p>
                <a:p>
                  <a:pPr marL="171450" indent="-171450">
                    <a:buAutoNum type="arabicPeriod"/>
                  </a:pPr>
                  <a:r>
                    <a:rPr lang="en-US" sz="1200" dirty="0">
                      <a:solidFill>
                        <a:schemeClr val="tx1"/>
                      </a:solidFill>
                    </a:rPr>
                    <a:t>May obtain CBC and blood culture</a:t>
                  </a:r>
                </a:p>
                <a:p>
                  <a:pPr marL="171450" indent="-171450">
                    <a:buAutoNum type="arabicPeriod"/>
                  </a:pPr>
                  <a:r>
                    <a:rPr lang="en-US" sz="1200" dirty="0">
                      <a:solidFill>
                        <a:schemeClr val="tx1"/>
                      </a:solidFill>
                    </a:rPr>
                    <a:t>Need not perform LP </a:t>
                  </a:r>
                  <a:r>
                    <a:rPr lang="en-US" sz="1200" b="1" dirty="0">
                      <a:solidFill>
                        <a:schemeClr val="tx1"/>
                      </a:solidFill>
                    </a:rPr>
                    <a:t>† </a:t>
                  </a:r>
                </a:p>
                <a:p>
                  <a:pPr marL="171450" indent="-171450">
                    <a:buAutoNum type="arabicPeriod"/>
                  </a:pPr>
                  <a:r>
                    <a:rPr lang="en-US" sz="1200" dirty="0">
                      <a:solidFill>
                        <a:schemeClr val="tx1"/>
                      </a:solidFill>
                    </a:rPr>
                    <a:t>Administer oral antimicrobial</a:t>
                  </a:r>
                </a:p>
                <a:p>
                  <a:pPr marL="171450" indent="-171450">
                    <a:buAutoNum type="arabicPeriod"/>
                  </a:pPr>
                  <a:r>
                    <a:rPr lang="en-US" sz="1200" dirty="0">
                      <a:solidFill>
                        <a:schemeClr val="tx1"/>
                      </a:solidFill>
                    </a:rPr>
                    <a:t>Unless concern for respiratory decompensation, observe closely at home</a:t>
                  </a:r>
                  <a:r>
                    <a:rPr lang="en-US" sz="1200" b="1" dirty="0">
                      <a:solidFill>
                        <a:schemeClr val="tx1"/>
                      </a:solidFill>
                    </a:rPr>
                    <a:t> ‡ </a:t>
                  </a:r>
                </a:p>
                <a:p>
                  <a:pPr marL="171450" indent="-171450">
                    <a:buAutoNum type="arabicPeriod"/>
                  </a:pPr>
                  <a:r>
                    <a:rPr lang="en-US" sz="1200" dirty="0">
                      <a:solidFill>
                        <a:schemeClr val="tx1"/>
                      </a:solidFill>
                    </a:rPr>
                    <a:t>Follow-up in 12-24 </a:t>
                  </a:r>
                  <a:r>
                    <a:rPr lang="en-US" sz="1200" dirty="0" err="1">
                      <a:solidFill>
                        <a:schemeClr val="tx1"/>
                      </a:solidFill>
                    </a:rPr>
                    <a:t>hrs</a:t>
                  </a:r>
                  <a:endParaRPr lang="en-US" sz="1200" dirty="0">
                    <a:solidFill>
                      <a:schemeClr val="tx1"/>
                    </a:solidFill>
                  </a:endParaRPr>
                </a:p>
              </p:txBody>
            </p:sp>
          </p:grpSp>
        </p:grpSp>
        <p:cxnSp>
          <p:nvCxnSpPr>
            <p:cNvPr id="12" name="Straight Arrow Connector 11">
              <a:extLst>
                <a:ext uri="{FF2B5EF4-FFF2-40B4-BE49-F238E27FC236}">
                  <a16:creationId xmlns:a16="http://schemas.microsoft.com/office/drawing/2014/main" id="{2B2FF98F-DEBF-4F97-8668-D6848B943126}"/>
                </a:ext>
              </a:extLst>
            </p:cNvPr>
            <p:cNvCxnSpPr>
              <a:cxnSpLocks/>
              <a:stCxn id="23" idx="1"/>
              <a:endCxn id="31" idx="3"/>
            </p:cNvCxnSpPr>
            <p:nvPr/>
          </p:nvCxnSpPr>
          <p:spPr>
            <a:xfrm flipH="1">
              <a:off x="5474898" y="2476951"/>
              <a:ext cx="888506" cy="475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5A4FA89A-C4A5-4EA6-855E-9803D63ABDBB}"/>
              </a:ext>
            </a:extLst>
          </p:cNvPr>
          <p:cNvSpPr/>
          <p:nvPr/>
        </p:nvSpPr>
        <p:spPr>
          <a:xfrm>
            <a:off x="5832879" y="1280592"/>
            <a:ext cx="2543620" cy="30301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 </a:t>
            </a:r>
            <a:r>
              <a:rPr lang="en-US" sz="900" dirty="0">
                <a:solidFill>
                  <a:schemeClr val="tx1"/>
                </a:solidFill>
              </a:rPr>
              <a:t>The AAP guidance </a:t>
            </a:r>
            <a:r>
              <a:rPr lang="en-US" sz="900" b="1" dirty="0">
                <a:solidFill>
                  <a:schemeClr val="tx1"/>
                </a:solidFill>
              </a:rPr>
              <a:t>excludes</a:t>
            </a:r>
            <a:r>
              <a:rPr lang="en-US" sz="900" dirty="0">
                <a:solidFill>
                  <a:schemeClr val="tx1"/>
                </a:solidFill>
              </a:rPr>
              <a:t> RSV patients.</a:t>
            </a:r>
            <a:endParaRPr lang="en-US" sz="900" b="1" dirty="0">
              <a:solidFill>
                <a:schemeClr val="tx1"/>
              </a:solidFill>
            </a:endParaRPr>
          </a:p>
          <a:p>
            <a:r>
              <a:rPr lang="en-US" sz="900" b="1" dirty="0">
                <a:solidFill>
                  <a:schemeClr val="tx1"/>
                </a:solidFill>
              </a:rPr>
              <a:t>† </a:t>
            </a:r>
            <a:r>
              <a:rPr lang="en-US" sz="900" dirty="0">
                <a:solidFill>
                  <a:schemeClr val="tx1"/>
                </a:solidFill>
              </a:rPr>
              <a:t>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900" dirty="0" err="1">
                <a:solidFill>
                  <a:schemeClr val="tx1"/>
                </a:solidFill>
              </a:rPr>
              <a:t>hrs</a:t>
            </a:r>
            <a:r>
              <a:rPr lang="en-US" sz="900" dirty="0">
                <a:solidFill>
                  <a:schemeClr val="tx1"/>
                </a:solidFill>
              </a:rPr>
              <a:t> before to 48 </a:t>
            </a:r>
            <a:r>
              <a:rPr lang="en-US" sz="900" dirty="0" err="1">
                <a:solidFill>
                  <a:schemeClr val="tx1"/>
                </a:solidFill>
              </a:rPr>
              <a:t>hrs</a:t>
            </a:r>
            <a:r>
              <a:rPr lang="en-US" sz="900" dirty="0">
                <a:solidFill>
                  <a:schemeClr val="tx1"/>
                </a:solidFill>
              </a:rPr>
              <a:t> after delivery. If liver function tests were obtained, then an elevated ALT also indicates a higher risk of HSV. For further details of evaluation and management of HSV see AAP Redbook.</a:t>
            </a:r>
            <a:endParaRPr lang="en-US" sz="900" b="1" dirty="0">
              <a:solidFill>
                <a:schemeClr val="tx1"/>
              </a:solidFill>
            </a:endParaRPr>
          </a:p>
          <a:p>
            <a:r>
              <a:rPr lang="en-US" sz="900" b="1" dirty="0">
                <a:solidFill>
                  <a:schemeClr val="tx1"/>
                </a:solidFill>
              </a:rPr>
              <a:t>‡ </a:t>
            </a:r>
            <a:r>
              <a:rPr lang="en-US" sz="900" dirty="0">
                <a:solidFill>
                  <a:schemeClr val="tx1"/>
                </a:solidFill>
              </a:rPr>
              <a:t>Bacterial meningitis is rare in RSV + bronchiolitis</a:t>
            </a: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a:p>
            <a:r>
              <a:rPr lang="en-US" sz="900" dirty="0">
                <a:solidFill>
                  <a:schemeClr val="tx1"/>
                </a:solidFill>
              </a:rPr>
              <a:t>“</a:t>
            </a:r>
            <a:r>
              <a:rPr lang="en-US" sz="900" b="1" dirty="0">
                <a:solidFill>
                  <a:schemeClr val="tx1"/>
                </a:solidFill>
              </a:rPr>
              <a:t>Need Not</a:t>
            </a:r>
            <a:r>
              <a:rPr lang="en-US" sz="900" dirty="0">
                <a:solidFill>
                  <a:schemeClr val="tx1"/>
                </a:solidFill>
              </a:rPr>
              <a:t>” can be interpreted as ”Usually not indicated.” </a:t>
            </a:r>
          </a:p>
          <a:p>
            <a:endParaRPr lang="en-US" sz="900" dirty="0">
              <a:solidFill>
                <a:schemeClr val="tx1"/>
              </a:solidFill>
            </a:endParaRPr>
          </a:p>
        </p:txBody>
      </p:sp>
      <p:sp>
        <p:nvSpPr>
          <p:cNvPr id="24" name="TextBox 23">
            <a:extLst>
              <a:ext uri="{FF2B5EF4-FFF2-40B4-BE49-F238E27FC236}">
                <a16:creationId xmlns:a16="http://schemas.microsoft.com/office/drawing/2014/main" id="{20015CDF-2CD3-486F-97DA-C63DE6DF3A39}"/>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5" name="Title 1">
            <a:extLst>
              <a:ext uri="{FF2B5EF4-FFF2-40B4-BE49-F238E27FC236}">
                <a16:creationId xmlns:a16="http://schemas.microsoft.com/office/drawing/2014/main" id="{A2FC1791-AE92-468C-B111-D49F9C694ABD}"/>
              </a:ext>
            </a:extLst>
          </p:cNvPr>
          <p:cNvSpPr txBox="1">
            <a:spLocks/>
          </p:cNvSpPr>
          <p:nvPr/>
        </p:nvSpPr>
        <p:spPr bwMode="gray">
          <a:xfrm>
            <a:off x="469668" y="352010"/>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22-60 Days Old, Low-Risk, Well-Appearing Infant </a:t>
            </a:r>
          </a:p>
          <a:p>
            <a:r>
              <a:rPr lang="en-US" sz="2300" dirty="0">
                <a:solidFill>
                  <a:schemeClr val="tx1"/>
                </a:solidFill>
                <a:latin typeface="Microsoft Tai Le"/>
                <a:cs typeface="Microsoft Tai Le"/>
              </a:rPr>
              <a:t>with bronchiolitis</a:t>
            </a:r>
            <a:endParaRPr lang="en-US" sz="23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57719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668" y="352010"/>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Low-Risk,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505087" y="4221553"/>
            <a:ext cx="8226436" cy="70788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UA and culture only</a:t>
            </a:r>
          </a:p>
        </p:txBody>
      </p:sp>
      <p:sp>
        <p:nvSpPr>
          <p:cNvPr id="3" name="TextBox 2">
            <a:extLst>
              <a:ext uri="{FF2B5EF4-FFF2-40B4-BE49-F238E27FC236}">
                <a16:creationId xmlns:a16="http://schemas.microsoft.com/office/drawing/2014/main" id="{5F4A758E-AA94-4D4C-8744-EA1952159033}"/>
              </a:ext>
            </a:extLst>
          </p:cNvPr>
          <p:cNvSpPr txBox="1"/>
          <p:nvPr/>
        </p:nvSpPr>
        <p:spPr>
          <a:xfrm>
            <a:off x="475369" y="1323576"/>
            <a:ext cx="8226436" cy="2539157"/>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known bronchiolitis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clinical bronchiolitis from their algorithms because they are lower 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A review </a:t>
            </a:r>
            <a:r>
              <a:rPr lang="en-US" dirty="0">
                <a:solidFill>
                  <a:sysClr val="windowText" lastClr="000000"/>
                </a:solidFill>
                <a:latin typeface="Microsoft Tai Le" panose="020B0502040204020203" pitchFamily="34" charset="0"/>
                <a:cs typeface="Microsoft Tai Le" panose="020B0502040204020203" pitchFamily="34" charset="0"/>
              </a:rPr>
              <a:t>(Ralston et al) of 11 studies of febrile infants with clinical bronchiolitis found no cases of meningitis </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22-60 days who were well-appearing and RSV+: </a:t>
            </a:r>
          </a:p>
          <a:p>
            <a:pPr lvl="6"/>
            <a:r>
              <a:rPr lang="en-US" sz="1500"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0/119 had bacteremia without meningitis </a:t>
            </a:r>
          </a:p>
          <a:p>
            <a:r>
              <a:rPr lang="en-US" sz="1500" i="1" dirty="0">
                <a:solidFill>
                  <a:sysClr val="windowText" lastClr="000000"/>
                </a:solidFill>
                <a:cs typeface="Microsoft Tai Le" panose="020B0502040204020203" pitchFamily="34" charset="0"/>
              </a:rPr>
              <a:t>		 			0/119 had meningitis</a:t>
            </a:r>
          </a:p>
        </p:txBody>
      </p:sp>
      <p:sp>
        <p:nvSpPr>
          <p:cNvPr id="7" name="TextBox 6">
            <a:extLst>
              <a:ext uri="{FF2B5EF4-FFF2-40B4-BE49-F238E27FC236}">
                <a16:creationId xmlns:a16="http://schemas.microsoft.com/office/drawing/2014/main" id="{5620A5D8-F2F8-4095-8AED-CFC49B2FD7F5}"/>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988859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3095" y="1325377"/>
            <a:ext cx="2743200" cy="4094660"/>
            <a:chOff x="4137000" y="1454327"/>
            <a:chExt cx="3629807" cy="2206816"/>
          </a:xfrm>
        </p:grpSpPr>
        <p:sp>
          <p:nvSpPr>
            <p:cNvPr id="11" name="Rectangle 10">
              <a:extLst>
                <a:ext uri="{FF2B5EF4-FFF2-40B4-BE49-F238E27FC236}">
                  <a16:creationId xmlns:a16="http://schemas.microsoft.com/office/drawing/2014/main" id="{D16DD992-3020-481A-89A5-70797C986525}"/>
                </a:ext>
              </a:extLst>
            </p:cNvPr>
            <p:cNvSpPr/>
            <p:nvPr/>
          </p:nvSpPr>
          <p:spPr>
            <a:xfrm>
              <a:off x="4137000" y="1492754"/>
              <a:ext cx="3629803" cy="2168389"/>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Febrile infants with high suspicion of HSV infection (e.g., vesicles, seizures) or increased HSV risk</a:t>
              </a:r>
              <a:r>
                <a:rPr lang="en-US" sz="1100" dirty="0">
                  <a:solidFill>
                    <a:schemeClr val="tx1"/>
                  </a:solidFill>
                  <a:latin typeface="Calibri" panose="020F0502020204030204" pitchFamily="34" charset="0"/>
                  <a:cs typeface="Calibri" panose="020F0502020204030204" pitchFamily="34" charset="0"/>
                </a:rPr>
                <a:t> ¶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4784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473092" y="5587488"/>
            <a:ext cx="2743200" cy="731520"/>
            <a:chOff x="5092117" y="1946246"/>
            <a:chExt cx="2575421" cy="994003"/>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994003"/>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22-28 days of age, well-appearing, temp ≥ 38C</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946246"/>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49" y="1313424"/>
            <a:ext cx="2468880" cy="5303519"/>
            <a:chOff x="4137004" y="1447015"/>
            <a:chExt cx="3629804" cy="1481336"/>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47015"/>
              <a:ext cx="3629803" cy="148133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825"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before to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after delivery. If liver function tests were obtained, then an elevated ALT also indicates a higher risk of HSV. For further details of evaluation and management of HSV see AAP Redbook.</a:t>
              </a:r>
            </a:p>
            <a:p>
              <a:pPr>
                <a:defRPr/>
              </a:pPr>
              <a:r>
                <a:rPr lang="en-US" sz="1100" baseline="300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If observed at home, then recommend prescription for oral antimicrobial if treating presumed UTI.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47015"/>
              <a:ext cx="3629803" cy="7662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547311" y="1313424"/>
            <a:ext cx="2468880" cy="3190224"/>
            <a:chOff x="4137002" y="1454327"/>
            <a:chExt cx="3629805" cy="1461128"/>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2" y="1491546"/>
              <a:ext cx="3629804" cy="1423909"/>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Abnl</a:t>
              </a:r>
              <a:r>
                <a:rPr lang="en-US" sz="1100" dirty="0">
                  <a:solidFill>
                    <a:sysClr val="windowText" lastClr="000000"/>
                  </a:solidFill>
                  <a:latin typeface="Calibri" panose="020F0502020204030204" pitchFamily="34" charset="0"/>
                  <a:cs typeface="Calibri" panose="020F0502020204030204" pitchFamily="34" charset="0"/>
                </a:rPr>
                <a:t>: abnormal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GBS: Group B streptococcus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WBC: white blood cell</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4327"/>
              <a:ext cx="3629803" cy="125639"/>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3" name="TextBox 22">
            <a:extLst>
              <a:ext uri="{FF2B5EF4-FFF2-40B4-BE49-F238E27FC236}">
                <a16:creationId xmlns:a16="http://schemas.microsoft.com/office/drawing/2014/main" id="{A582B58A-17BA-4CDB-BDB4-6A70744DDA7A}"/>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5" name="Title 1">
            <a:extLst>
              <a:ext uri="{FF2B5EF4-FFF2-40B4-BE49-F238E27FC236}">
                <a16:creationId xmlns:a16="http://schemas.microsoft.com/office/drawing/2014/main" id="{3E48011F-500A-4174-8BCC-D0A19DE5030E}"/>
              </a:ext>
            </a:extLst>
          </p:cNvPr>
          <p:cNvSpPr>
            <a:spLocks noGrp="1"/>
          </p:cNvSpPr>
          <p:nvPr>
            <p:ph type="title"/>
          </p:nvPr>
        </p:nvSpPr>
        <p:spPr>
          <a:xfrm>
            <a:off x="474993" y="36045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22-28 Days Old, Low-Risk, Well-Appearing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grpSp>
        <p:nvGrpSpPr>
          <p:cNvPr id="26" name="Group 25">
            <a:extLst>
              <a:ext uri="{FF2B5EF4-FFF2-40B4-BE49-F238E27FC236}">
                <a16:creationId xmlns:a16="http://schemas.microsoft.com/office/drawing/2014/main" id="{52958E1B-CC8B-4B67-B7BE-F34FD5C408C6}"/>
              </a:ext>
            </a:extLst>
          </p:cNvPr>
          <p:cNvGrpSpPr/>
          <p:nvPr/>
        </p:nvGrpSpPr>
        <p:grpSpPr>
          <a:xfrm>
            <a:off x="3547310" y="4721614"/>
            <a:ext cx="2468880" cy="1920241"/>
            <a:chOff x="4137004" y="1447015"/>
            <a:chExt cx="3629804" cy="536347"/>
          </a:xfrm>
          <a:solidFill>
            <a:schemeClr val="bg2">
              <a:lumMod val="90000"/>
            </a:schemeClr>
          </a:solidFill>
        </p:grpSpPr>
        <p:sp>
          <p:nvSpPr>
            <p:cNvPr id="27" name="Rectangle 26">
              <a:extLst>
                <a:ext uri="{FF2B5EF4-FFF2-40B4-BE49-F238E27FC236}">
                  <a16:creationId xmlns:a16="http://schemas.microsoft.com/office/drawing/2014/main" id="{2C49FF48-ABAF-431B-9964-3505C4828EBB}"/>
                </a:ext>
              </a:extLst>
            </p:cNvPr>
            <p:cNvSpPr/>
            <p:nvPr/>
          </p:nvSpPr>
          <p:spPr>
            <a:xfrm>
              <a:off x="4137005" y="1447015"/>
              <a:ext cx="3629803" cy="53634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r>
                <a:rPr lang="en-US" sz="1100" dirty="0">
                  <a:solidFill>
                    <a:schemeClr val="tx1"/>
                  </a:solidFill>
                  <a:latin typeface="Calibri" panose="020F0502020204030204" pitchFamily="34" charset="0"/>
                  <a:cs typeface="Calibri" panose="020F0502020204030204" pitchFamily="34" charset="0"/>
                </a:rPr>
                <a:t>*  AAP includes CRP to assess risk. </a:t>
              </a:r>
            </a:p>
            <a:p>
              <a:r>
                <a:rPr lang="en-US" sz="1100" dirty="0">
                  <a:solidFill>
                    <a:schemeClr val="tx1"/>
                  </a:solidFill>
                  <a:latin typeface="Calibri" panose="020F0502020204030204" pitchFamily="34" charset="0"/>
                  <a:cs typeface="Calibri" panose="020F0502020204030204" pitchFamily="34" charset="0"/>
                </a:rPr>
                <a:t>†  AAP includes CRP &gt; 2.0 mg/dl or ANC &gt; 4000 to 5200 per mm as high risk. AAP does not include UA to assess risk</a:t>
              </a:r>
            </a:p>
            <a:p>
              <a:r>
                <a:rPr lang="en-US" sz="1100" dirty="0">
                  <a:solidFill>
                    <a:schemeClr val="tx1"/>
                  </a:solidFill>
                  <a:latin typeface="Calibri" panose="020F0502020204030204" pitchFamily="34" charset="0"/>
                  <a:cs typeface="Calibri" panose="020F0502020204030204" pitchFamily="34" charset="0"/>
                </a:rPr>
                <a:t>‡  Although uncommon, CSF pleocytosis may be due to HSV and prompt recognition and treatment is essential.</a:t>
              </a:r>
            </a:p>
            <a:p>
              <a:r>
                <a:rPr lang="en-US" sz="1100" dirty="0">
                  <a:solidFill>
                    <a:schemeClr val="tx1"/>
                  </a:solidFill>
                  <a:latin typeface="Calibri" panose="020F0502020204030204" pitchFamily="34" charset="0"/>
                  <a:cs typeface="Calibri" panose="020F0502020204030204" pitchFamily="34" charset="0"/>
                </a:rPr>
                <a:t>§  Recommendations of starting on </a:t>
              </a:r>
              <a:r>
                <a:rPr lang="en-US" sz="1100" dirty="0" err="1">
                  <a:solidFill>
                    <a:schemeClr val="tx1"/>
                  </a:solidFill>
                  <a:latin typeface="Calibri" panose="020F0502020204030204" pitchFamily="34" charset="0"/>
                  <a:cs typeface="Calibri" panose="020F0502020204030204" pitchFamily="34" charset="0"/>
                </a:rPr>
                <a:t>Pabx</a:t>
              </a:r>
              <a:endParaRPr lang="en-US" sz="1100"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7775215D-4B63-48A0-BEA1-B5C4EF53EFD6}"/>
                </a:ext>
              </a:extLst>
            </p:cNvPr>
            <p:cNvSpPr/>
            <p:nvPr/>
          </p:nvSpPr>
          <p:spPr>
            <a:xfrm>
              <a:off x="4137004" y="1447015"/>
              <a:ext cx="3629803" cy="76621"/>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Footnotes</a:t>
              </a:r>
            </a:p>
          </p:txBody>
        </p:sp>
      </p:grpSp>
    </p:spTree>
    <p:extLst>
      <p:ext uri="{BB962C8B-B14F-4D97-AF65-F5344CB8AC3E}">
        <p14:creationId xmlns:p14="http://schemas.microsoft.com/office/powerpoint/2010/main" val="3164493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60128" y="1260288"/>
            <a:ext cx="6792639" cy="4561598"/>
            <a:chOff x="-7336688" y="1757333"/>
            <a:chExt cx="16101069" cy="10812677"/>
          </a:xfrm>
        </p:grpSpPr>
        <p:sp>
          <p:nvSpPr>
            <p:cNvPr id="16" name="Rectangle 15">
              <a:extLst>
                <a:ext uri="{FF2B5EF4-FFF2-40B4-BE49-F238E27FC236}">
                  <a16:creationId xmlns:a16="http://schemas.microsoft.com/office/drawing/2014/main" id="{14C815F4-3E4B-4657-8DD6-3BDF96293D0A}"/>
                </a:ext>
              </a:extLst>
            </p:cNvPr>
            <p:cNvSpPr/>
            <p:nvPr/>
          </p:nvSpPr>
          <p:spPr>
            <a:xfrm>
              <a:off x="761356" y="1757333"/>
              <a:ext cx="5428620" cy="53039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algn="ctr"/>
              <a:r>
                <a:rPr lang="en-US" sz="900" dirty="0">
                  <a:solidFill>
                    <a:schemeClr val="tx1"/>
                  </a:solidFill>
                </a:rPr>
                <a:t>Perform UA, UCx, CBC w/diff, blood </a:t>
              </a:r>
              <a:r>
                <a:rPr lang="en-US" sz="900" dirty="0" err="1">
                  <a:solidFill>
                    <a:schemeClr val="tx1"/>
                  </a:solidFill>
                </a:rPr>
                <a:t>Cx</a:t>
              </a:r>
              <a:r>
                <a:rPr lang="en-US" sz="900" b="1" dirty="0">
                  <a:solidFill>
                    <a:schemeClr val="tx1"/>
                  </a:solidFill>
                </a:rPr>
                <a:t>*</a:t>
              </a:r>
            </a:p>
            <a:p>
              <a:pPr algn="ctr"/>
              <a:endParaRPr lang="en-US" sz="900" dirty="0"/>
            </a:p>
          </p:txBody>
        </p:sp>
        <p:sp>
          <p:nvSpPr>
            <p:cNvPr id="17" name="Diamond 16">
              <a:extLst>
                <a:ext uri="{FF2B5EF4-FFF2-40B4-BE49-F238E27FC236}">
                  <a16:creationId xmlns:a16="http://schemas.microsoft.com/office/drawing/2014/main" id="{1B3D07EF-FCBC-42E1-8E98-7DB1DE37CD41}"/>
                </a:ext>
              </a:extLst>
            </p:cNvPr>
            <p:cNvSpPr/>
            <p:nvPr/>
          </p:nvSpPr>
          <p:spPr>
            <a:xfrm>
              <a:off x="387109" y="5134677"/>
              <a:ext cx="6145265" cy="154636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UA+, WBC &lt; 5K or </a:t>
              </a:r>
            </a:p>
            <a:p>
              <a:pPr algn="ctr"/>
              <a:r>
                <a:rPr lang="en-US" sz="900" dirty="0">
                  <a:solidFill>
                    <a:schemeClr val="tx1"/>
                  </a:solidFill>
                </a:rPr>
                <a:t>&gt; 15K, bands &gt; 1.5K</a:t>
              </a:r>
            </a:p>
            <a:p>
              <a:pPr algn="ctr"/>
              <a:r>
                <a:rPr lang="en-US" sz="900" dirty="0">
                  <a:solidFill>
                    <a:schemeClr val="tx1"/>
                  </a:solidFill>
                </a:rPr>
                <a:t> or  temp &gt; 38.5C </a:t>
              </a:r>
              <a:r>
                <a:rPr lang="en-US" sz="900" b="1" dirty="0">
                  <a:solidFill>
                    <a:schemeClr val="tx1"/>
                  </a:solidFill>
                </a:rPr>
                <a:t>†</a:t>
              </a:r>
            </a:p>
          </p:txBody>
        </p:sp>
        <p:sp>
          <p:nvSpPr>
            <p:cNvPr id="23" name="Rectangle 22">
              <a:extLst>
                <a:ext uri="{FF2B5EF4-FFF2-40B4-BE49-F238E27FC236}">
                  <a16:creationId xmlns:a16="http://schemas.microsoft.com/office/drawing/2014/main" id="{A4920ECB-767F-4366-ABC7-08FB3EE731CD}"/>
                </a:ext>
              </a:extLst>
            </p:cNvPr>
            <p:cNvSpPr/>
            <p:nvPr/>
          </p:nvSpPr>
          <p:spPr>
            <a:xfrm>
              <a:off x="-1805072" y="5645735"/>
              <a:ext cx="1565564" cy="49183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Perform LP</a:t>
              </a:r>
            </a:p>
          </p:txBody>
        </p:sp>
        <p:sp>
          <p:nvSpPr>
            <p:cNvPr id="25" name="Diamond 24">
              <a:extLst>
                <a:ext uri="{FF2B5EF4-FFF2-40B4-BE49-F238E27FC236}">
                  <a16:creationId xmlns:a16="http://schemas.microsoft.com/office/drawing/2014/main" id="{730F8A8D-FC0B-4AC1-92B1-6930F3C36050}"/>
                </a:ext>
              </a:extLst>
            </p:cNvPr>
            <p:cNvSpPr/>
            <p:nvPr/>
          </p:nvSpPr>
          <p:spPr>
            <a:xfrm>
              <a:off x="-7336688" y="9440477"/>
              <a:ext cx="3763667" cy="186770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Abnl</a:t>
              </a:r>
              <a:r>
                <a:rPr lang="en-US" sz="900" dirty="0">
                  <a:solidFill>
                    <a:schemeClr val="tx1"/>
                  </a:solidFill>
                </a:rPr>
                <a:t> UA, WBC or bands</a:t>
              </a:r>
            </a:p>
          </p:txBody>
        </p:sp>
        <p:sp>
          <p:nvSpPr>
            <p:cNvPr id="28" name="Rectangle 27">
              <a:extLst>
                <a:ext uri="{FF2B5EF4-FFF2-40B4-BE49-F238E27FC236}">
                  <a16:creationId xmlns:a16="http://schemas.microsoft.com/office/drawing/2014/main" id="{7D944722-CFD4-41F1-850D-378C92D1900A}"/>
                </a:ext>
              </a:extLst>
            </p:cNvPr>
            <p:cNvSpPr/>
            <p:nvPr/>
          </p:nvSpPr>
          <p:spPr>
            <a:xfrm>
              <a:off x="1863023" y="7523142"/>
              <a:ext cx="3210056" cy="114062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solidFill>
                  <a:schemeClr val="tx1"/>
                </a:solidFill>
              </a:endParaRPr>
            </a:p>
            <a:p>
              <a:pPr algn="ctr"/>
              <a:r>
                <a:rPr lang="en-US" sz="900" b="1" dirty="0">
                  <a:solidFill>
                    <a:schemeClr val="tx1"/>
                  </a:solidFill>
                </a:rPr>
                <a:t>CONSULT PEDS</a:t>
              </a:r>
              <a:endParaRPr lang="en-US" sz="900" dirty="0">
                <a:solidFill>
                  <a:schemeClr val="tx1"/>
                </a:solidFill>
              </a:endParaRPr>
            </a:p>
            <a:p>
              <a:pPr algn="ctr"/>
              <a:r>
                <a:rPr lang="en-US" sz="900" dirty="0">
                  <a:solidFill>
                    <a:schemeClr val="tx1"/>
                  </a:solidFill>
                </a:rPr>
                <a:t>Need not perform LP</a:t>
              </a:r>
            </a:p>
            <a:p>
              <a:pPr algn="ctr"/>
              <a:r>
                <a:rPr lang="en-US" sz="900" dirty="0">
                  <a:solidFill>
                    <a:schemeClr val="tx1"/>
                  </a:solidFill>
                </a:rPr>
                <a:t>Need not begin </a:t>
              </a:r>
              <a:r>
                <a:rPr lang="en-US" sz="900" dirty="0" err="1">
                  <a:solidFill>
                    <a:schemeClr val="tx1"/>
                  </a:solidFill>
                </a:rPr>
                <a:t>Pabx</a:t>
              </a:r>
              <a:r>
                <a:rPr lang="en-US" sz="900" dirty="0">
                  <a:solidFill>
                    <a:schemeClr val="tx1"/>
                  </a:solidFill>
                </a:rPr>
                <a:t> </a:t>
              </a:r>
              <a:r>
                <a:rPr lang="en-US" sz="900" b="1" dirty="0">
                  <a:solidFill>
                    <a:schemeClr val="tx1"/>
                  </a:solidFill>
                </a:rPr>
                <a:t>§</a:t>
              </a:r>
              <a:r>
                <a:rPr lang="en-US" sz="900" dirty="0">
                  <a:solidFill>
                    <a:schemeClr val="tx1"/>
                  </a:solidFill>
                </a:rPr>
                <a:t> ¶ </a:t>
              </a:r>
            </a:p>
            <a:p>
              <a:pPr algn="ctr"/>
              <a:endParaRPr lang="en-US" sz="900" baseline="30000" dirty="0">
                <a:solidFill>
                  <a:schemeClr val="tx1"/>
                </a:solidFill>
              </a:endParaRPr>
            </a:p>
          </p:txBody>
        </p:sp>
        <p:sp>
          <p:nvSpPr>
            <p:cNvPr id="30" name="Rectangle 29">
              <a:extLst>
                <a:ext uri="{FF2B5EF4-FFF2-40B4-BE49-F238E27FC236}">
                  <a16:creationId xmlns:a16="http://schemas.microsoft.com/office/drawing/2014/main" id="{2B1CBB63-E0B8-436A-9865-F1AFE38DEE57}"/>
                </a:ext>
              </a:extLst>
            </p:cNvPr>
            <p:cNvSpPr/>
            <p:nvPr/>
          </p:nvSpPr>
          <p:spPr>
            <a:xfrm>
              <a:off x="-6823940" y="11630381"/>
              <a:ext cx="2319452" cy="93174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May withhold </a:t>
              </a:r>
              <a:r>
                <a:rPr lang="en-US" sz="900" dirty="0" err="1">
                  <a:solidFill>
                    <a:schemeClr val="tx1"/>
                  </a:solidFill>
                </a:rPr>
                <a:t>Pabx</a:t>
              </a:r>
              <a:endParaRPr lang="en-US" sz="900" dirty="0">
                <a:solidFill>
                  <a:schemeClr val="tx1"/>
                </a:solidFill>
              </a:endParaRPr>
            </a:p>
          </p:txBody>
        </p:sp>
        <p:sp>
          <p:nvSpPr>
            <p:cNvPr id="33" name="Rectangle 32">
              <a:extLst>
                <a:ext uri="{FF2B5EF4-FFF2-40B4-BE49-F238E27FC236}">
                  <a16:creationId xmlns:a16="http://schemas.microsoft.com/office/drawing/2014/main" id="{8BC7738E-2020-44FF-ACEA-1060D8515E86}"/>
                </a:ext>
              </a:extLst>
            </p:cNvPr>
            <p:cNvSpPr/>
            <p:nvPr/>
          </p:nvSpPr>
          <p:spPr>
            <a:xfrm>
              <a:off x="2681134" y="9166697"/>
              <a:ext cx="1565564" cy="67540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ADMIT</a:t>
              </a:r>
            </a:p>
          </p:txBody>
        </p:sp>
        <p:sp>
          <p:nvSpPr>
            <p:cNvPr id="36" name="Diamond 35">
              <a:extLst>
                <a:ext uri="{FF2B5EF4-FFF2-40B4-BE49-F238E27FC236}">
                  <a16:creationId xmlns:a16="http://schemas.microsoft.com/office/drawing/2014/main" id="{74EE7E50-2129-46CB-A048-8AFABA71449A}"/>
                </a:ext>
              </a:extLst>
            </p:cNvPr>
            <p:cNvSpPr/>
            <p:nvPr/>
          </p:nvSpPr>
          <p:spPr>
            <a:xfrm>
              <a:off x="4910538" y="8723522"/>
              <a:ext cx="3241239" cy="1593356"/>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Pathogen or Source identified</a:t>
              </a:r>
            </a:p>
          </p:txBody>
        </p:sp>
        <p:sp>
          <p:nvSpPr>
            <p:cNvPr id="41" name="Rectangle 40">
              <a:extLst>
                <a:ext uri="{FF2B5EF4-FFF2-40B4-BE49-F238E27FC236}">
                  <a16:creationId xmlns:a16="http://schemas.microsoft.com/office/drawing/2014/main" id="{E73D0D02-152E-4442-A4E8-890DF8E6A7B1}"/>
                </a:ext>
              </a:extLst>
            </p:cNvPr>
            <p:cNvSpPr/>
            <p:nvPr/>
          </p:nvSpPr>
          <p:spPr>
            <a:xfrm>
              <a:off x="4328086" y="10787840"/>
              <a:ext cx="4436295" cy="17821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dirty="0">
                  <a:solidFill>
                    <a:schemeClr val="tx1"/>
                  </a:solidFill>
                </a:rPr>
                <a:t>Discontinue antimicrobial(s) and may discharge hospitalized infant if all </a:t>
              </a:r>
              <a:r>
                <a:rPr lang="en-US" sz="900" dirty="0" err="1">
                  <a:solidFill>
                    <a:schemeClr val="tx1"/>
                  </a:solidFill>
                </a:rPr>
                <a:t>Cx</a:t>
              </a:r>
              <a:r>
                <a:rPr lang="en-US" sz="900" dirty="0">
                  <a:solidFill>
                    <a:schemeClr val="tx1"/>
                  </a:solidFill>
                </a:rPr>
                <a:t>- at 24-36 </a:t>
              </a:r>
              <a:r>
                <a:rPr lang="en-US" sz="900" dirty="0" err="1">
                  <a:solidFill>
                    <a:schemeClr val="tx1"/>
                  </a:solidFill>
                </a:rPr>
                <a:t>hrs</a:t>
              </a:r>
              <a:r>
                <a:rPr lang="en-US" sz="900" dirty="0">
                  <a:solidFill>
                    <a:schemeClr val="tx1"/>
                  </a:solidFill>
                </a:rPr>
                <a:t> and HSV PCR (if sent)</a:t>
              </a:r>
            </a:p>
            <a:p>
              <a:pPr marL="144661" indent="-144661">
                <a:buFont typeface="+mj-lt"/>
                <a:buAutoNum type="arabicPeriod"/>
              </a:pPr>
              <a:r>
                <a:rPr lang="en-US" sz="900" dirty="0">
                  <a:solidFill>
                    <a:schemeClr val="tx1"/>
                  </a:solidFill>
                </a:rPr>
                <a:t>Follow for duration of illness</a:t>
              </a:r>
            </a:p>
          </p:txBody>
        </p:sp>
      </p:grpSp>
      <p:sp>
        <p:nvSpPr>
          <p:cNvPr id="44" name="TextBox 43">
            <a:extLst>
              <a:ext uri="{FF2B5EF4-FFF2-40B4-BE49-F238E27FC236}">
                <a16:creationId xmlns:a16="http://schemas.microsoft.com/office/drawing/2014/main" id="{9A476156-6352-4FC6-9D8D-7EB9DAF3A14F}"/>
              </a:ext>
            </a:extLst>
          </p:cNvPr>
          <p:cNvSpPr txBox="1"/>
          <p:nvPr/>
        </p:nvSpPr>
        <p:spPr>
          <a:xfrm>
            <a:off x="4625128" y="2183684"/>
            <a:ext cx="327334" cy="230832"/>
          </a:xfrm>
          <a:prstGeom prst="rect">
            <a:avLst/>
          </a:prstGeom>
          <a:noFill/>
        </p:spPr>
        <p:txBody>
          <a:bodyPr wrap="none" rtlCol="0">
            <a:spAutoFit/>
          </a:bodyPr>
          <a:lstStyle/>
          <a:p>
            <a:r>
              <a:rPr lang="en-US" sz="900"/>
              <a:t>NO</a:t>
            </a:r>
          </a:p>
        </p:txBody>
      </p:sp>
      <p:sp>
        <p:nvSpPr>
          <p:cNvPr id="45" name="TextBox 44">
            <a:extLst>
              <a:ext uri="{FF2B5EF4-FFF2-40B4-BE49-F238E27FC236}">
                <a16:creationId xmlns:a16="http://schemas.microsoft.com/office/drawing/2014/main" id="{C312A9D4-F1C7-4DC5-9355-83924DD87EA9}"/>
              </a:ext>
            </a:extLst>
          </p:cNvPr>
          <p:cNvSpPr txBox="1"/>
          <p:nvPr/>
        </p:nvSpPr>
        <p:spPr>
          <a:xfrm>
            <a:off x="1613970" y="3745037"/>
            <a:ext cx="457200" cy="369332"/>
          </a:xfrm>
          <a:prstGeom prst="rect">
            <a:avLst/>
          </a:prstGeom>
          <a:noFill/>
        </p:spPr>
        <p:txBody>
          <a:bodyPr wrap="square" rtlCol="0">
            <a:spAutoFit/>
          </a:bodyPr>
          <a:lstStyle/>
          <a:p>
            <a:r>
              <a:rPr lang="en-US" sz="900"/>
              <a:t>YES</a:t>
            </a:r>
          </a:p>
        </p:txBody>
      </p:sp>
      <p:sp>
        <p:nvSpPr>
          <p:cNvPr id="46" name="TextBox 45">
            <a:extLst>
              <a:ext uri="{FF2B5EF4-FFF2-40B4-BE49-F238E27FC236}">
                <a16:creationId xmlns:a16="http://schemas.microsoft.com/office/drawing/2014/main" id="{FDCFC7A2-9907-4E31-8E0F-F437CB37E0FC}"/>
              </a:ext>
            </a:extLst>
          </p:cNvPr>
          <p:cNvSpPr txBox="1"/>
          <p:nvPr/>
        </p:nvSpPr>
        <p:spPr>
          <a:xfrm>
            <a:off x="2901993" y="3824028"/>
            <a:ext cx="327334" cy="230832"/>
          </a:xfrm>
          <a:prstGeom prst="rect">
            <a:avLst/>
          </a:prstGeom>
          <a:noFill/>
        </p:spPr>
        <p:txBody>
          <a:bodyPr wrap="none" rtlCol="0">
            <a:spAutoFit/>
          </a:bodyPr>
          <a:lstStyle/>
          <a:p>
            <a:r>
              <a:rPr lang="en-US" sz="900"/>
              <a:t>NO</a:t>
            </a:r>
          </a:p>
        </p:txBody>
      </p:sp>
      <p:sp>
        <p:nvSpPr>
          <p:cNvPr id="47" name="TextBox 46">
            <a:extLst>
              <a:ext uri="{FF2B5EF4-FFF2-40B4-BE49-F238E27FC236}">
                <a16:creationId xmlns:a16="http://schemas.microsoft.com/office/drawing/2014/main" id="{1C9560ED-7208-4CDD-8F10-43522EB012DE}"/>
              </a:ext>
            </a:extLst>
          </p:cNvPr>
          <p:cNvSpPr txBox="1"/>
          <p:nvPr/>
        </p:nvSpPr>
        <p:spPr>
          <a:xfrm>
            <a:off x="5982716" y="4846953"/>
            <a:ext cx="327334" cy="230832"/>
          </a:xfrm>
          <a:prstGeom prst="rect">
            <a:avLst/>
          </a:prstGeom>
          <a:noFill/>
        </p:spPr>
        <p:txBody>
          <a:bodyPr wrap="none" rtlCol="0">
            <a:spAutoFit/>
          </a:bodyPr>
          <a:lstStyle/>
          <a:p>
            <a:r>
              <a:rPr lang="en-US" sz="900"/>
              <a:t>NO</a:t>
            </a:r>
          </a:p>
        </p:txBody>
      </p:sp>
      <p:sp>
        <p:nvSpPr>
          <p:cNvPr id="51" name="TextBox 50">
            <a:extLst>
              <a:ext uri="{FF2B5EF4-FFF2-40B4-BE49-F238E27FC236}">
                <a16:creationId xmlns:a16="http://schemas.microsoft.com/office/drawing/2014/main" id="{CE031C9F-1D35-463E-B4AD-E921DED2E8B0}"/>
              </a:ext>
            </a:extLst>
          </p:cNvPr>
          <p:cNvSpPr txBox="1"/>
          <p:nvPr/>
        </p:nvSpPr>
        <p:spPr>
          <a:xfrm>
            <a:off x="3237148" y="2784206"/>
            <a:ext cx="369119" cy="230832"/>
          </a:xfrm>
          <a:prstGeom prst="rect">
            <a:avLst/>
          </a:prstGeom>
          <a:noFill/>
        </p:spPr>
        <p:txBody>
          <a:bodyPr wrap="square" rtlCol="0">
            <a:spAutoFit/>
          </a:bodyPr>
          <a:lstStyle/>
          <a:p>
            <a:r>
              <a:rPr lang="en-US" sz="900"/>
              <a:t>YES</a:t>
            </a:r>
          </a:p>
        </p:txBody>
      </p:sp>
      <p:sp>
        <p:nvSpPr>
          <p:cNvPr id="52" name="Rectangle 51">
            <a:extLst>
              <a:ext uri="{FF2B5EF4-FFF2-40B4-BE49-F238E27FC236}">
                <a16:creationId xmlns:a16="http://schemas.microsoft.com/office/drawing/2014/main" id="{CE8258BA-F771-47F0-A445-4948F10644D6}"/>
              </a:ext>
            </a:extLst>
          </p:cNvPr>
          <p:cNvSpPr/>
          <p:nvPr/>
        </p:nvSpPr>
        <p:spPr>
          <a:xfrm>
            <a:off x="2544697" y="2058780"/>
            <a:ext cx="1024212" cy="401701"/>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algn="ctr"/>
            <a:r>
              <a:rPr lang="en-US" sz="900" dirty="0">
                <a:solidFill>
                  <a:schemeClr val="tx1"/>
                </a:solidFill>
              </a:rPr>
              <a:t>Confirm urine sent by bladder </a:t>
            </a:r>
            <a:r>
              <a:rPr lang="en-US" sz="900" dirty="0" err="1">
                <a:solidFill>
                  <a:schemeClr val="tx1"/>
                </a:solidFill>
              </a:rPr>
              <a:t>cath</a:t>
            </a:r>
            <a:endParaRPr lang="en-US" sz="900" dirty="0">
              <a:solidFill>
                <a:schemeClr val="tx1"/>
              </a:solidFill>
            </a:endParaRPr>
          </a:p>
          <a:p>
            <a:pPr algn="ctr"/>
            <a:endParaRPr lang="en-US" sz="900" dirty="0">
              <a:solidFill>
                <a:schemeClr val="tx1"/>
              </a:solidFill>
            </a:endParaRPr>
          </a:p>
        </p:txBody>
      </p:sp>
      <p:sp>
        <p:nvSpPr>
          <p:cNvPr id="53" name="Diamond 52">
            <a:extLst>
              <a:ext uri="{FF2B5EF4-FFF2-40B4-BE49-F238E27FC236}">
                <a16:creationId xmlns:a16="http://schemas.microsoft.com/office/drawing/2014/main" id="{75D858EC-E7A1-4D55-83BA-E1EA9D296B37}"/>
              </a:ext>
            </a:extLst>
          </p:cNvPr>
          <p:cNvSpPr/>
          <p:nvPr/>
        </p:nvSpPr>
        <p:spPr>
          <a:xfrm>
            <a:off x="4229381" y="1686875"/>
            <a:ext cx="784082" cy="373926"/>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UA+ </a:t>
            </a:r>
          </a:p>
        </p:txBody>
      </p:sp>
      <p:sp>
        <p:nvSpPr>
          <p:cNvPr id="66" name="TextBox 65">
            <a:extLst>
              <a:ext uri="{FF2B5EF4-FFF2-40B4-BE49-F238E27FC236}">
                <a16:creationId xmlns:a16="http://schemas.microsoft.com/office/drawing/2014/main" id="{82373C07-6CCF-49B3-B4C4-2647914EC9CD}"/>
              </a:ext>
            </a:extLst>
          </p:cNvPr>
          <p:cNvSpPr txBox="1"/>
          <p:nvPr/>
        </p:nvSpPr>
        <p:spPr>
          <a:xfrm>
            <a:off x="3683599" y="1695270"/>
            <a:ext cx="372218" cy="230832"/>
          </a:xfrm>
          <a:prstGeom prst="rect">
            <a:avLst/>
          </a:prstGeom>
          <a:noFill/>
        </p:spPr>
        <p:txBody>
          <a:bodyPr wrap="none" rtlCol="0">
            <a:spAutoFit/>
          </a:bodyPr>
          <a:lstStyle/>
          <a:p>
            <a:r>
              <a:rPr lang="en-US" sz="900"/>
              <a:t>YES</a:t>
            </a: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3056803" y="1873838"/>
            <a:ext cx="1172578" cy="184942"/>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C09F399B-964F-408F-B4F9-57A4C8860845}"/>
              </a:ext>
            </a:extLst>
          </p:cNvPr>
          <p:cNvCxnSpPr>
            <a:cxnSpLocks/>
            <a:stCxn id="52" idx="2"/>
          </p:cNvCxnSpPr>
          <p:nvPr/>
        </p:nvCxnSpPr>
        <p:spPr>
          <a:xfrm rot="16200000" flipH="1">
            <a:off x="3783991" y="1733292"/>
            <a:ext cx="89718" cy="1544095"/>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E9189A7-FDF1-42BC-8BF0-698D2793D151}"/>
              </a:ext>
            </a:extLst>
          </p:cNvPr>
          <p:cNvSpPr txBox="1"/>
          <p:nvPr/>
        </p:nvSpPr>
        <p:spPr>
          <a:xfrm>
            <a:off x="4610287" y="3407476"/>
            <a:ext cx="327334" cy="230832"/>
          </a:xfrm>
          <a:prstGeom prst="rect">
            <a:avLst/>
          </a:prstGeom>
          <a:noFill/>
        </p:spPr>
        <p:txBody>
          <a:bodyPr wrap="none" rtlCol="0">
            <a:spAutoFit/>
          </a:bodyPr>
          <a:lstStyle/>
          <a:p>
            <a:r>
              <a:rPr lang="en-US" sz="900"/>
              <a:t>NO</a:t>
            </a:r>
          </a:p>
        </p:txBody>
      </p:sp>
      <p:cxnSp>
        <p:nvCxnSpPr>
          <p:cNvPr id="75" name="Connector: Elbow 74">
            <a:extLst>
              <a:ext uri="{FF2B5EF4-FFF2-40B4-BE49-F238E27FC236}">
                <a16:creationId xmlns:a16="http://schemas.microsoft.com/office/drawing/2014/main" id="{39196CB7-2823-4970-AF9C-71E476E5F37F}"/>
              </a:ext>
            </a:extLst>
          </p:cNvPr>
          <p:cNvCxnSpPr>
            <a:cxnSpLocks/>
            <a:endCxn id="132" idx="1"/>
          </p:cNvCxnSpPr>
          <p:nvPr/>
        </p:nvCxnSpPr>
        <p:spPr>
          <a:xfrm flipV="1">
            <a:off x="1654405" y="4563243"/>
            <a:ext cx="435902" cy="352247"/>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400ED04-C1BE-414C-AF94-CD1ACB12531B}"/>
              </a:ext>
            </a:extLst>
          </p:cNvPr>
          <p:cNvCxnSpPr>
            <a:cxnSpLocks/>
          </p:cNvCxnSpPr>
          <p:nvPr/>
        </p:nvCxnSpPr>
        <p:spPr>
          <a:xfrm flipH="1">
            <a:off x="3066193" y="3011291"/>
            <a:ext cx="267033"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79EE3FAF-601F-428D-B0B5-07CB81A7FF39}"/>
              </a:ext>
            </a:extLst>
          </p:cNvPr>
          <p:cNvCxnSpPr>
            <a:cxnSpLocks/>
          </p:cNvCxnSpPr>
          <p:nvPr/>
        </p:nvCxnSpPr>
        <p:spPr>
          <a:xfrm flipH="1">
            <a:off x="2724014" y="3115214"/>
            <a:ext cx="6246" cy="18703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8" name="Diamond 97">
            <a:extLst>
              <a:ext uri="{FF2B5EF4-FFF2-40B4-BE49-F238E27FC236}">
                <a16:creationId xmlns:a16="http://schemas.microsoft.com/office/drawing/2014/main" id="{38C392DD-B373-4258-BA89-18A07A791667}"/>
              </a:ext>
            </a:extLst>
          </p:cNvPr>
          <p:cNvSpPr/>
          <p:nvPr/>
        </p:nvSpPr>
        <p:spPr>
          <a:xfrm>
            <a:off x="2160172" y="3280645"/>
            <a:ext cx="1124047" cy="41070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CSF obtained</a:t>
            </a:r>
          </a:p>
        </p:txBody>
      </p:sp>
      <p:sp>
        <p:nvSpPr>
          <p:cNvPr id="99" name="Diamond 98">
            <a:extLst>
              <a:ext uri="{FF2B5EF4-FFF2-40B4-BE49-F238E27FC236}">
                <a16:creationId xmlns:a16="http://schemas.microsoft.com/office/drawing/2014/main" id="{89855E73-75AC-4767-9298-CBC80E6832DA}"/>
              </a:ext>
            </a:extLst>
          </p:cNvPr>
          <p:cNvSpPr/>
          <p:nvPr/>
        </p:nvSpPr>
        <p:spPr>
          <a:xfrm>
            <a:off x="62284" y="3505643"/>
            <a:ext cx="1587797" cy="8541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CSF pleocytosis</a:t>
            </a:r>
          </a:p>
          <a:p>
            <a:pPr algn="ctr"/>
            <a:r>
              <a:rPr lang="en-US" sz="900" dirty="0">
                <a:solidFill>
                  <a:schemeClr val="tx1"/>
                </a:solidFill>
              </a:rPr>
              <a:t>or traumatic</a:t>
            </a:r>
          </a:p>
        </p:txBody>
      </p:sp>
      <p:cxnSp>
        <p:nvCxnSpPr>
          <p:cNvPr id="113" name="Straight Arrow Connector 112">
            <a:extLst>
              <a:ext uri="{FF2B5EF4-FFF2-40B4-BE49-F238E27FC236}">
                <a16:creationId xmlns:a16="http://schemas.microsoft.com/office/drawing/2014/main" id="{39F09D3C-E8EE-414D-9DA5-0BF70A44E1AF}"/>
              </a:ext>
            </a:extLst>
          </p:cNvPr>
          <p:cNvCxnSpPr>
            <a:cxnSpLocks/>
            <a:stCxn id="98" idx="2"/>
          </p:cNvCxnSpPr>
          <p:nvPr/>
        </p:nvCxnSpPr>
        <p:spPr>
          <a:xfrm>
            <a:off x="2722196" y="3691350"/>
            <a:ext cx="1595" cy="49785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F35B4DD2-9ACE-4957-BE87-2679189AEF9C}"/>
              </a:ext>
            </a:extLst>
          </p:cNvPr>
          <p:cNvCxnSpPr>
            <a:cxnSpLocks/>
            <a:stCxn id="98" idx="1"/>
          </p:cNvCxnSpPr>
          <p:nvPr/>
        </p:nvCxnSpPr>
        <p:spPr>
          <a:xfrm rot="10800000">
            <a:off x="811138" y="3485997"/>
            <a:ext cx="1349035" cy="9525"/>
          </a:xfrm>
          <a:prstGeom prst="bentConnector3">
            <a:avLst>
              <a:gd name="adj1" fmla="val -836"/>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6A61103A-7E35-4DD0-B5E9-44B13DA5E537}"/>
              </a:ext>
            </a:extLst>
          </p:cNvPr>
          <p:cNvSpPr/>
          <p:nvPr/>
        </p:nvSpPr>
        <p:spPr>
          <a:xfrm>
            <a:off x="2090307" y="4180484"/>
            <a:ext cx="1309451" cy="76551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Administer </a:t>
            </a:r>
            <a:r>
              <a:rPr lang="en-US" sz="900" dirty="0" err="1">
                <a:solidFill>
                  <a:schemeClr val="tx1"/>
                </a:solidFill>
              </a:rPr>
              <a:t>Pabx</a:t>
            </a:r>
            <a:r>
              <a:rPr lang="en-US" sz="900" dirty="0">
                <a:solidFill>
                  <a:schemeClr val="tx1"/>
                </a:solidFill>
              </a:rPr>
              <a:t> (a)</a:t>
            </a:r>
          </a:p>
          <a:p>
            <a:pPr marL="171450" indent="-171450">
              <a:buFont typeface="+mj-lt"/>
              <a:buAutoNum type="arabicPeriod"/>
            </a:pPr>
            <a:r>
              <a:rPr lang="en-US" sz="900" dirty="0">
                <a:solidFill>
                  <a:schemeClr val="tx1"/>
                </a:solidFill>
              </a:rPr>
              <a:t>If CSF pleocytosis </a:t>
            </a:r>
            <a:r>
              <a:rPr lang="en-US" sz="900" b="1" dirty="0">
                <a:solidFill>
                  <a:schemeClr val="tx1"/>
                </a:solidFill>
              </a:rPr>
              <a:t>‡</a:t>
            </a:r>
            <a:r>
              <a:rPr lang="en-US" sz="900" dirty="0">
                <a:solidFill>
                  <a:schemeClr val="tx1"/>
                </a:solidFill>
              </a:rPr>
              <a:t>, then assess for cause and consider acyclovir</a:t>
            </a:r>
          </a:p>
        </p:txBody>
      </p:sp>
      <p:sp>
        <p:nvSpPr>
          <p:cNvPr id="137" name="TextBox 136">
            <a:extLst>
              <a:ext uri="{FF2B5EF4-FFF2-40B4-BE49-F238E27FC236}">
                <a16:creationId xmlns:a16="http://schemas.microsoft.com/office/drawing/2014/main" id="{F0201F79-0B96-4544-A0AB-F49406BD9754}"/>
              </a:ext>
            </a:extLst>
          </p:cNvPr>
          <p:cNvSpPr txBox="1"/>
          <p:nvPr/>
        </p:nvSpPr>
        <p:spPr>
          <a:xfrm>
            <a:off x="864151" y="5244863"/>
            <a:ext cx="327334" cy="230832"/>
          </a:xfrm>
          <a:prstGeom prst="rect">
            <a:avLst/>
          </a:prstGeom>
          <a:noFill/>
        </p:spPr>
        <p:txBody>
          <a:bodyPr wrap="none" rtlCol="0">
            <a:spAutoFit/>
          </a:bodyPr>
          <a:lstStyle/>
          <a:p>
            <a:r>
              <a:rPr lang="en-US" sz="900"/>
              <a:t>NO</a:t>
            </a:r>
          </a:p>
        </p:txBody>
      </p:sp>
      <p:cxnSp>
        <p:nvCxnSpPr>
          <p:cNvPr id="77" name="Straight Arrow Connector 76">
            <a:extLst>
              <a:ext uri="{FF2B5EF4-FFF2-40B4-BE49-F238E27FC236}">
                <a16:creationId xmlns:a16="http://schemas.microsoft.com/office/drawing/2014/main" id="{F038CE39-B230-4638-BDC3-A7D05DBF00A5}"/>
              </a:ext>
            </a:extLst>
          </p:cNvPr>
          <p:cNvCxnSpPr>
            <a:cxnSpLocks/>
            <a:stCxn id="36" idx="2"/>
            <a:endCxn id="41" idx="0"/>
          </p:cNvCxnSpPr>
          <p:nvPr/>
        </p:nvCxnSpPr>
        <p:spPr>
          <a:xfrm>
            <a:off x="5910626" y="4871346"/>
            <a:ext cx="6360" cy="19868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6682A6C-F095-4A60-8C08-A9E8A754B58B}"/>
              </a:ext>
            </a:extLst>
          </p:cNvPr>
          <p:cNvCxnSpPr>
            <a:cxnSpLocks/>
            <a:stCxn id="16" idx="2"/>
            <a:endCxn id="53" idx="0"/>
          </p:cNvCxnSpPr>
          <p:nvPr/>
        </p:nvCxnSpPr>
        <p:spPr>
          <a:xfrm flipH="1">
            <a:off x="4621422" y="1484048"/>
            <a:ext cx="168" cy="20282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ACFF553-329C-45C1-A288-B71BF0FF4E46}"/>
              </a:ext>
            </a:extLst>
          </p:cNvPr>
          <p:cNvCxnSpPr>
            <a:cxnSpLocks/>
            <a:stCxn id="53" idx="2"/>
          </p:cNvCxnSpPr>
          <p:nvPr/>
        </p:nvCxnSpPr>
        <p:spPr>
          <a:xfrm flipH="1">
            <a:off x="4619527" y="2060801"/>
            <a:ext cx="1895" cy="62610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00CF871-694B-4DEC-B0F7-001EBAA09CFA}"/>
              </a:ext>
            </a:extLst>
          </p:cNvPr>
          <p:cNvCxnSpPr>
            <a:cxnSpLocks/>
            <a:endCxn id="25" idx="0"/>
          </p:cNvCxnSpPr>
          <p:nvPr/>
        </p:nvCxnSpPr>
        <p:spPr>
          <a:xfrm flipH="1">
            <a:off x="854026" y="4354011"/>
            <a:ext cx="6413" cy="1476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F01C68BF-0349-4683-8286-7C0B8E1BC5F3}"/>
              </a:ext>
            </a:extLst>
          </p:cNvPr>
          <p:cNvCxnSpPr>
            <a:cxnSpLocks/>
            <a:endCxn id="28" idx="0"/>
          </p:cNvCxnSpPr>
          <p:nvPr/>
        </p:nvCxnSpPr>
        <p:spPr>
          <a:xfrm flipH="1">
            <a:off x="4618378" y="3339281"/>
            <a:ext cx="1151" cy="35345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00D7B16E-858A-4382-BF22-F65F82060E72}"/>
              </a:ext>
            </a:extLst>
          </p:cNvPr>
          <p:cNvCxnSpPr>
            <a:cxnSpLocks/>
            <a:stCxn id="28" idx="2"/>
            <a:endCxn id="33" idx="0"/>
          </p:cNvCxnSpPr>
          <p:nvPr/>
        </p:nvCxnSpPr>
        <p:spPr>
          <a:xfrm flipH="1">
            <a:off x="4616633" y="4173940"/>
            <a:ext cx="1745" cy="21217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9449D198-20DC-40B0-A286-712E22D6E6D3}"/>
              </a:ext>
            </a:extLst>
          </p:cNvPr>
          <p:cNvCxnSpPr>
            <a:cxnSpLocks/>
          </p:cNvCxnSpPr>
          <p:nvPr/>
        </p:nvCxnSpPr>
        <p:spPr>
          <a:xfrm>
            <a:off x="4946701" y="4539185"/>
            <a:ext cx="274320"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A5FFD95E-EE0D-4FB7-BAF0-655B85DF600D}"/>
              </a:ext>
            </a:extLst>
          </p:cNvPr>
          <p:cNvSpPr txBox="1"/>
          <p:nvPr/>
        </p:nvSpPr>
        <p:spPr>
          <a:xfrm>
            <a:off x="1652661" y="3258405"/>
            <a:ext cx="457200" cy="369332"/>
          </a:xfrm>
          <a:prstGeom prst="rect">
            <a:avLst/>
          </a:prstGeom>
          <a:noFill/>
        </p:spPr>
        <p:txBody>
          <a:bodyPr wrap="square" rtlCol="0">
            <a:spAutoFit/>
          </a:bodyPr>
          <a:lstStyle/>
          <a:p>
            <a:r>
              <a:rPr lang="en-US" sz="900"/>
              <a:t>YES</a:t>
            </a:r>
          </a:p>
        </p:txBody>
      </p:sp>
      <p:sp>
        <p:nvSpPr>
          <p:cNvPr id="170" name="TextBox 169">
            <a:extLst>
              <a:ext uri="{FF2B5EF4-FFF2-40B4-BE49-F238E27FC236}">
                <a16:creationId xmlns:a16="http://schemas.microsoft.com/office/drawing/2014/main" id="{0A8C7542-6C20-4210-A8A0-36B85756B45B}"/>
              </a:ext>
            </a:extLst>
          </p:cNvPr>
          <p:cNvSpPr txBox="1"/>
          <p:nvPr/>
        </p:nvSpPr>
        <p:spPr>
          <a:xfrm>
            <a:off x="870894" y="4307093"/>
            <a:ext cx="327334" cy="230832"/>
          </a:xfrm>
          <a:prstGeom prst="rect">
            <a:avLst/>
          </a:prstGeom>
          <a:noFill/>
        </p:spPr>
        <p:txBody>
          <a:bodyPr wrap="none" rtlCol="0">
            <a:spAutoFit/>
          </a:bodyPr>
          <a:lstStyle/>
          <a:p>
            <a:r>
              <a:rPr lang="en-US" sz="900"/>
              <a:t>NO</a:t>
            </a:r>
          </a:p>
        </p:txBody>
      </p:sp>
      <p:cxnSp>
        <p:nvCxnSpPr>
          <p:cNvPr id="171" name="Straight Arrow Connector 170">
            <a:extLst>
              <a:ext uri="{FF2B5EF4-FFF2-40B4-BE49-F238E27FC236}">
                <a16:creationId xmlns:a16="http://schemas.microsoft.com/office/drawing/2014/main" id="{3EC02FED-AB70-4EEB-B1AA-3A08EA68D9EA}"/>
              </a:ext>
            </a:extLst>
          </p:cNvPr>
          <p:cNvCxnSpPr>
            <a:cxnSpLocks/>
          </p:cNvCxnSpPr>
          <p:nvPr/>
        </p:nvCxnSpPr>
        <p:spPr>
          <a:xfrm>
            <a:off x="852365" y="5300152"/>
            <a:ext cx="0" cy="13592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Connector: Elbow 174">
            <a:extLst>
              <a:ext uri="{FF2B5EF4-FFF2-40B4-BE49-F238E27FC236}">
                <a16:creationId xmlns:a16="http://schemas.microsoft.com/office/drawing/2014/main" id="{F7F811CB-D450-4B47-A630-3B0A179B63D9}"/>
              </a:ext>
            </a:extLst>
          </p:cNvPr>
          <p:cNvCxnSpPr>
            <a:cxnSpLocks/>
          </p:cNvCxnSpPr>
          <p:nvPr/>
        </p:nvCxnSpPr>
        <p:spPr>
          <a:xfrm flipV="1">
            <a:off x="1254794" y="4681653"/>
            <a:ext cx="3361671" cy="950970"/>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D7C96248-2CFE-483D-876F-61554EEC501A}"/>
              </a:ext>
            </a:extLst>
          </p:cNvPr>
          <p:cNvCxnSpPr>
            <a:cxnSpLocks/>
            <a:endCxn id="33" idx="1"/>
          </p:cNvCxnSpPr>
          <p:nvPr/>
        </p:nvCxnSpPr>
        <p:spPr>
          <a:xfrm>
            <a:off x="3403121" y="4525633"/>
            <a:ext cx="883276" cy="294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Connector: Elbow 203">
            <a:extLst>
              <a:ext uri="{FF2B5EF4-FFF2-40B4-BE49-F238E27FC236}">
                <a16:creationId xmlns:a16="http://schemas.microsoft.com/office/drawing/2014/main" id="{FE7B5B47-DD8F-4733-B53D-9C97DAA80F74}"/>
              </a:ext>
            </a:extLst>
          </p:cNvPr>
          <p:cNvCxnSpPr>
            <a:cxnSpLocks/>
            <a:stCxn id="99" idx="3"/>
            <a:endCxn id="132" idx="1"/>
          </p:cNvCxnSpPr>
          <p:nvPr/>
        </p:nvCxnSpPr>
        <p:spPr>
          <a:xfrm>
            <a:off x="1650082" y="3932701"/>
            <a:ext cx="440225" cy="630542"/>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B963E04-2939-4CB8-A927-227A8D5280F3}"/>
              </a:ext>
            </a:extLst>
          </p:cNvPr>
          <p:cNvSpPr/>
          <p:nvPr/>
        </p:nvSpPr>
        <p:spPr>
          <a:xfrm>
            <a:off x="6064764" y="1260288"/>
            <a:ext cx="2904041" cy="223291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r>
              <a:rPr lang="en-US" sz="900" b="1" dirty="0">
                <a:solidFill>
                  <a:schemeClr val="tx1"/>
                </a:solidFill>
              </a:rPr>
              <a:t>Footnotes:</a:t>
            </a:r>
          </a:p>
          <a:p>
            <a:r>
              <a:rPr lang="en-US" sz="900" b="1" dirty="0">
                <a:solidFill>
                  <a:schemeClr val="tx1"/>
                </a:solidFill>
              </a:rPr>
              <a:t>* </a:t>
            </a:r>
            <a:r>
              <a:rPr lang="en-US" sz="900" dirty="0">
                <a:solidFill>
                  <a:schemeClr val="tx1"/>
                </a:solidFill>
              </a:rPr>
              <a:t> AAP includes CRP to assess risk</a:t>
            </a:r>
          </a:p>
          <a:p>
            <a:r>
              <a:rPr lang="en-US" sz="900" b="1" dirty="0">
                <a:solidFill>
                  <a:schemeClr val="tx1"/>
                </a:solidFill>
              </a:rPr>
              <a:t>† </a:t>
            </a:r>
            <a:r>
              <a:rPr lang="en-US" sz="900" dirty="0">
                <a:solidFill>
                  <a:schemeClr val="tx1"/>
                </a:solidFill>
              </a:rPr>
              <a:t> AAP includes CRP &gt; 2.0 mg/dl or ANC &gt; 4000-5200 per mm as high risk; does not include UA</a:t>
            </a:r>
            <a:endParaRPr lang="en-US" sz="900" dirty="0">
              <a:solidFill>
                <a:schemeClr val="tx1"/>
              </a:solidFill>
              <a:cs typeface="Calibri"/>
            </a:endParaRPr>
          </a:p>
          <a:p>
            <a:r>
              <a:rPr lang="en-US" sz="900" b="1" dirty="0">
                <a:solidFill>
                  <a:schemeClr val="tx1"/>
                </a:solidFill>
              </a:rPr>
              <a:t>‡</a:t>
            </a:r>
            <a:r>
              <a:rPr lang="en-US" sz="900" dirty="0">
                <a:solidFill>
                  <a:schemeClr val="tx1"/>
                </a:solidFill>
              </a:rPr>
              <a:t>  Although uncommon, CSF pleocytosis may be due to HSV and prompt recognition and treatment is essential.</a:t>
            </a:r>
          </a:p>
          <a:p>
            <a:r>
              <a:rPr lang="en-US" sz="900" b="1" dirty="0">
                <a:solidFill>
                  <a:schemeClr val="tx1"/>
                </a:solidFill>
              </a:rPr>
              <a:t>§</a:t>
            </a:r>
            <a:r>
              <a:rPr lang="en-US" sz="900" dirty="0">
                <a:solidFill>
                  <a:schemeClr val="tx1"/>
                </a:solidFill>
              </a:rPr>
              <a:t>  Our recommendation is less conservative than the AAPs and is based on published/unpublished KPNC-specific data. </a:t>
            </a:r>
          </a:p>
          <a:p>
            <a:r>
              <a:rPr lang="en-US" sz="900" dirty="0">
                <a:solidFill>
                  <a:schemeClr val="tx1"/>
                </a:solidFill>
              </a:rPr>
              <a:t>¶  See next section for recommendations of low-risk infants starting on </a:t>
            </a:r>
            <a:r>
              <a:rPr lang="en-US" sz="900" dirty="0" err="1">
                <a:solidFill>
                  <a:schemeClr val="tx1"/>
                </a:solidFill>
              </a:rPr>
              <a:t>Pabx</a:t>
            </a:r>
            <a:endParaRPr lang="en-US" sz="900" dirty="0">
              <a:solidFill>
                <a:schemeClr val="tx1"/>
              </a:solidFill>
            </a:endParaRP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a:p>
            <a:r>
              <a:rPr lang="en-US" sz="900" dirty="0">
                <a:solidFill>
                  <a:schemeClr val="tx1"/>
                </a:solidFill>
              </a:rPr>
              <a:t>“</a:t>
            </a:r>
            <a:r>
              <a:rPr lang="en-US" sz="900" b="1" dirty="0">
                <a:solidFill>
                  <a:schemeClr val="tx1"/>
                </a:solidFill>
              </a:rPr>
              <a:t>Need Not</a:t>
            </a:r>
            <a:r>
              <a:rPr lang="en-US" sz="900" dirty="0">
                <a:solidFill>
                  <a:schemeClr val="tx1"/>
                </a:solidFill>
              </a:rPr>
              <a:t>” can be interpreted as ”Usually not indicated.” </a:t>
            </a:r>
          </a:p>
          <a:p>
            <a:endParaRPr lang="en-US" sz="825" dirty="0">
              <a:solidFill>
                <a:schemeClr val="tx1"/>
              </a:solidFill>
            </a:endParaRPr>
          </a:p>
          <a:p>
            <a:endParaRPr lang="en-US" sz="825" dirty="0">
              <a:solidFill>
                <a:schemeClr val="tx1"/>
              </a:solidFill>
            </a:endParaRPr>
          </a:p>
          <a:p>
            <a:endParaRPr lang="en-US" sz="825" dirty="0">
              <a:solidFill>
                <a:schemeClr val="tx1"/>
              </a:solidFill>
            </a:endParaRPr>
          </a:p>
        </p:txBody>
      </p:sp>
      <p:sp>
        <p:nvSpPr>
          <p:cNvPr id="56" name="TextBox 55">
            <a:extLst>
              <a:ext uri="{FF2B5EF4-FFF2-40B4-BE49-F238E27FC236}">
                <a16:creationId xmlns:a16="http://schemas.microsoft.com/office/drawing/2014/main" id="{2D2E899A-85AB-4F7C-AC3C-3E331B748A48}"/>
              </a:ext>
            </a:extLst>
          </p:cNvPr>
          <p:cNvSpPr txBox="1"/>
          <p:nvPr/>
        </p:nvSpPr>
        <p:spPr>
          <a:xfrm>
            <a:off x="1550323" y="4660278"/>
            <a:ext cx="457200" cy="369332"/>
          </a:xfrm>
          <a:prstGeom prst="rect">
            <a:avLst/>
          </a:prstGeom>
          <a:noFill/>
        </p:spPr>
        <p:txBody>
          <a:bodyPr wrap="square" rtlCol="0">
            <a:spAutoFit/>
          </a:bodyPr>
          <a:lstStyle/>
          <a:p>
            <a:r>
              <a:rPr lang="en-US" sz="900"/>
              <a:t>YES</a:t>
            </a:r>
          </a:p>
        </p:txBody>
      </p:sp>
      <p:sp>
        <p:nvSpPr>
          <p:cNvPr id="55" name="TextBox 54">
            <a:extLst>
              <a:ext uri="{FF2B5EF4-FFF2-40B4-BE49-F238E27FC236}">
                <a16:creationId xmlns:a16="http://schemas.microsoft.com/office/drawing/2014/main" id="{621EBD9D-EF23-4683-860B-2B91E0CB90D3}"/>
              </a:ext>
            </a:extLst>
          </p:cNvPr>
          <p:cNvSpPr txBox="1"/>
          <p:nvPr/>
        </p:nvSpPr>
        <p:spPr>
          <a:xfrm>
            <a:off x="4839777" y="3395933"/>
            <a:ext cx="1224987" cy="253916"/>
          </a:xfrm>
          <a:prstGeom prst="rect">
            <a:avLst/>
          </a:prstGeom>
          <a:noFill/>
        </p:spPr>
        <p:txBody>
          <a:bodyPr wrap="square" rtlCol="0">
            <a:spAutoFit/>
          </a:bodyPr>
          <a:lstStyle/>
          <a:p>
            <a:r>
              <a:rPr lang="en-US" sz="1050" b="1">
                <a:solidFill>
                  <a:sysClr val="windowText" lastClr="000000"/>
                </a:solidFill>
                <a:hlinkClick r:id="rId2" action="ppaction://hlinksldjump">
                  <a:extLst>
                    <a:ext uri="{A12FA001-AC4F-418D-AE19-62706E023703}">
                      <ahyp:hlinkClr xmlns:ahyp="http://schemas.microsoft.com/office/drawing/2018/hyperlinkcolor" val="tx"/>
                    </a:ext>
                  </a:extLst>
                </a:hlinkClick>
              </a:rPr>
              <a:t>Patient is low-risk</a:t>
            </a:r>
            <a:endParaRPr lang="en-US" sz="1050" b="1">
              <a:solidFill>
                <a:sysClr val="windowText" lastClr="000000"/>
              </a:solidFill>
            </a:endParaRPr>
          </a:p>
        </p:txBody>
      </p:sp>
      <p:grpSp>
        <p:nvGrpSpPr>
          <p:cNvPr id="79" name="Group 78">
            <a:extLst>
              <a:ext uri="{FF2B5EF4-FFF2-40B4-BE49-F238E27FC236}">
                <a16:creationId xmlns:a16="http://schemas.microsoft.com/office/drawing/2014/main" id="{261BFB5B-CC5D-4148-9F0A-6FDE31CC36A9}"/>
              </a:ext>
            </a:extLst>
          </p:cNvPr>
          <p:cNvGrpSpPr/>
          <p:nvPr/>
        </p:nvGrpSpPr>
        <p:grpSpPr>
          <a:xfrm>
            <a:off x="6544320" y="3991100"/>
            <a:ext cx="2545167" cy="1524239"/>
            <a:chOff x="7519751" y="4276533"/>
            <a:chExt cx="3393555" cy="2032318"/>
          </a:xfrm>
        </p:grpSpPr>
        <p:sp>
          <p:nvSpPr>
            <p:cNvPr id="80" name="Rectangle 79">
              <a:extLst>
                <a:ext uri="{FF2B5EF4-FFF2-40B4-BE49-F238E27FC236}">
                  <a16:creationId xmlns:a16="http://schemas.microsoft.com/office/drawing/2014/main" id="{1AABA42C-52B3-4BD5-9021-D4A4CCD45986}"/>
                </a:ext>
              </a:extLst>
            </p:cNvPr>
            <p:cNvSpPr/>
            <p:nvPr/>
          </p:nvSpPr>
          <p:spPr>
            <a:xfrm>
              <a:off x="9548470" y="4276533"/>
              <a:ext cx="1364836" cy="148553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Complete treatment with oral antimicrobials </a:t>
              </a:r>
            </a:p>
            <a:p>
              <a:pPr marL="171450" indent="-171450">
                <a:buFont typeface="+mj-lt"/>
                <a:buAutoNum type="arabicPeriod"/>
              </a:pPr>
              <a:r>
                <a:rPr lang="en-US" sz="900" dirty="0">
                  <a:solidFill>
                    <a:schemeClr val="tx1"/>
                  </a:solidFill>
                </a:rPr>
                <a:t>Discharge hospitalized infants</a:t>
              </a:r>
            </a:p>
          </p:txBody>
        </p:sp>
        <p:cxnSp>
          <p:nvCxnSpPr>
            <p:cNvPr id="81" name="Straight Arrow Connector 80">
              <a:extLst>
                <a:ext uri="{FF2B5EF4-FFF2-40B4-BE49-F238E27FC236}">
                  <a16:creationId xmlns:a16="http://schemas.microsoft.com/office/drawing/2014/main" id="{7E79B1B0-07EB-4EC8-BA13-2E2C67C6EDC9}"/>
                </a:ext>
              </a:extLst>
            </p:cNvPr>
            <p:cNvCxnSpPr>
              <a:cxnSpLocks/>
            </p:cNvCxnSpPr>
            <p:nvPr/>
          </p:nvCxnSpPr>
          <p:spPr>
            <a:xfrm>
              <a:off x="7578885" y="5004255"/>
              <a:ext cx="318847"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F6A958E5-AC2E-4EDA-AB3B-DA5D3251349E}"/>
                </a:ext>
              </a:extLst>
            </p:cNvPr>
            <p:cNvSpPr txBox="1"/>
            <p:nvPr/>
          </p:nvSpPr>
          <p:spPr>
            <a:xfrm>
              <a:off x="7519751" y="4674956"/>
              <a:ext cx="609600" cy="492443"/>
            </a:xfrm>
            <a:prstGeom prst="rect">
              <a:avLst/>
            </a:prstGeom>
            <a:noFill/>
          </p:spPr>
          <p:txBody>
            <a:bodyPr wrap="square" rtlCol="0">
              <a:spAutoFit/>
            </a:bodyPr>
            <a:lstStyle/>
            <a:p>
              <a:r>
                <a:rPr lang="en-US" sz="900" dirty="0"/>
                <a:t>YES</a:t>
              </a:r>
            </a:p>
          </p:txBody>
        </p:sp>
        <p:sp>
          <p:nvSpPr>
            <p:cNvPr id="83" name="Diamond 82">
              <a:extLst>
                <a:ext uri="{FF2B5EF4-FFF2-40B4-BE49-F238E27FC236}">
                  <a16:creationId xmlns:a16="http://schemas.microsoft.com/office/drawing/2014/main" id="{C7527065-84AF-4615-ABFC-E84D215430A2}"/>
                </a:ext>
              </a:extLst>
            </p:cNvPr>
            <p:cNvSpPr/>
            <p:nvPr/>
          </p:nvSpPr>
          <p:spPr>
            <a:xfrm>
              <a:off x="7913607" y="4449625"/>
              <a:ext cx="1324689" cy="111859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Source limited to urine</a:t>
              </a:r>
            </a:p>
          </p:txBody>
        </p:sp>
        <p:sp>
          <p:nvSpPr>
            <p:cNvPr id="84" name="Rectangle 83">
              <a:extLst>
                <a:ext uri="{FF2B5EF4-FFF2-40B4-BE49-F238E27FC236}">
                  <a16:creationId xmlns:a16="http://schemas.microsoft.com/office/drawing/2014/main" id="{D37787C8-9437-4928-B034-D98FCDCE25F0}"/>
                </a:ext>
              </a:extLst>
            </p:cNvPr>
            <p:cNvSpPr/>
            <p:nvPr/>
          </p:nvSpPr>
          <p:spPr>
            <a:xfrm>
              <a:off x="8164268" y="5846281"/>
              <a:ext cx="880630" cy="4625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Treat infection</a:t>
              </a:r>
            </a:p>
          </p:txBody>
        </p:sp>
        <p:sp>
          <p:nvSpPr>
            <p:cNvPr id="85" name="TextBox 84">
              <a:extLst>
                <a:ext uri="{FF2B5EF4-FFF2-40B4-BE49-F238E27FC236}">
                  <a16:creationId xmlns:a16="http://schemas.microsoft.com/office/drawing/2014/main" id="{EF2D90F0-6EBE-4F30-99C1-F124B052715A}"/>
                </a:ext>
              </a:extLst>
            </p:cNvPr>
            <p:cNvSpPr txBox="1"/>
            <p:nvPr/>
          </p:nvSpPr>
          <p:spPr>
            <a:xfrm>
              <a:off x="9100615" y="4697857"/>
              <a:ext cx="522242" cy="307776"/>
            </a:xfrm>
            <a:prstGeom prst="rect">
              <a:avLst/>
            </a:prstGeom>
            <a:noFill/>
          </p:spPr>
          <p:txBody>
            <a:bodyPr wrap="square" rtlCol="0">
              <a:spAutoFit/>
            </a:bodyPr>
            <a:lstStyle/>
            <a:p>
              <a:r>
                <a:rPr lang="en-US" sz="900" dirty="0"/>
                <a:t>YES</a:t>
              </a:r>
            </a:p>
          </p:txBody>
        </p:sp>
        <p:cxnSp>
          <p:nvCxnSpPr>
            <p:cNvPr id="86" name="Straight Arrow Connector 85">
              <a:extLst>
                <a:ext uri="{FF2B5EF4-FFF2-40B4-BE49-F238E27FC236}">
                  <a16:creationId xmlns:a16="http://schemas.microsoft.com/office/drawing/2014/main" id="{FF549560-DFA1-4FFD-9F12-75FDE35E5551}"/>
                </a:ext>
              </a:extLst>
            </p:cNvPr>
            <p:cNvCxnSpPr>
              <a:cxnSpLocks/>
              <a:stCxn id="83" idx="3"/>
              <a:endCxn id="80" idx="1"/>
            </p:cNvCxnSpPr>
            <p:nvPr/>
          </p:nvCxnSpPr>
          <p:spPr>
            <a:xfrm>
              <a:off x="9238296" y="5008922"/>
              <a:ext cx="310175" cy="1037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87DAB7B7-3A21-4B58-9261-A622AFBD9237}"/>
                </a:ext>
              </a:extLst>
            </p:cNvPr>
            <p:cNvCxnSpPr>
              <a:cxnSpLocks/>
            </p:cNvCxnSpPr>
            <p:nvPr/>
          </p:nvCxnSpPr>
          <p:spPr>
            <a:xfrm>
              <a:off x="8575951" y="5587621"/>
              <a:ext cx="2439" cy="26498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85A225B4-B2CC-4127-AA54-DAC0F6DEA81F}"/>
                </a:ext>
              </a:extLst>
            </p:cNvPr>
            <p:cNvSpPr txBox="1"/>
            <p:nvPr/>
          </p:nvSpPr>
          <p:spPr>
            <a:xfrm>
              <a:off x="8624388" y="5537893"/>
              <a:ext cx="436445" cy="307776"/>
            </a:xfrm>
            <a:prstGeom prst="rect">
              <a:avLst/>
            </a:prstGeom>
            <a:noFill/>
          </p:spPr>
          <p:txBody>
            <a:bodyPr wrap="none" rtlCol="0">
              <a:spAutoFit/>
            </a:bodyPr>
            <a:lstStyle/>
            <a:p>
              <a:r>
                <a:rPr lang="en-US" sz="900" dirty="0"/>
                <a:t>NO</a:t>
              </a:r>
            </a:p>
          </p:txBody>
        </p:sp>
      </p:grpSp>
      <p:sp>
        <p:nvSpPr>
          <p:cNvPr id="61" name="TextBox 60">
            <a:extLst>
              <a:ext uri="{FF2B5EF4-FFF2-40B4-BE49-F238E27FC236}">
                <a16:creationId xmlns:a16="http://schemas.microsoft.com/office/drawing/2014/main" id="{1124A389-8B7C-42FD-9275-BADD58D5B7AA}"/>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3" name="Title 1">
            <a:extLst>
              <a:ext uri="{FF2B5EF4-FFF2-40B4-BE49-F238E27FC236}">
                <a16:creationId xmlns:a16="http://schemas.microsoft.com/office/drawing/2014/main" id="{9B2D77D7-A979-48E0-862A-987E6DE933E0}"/>
              </a:ext>
            </a:extLst>
          </p:cNvPr>
          <p:cNvSpPr txBox="1">
            <a:spLocks/>
          </p:cNvSpPr>
          <p:nvPr/>
        </p:nvSpPr>
        <p:spPr bwMode="gray">
          <a:xfrm>
            <a:off x="474993" y="360458"/>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22-28 Days Old, Low-Risk, Well-Appearing Infant</a:t>
            </a:r>
            <a:endParaRPr lang="en-US" sz="22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429505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1184565" y="3144844"/>
            <a:ext cx="4260535" cy="2299979"/>
            <a:chOff x="1082584" y="9486828"/>
            <a:chExt cx="10099043" cy="5451804"/>
          </a:xfrm>
        </p:grpSpPr>
        <p:sp>
          <p:nvSpPr>
            <p:cNvPr id="33" name="Rectangle 32">
              <a:extLst>
                <a:ext uri="{FF2B5EF4-FFF2-40B4-BE49-F238E27FC236}">
                  <a16:creationId xmlns:a16="http://schemas.microsoft.com/office/drawing/2014/main" id="{8BC7738E-2020-44FF-ACEA-1060D8515E86}"/>
                </a:ext>
              </a:extLst>
            </p:cNvPr>
            <p:cNvSpPr/>
            <p:nvPr/>
          </p:nvSpPr>
          <p:spPr>
            <a:xfrm>
              <a:off x="1082584" y="9486828"/>
              <a:ext cx="1565564" cy="64082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ADMIT</a:t>
              </a:r>
            </a:p>
          </p:txBody>
        </p:sp>
        <p:sp>
          <p:nvSpPr>
            <p:cNvPr id="41" name="Rectangle 40">
              <a:extLst>
                <a:ext uri="{FF2B5EF4-FFF2-40B4-BE49-F238E27FC236}">
                  <a16:creationId xmlns:a16="http://schemas.microsoft.com/office/drawing/2014/main" id="{E73D0D02-152E-4442-A4E8-890DF8E6A7B1}"/>
                </a:ext>
              </a:extLst>
            </p:cNvPr>
            <p:cNvSpPr/>
            <p:nvPr/>
          </p:nvSpPr>
          <p:spPr>
            <a:xfrm>
              <a:off x="5865374" y="13345279"/>
              <a:ext cx="5316253" cy="159335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dirty="0">
                  <a:solidFill>
                    <a:schemeClr val="tx1"/>
                  </a:solidFill>
                </a:rPr>
                <a:t>Discontinue antimicrobial(s) and may discharge hospitalized infant if all </a:t>
              </a:r>
              <a:r>
                <a:rPr lang="en-US" sz="900" dirty="0" err="1">
                  <a:solidFill>
                    <a:schemeClr val="tx1"/>
                  </a:solidFill>
                </a:rPr>
                <a:t>Cx</a:t>
              </a:r>
              <a:r>
                <a:rPr lang="en-US" sz="900" dirty="0">
                  <a:solidFill>
                    <a:schemeClr val="tx1"/>
                  </a:solidFill>
                </a:rPr>
                <a:t>- at 24-36 </a:t>
              </a:r>
              <a:r>
                <a:rPr lang="en-US" sz="900" dirty="0" err="1">
                  <a:solidFill>
                    <a:schemeClr val="tx1"/>
                  </a:solidFill>
                </a:rPr>
                <a:t>hrs</a:t>
              </a:r>
              <a:r>
                <a:rPr lang="en-US" sz="900" dirty="0">
                  <a:solidFill>
                    <a:schemeClr val="tx1"/>
                  </a:solidFill>
                </a:rPr>
                <a:t> and HSV PCR (if sent). </a:t>
              </a:r>
            </a:p>
            <a:p>
              <a:pPr marL="144661" indent="-144661">
                <a:buFont typeface="+mj-lt"/>
                <a:buAutoNum type="arabicPeriod"/>
              </a:pPr>
              <a:r>
                <a:rPr lang="en-US" sz="900" dirty="0">
                  <a:solidFill>
                    <a:schemeClr val="tx1"/>
                  </a:solidFill>
                </a:rPr>
                <a:t>Follow for duration of illness</a:t>
              </a:r>
            </a:p>
          </p:txBody>
        </p:sp>
      </p:grpSp>
      <p:sp>
        <p:nvSpPr>
          <p:cNvPr id="47" name="TextBox 46">
            <a:extLst>
              <a:ext uri="{FF2B5EF4-FFF2-40B4-BE49-F238E27FC236}">
                <a16:creationId xmlns:a16="http://schemas.microsoft.com/office/drawing/2014/main" id="{1C9560ED-7208-4CDD-8F10-43522EB012DE}"/>
              </a:ext>
            </a:extLst>
          </p:cNvPr>
          <p:cNvSpPr txBox="1"/>
          <p:nvPr/>
        </p:nvSpPr>
        <p:spPr>
          <a:xfrm>
            <a:off x="4208987" y="2595104"/>
            <a:ext cx="327334" cy="230832"/>
          </a:xfrm>
          <a:prstGeom prst="rect">
            <a:avLst/>
          </a:prstGeom>
          <a:noFill/>
        </p:spPr>
        <p:txBody>
          <a:bodyPr wrap="none" rtlCol="0">
            <a:spAutoFit/>
          </a:bodyPr>
          <a:lstStyle/>
          <a:p>
            <a:r>
              <a:rPr lang="en-US" sz="900"/>
              <a:t>NO</a:t>
            </a:r>
          </a:p>
        </p:txBody>
      </p:sp>
      <p:cxnSp>
        <p:nvCxnSpPr>
          <p:cNvPr id="77" name="Straight Arrow Connector 76">
            <a:extLst>
              <a:ext uri="{FF2B5EF4-FFF2-40B4-BE49-F238E27FC236}">
                <a16:creationId xmlns:a16="http://schemas.microsoft.com/office/drawing/2014/main" id="{F038CE39-B230-4638-BDC3-A7D05DBF00A5}"/>
              </a:ext>
            </a:extLst>
          </p:cNvPr>
          <p:cNvCxnSpPr>
            <a:cxnSpLocks/>
            <a:stCxn id="61" idx="2"/>
            <a:endCxn id="93" idx="0"/>
          </p:cNvCxnSpPr>
          <p:nvPr/>
        </p:nvCxnSpPr>
        <p:spPr>
          <a:xfrm>
            <a:off x="4190651" y="2573013"/>
            <a:ext cx="11139" cy="33622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625411C5-D5D7-4F59-B9EF-00A4CE9E0100}"/>
              </a:ext>
            </a:extLst>
          </p:cNvPr>
          <p:cNvSpPr txBox="1"/>
          <p:nvPr/>
        </p:nvSpPr>
        <p:spPr>
          <a:xfrm>
            <a:off x="4882423" y="2178715"/>
            <a:ext cx="372218" cy="230832"/>
          </a:xfrm>
          <a:prstGeom prst="rect">
            <a:avLst/>
          </a:prstGeom>
          <a:noFill/>
        </p:spPr>
        <p:txBody>
          <a:bodyPr wrap="none" rtlCol="0">
            <a:spAutoFit/>
          </a:bodyPr>
          <a:lstStyle/>
          <a:p>
            <a:r>
              <a:rPr lang="en-US" sz="900"/>
              <a:t>YES</a:t>
            </a:r>
          </a:p>
        </p:txBody>
      </p:sp>
      <p:cxnSp>
        <p:nvCxnSpPr>
          <p:cNvPr id="157" name="Straight Arrow Connector 156">
            <a:extLst>
              <a:ext uri="{FF2B5EF4-FFF2-40B4-BE49-F238E27FC236}">
                <a16:creationId xmlns:a16="http://schemas.microsoft.com/office/drawing/2014/main" id="{00D7B16E-858A-4382-BF22-F65F82060E72}"/>
              </a:ext>
            </a:extLst>
          </p:cNvPr>
          <p:cNvCxnSpPr>
            <a:cxnSpLocks/>
          </p:cNvCxnSpPr>
          <p:nvPr/>
        </p:nvCxnSpPr>
        <p:spPr>
          <a:xfrm>
            <a:off x="1558986" y="2765591"/>
            <a:ext cx="0" cy="39348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E1C1AE-A3A2-423E-B207-E871AEC0591F}"/>
              </a:ext>
            </a:extLst>
          </p:cNvPr>
          <p:cNvCxnSpPr>
            <a:cxnSpLocks/>
          </p:cNvCxnSpPr>
          <p:nvPr/>
        </p:nvCxnSpPr>
        <p:spPr>
          <a:xfrm flipV="1">
            <a:off x="4745864" y="2366246"/>
            <a:ext cx="567101" cy="558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2618E00-188A-4D56-949F-2D3A5884752D}"/>
              </a:ext>
            </a:extLst>
          </p:cNvPr>
          <p:cNvSpPr/>
          <p:nvPr/>
        </p:nvSpPr>
        <p:spPr>
          <a:xfrm>
            <a:off x="915374" y="1528811"/>
            <a:ext cx="1300938" cy="31817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Need not begin </a:t>
            </a:r>
            <a:r>
              <a:rPr lang="en-US" sz="900" dirty="0" err="1">
                <a:solidFill>
                  <a:schemeClr val="tx1"/>
                </a:solidFill>
              </a:rPr>
              <a:t>Pabx</a:t>
            </a:r>
            <a:r>
              <a:rPr lang="en-US" sz="900" dirty="0">
                <a:solidFill>
                  <a:schemeClr val="tx1"/>
                </a:solidFill>
              </a:rPr>
              <a:t> </a:t>
            </a:r>
            <a:r>
              <a:rPr lang="en-US" sz="900" b="1" dirty="0">
                <a:solidFill>
                  <a:schemeClr val="tx1"/>
                </a:solidFill>
              </a:rPr>
              <a:t>§</a:t>
            </a:r>
          </a:p>
        </p:txBody>
      </p:sp>
      <p:sp>
        <p:nvSpPr>
          <p:cNvPr id="61" name="Diamond 60">
            <a:extLst>
              <a:ext uri="{FF2B5EF4-FFF2-40B4-BE49-F238E27FC236}">
                <a16:creationId xmlns:a16="http://schemas.microsoft.com/office/drawing/2014/main" id="{F9272F4A-70AE-4D84-8E89-B03FD3C053C9}"/>
              </a:ext>
            </a:extLst>
          </p:cNvPr>
          <p:cNvSpPr/>
          <p:nvPr/>
        </p:nvSpPr>
        <p:spPr>
          <a:xfrm>
            <a:off x="3628628" y="2162308"/>
            <a:ext cx="1124047" cy="41070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obtained</a:t>
            </a:r>
          </a:p>
        </p:txBody>
      </p:sp>
      <p:sp>
        <p:nvSpPr>
          <p:cNvPr id="62" name="Diamond 61">
            <a:extLst>
              <a:ext uri="{FF2B5EF4-FFF2-40B4-BE49-F238E27FC236}">
                <a16:creationId xmlns:a16="http://schemas.microsoft.com/office/drawing/2014/main" id="{6154F734-BD3C-4F2B-A03B-4D0E008D15CF}"/>
              </a:ext>
            </a:extLst>
          </p:cNvPr>
          <p:cNvSpPr/>
          <p:nvPr/>
        </p:nvSpPr>
        <p:spPr>
          <a:xfrm>
            <a:off x="5312965" y="1945462"/>
            <a:ext cx="1739668" cy="8541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CSF pleocytosis</a:t>
            </a:r>
          </a:p>
          <a:p>
            <a:pPr algn="ctr"/>
            <a:r>
              <a:rPr lang="en-US" sz="900">
                <a:solidFill>
                  <a:schemeClr val="tx1"/>
                </a:solidFill>
              </a:rPr>
              <a:t>or traumatic</a:t>
            </a:r>
          </a:p>
        </p:txBody>
      </p:sp>
      <p:sp>
        <p:nvSpPr>
          <p:cNvPr id="80" name="Diamond 79">
            <a:extLst>
              <a:ext uri="{FF2B5EF4-FFF2-40B4-BE49-F238E27FC236}">
                <a16:creationId xmlns:a16="http://schemas.microsoft.com/office/drawing/2014/main" id="{5A7E8B14-457E-44DE-806C-8F226617A2C9}"/>
              </a:ext>
            </a:extLst>
          </p:cNvPr>
          <p:cNvSpPr/>
          <p:nvPr/>
        </p:nvSpPr>
        <p:spPr>
          <a:xfrm>
            <a:off x="805566" y="2071441"/>
            <a:ext cx="1506840" cy="67219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Plan to start </a:t>
            </a:r>
            <a:r>
              <a:rPr lang="en-US" sz="900" dirty="0" err="1">
                <a:solidFill>
                  <a:schemeClr val="tx1"/>
                </a:solidFill>
              </a:rPr>
              <a:t>Pabx</a:t>
            </a:r>
            <a:endParaRPr lang="en-US" sz="900" dirty="0">
              <a:solidFill>
                <a:schemeClr val="tx1"/>
              </a:solidFill>
            </a:endParaRPr>
          </a:p>
        </p:txBody>
      </p:sp>
      <p:sp>
        <p:nvSpPr>
          <p:cNvPr id="81" name="Rectangle 80">
            <a:extLst>
              <a:ext uri="{FF2B5EF4-FFF2-40B4-BE49-F238E27FC236}">
                <a16:creationId xmlns:a16="http://schemas.microsoft.com/office/drawing/2014/main" id="{28969122-907C-461A-BF1C-8D3B43FC358F}"/>
              </a:ext>
            </a:extLst>
          </p:cNvPr>
          <p:cNvSpPr/>
          <p:nvPr/>
        </p:nvSpPr>
        <p:spPr>
          <a:xfrm>
            <a:off x="2572774" y="2180752"/>
            <a:ext cx="660473" cy="43587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Perform LP</a:t>
            </a:r>
          </a:p>
        </p:txBody>
      </p:sp>
      <p:sp>
        <p:nvSpPr>
          <p:cNvPr id="79" name="Rectangle 78">
            <a:extLst>
              <a:ext uri="{FF2B5EF4-FFF2-40B4-BE49-F238E27FC236}">
                <a16:creationId xmlns:a16="http://schemas.microsoft.com/office/drawing/2014/main" id="{56C42401-4A8D-47BD-B045-C54A3D5F347D}"/>
              </a:ext>
            </a:extLst>
          </p:cNvPr>
          <p:cNvSpPr/>
          <p:nvPr/>
        </p:nvSpPr>
        <p:spPr>
          <a:xfrm>
            <a:off x="7425557" y="1989070"/>
            <a:ext cx="1484642" cy="76551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chemeClr val="tx1"/>
                </a:solidFill>
              </a:rPr>
              <a:t>ADMIT</a:t>
            </a:r>
          </a:p>
          <a:p>
            <a:pPr marL="171450" indent="-171450">
              <a:buFont typeface="+mj-lt"/>
              <a:buAutoNum type="arabicPeriod"/>
            </a:pPr>
            <a:r>
              <a:rPr lang="en-US" sz="900">
                <a:solidFill>
                  <a:schemeClr val="tx1"/>
                </a:solidFill>
              </a:rPr>
              <a:t>Administer </a:t>
            </a:r>
            <a:r>
              <a:rPr lang="en-US" sz="900" err="1">
                <a:solidFill>
                  <a:schemeClr val="tx1"/>
                </a:solidFill>
              </a:rPr>
              <a:t>Pabx</a:t>
            </a:r>
            <a:endParaRPr lang="en-US" sz="900">
              <a:solidFill>
                <a:schemeClr val="tx1"/>
              </a:solidFill>
            </a:endParaRPr>
          </a:p>
          <a:p>
            <a:pPr marL="171450" indent="-171450">
              <a:buFont typeface="+mj-lt"/>
              <a:buAutoNum type="arabicPeriod"/>
            </a:pPr>
            <a:r>
              <a:rPr lang="en-US" sz="900">
                <a:solidFill>
                  <a:schemeClr val="tx1"/>
                </a:solidFill>
              </a:rPr>
              <a:t>If CSF pleocytosis </a:t>
            </a:r>
            <a:r>
              <a:rPr lang="en-US" sz="900" b="1">
                <a:solidFill>
                  <a:schemeClr val="tx1"/>
                </a:solidFill>
              </a:rPr>
              <a:t>‡</a:t>
            </a:r>
            <a:r>
              <a:rPr lang="en-US" sz="900">
                <a:solidFill>
                  <a:schemeClr val="tx1"/>
                </a:solidFill>
              </a:rPr>
              <a:t>, then assess for cause and consider acyclovir</a:t>
            </a:r>
          </a:p>
        </p:txBody>
      </p:sp>
      <p:cxnSp>
        <p:nvCxnSpPr>
          <p:cNvPr id="82" name="Straight Arrow Connector 81">
            <a:extLst>
              <a:ext uri="{FF2B5EF4-FFF2-40B4-BE49-F238E27FC236}">
                <a16:creationId xmlns:a16="http://schemas.microsoft.com/office/drawing/2014/main" id="{91AB384D-00DE-4CF2-BCC4-9E019E01DE2D}"/>
              </a:ext>
            </a:extLst>
          </p:cNvPr>
          <p:cNvCxnSpPr>
            <a:cxnSpLocks/>
            <a:endCxn id="61" idx="1"/>
          </p:cNvCxnSpPr>
          <p:nvPr/>
        </p:nvCxnSpPr>
        <p:spPr>
          <a:xfrm flipV="1">
            <a:off x="3227926" y="2367660"/>
            <a:ext cx="400702" cy="150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54A3E7-01E4-4456-95D8-935E385B2C73}"/>
              </a:ext>
            </a:extLst>
          </p:cNvPr>
          <p:cNvCxnSpPr>
            <a:cxnSpLocks/>
            <a:endCxn id="81" idx="1"/>
          </p:cNvCxnSpPr>
          <p:nvPr/>
        </p:nvCxnSpPr>
        <p:spPr>
          <a:xfrm flipV="1">
            <a:off x="2295868" y="2398690"/>
            <a:ext cx="276907" cy="743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0F167FE-8D40-4E9C-A27E-29B3F60D7FB6}"/>
              </a:ext>
            </a:extLst>
          </p:cNvPr>
          <p:cNvCxnSpPr>
            <a:cxnSpLocks/>
            <a:stCxn id="62" idx="3"/>
            <a:endCxn id="79" idx="1"/>
          </p:cNvCxnSpPr>
          <p:nvPr/>
        </p:nvCxnSpPr>
        <p:spPr>
          <a:xfrm flipV="1">
            <a:off x="7052633" y="2371828"/>
            <a:ext cx="372924" cy="69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76B7ADB-18A3-4392-862B-A5B521C1906A}"/>
              </a:ext>
            </a:extLst>
          </p:cNvPr>
          <p:cNvSpPr txBox="1"/>
          <p:nvPr/>
        </p:nvSpPr>
        <p:spPr>
          <a:xfrm>
            <a:off x="6227314" y="2758941"/>
            <a:ext cx="327334" cy="230832"/>
          </a:xfrm>
          <a:prstGeom prst="rect">
            <a:avLst/>
          </a:prstGeom>
          <a:noFill/>
        </p:spPr>
        <p:txBody>
          <a:bodyPr wrap="none" rtlCol="0">
            <a:spAutoFit/>
          </a:bodyPr>
          <a:lstStyle/>
          <a:p>
            <a:r>
              <a:rPr lang="en-US" sz="900"/>
              <a:t>NO</a:t>
            </a:r>
          </a:p>
        </p:txBody>
      </p:sp>
      <p:sp>
        <p:nvSpPr>
          <p:cNvPr id="92" name="TextBox 91">
            <a:extLst>
              <a:ext uri="{FF2B5EF4-FFF2-40B4-BE49-F238E27FC236}">
                <a16:creationId xmlns:a16="http://schemas.microsoft.com/office/drawing/2014/main" id="{C592D96C-44C1-4C64-82EF-C69E30DCF25D}"/>
              </a:ext>
            </a:extLst>
          </p:cNvPr>
          <p:cNvSpPr txBox="1"/>
          <p:nvPr/>
        </p:nvSpPr>
        <p:spPr>
          <a:xfrm>
            <a:off x="1565843" y="2799576"/>
            <a:ext cx="327334" cy="230832"/>
          </a:xfrm>
          <a:prstGeom prst="rect">
            <a:avLst/>
          </a:prstGeom>
          <a:noFill/>
        </p:spPr>
        <p:txBody>
          <a:bodyPr wrap="none" rtlCol="0">
            <a:spAutoFit/>
          </a:bodyPr>
          <a:lstStyle/>
          <a:p>
            <a:r>
              <a:rPr lang="en-US" sz="900"/>
              <a:t>NO</a:t>
            </a:r>
          </a:p>
        </p:txBody>
      </p:sp>
      <p:sp>
        <p:nvSpPr>
          <p:cNvPr id="93" name="Rectangle 92">
            <a:extLst>
              <a:ext uri="{FF2B5EF4-FFF2-40B4-BE49-F238E27FC236}">
                <a16:creationId xmlns:a16="http://schemas.microsoft.com/office/drawing/2014/main" id="{9FCF0885-BB2A-4CE5-AADE-817E29870717}"/>
              </a:ext>
            </a:extLst>
          </p:cNvPr>
          <p:cNvSpPr/>
          <p:nvPr/>
        </p:nvSpPr>
        <p:spPr>
          <a:xfrm>
            <a:off x="3263100" y="2909233"/>
            <a:ext cx="1877381" cy="56986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a:solidFill>
                <a:schemeClr val="tx1"/>
              </a:solidFill>
            </a:endParaRPr>
          </a:p>
          <a:p>
            <a:pPr marL="171450" indent="-171450">
              <a:buAutoNum type="arabicPeriod"/>
            </a:pPr>
            <a:r>
              <a:rPr lang="en-US" sz="900">
                <a:solidFill>
                  <a:schemeClr val="tx1"/>
                </a:solidFill>
              </a:rPr>
              <a:t>ADMIT</a:t>
            </a:r>
          </a:p>
          <a:p>
            <a:pPr marL="171450" indent="-171450">
              <a:buAutoNum type="arabicPeriod"/>
            </a:pPr>
            <a:r>
              <a:rPr lang="en-US" sz="900">
                <a:solidFill>
                  <a:schemeClr val="tx1"/>
                </a:solidFill>
              </a:rPr>
              <a:t>May withhold </a:t>
            </a:r>
            <a:r>
              <a:rPr lang="en-US" sz="900" err="1">
                <a:solidFill>
                  <a:schemeClr val="tx1"/>
                </a:solidFill>
              </a:rPr>
              <a:t>Pabx</a:t>
            </a:r>
            <a:endParaRPr lang="en-US" sz="900">
              <a:solidFill>
                <a:schemeClr val="tx1"/>
              </a:solidFill>
            </a:endParaRPr>
          </a:p>
          <a:p>
            <a:pPr marL="171450" indent="-171450">
              <a:buAutoNum type="arabicPeriod"/>
            </a:pPr>
            <a:r>
              <a:rPr lang="en-US" sz="900">
                <a:solidFill>
                  <a:schemeClr val="tx1"/>
                </a:solidFill>
              </a:rPr>
              <a:t>If starting </a:t>
            </a:r>
            <a:r>
              <a:rPr lang="en-US" sz="900" err="1">
                <a:solidFill>
                  <a:schemeClr val="tx1"/>
                </a:solidFill>
              </a:rPr>
              <a:t>Pabx</a:t>
            </a:r>
            <a:r>
              <a:rPr lang="en-US" sz="900">
                <a:solidFill>
                  <a:schemeClr val="tx1"/>
                </a:solidFill>
              </a:rPr>
              <a:t>, should re-attempt LP</a:t>
            </a:r>
          </a:p>
          <a:p>
            <a:endParaRPr lang="en-US" sz="900">
              <a:solidFill>
                <a:schemeClr val="tx1"/>
              </a:solidFill>
            </a:endParaRPr>
          </a:p>
        </p:txBody>
      </p:sp>
      <p:sp>
        <p:nvSpPr>
          <p:cNvPr id="97" name="TextBox 96">
            <a:extLst>
              <a:ext uri="{FF2B5EF4-FFF2-40B4-BE49-F238E27FC236}">
                <a16:creationId xmlns:a16="http://schemas.microsoft.com/office/drawing/2014/main" id="{92D27113-DC53-4DD9-BEA2-0A4AFF205D13}"/>
              </a:ext>
            </a:extLst>
          </p:cNvPr>
          <p:cNvSpPr txBox="1"/>
          <p:nvPr/>
        </p:nvSpPr>
        <p:spPr>
          <a:xfrm>
            <a:off x="7076933" y="2123688"/>
            <a:ext cx="372218" cy="230832"/>
          </a:xfrm>
          <a:prstGeom prst="rect">
            <a:avLst/>
          </a:prstGeom>
          <a:noFill/>
        </p:spPr>
        <p:txBody>
          <a:bodyPr wrap="none" rtlCol="0">
            <a:spAutoFit/>
          </a:bodyPr>
          <a:lstStyle/>
          <a:p>
            <a:r>
              <a:rPr lang="en-US" sz="900"/>
              <a:t>YES</a:t>
            </a:r>
          </a:p>
        </p:txBody>
      </p:sp>
      <p:sp>
        <p:nvSpPr>
          <p:cNvPr id="100" name="TextBox 99">
            <a:extLst>
              <a:ext uri="{FF2B5EF4-FFF2-40B4-BE49-F238E27FC236}">
                <a16:creationId xmlns:a16="http://schemas.microsoft.com/office/drawing/2014/main" id="{89EDAB2C-B45A-449D-900E-7FB4E2E821B2}"/>
              </a:ext>
            </a:extLst>
          </p:cNvPr>
          <p:cNvSpPr txBox="1"/>
          <p:nvPr/>
        </p:nvSpPr>
        <p:spPr>
          <a:xfrm>
            <a:off x="2253153" y="2162687"/>
            <a:ext cx="372218" cy="230832"/>
          </a:xfrm>
          <a:prstGeom prst="rect">
            <a:avLst/>
          </a:prstGeom>
          <a:noFill/>
        </p:spPr>
        <p:txBody>
          <a:bodyPr wrap="none" rtlCol="0">
            <a:spAutoFit/>
          </a:bodyPr>
          <a:lstStyle/>
          <a:p>
            <a:r>
              <a:rPr lang="en-US" sz="900"/>
              <a:t>YES</a:t>
            </a:r>
          </a:p>
        </p:txBody>
      </p:sp>
      <p:sp>
        <p:nvSpPr>
          <p:cNvPr id="103" name="Diamond 102">
            <a:extLst>
              <a:ext uri="{FF2B5EF4-FFF2-40B4-BE49-F238E27FC236}">
                <a16:creationId xmlns:a16="http://schemas.microsoft.com/office/drawing/2014/main" id="{95CB925A-95D5-49AA-8347-87F0F5B0E8F8}"/>
              </a:ext>
            </a:extLst>
          </p:cNvPr>
          <p:cNvSpPr/>
          <p:nvPr/>
        </p:nvSpPr>
        <p:spPr>
          <a:xfrm>
            <a:off x="3465485" y="3878130"/>
            <a:ext cx="1506840" cy="67219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Pathogen or Source identified</a:t>
            </a:r>
          </a:p>
        </p:txBody>
      </p:sp>
      <p:sp>
        <p:nvSpPr>
          <p:cNvPr id="104" name="TextBox 103">
            <a:extLst>
              <a:ext uri="{FF2B5EF4-FFF2-40B4-BE49-F238E27FC236}">
                <a16:creationId xmlns:a16="http://schemas.microsoft.com/office/drawing/2014/main" id="{49956B85-875D-49DC-B649-7EE3C925611E}"/>
              </a:ext>
            </a:extLst>
          </p:cNvPr>
          <p:cNvSpPr txBox="1"/>
          <p:nvPr/>
        </p:nvSpPr>
        <p:spPr>
          <a:xfrm>
            <a:off x="4256327" y="4536902"/>
            <a:ext cx="327334" cy="230832"/>
          </a:xfrm>
          <a:prstGeom prst="rect">
            <a:avLst/>
          </a:prstGeom>
          <a:noFill/>
        </p:spPr>
        <p:txBody>
          <a:bodyPr wrap="none" rtlCol="0">
            <a:spAutoFit/>
          </a:bodyPr>
          <a:lstStyle/>
          <a:p>
            <a:r>
              <a:rPr lang="en-US" sz="900"/>
              <a:t>NO</a:t>
            </a:r>
          </a:p>
        </p:txBody>
      </p:sp>
      <p:cxnSp>
        <p:nvCxnSpPr>
          <p:cNvPr id="105" name="Straight Arrow Connector 104">
            <a:extLst>
              <a:ext uri="{FF2B5EF4-FFF2-40B4-BE49-F238E27FC236}">
                <a16:creationId xmlns:a16="http://schemas.microsoft.com/office/drawing/2014/main" id="{B4EB5B21-A46A-4D06-A4C6-0C73701AC376}"/>
              </a:ext>
            </a:extLst>
          </p:cNvPr>
          <p:cNvCxnSpPr>
            <a:cxnSpLocks/>
          </p:cNvCxnSpPr>
          <p:nvPr/>
        </p:nvCxnSpPr>
        <p:spPr>
          <a:xfrm>
            <a:off x="4218905" y="4550327"/>
            <a:ext cx="0" cy="20387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985AA9D4-F58D-4E7C-96FC-3CD5FC93933E}"/>
              </a:ext>
            </a:extLst>
          </p:cNvPr>
          <p:cNvCxnSpPr>
            <a:cxnSpLocks/>
            <a:stCxn id="33" idx="2"/>
            <a:endCxn id="103" idx="0"/>
          </p:cNvCxnSpPr>
          <p:nvPr/>
        </p:nvCxnSpPr>
        <p:spPr>
          <a:xfrm rot="16200000" flipH="1">
            <a:off x="2635383" y="2294608"/>
            <a:ext cx="462940" cy="2704103"/>
          </a:xfrm>
          <a:prstGeom prst="bentConnector3">
            <a:avLst>
              <a:gd name="adj1" fmla="val 5000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BC0D5933-24FA-4688-A937-CA10A9103B3F}"/>
              </a:ext>
            </a:extLst>
          </p:cNvPr>
          <p:cNvCxnSpPr>
            <a:cxnSpLocks/>
            <a:stCxn id="93" idx="2"/>
            <a:endCxn id="103" idx="0"/>
          </p:cNvCxnSpPr>
          <p:nvPr/>
        </p:nvCxnSpPr>
        <p:spPr>
          <a:xfrm>
            <a:off x="4201791" y="3479097"/>
            <a:ext cx="17114" cy="39903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D46A9011-C881-4AEF-B19E-B92661EFE89F}"/>
              </a:ext>
            </a:extLst>
          </p:cNvPr>
          <p:cNvCxnSpPr>
            <a:cxnSpLocks/>
            <a:stCxn id="79" idx="2"/>
            <a:endCxn id="103" idx="0"/>
          </p:cNvCxnSpPr>
          <p:nvPr/>
        </p:nvCxnSpPr>
        <p:spPr>
          <a:xfrm rot="5400000">
            <a:off x="5631620" y="1341871"/>
            <a:ext cx="1123544" cy="3948974"/>
          </a:xfrm>
          <a:prstGeom prst="bentConnector3">
            <a:avLst>
              <a:gd name="adj1" fmla="val 79163"/>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054C0D8-A29B-428F-B600-8DFB899ABE10}"/>
              </a:ext>
            </a:extLst>
          </p:cNvPr>
          <p:cNvCxnSpPr>
            <a:cxnSpLocks/>
            <a:stCxn id="54" idx="2"/>
          </p:cNvCxnSpPr>
          <p:nvPr/>
        </p:nvCxnSpPr>
        <p:spPr>
          <a:xfrm flipH="1">
            <a:off x="1557251" y="1846984"/>
            <a:ext cx="8592" cy="22445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5937264-021D-4F5D-A87E-BBAFB67D2BC0}"/>
              </a:ext>
            </a:extLst>
          </p:cNvPr>
          <p:cNvCxnSpPr>
            <a:cxnSpLocks/>
            <a:stCxn id="62" idx="2"/>
            <a:endCxn id="51" idx="0"/>
          </p:cNvCxnSpPr>
          <p:nvPr/>
        </p:nvCxnSpPr>
        <p:spPr>
          <a:xfrm>
            <a:off x="6182799" y="2799576"/>
            <a:ext cx="11268" cy="19599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AAC6826-3A01-47C0-BEC1-965F176F4D0F}"/>
              </a:ext>
            </a:extLst>
          </p:cNvPr>
          <p:cNvSpPr/>
          <p:nvPr/>
        </p:nvSpPr>
        <p:spPr>
          <a:xfrm>
            <a:off x="5335501" y="2995567"/>
            <a:ext cx="1717132" cy="52624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a:solidFill>
                <a:schemeClr val="tx1"/>
              </a:solidFill>
            </a:endParaRPr>
          </a:p>
          <a:p>
            <a:r>
              <a:rPr lang="en-US" sz="900">
                <a:solidFill>
                  <a:schemeClr val="tx1"/>
                </a:solidFill>
              </a:rPr>
              <a:t>If plan to observe at home</a:t>
            </a:r>
            <a:r>
              <a:rPr lang="en-US" sz="900" b="1" baseline="30000">
                <a:solidFill>
                  <a:schemeClr val="tx1"/>
                </a:solidFill>
              </a:rPr>
              <a:t>||</a:t>
            </a:r>
            <a:r>
              <a:rPr lang="en-US" sz="900">
                <a:solidFill>
                  <a:schemeClr val="tx1"/>
                </a:solidFill>
              </a:rPr>
              <a:t>, then</a:t>
            </a:r>
          </a:p>
          <a:p>
            <a:r>
              <a:rPr lang="en-US" sz="900">
                <a:solidFill>
                  <a:schemeClr val="tx1"/>
                </a:solidFill>
              </a:rPr>
              <a:t>a. Administer </a:t>
            </a:r>
            <a:r>
              <a:rPr lang="en-US" sz="900" err="1">
                <a:solidFill>
                  <a:schemeClr val="tx1"/>
                </a:solidFill>
              </a:rPr>
              <a:t>Pabx</a:t>
            </a:r>
            <a:endParaRPr lang="en-US" sz="900">
              <a:solidFill>
                <a:schemeClr val="tx1"/>
              </a:solidFill>
            </a:endParaRPr>
          </a:p>
          <a:p>
            <a:r>
              <a:rPr lang="en-US" sz="900">
                <a:solidFill>
                  <a:schemeClr val="tx1"/>
                </a:solidFill>
              </a:rPr>
              <a:t>b. Reassess in 24 </a:t>
            </a:r>
            <a:r>
              <a:rPr lang="en-US" sz="900" err="1">
                <a:solidFill>
                  <a:schemeClr val="tx1"/>
                </a:solidFill>
              </a:rPr>
              <a:t>hrs</a:t>
            </a:r>
            <a:endParaRPr lang="en-US" sz="900">
              <a:solidFill>
                <a:schemeClr val="tx1"/>
              </a:solidFill>
            </a:endParaRPr>
          </a:p>
          <a:p>
            <a:endParaRPr lang="en-US" sz="900">
              <a:solidFill>
                <a:schemeClr val="tx1"/>
              </a:solidFill>
            </a:endParaRPr>
          </a:p>
        </p:txBody>
      </p:sp>
      <p:cxnSp>
        <p:nvCxnSpPr>
          <p:cNvPr id="44" name="Connector: Elbow 43">
            <a:extLst>
              <a:ext uri="{FF2B5EF4-FFF2-40B4-BE49-F238E27FC236}">
                <a16:creationId xmlns:a16="http://schemas.microsoft.com/office/drawing/2014/main" id="{0E6D887F-F26A-4BEA-9D01-0A5BC3DD093C}"/>
              </a:ext>
            </a:extLst>
          </p:cNvPr>
          <p:cNvCxnSpPr>
            <a:cxnSpLocks/>
            <a:stCxn id="93" idx="1"/>
            <a:endCxn id="81" idx="2"/>
          </p:cNvCxnSpPr>
          <p:nvPr/>
        </p:nvCxnSpPr>
        <p:spPr>
          <a:xfrm rot="10800000">
            <a:off x="2903012" y="2616629"/>
            <a:ext cx="360089" cy="577536"/>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6C28E358-DD80-4C2C-998F-007384DEA6DF}"/>
              </a:ext>
            </a:extLst>
          </p:cNvPr>
          <p:cNvGrpSpPr/>
          <p:nvPr/>
        </p:nvGrpSpPr>
        <p:grpSpPr>
          <a:xfrm>
            <a:off x="4962017" y="3716123"/>
            <a:ext cx="3134238" cy="1458587"/>
            <a:chOff x="7848165" y="4335348"/>
            <a:chExt cx="4178984" cy="1944782"/>
          </a:xfrm>
        </p:grpSpPr>
        <p:sp>
          <p:nvSpPr>
            <p:cNvPr id="57" name="Rectangle 56">
              <a:extLst>
                <a:ext uri="{FF2B5EF4-FFF2-40B4-BE49-F238E27FC236}">
                  <a16:creationId xmlns:a16="http://schemas.microsoft.com/office/drawing/2014/main" id="{B25E845D-3535-4EDD-BCCA-E8C84DA7738E}"/>
                </a:ext>
              </a:extLst>
            </p:cNvPr>
            <p:cNvSpPr/>
            <p:nvPr/>
          </p:nvSpPr>
          <p:spPr>
            <a:xfrm>
              <a:off x="10701609" y="4335348"/>
              <a:ext cx="1325540" cy="138861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Complete treatment with oral antimicrobials </a:t>
              </a:r>
            </a:p>
            <a:p>
              <a:pPr marL="171450" indent="-171450">
                <a:buFont typeface="+mj-lt"/>
                <a:buAutoNum type="arabicPeriod"/>
              </a:pPr>
              <a:r>
                <a:rPr lang="en-US" sz="900" dirty="0">
                  <a:solidFill>
                    <a:schemeClr val="tx1"/>
                  </a:solidFill>
                </a:rPr>
                <a:t>Discharge hospitalized infants</a:t>
              </a:r>
            </a:p>
          </p:txBody>
        </p:sp>
        <p:cxnSp>
          <p:nvCxnSpPr>
            <p:cNvPr id="58" name="Straight Arrow Connector 57">
              <a:extLst>
                <a:ext uri="{FF2B5EF4-FFF2-40B4-BE49-F238E27FC236}">
                  <a16:creationId xmlns:a16="http://schemas.microsoft.com/office/drawing/2014/main" id="{F45DCA2E-F4FE-4D02-B80F-2408EC15B89B}"/>
                </a:ext>
              </a:extLst>
            </p:cNvPr>
            <p:cNvCxnSpPr>
              <a:cxnSpLocks/>
              <a:endCxn id="60" idx="1"/>
            </p:cNvCxnSpPr>
            <p:nvPr/>
          </p:nvCxnSpPr>
          <p:spPr>
            <a:xfrm>
              <a:off x="7848165" y="5004032"/>
              <a:ext cx="475903" cy="501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0A791DC-EDEA-4AAB-9B2D-5FA7EC1862F9}"/>
                </a:ext>
              </a:extLst>
            </p:cNvPr>
            <p:cNvSpPr txBox="1"/>
            <p:nvPr/>
          </p:nvSpPr>
          <p:spPr>
            <a:xfrm>
              <a:off x="7849574" y="4675985"/>
              <a:ext cx="522243" cy="307776"/>
            </a:xfrm>
            <a:prstGeom prst="rect">
              <a:avLst/>
            </a:prstGeom>
            <a:noFill/>
          </p:spPr>
          <p:txBody>
            <a:bodyPr wrap="square" rtlCol="0">
              <a:spAutoFit/>
            </a:bodyPr>
            <a:lstStyle/>
            <a:p>
              <a:r>
                <a:rPr lang="en-US" sz="900"/>
                <a:t>YES</a:t>
              </a:r>
            </a:p>
          </p:txBody>
        </p:sp>
        <p:sp>
          <p:nvSpPr>
            <p:cNvPr id="60" name="Diamond 59">
              <a:extLst>
                <a:ext uri="{FF2B5EF4-FFF2-40B4-BE49-F238E27FC236}">
                  <a16:creationId xmlns:a16="http://schemas.microsoft.com/office/drawing/2014/main" id="{9D4BD2B9-0265-46EB-8027-6EE127A5013C}"/>
                </a:ext>
              </a:extLst>
            </p:cNvPr>
            <p:cNvSpPr/>
            <p:nvPr/>
          </p:nvSpPr>
          <p:spPr>
            <a:xfrm>
              <a:off x="8324068" y="4449752"/>
              <a:ext cx="2004243" cy="111859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Source limited to urine</a:t>
              </a:r>
            </a:p>
          </p:txBody>
        </p:sp>
        <p:sp>
          <p:nvSpPr>
            <p:cNvPr id="63" name="Rectangle 62">
              <a:extLst>
                <a:ext uri="{FF2B5EF4-FFF2-40B4-BE49-F238E27FC236}">
                  <a16:creationId xmlns:a16="http://schemas.microsoft.com/office/drawing/2014/main" id="{0892100E-C96C-494D-B926-E709B44BB819}"/>
                </a:ext>
              </a:extLst>
            </p:cNvPr>
            <p:cNvSpPr/>
            <p:nvPr/>
          </p:nvSpPr>
          <p:spPr>
            <a:xfrm>
              <a:off x="8900347" y="5817560"/>
              <a:ext cx="880630" cy="46257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64" name="TextBox 63">
              <a:extLst>
                <a:ext uri="{FF2B5EF4-FFF2-40B4-BE49-F238E27FC236}">
                  <a16:creationId xmlns:a16="http://schemas.microsoft.com/office/drawing/2014/main" id="{B61A10A4-908A-442A-A38C-325D1C001915}"/>
                </a:ext>
              </a:extLst>
            </p:cNvPr>
            <p:cNvSpPr txBox="1"/>
            <p:nvPr/>
          </p:nvSpPr>
          <p:spPr>
            <a:xfrm>
              <a:off x="10253840" y="4691659"/>
              <a:ext cx="522243" cy="307776"/>
            </a:xfrm>
            <a:prstGeom prst="rect">
              <a:avLst/>
            </a:prstGeom>
            <a:noFill/>
          </p:spPr>
          <p:txBody>
            <a:bodyPr wrap="square" rtlCol="0">
              <a:spAutoFit/>
            </a:bodyPr>
            <a:lstStyle/>
            <a:p>
              <a:r>
                <a:rPr lang="en-US" sz="900"/>
                <a:t>YES</a:t>
              </a:r>
            </a:p>
          </p:txBody>
        </p:sp>
        <p:cxnSp>
          <p:nvCxnSpPr>
            <p:cNvPr id="65" name="Straight Arrow Connector 64">
              <a:extLst>
                <a:ext uri="{FF2B5EF4-FFF2-40B4-BE49-F238E27FC236}">
                  <a16:creationId xmlns:a16="http://schemas.microsoft.com/office/drawing/2014/main" id="{C5E2F3C6-C5CA-4E7D-B07A-EE932E3659DE}"/>
                </a:ext>
              </a:extLst>
            </p:cNvPr>
            <p:cNvCxnSpPr>
              <a:cxnSpLocks/>
              <a:stCxn id="60" idx="3"/>
            </p:cNvCxnSpPr>
            <p:nvPr/>
          </p:nvCxnSpPr>
          <p:spPr>
            <a:xfrm flipV="1">
              <a:off x="10328311" y="5004032"/>
              <a:ext cx="373298" cy="501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767B968-9F26-49B9-A6CF-1E03931BBD13}"/>
                </a:ext>
              </a:extLst>
            </p:cNvPr>
            <p:cNvCxnSpPr>
              <a:cxnSpLocks/>
            </p:cNvCxnSpPr>
            <p:nvPr/>
          </p:nvCxnSpPr>
          <p:spPr>
            <a:xfrm>
              <a:off x="9337306" y="5574225"/>
              <a:ext cx="2438" cy="26498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81A71772-0407-4104-B4D8-C020E8EBE9A4}"/>
                </a:ext>
              </a:extLst>
            </p:cNvPr>
            <p:cNvSpPr txBox="1"/>
            <p:nvPr/>
          </p:nvSpPr>
          <p:spPr>
            <a:xfrm>
              <a:off x="9398156" y="5509201"/>
              <a:ext cx="436445" cy="307776"/>
            </a:xfrm>
            <a:prstGeom prst="rect">
              <a:avLst/>
            </a:prstGeom>
            <a:noFill/>
          </p:spPr>
          <p:txBody>
            <a:bodyPr wrap="none" rtlCol="0">
              <a:spAutoFit/>
            </a:bodyPr>
            <a:lstStyle/>
            <a:p>
              <a:r>
                <a:rPr lang="en-US" sz="900" dirty="0"/>
                <a:t>NO</a:t>
              </a:r>
            </a:p>
          </p:txBody>
        </p:sp>
      </p:grpSp>
      <p:sp>
        <p:nvSpPr>
          <p:cNvPr id="49" name="Rectangle 48">
            <a:extLst>
              <a:ext uri="{FF2B5EF4-FFF2-40B4-BE49-F238E27FC236}">
                <a16:creationId xmlns:a16="http://schemas.microsoft.com/office/drawing/2014/main" id="{A7A73652-12CC-4088-98EE-A0B130F12FC1}"/>
              </a:ext>
            </a:extLst>
          </p:cNvPr>
          <p:cNvSpPr/>
          <p:nvPr/>
        </p:nvSpPr>
        <p:spPr>
          <a:xfrm>
            <a:off x="86065" y="3718120"/>
            <a:ext cx="3013857" cy="2468880"/>
          </a:xfrm>
          <a:prstGeom prst="rect">
            <a:avLst/>
          </a:prstGeom>
          <a:solidFill>
            <a:schemeClr val="bg1">
              <a:lumMod val="9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825" dirty="0">
              <a:solidFill>
                <a:sysClr val="windowText" lastClr="000000"/>
              </a:solidFill>
            </a:endParaRPr>
          </a:p>
          <a:p>
            <a:pPr lvl="0">
              <a:defRPr/>
            </a:pPr>
            <a:endParaRPr lang="en-US" sz="825" dirty="0">
              <a:solidFill>
                <a:sysClr val="windowText" lastClr="000000"/>
              </a:solidFill>
            </a:endParaRPr>
          </a:p>
          <a:p>
            <a:pPr lvl="0">
              <a:defRPr/>
            </a:pPr>
            <a:endParaRPr lang="en-US" sz="900" dirty="0">
              <a:solidFill>
                <a:sysClr val="windowText" lastClr="000000"/>
              </a:solidFill>
            </a:endParaRPr>
          </a:p>
          <a:p>
            <a:pPr lvl="0">
              <a:defRPr/>
            </a:pPr>
            <a:r>
              <a:rPr lang="en-US" sz="900" b="1" dirty="0">
                <a:solidFill>
                  <a:sysClr val="windowText" lastClr="000000"/>
                </a:solidFill>
              </a:rPr>
              <a:t>Footnotes:</a:t>
            </a:r>
          </a:p>
          <a:p>
            <a:r>
              <a:rPr lang="en-US" sz="900" b="1" dirty="0">
                <a:solidFill>
                  <a:schemeClr val="tx1"/>
                </a:solidFill>
              </a:rPr>
              <a:t>‡</a:t>
            </a:r>
            <a:r>
              <a:rPr lang="en-US" sz="900" dirty="0">
                <a:solidFill>
                  <a:schemeClr val="tx1"/>
                </a:solidFill>
              </a:rPr>
              <a:t>  Although uncommon, CSF pleocytosis may be due to HSV and prompt recognition and treatment is essential.</a:t>
            </a:r>
          </a:p>
          <a:p>
            <a:r>
              <a:rPr lang="en-US" sz="900" b="1" dirty="0">
                <a:solidFill>
                  <a:schemeClr val="tx1"/>
                </a:solidFill>
              </a:rPr>
              <a:t>§</a:t>
            </a:r>
            <a:r>
              <a:rPr lang="en-US" sz="900" dirty="0">
                <a:solidFill>
                  <a:schemeClr val="tx1"/>
                </a:solidFill>
              </a:rPr>
              <a:t>  Recommendations of starting on </a:t>
            </a:r>
            <a:r>
              <a:rPr lang="en-US" sz="900" dirty="0" err="1">
                <a:solidFill>
                  <a:schemeClr val="tx1"/>
                </a:solidFill>
              </a:rPr>
              <a:t>Pabx</a:t>
            </a:r>
            <a:endParaRPr lang="en-US" sz="900" dirty="0">
              <a:solidFill>
                <a:schemeClr val="tx1"/>
              </a:solidFill>
            </a:endParaRPr>
          </a:p>
          <a:p>
            <a:pPr>
              <a:defRPr/>
            </a:pPr>
            <a:r>
              <a:rPr lang="en-US" sz="900" b="1" baseline="30000" dirty="0">
                <a:solidFill>
                  <a:schemeClr val="tx1"/>
                </a:solidFill>
              </a:rPr>
              <a:t>||</a:t>
            </a:r>
            <a:r>
              <a:rPr lang="en-US" sz="900" b="1" dirty="0">
                <a:solidFill>
                  <a:schemeClr val="tx1"/>
                </a:solidFill>
              </a:rPr>
              <a:t> </a:t>
            </a:r>
            <a:r>
              <a:rPr lang="en-US" sz="900" dirty="0">
                <a:solidFill>
                  <a:sysClr val="windowText" lastClr="000000"/>
                </a:solidFill>
              </a:rPr>
              <a:t>If observed at home, then recommend prescription for oral antimicrobial if treating presumed UTI. Clinicians may manage infants at home if ALL following criteria are met: </a:t>
            </a:r>
            <a:r>
              <a:rPr lang="en-US" sz="900" b="1" dirty="0">
                <a:solidFill>
                  <a:sysClr val="windowText" lastClr="000000"/>
                </a:solidFill>
              </a:rPr>
              <a:t>1) Verbal teaching and written instructions </a:t>
            </a:r>
            <a:r>
              <a:rPr lang="en-US" sz="900" dirty="0">
                <a:solidFill>
                  <a:sysClr val="windowText" lastClr="000000"/>
                </a:solidFill>
              </a:rPr>
              <a:t>have been provided for monitoring throughout the period at home  </a:t>
            </a:r>
            <a:r>
              <a:rPr lang="en-US" sz="900" b="1" dirty="0">
                <a:solidFill>
                  <a:sysClr val="windowText" lastClr="000000"/>
                </a:solidFill>
              </a:rPr>
              <a:t>2)</a:t>
            </a:r>
            <a:r>
              <a:rPr lang="en-US" sz="900" dirty="0">
                <a:solidFill>
                  <a:sysClr val="windowText" lastClr="000000"/>
                </a:solidFill>
              </a:rPr>
              <a:t> Follow-up plans for </a:t>
            </a:r>
            <a:r>
              <a:rPr lang="en-US" sz="900" b="1" dirty="0">
                <a:solidFill>
                  <a:sysClr val="windowText" lastClr="000000"/>
                </a:solidFill>
              </a:rPr>
              <a:t>re-evaluation</a:t>
            </a:r>
            <a:r>
              <a:rPr lang="en-US" sz="900" dirty="0">
                <a:solidFill>
                  <a:sysClr val="windowText" lastClr="000000"/>
                </a:solidFill>
              </a:rPr>
              <a:t> have been developed and are in place </a:t>
            </a:r>
            <a:r>
              <a:rPr lang="en-US" sz="900" b="1" dirty="0">
                <a:solidFill>
                  <a:sysClr val="windowText" lastClr="000000"/>
                </a:solidFill>
              </a:rPr>
              <a:t>3) Plans have been developed and are in place in case of change in clinical status</a:t>
            </a:r>
            <a:r>
              <a:rPr lang="en-US" sz="900" dirty="0">
                <a:solidFill>
                  <a:sysClr val="windowText" lastClr="000000"/>
                </a:solidFill>
              </a:rPr>
              <a:t>, including means of communication between family and providers and access to emergency medical care.</a:t>
            </a:r>
          </a:p>
          <a:p>
            <a:pPr>
              <a:defRPr/>
            </a:pPr>
            <a:endParaRPr lang="en-US" sz="900" dirty="0">
              <a:solidFill>
                <a:sysClr val="windowText" lastClr="000000"/>
              </a:solidFill>
            </a:endParaRPr>
          </a:p>
          <a:p>
            <a:pPr>
              <a:defRPr/>
            </a:pPr>
            <a:r>
              <a:rPr lang="en-US" sz="900" b="1" u="sng" dirty="0">
                <a:solidFill>
                  <a:sysClr val="windowText" lastClr="000000"/>
                </a:solidFill>
              </a:rPr>
              <a:t>Guideline Terminology: </a:t>
            </a:r>
          </a:p>
          <a:p>
            <a:pPr>
              <a:defRPr/>
            </a:pPr>
            <a:r>
              <a:rPr lang="en-US" sz="900" dirty="0">
                <a:solidFill>
                  <a:sysClr val="windowText" lastClr="000000"/>
                </a:solidFill>
              </a:rPr>
              <a:t>“</a:t>
            </a:r>
            <a:r>
              <a:rPr lang="en-US" sz="900" b="1" dirty="0">
                <a:solidFill>
                  <a:sysClr val="windowText" lastClr="000000"/>
                </a:solidFill>
              </a:rPr>
              <a:t>May</a:t>
            </a:r>
            <a:r>
              <a:rPr lang="en-US" sz="900" dirty="0">
                <a:solidFill>
                  <a:sysClr val="windowText" lastClr="000000"/>
                </a:solidFill>
              </a:rPr>
              <a:t>” can be interpreted as “consider” and will depend on specific patient circumstances.  Pediatrics Consult may be helpful. </a:t>
            </a:r>
          </a:p>
        </p:txBody>
      </p:sp>
      <p:sp>
        <p:nvSpPr>
          <p:cNvPr id="50" name="TextBox 49">
            <a:extLst>
              <a:ext uri="{FF2B5EF4-FFF2-40B4-BE49-F238E27FC236}">
                <a16:creationId xmlns:a16="http://schemas.microsoft.com/office/drawing/2014/main" id="{9053B118-89AD-4A63-B40F-F90CC5C6744E}"/>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53" name="Title 1">
            <a:extLst>
              <a:ext uri="{FF2B5EF4-FFF2-40B4-BE49-F238E27FC236}">
                <a16:creationId xmlns:a16="http://schemas.microsoft.com/office/drawing/2014/main" id="{89B8E443-4DB8-44F8-BA08-71D1E62E96DF}"/>
              </a:ext>
            </a:extLst>
          </p:cNvPr>
          <p:cNvSpPr txBox="1">
            <a:spLocks/>
          </p:cNvSpPr>
          <p:nvPr/>
        </p:nvSpPr>
        <p:spPr bwMode="gray">
          <a:xfrm>
            <a:off x="474993" y="360458"/>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22-28 Days Old, Low-Risk, Well-Appearing Infant </a:t>
            </a:r>
          </a:p>
          <a:p>
            <a:r>
              <a:rPr lang="en-US" sz="2300" dirty="0">
                <a:solidFill>
                  <a:schemeClr val="tx1"/>
                </a:solidFill>
                <a:latin typeface="Microsoft Tai Le"/>
                <a:cs typeface="Microsoft Tai Le"/>
              </a:rPr>
              <a:t>with normal initial labs</a:t>
            </a:r>
            <a:endParaRPr lang="en-US" sz="2300" dirty="0">
              <a:solidFill>
                <a:schemeClr val="tx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621796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5560" y="362588"/>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22-28 Days Old, Low-Risk, Well-Appearing Infant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with normal initial labs</a:t>
            </a:r>
            <a:endParaRPr lang="en-US" sz="2200" dirty="0">
              <a:solidFill>
                <a:schemeClr val="tx1"/>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64483" y="3365077"/>
            <a:ext cx="8226436" cy="163121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Consult with Pediatrics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Admission</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Need not perform LP</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Need not administer parenteral antibiotic </a:t>
            </a:r>
          </a:p>
        </p:txBody>
      </p:sp>
      <p:sp>
        <p:nvSpPr>
          <p:cNvPr id="3" name="TextBox 2">
            <a:extLst>
              <a:ext uri="{FF2B5EF4-FFF2-40B4-BE49-F238E27FC236}">
                <a16:creationId xmlns:a16="http://schemas.microsoft.com/office/drawing/2014/main" id="{CB373D91-79DA-49A1-AD50-38BE4B74D05D}"/>
              </a:ext>
            </a:extLst>
          </p:cNvPr>
          <p:cNvSpPr txBox="1"/>
          <p:nvPr/>
        </p:nvSpPr>
        <p:spPr>
          <a:xfrm>
            <a:off x="458782" y="1324944"/>
            <a:ext cx="8226436" cy="1800493"/>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This infant is low risk </a:t>
            </a:r>
          </a:p>
          <a:p>
            <a:pPr marL="257175" indent="-257175">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22-28 days who had no high-risk criteria and normal inflammatory markers (temp &lt; 101.3F, WBC 5-15K, Bands &lt; 1.5k): </a:t>
            </a:r>
          </a:p>
          <a:p>
            <a:r>
              <a:rPr lang="en-US" sz="2100"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0/55 had bacteremia without meningitis </a:t>
            </a:r>
          </a:p>
          <a:p>
            <a:r>
              <a:rPr lang="en-US" sz="1500" i="1" dirty="0">
                <a:solidFill>
                  <a:sysClr val="windowText" lastClr="000000"/>
                </a:solidFill>
                <a:cs typeface="Microsoft Tai Le" panose="020B0502040204020203" pitchFamily="34" charset="0"/>
              </a:rPr>
              <a:t>		      			0/55 had meningitis</a:t>
            </a:r>
          </a:p>
        </p:txBody>
      </p:sp>
      <p:sp>
        <p:nvSpPr>
          <p:cNvPr id="7" name="TextBox 6">
            <a:extLst>
              <a:ext uri="{FF2B5EF4-FFF2-40B4-BE49-F238E27FC236}">
                <a16:creationId xmlns:a16="http://schemas.microsoft.com/office/drawing/2014/main" id="{36D784AB-03A7-4566-8644-1B83647B997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545606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4483" y="356124"/>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Infant, </a:t>
            </a:r>
            <a:r>
              <a:rPr lang="en-US" sz="2200" dirty="0">
                <a:solidFill>
                  <a:sysClr val="windowText" lastClr="000000"/>
                </a:solidFill>
                <a:latin typeface="Microsoft Tai Le" panose="020B0502040204020203" pitchFamily="34" charset="0"/>
                <a:cs typeface="Microsoft Tai Le" panose="020B0502040204020203" pitchFamily="34" charset="0"/>
              </a:rPr>
              <a:t>Isolated COVID-19 Positive </a:t>
            </a:r>
          </a:p>
        </p:txBody>
      </p:sp>
      <p:sp>
        <p:nvSpPr>
          <p:cNvPr id="9" name="Rectangle 8">
            <a:extLst>
              <a:ext uri="{FF2B5EF4-FFF2-40B4-BE49-F238E27FC236}">
                <a16:creationId xmlns:a16="http://schemas.microsoft.com/office/drawing/2014/main" id="{C95DA26A-CF1C-DF49-B317-718087E3A7BB}"/>
              </a:ext>
            </a:extLst>
          </p:cNvPr>
          <p:cNvSpPr/>
          <p:nvPr/>
        </p:nvSpPr>
        <p:spPr>
          <a:xfrm>
            <a:off x="505087" y="2875821"/>
            <a:ext cx="8226436" cy="2531462"/>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r>
              <a:rPr lang="en-US" sz="2000" dirty="0">
                <a:latin typeface="Microsoft Tai Le"/>
                <a:cs typeface="Microsoft Tai Le"/>
              </a:rPr>
              <a:t>For those at </a:t>
            </a:r>
            <a:r>
              <a:rPr lang="en-US" sz="2000" b="1" dirty="0">
                <a:latin typeface="Microsoft Tai Le"/>
                <a:cs typeface="Microsoft Tai Le"/>
              </a:rPr>
              <a:t>baseline low-risk:</a:t>
            </a:r>
          </a:p>
          <a:p>
            <a:pPr marL="685800" lvl="1" indent="-342900">
              <a:buFont typeface="Arial" panose="020B0604020202020204" pitchFamily="34" charset="0"/>
              <a:buChar char="•"/>
            </a:pPr>
            <a:r>
              <a:rPr lang="en-US" sz="2000" b="1" dirty="0">
                <a:latin typeface="Microsoft Tai Le"/>
                <a:cs typeface="Microsoft Tai Le"/>
              </a:rPr>
              <a:t>Age 7-21 days: </a:t>
            </a:r>
            <a:r>
              <a:rPr lang="en-US" sz="2000" dirty="0">
                <a:latin typeface="Microsoft Tai Le"/>
                <a:cs typeface="Microsoft Tai Le"/>
              </a:rPr>
              <a:t>Consult with Pediatrics</a:t>
            </a:r>
          </a:p>
          <a:p>
            <a:pPr marL="685800" lvl="1" indent="-342900">
              <a:buFont typeface="Arial" panose="020B0604020202020204" pitchFamily="34" charset="0"/>
              <a:buChar char="•"/>
              <a:defRPr/>
            </a:pPr>
            <a:r>
              <a:rPr lang="en-US" sz="2000" b="1" dirty="0">
                <a:latin typeface="Microsoft Tai Le"/>
                <a:cs typeface="Microsoft Tai Le"/>
              </a:rPr>
              <a:t>Age 22-60 days: </a:t>
            </a:r>
            <a:endParaRPr lang="en-US" sz="2000" b="1" dirty="0">
              <a:latin typeface="Microsoft Tai Le" panose="020B0502040204020203" pitchFamily="34" charset="0"/>
              <a:cs typeface="Microsoft Tai Le" panose="020B0502040204020203" pitchFamily="34" charset="0"/>
            </a:endParaRPr>
          </a:p>
          <a:p>
            <a:pPr marL="1028700" lvl="2" indent="-342900">
              <a:buFont typeface="Arial" panose="020B0604020202020204" pitchFamily="34" charset="0"/>
              <a:buChar char="•"/>
              <a:defRPr/>
            </a:pPr>
            <a:r>
              <a:rPr lang="en-US" sz="2000" dirty="0">
                <a:latin typeface="Microsoft Tai Le"/>
                <a:cs typeface="Microsoft Tai Le"/>
              </a:rPr>
              <a:t>CBC and blood culture, UA and urine culture</a:t>
            </a:r>
          </a:p>
          <a:p>
            <a:pPr marL="1028700" lvl="2" indent="-342900">
              <a:buFont typeface="Arial" panose="020B0604020202020204" pitchFamily="34" charset="0"/>
              <a:buChar char="•"/>
              <a:defRPr/>
            </a:pPr>
            <a:r>
              <a:rPr lang="en-US" sz="2000" dirty="0">
                <a:latin typeface="Microsoft Tai Le"/>
                <a:cs typeface="Microsoft Tai Le"/>
              </a:rPr>
              <a:t>Disposition in discussion with Pediatrics</a:t>
            </a:r>
          </a:p>
          <a:p>
            <a:pPr marL="685800" lvl="1" indent="-342900">
              <a:buFont typeface="Arial" panose="020B0604020202020204" pitchFamily="34" charset="0"/>
              <a:buChar char="•"/>
            </a:pPr>
            <a:r>
              <a:rPr lang="en-US" sz="2000" b="1" dirty="0">
                <a:latin typeface="Microsoft Tai Le"/>
                <a:cs typeface="Microsoft Tai Le"/>
              </a:rPr>
              <a:t>61-90 days: </a:t>
            </a:r>
            <a:r>
              <a:rPr lang="en-US" sz="2000" dirty="0">
                <a:latin typeface="Microsoft Tai Le"/>
                <a:cs typeface="Microsoft Tai Le"/>
              </a:rPr>
              <a:t>Need not perform UA and urine culture</a:t>
            </a:r>
          </a:p>
          <a:p>
            <a:r>
              <a:rPr lang="en-US" sz="2000" b="1" dirty="0">
                <a:latin typeface="Microsoft Tai Le"/>
                <a:cs typeface="Microsoft Tai Le"/>
              </a:rPr>
              <a:t>High-risk baseline: </a:t>
            </a:r>
            <a:r>
              <a:rPr lang="en-US" sz="2000" dirty="0">
                <a:latin typeface="Microsoft Tai Le"/>
                <a:cs typeface="Microsoft Tai Le"/>
              </a:rPr>
              <a:t>Consult with Pediatrics</a:t>
            </a:r>
          </a:p>
        </p:txBody>
      </p:sp>
      <p:sp>
        <p:nvSpPr>
          <p:cNvPr id="3" name="TextBox 2">
            <a:extLst>
              <a:ext uri="{FF2B5EF4-FFF2-40B4-BE49-F238E27FC236}">
                <a16:creationId xmlns:a16="http://schemas.microsoft.com/office/drawing/2014/main" id="{256360C3-933B-4442-BDFB-2C439951A6BD}"/>
              </a:ext>
            </a:extLst>
          </p:cNvPr>
          <p:cNvSpPr txBox="1"/>
          <p:nvPr/>
        </p:nvSpPr>
        <p:spPr>
          <a:xfrm>
            <a:off x="464483" y="1321409"/>
            <a:ext cx="8226436" cy="1246495"/>
          </a:xfrm>
          <a:prstGeom prst="rect">
            <a:avLst/>
          </a:prstGeom>
          <a:noFill/>
        </p:spPr>
        <p:txBody>
          <a:bodyPr wrap="square" rtlCol="0">
            <a:spAutoFit/>
          </a:bodyPr>
          <a:lstStyle/>
          <a:p>
            <a:r>
              <a:rPr lang="en-US" sz="2000" b="1" u="sng" dirty="0">
                <a:latin typeface="Microsoft Tai Le"/>
                <a:cs typeface="Microsoft Tai Le"/>
              </a:rPr>
              <a:t>Known COVID+ infant</a:t>
            </a:r>
          </a:p>
          <a:p>
            <a:pPr marL="257175" indent="-257175">
              <a:buFont typeface="Arial" panose="020B0604020202020204" pitchFamily="34" charset="0"/>
              <a:buChar char="•"/>
            </a:pPr>
            <a:r>
              <a:rPr lang="en-US" b="1" dirty="0">
                <a:latin typeface="Microsoft Tai Le"/>
                <a:cs typeface="Microsoft Tai Le"/>
              </a:rPr>
              <a:t>No data </a:t>
            </a:r>
            <a:r>
              <a:rPr lang="en-US" dirty="0">
                <a:latin typeface="Microsoft Tai Le"/>
                <a:cs typeface="Microsoft Tai Le"/>
              </a:rPr>
              <a:t>are currently available to inform management </a:t>
            </a:r>
            <a:endParaRPr lang="en-US" dirty="0">
              <a:latin typeface="Microsoft Tai Le" panose="020B0502040204020203" pitchFamily="34" charset="0"/>
              <a:cs typeface="Microsoft Tai Le" panose="020B0502040204020203" pitchFamily="34" charset="0"/>
            </a:endParaRPr>
          </a:p>
          <a:p>
            <a:pPr marL="257175" indent="-257175">
              <a:buFont typeface="Arial" panose="020B0604020202020204" pitchFamily="34" charset="0"/>
              <a:buChar char="•"/>
            </a:pPr>
            <a:r>
              <a:rPr lang="en-US" dirty="0">
                <a:latin typeface="Microsoft Tai Le"/>
                <a:cs typeface="Microsoft Tai Le"/>
              </a:rPr>
              <a:t>Until additional data are obtained, </a:t>
            </a:r>
            <a:r>
              <a:rPr lang="en-US" b="1" dirty="0">
                <a:latin typeface="Microsoft Tai Le"/>
                <a:cs typeface="Microsoft Tai Le"/>
              </a:rPr>
              <a:t>test and treat based on other age and risk matched criteria</a:t>
            </a:r>
          </a:p>
        </p:txBody>
      </p:sp>
      <p:sp>
        <p:nvSpPr>
          <p:cNvPr id="7" name="TextBox 6">
            <a:extLst>
              <a:ext uri="{FF2B5EF4-FFF2-40B4-BE49-F238E27FC236}">
                <a16:creationId xmlns:a16="http://schemas.microsoft.com/office/drawing/2014/main" id="{678E6E78-20FE-4333-88EA-28806F665E29}"/>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3704684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46</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566737"/>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165065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Management of 29 to 60 days old </a:t>
            </a:r>
          </a:p>
        </p:txBody>
      </p:sp>
      <p:grpSp>
        <p:nvGrpSpPr>
          <p:cNvPr id="9" name="Group 4">
            <a:extLst>
              <a:ext uri="{FF2B5EF4-FFF2-40B4-BE49-F238E27FC236}">
                <a16:creationId xmlns:a16="http://schemas.microsoft.com/office/drawing/2014/main" id="{6FAB5B0E-5ECE-4D83-8FBF-FD741014B91F}"/>
              </a:ext>
            </a:extLst>
          </p:cNvPr>
          <p:cNvGrpSpPr>
            <a:grpSpLocks/>
          </p:cNvGrpSpPr>
          <p:nvPr/>
        </p:nvGrpSpPr>
        <p:grpSpPr bwMode="auto">
          <a:xfrm>
            <a:off x="0" y="3247230"/>
            <a:ext cx="9144000" cy="2862263"/>
            <a:chOff x="0" y="1150"/>
            <a:chExt cx="5760" cy="1803"/>
          </a:xfrm>
        </p:grpSpPr>
        <p:sp>
          <p:nvSpPr>
            <p:cNvPr id="10" name="Rectangle 5">
              <a:extLst>
                <a:ext uri="{FF2B5EF4-FFF2-40B4-BE49-F238E27FC236}">
                  <a16:creationId xmlns:a16="http://schemas.microsoft.com/office/drawing/2014/main" id="{8BA300B0-156D-4AB3-B99A-1D784B6BB869}"/>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1" name="Line 6">
              <a:extLst>
                <a:ext uri="{FF2B5EF4-FFF2-40B4-BE49-F238E27FC236}">
                  <a16:creationId xmlns:a16="http://schemas.microsoft.com/office/drawing/2014/main" id="{417F91B2-7172-41B4-90A6-8160FF057041}"/>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2" name="Rectangle 8">
            <a:extLst>
              <a:ext uri="{FF2B5EF4-FFF2-40B4-BE49-F238E27FC236}">
                <a16:creationId xmlns:a16="http://schemas.microsoft.com/office/drawing/2014/main" id="{5AF25031-331B-42BB-B1A6-5C42A7325D82}"/>
              </a:ext>
            </a:extLst>
          </p:cNvPr>
          <p:cNvSpPr>
            <a:spLocks noChangeArrowheads="1"/>
          </p:cNvSpPr>
          <p:nvPr/>
        </p:nvSpPr>
        <p:spPr bwMode="gray">
          <a:xfrm>
            <a:off x="1399190" y="2674368"/>
            <a:ext cx="6695747" cy="222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eaLnBrk="1" hangingPunct="1">
              <a:spcBef>
                <a:spcPct val="50000"/>
              </a:spcBef>
              <a:buNone/>
            </a:pPr>
            <a:r>
              <a:rPr lang="en-US" altLang="en-US" sz="3600" dirty="0">
                <a:solidFill>
                  <a:srgbClr val="FFFFFF"/>
                </a:solidFill>
              </a:rPr>
              <a:t>Level 1: Flowchart</a:t>
            </a:r>
          </a:p>
          <a:p>
            <a:pPr eaLnBrk="1" hangingPunct="1">
              <a:spcBef>
                <a:spcPct val="50000"/>
              </a:spcBef>
              <a:buNone/>
            </a:pPr>
            <a:r>
              <a:rPr lang="en-US" altLang="en-US" sz="3600" dirty="0">
                <a:solidFill>
                  <a:srgbClr val="FFFFFF"/>
                </a:solidFill>
              </a:rPr>
              <a:t>Level 2: Definitions and specifications</a:t>
            </a:r>
          </a:p>
          <a:p>
            <a:pPr eaLnBrk="1" hangingPunct="1">
              <a:spcBef>
                <a:spcPct val="50000"/>
              </a:spcBef>
              <a:buNone/>
            </a:pPr>
            <a:r>
              <a:rPr lang="en-US" altLang="en-US" sz="3600" dirty="0">
                <a:solidFill>
                  <a:srgbClr val="FFFFFF"/>
                </a:solidFill>
              </a:rPr>
              <a:t>Level 3: CA-FIRST protocol details </a:t>
            </a:r>
          </a:p>
        </p:txBody>
      </p:sp>
    </p:spTree>
    <p:extLst>
      <p:ext uri="{BB962C8B-B14F-4D97-AF65-F5344CB8AC3E}">
        <p14:creationId xmlns:p14="http://schemas.microsoft.com/office/powerpoint/2010/main" val="1264074904"/>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47</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29 to 60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1: Flowchart</a:t>
            </a:r>
          </a:p>
        </p:txBody>
      </p:sp>
    </p:spTree>
    <p:extLst>
      <p:ext uri="{BB962C8B-B14F-4D97-AF65-F5344CB8AC3E}">
        <p14:creationId xmlns:p14="http://schemas.microsoft.com/office/powerpoint/2010/main" val="278931076"/>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4AAC73-8463-4116-85B3-C4D70A0076FA}"/>
              </a:ext>
            </a:extLst>
          </p:cNvPr>
          <p:cNvSpPr/>
          <p:nvPr/>
        </p:nvSpPr>
        <p:spPr>
          <a:xfrm>
            <a:off x="284939" y="145447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Well-appearing?</a:t>
            </a:r>
            <a:endParaRPr lang="en-US" sz="825" dirty="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1C129EA-7CC0-4C66-9DF4-4A4D270120A7}"/>
              </a:ext>
            </a:extLst>
          </p:cNvPr>
          <p:cNvSpPr/>
          <p:nvPr/>
        </p:nvSpPr>
        <p:spPr>
          <a:xfrm>
            <a:off x="1657199" y="1396013"/>
            <a:ext cx="24003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825" dirty="0">
                <a:solidFill>
                  <a:srgbClr val="000000"/>
                </a:solidFill>
                <a:ea typeface="Calibri" panose="020F0502020204030204" pitchFamily="34" charset="0"/>
                <a:cs typeface="Times New Roman" panose="02020603050405020304" pitchFamily="18" charset="0"/>
              </a:rPr>
              <a:t>Management: Admission</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Yes, IV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ea typeface="Calibri" panose="020F0502020204030204" pitchFamily="34" charset="0"/>
              <a:cs typeface="Times New Roman" panose="02020603050405020304" pitchFamily="18" charset="0"/>
            </a:endParaRPr>
          </a:p>
        </p:txBody>
      </p:sp>
      <p:sp>
        <p:nvSpPr>
          <p:cNvPr id="7" name="TextBox 43">
            <a:extLst>
              <a:ext uri="{FF2B5EF4-FFF2-40B4-BE49-F238E27FC236}">
                <a16:creationId xmlns:a16="http://schemas.microsoft.com/office/drawing/2014/main" id="{9A476156-6352-4FC6-9D8D-7EB9DAF3A14F}"/>
              </a:ext>
            </a:extLst>
          </p:cNvPr>
          <p:cNvSpPr txBox="1"/>
          <p:nvPr/>
        </p:nvSpPr>
        <p:spPr>
          <a:xfrm>
            <a:off x="1310633" y="1434875"/>
            <a:ext cx="274320" cy="182880"/>
          </a:xfrm>
          <a:prstGeom prst="rect">
            <a:avLst/>
          </a:prstGeom>
          <a:noFill/>
        </p:spPr>
        <p:txBody>
          <a:bodyPr wrap="none" rtlCol="0">
            <a:sp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endPar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E30F78FD-4BF7-4EC2-AEF0-ADC65415B208}"/>
              </a:ext>
            </a:extLst>
          </p:cNvPr>
          <p:cNvSpPr/>
          <p:nvPr/>
        </p:nvSpPr>
        <p:spPr>
          <a:xfrm>
            <a:off x="285511" y="210570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High risk infant? </a:t>
            </a:r>
            <a:r>
              <a:rPr lang="en-US" sz="825" baseline="30000" dirty="0">
                <a:solidFill>
                  <a:srgbClr val="000000"/>
                </a:solidFill>
                <a:ea typeface="Calibri" panose="020F0502020204030204" pitchFamily="34" charset="0"/>
                <a:cs typeface="Times New Roman" panose="02020603050405020304" pitchFamily="18" charset="0"/>
              </a:rPr>
              <a:t>1</a:t>
            </a:r>
            <a:endParaRPr lang="en-US" sz="825" dirty="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2EEAA836-A0BE-460E-AA57-8D42F5D78FFC}"/>
              </a:ext>
            </a:extLst>
          </p:cNvPr>
          <p:cNvSpPr/>
          <p:nvPr/>
        </p:nvSpPr>
        <p:spPr>
          <a:xfrm>
            <a:off x="1659661" y="2046087"/>
            <a:ext cx="24003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825" dirty="0">
                <a:solidFill>
                  <a:srgbClr val="000000"/>
                </a:solidFill>
                <a:ea typeface="Calibri" panose="020F0502020204030204" pitchFamily="34" charset="0"/>
                <a:cs typeface="Times New Roman" panose="02020603050405020304" pitchFamily="18" charset="0"/>
              </a:rPr>
              <a:t>Management: Admission</a:t>
            </a:r>
          </a:p>
          <a:p>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IV </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D47E620F-D206-4495-A619-67BAC399113C}"/>
              </a:ext>
            </a:extLst>
          </p:cNvPr>
          <p:cNvSpPr/>
          <p:nvPr/>
        </p:nvSpPr>
        <p:spPr>
          <a:xfrm>
            <a:off x="284939" y="2758818"/>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Focal infection?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A3252E03-AE9A-420D-90DC-F9C349F9AE11}"/>
              </a:ext>
            </a:extLst>
          </p:cNvPr>
          <p:cNvSpPr/>
          <p:nvPr/>
        </p:nvSpPr>
        <p:spPr>
          <a:xfrm>
            <a:off x="1656567" y="2760199"/>
            <a:ext cx="2057400" cy="3429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a:t>
            </a:r>
            <a:endParaRPr lang="en-US" sz="825" dirty="0">
              <a:ea typeface="Calibri" panose="020F0502020204030204" pitchFamily="34" charset="0"/>
              <a:cs typeface="Times New Roman" panose="02020603050405020304" pitchFamily="18" charset="0"/>
            </a:endParaRPr>
          </a:p>
        </p:txBody>
      </p:sp>
      <p:sp>
        <p:nvSpPr>
          <p:cNvPr id="20" name="TextBox 43">
            <a:extLst>
              <a:ext uri="{FF2B5EF4-FFF2-40B4-BE49-F238E27FC236}">
                <a16:creationId xmlns:a16="http://schemas.microsoft.com/office/drawing/2014/main" id="{41D87251-7B0F-468B-9065-5DF83BBCEE6A}"/>
              </a:ext>
            </a:extLst>
          </p:cNvPr>
          <p:cNvSpPr txBox="1"/>
          <p:nvPr/>
        </p:nvSpPr>
        <p:spPr>
          <a:xfrm>
            <a:off x="508618" y="310578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21" name="Rectangle 20">
            <a:extLst>
              <a:ext uri="{FF2B5EF4-FFF2-40B4-BE49-F238E27FC236}">
                <a16:creationId xmlns:a16="http://schemas.microsoft.com/office/drawing/2014/main" id="{48DE9810-2091-4E71-AD7C-FF6E9AEB7DC8}"/>
              </a:ext>
            </a:extLst>
          </p:cNvPr>
          <p:cNvSpPr/>
          <p:nvPr/>
        </p:nvSpPr>
        <p:spPr>
          <a:xfrm>
            <a:off x="286464" y="341021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Bronchiolitis?</a:t>
            </a:r>
            <a:endParaRPr lang="en-US" sz="825" dirty="0">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E5B3E3A9-47B2-4602-837E-8A23F0F908B0}"/>
              </a:ext>
            </a:extLst>
          </p:cNvPr>
          <p:cNvSpPr/>
          <p:nvPr/>
        </p:nvSpPr>
        <p:spPr>
          <a:xfrm>
            <a:off x="3984439" y="3410213"/>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a:t>
            </a:r>
            <a:endParaRPr lang="en-US" sz="825" dirty="0">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0CA6D3A3-462D-42A5-94A2-32B0A8E67C6F}"/>
              </a:ext>
            </a:extLst>
          </p:cNvPr>
          <p:cNvSpPr/>
          <p:nvPr/>
        </p:nvSpPr>
        <p:spPr>
          <a:xfrm>
            <a:off x="4600933" y="210853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UA?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73" name="TextBox 43">
            <a:extLst>
              <a:ext uri="{FF2B5EF4-FFF2-40B4-BE49-F238E27FC236}">
                <a16:creationId xmlns:a16="http://schemas.microsoft.com/office/drawing/2014/main" id="{4639843C-B8A7-44B8-B283-AC974F2B16E2}"/>
              </a:ext>
            </a:extLst>
          </p:cNvPr>
          <p:cNvSpPr txBox="1"/>
          <p:nvPr/>
        </p:nvSpPr>
        <p:spPr>
          <a:xfrm>
            <a:off x="4833029" y="191087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4" name="Rectangle 73">
            <a:extLst>
              <a:ext uri="{FF2B5EF4-FFF2-40B4-BE49-F238E27FC236}">
                <a16:creationId xmlns:a16="http://schemas.microsoft.com/office/drawing/2014/main" id="{D40ED8B2-92DB-4B5D-9F87-63F43E20CBD9}"/>
              </a:ext>
            </a:extLst>
          </p:cNvPr>
          <p:cNvSpPr/>
          <p:nvPr/>
        </p:nvSpPr>
        <p:spPr>
          <a:xfrm>
            <a:off x="6656198" y="1320968"/>
            <a:ext cx="205740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unless concern for respiratory decompensation, f/u 24-36 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sp>
        <p:nvSpPr>
          <p:cNvPr id="78" name="Rectangle 77">
            <a:extLst>
              <a:ext uri="{FF2B5EF4-FFF2-40B4-BE49-F238E27FC236}">
                <a16:creationId xmlns:a16="http://schemas.microsoft.com/office/drawing/2014/main" id="{A478BD71-6392-4A44-8170-D1C4D5AB8F3A}"/>
              </a:ext>
            </a:extLst>
          </p:cNvPr>
          <p:cNvSpPr/>
          <p:nvPr/>
        </p:nvSpPr>
        <p:spPr>
          <a:xfrm>
            <a:off x="2510435" y="4711356"/>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Positive CBC?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82" name="Rectangle 81">
            <a:extLst>
              <a:ext uri="{FF2B5EF4-FFF2-40B4-BE49-F238E27FC236}">
                <a16:creationId xmlns:a16="http://schemas.microsoft.com/office/drawing/2014/main" id="{FAA1ADF7-D93A-4B5D-8B2E-F8D5C8859B4B}"/>
              </a:ext>
            </a:extLst>
          </p:cNvPr>
          <p:cNvSpPr/>
          <p:nvPr/>
        </p:nvSpPr>
        <p:spPr>
          <a:xfrm>
            <a:off x="3984439" y="4709153"/>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3</a:t>
            </a:r>
            <a:r>
              <a:rPr lang="en-US" sz="825" dirty="0">
                <a:solidFill>
                  <a:srgbClr val="000000"/>
                </a:solidFill>
                <a:ea typeface="Calibri" panose="020F0502020204030204" pitchFamily="34" charset="0"/>
                <a:cs typeface="Times New Roman" panose="02020603050405020304" pitchFamily="18" charset="0"/>
              </a:rPr>
              <a:t> Consider CSF</a:t>
            </a:r>
          </a:p>
        </p:txBody>
      </p:sp>
      <p:sp>
        <p:nvSpPr>
          <p:cNvPr id="86" name="TextBox 43">
            <a:extLst>
              <a:ext uri="{FF2B5EF4-FFF2-40B4-BE49-F238E27FC236}">
                <a16:creationId xmlns:a16="http://schemas.microsoft.com/office/drawing/2014/main" id="{1E2781C8-A88C-4644-ADB7-0DC3C25AD0C3}"/>
              </a:ext>
            </a:extLst>
          </p:cNvPr>
          <p:cNvSpPr txBox="1"/>
          <p:nvPr/>
        </p:nvSpPr>
        <p:spPr>
          <a:xfrm>
            <a:off x="2736917" y="5049850"/>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8" name="Rectangle 87">
            <a:extLst>
              <a:ext uri="{FF2B5EF4-FFF2-40B4-BE49-F238E27FC236}">
                <a16:creationId xmlns:a16="http://schemas.microsoft.com/office/drawing/2014/main" id="{B85ECD8E-3301-467B-A742-D231F41667BF}"/>
              </a:ext>
            </a:extLst>
          </p:cNvPr>
          <p:cNvSpPr/>
          <p:nvPr/>
        </p:nvSpPr>
        <p:spPr>
          <a:xfrm>
            <a:off x="5457299" y="4705534"/>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825" dirty="0">
                <a:solidFill>
                  <a:srgbClr val="000000"/>
                </a:solidFill>
                <a:ea typeface="Calibri" panose="020F0502020204030204" pitchFamily="34" charset="0"/>
                <a:cs typeface="Times New Roman" panose="02020603050405020304" pitchFamily="18" charset="0"/>
              </a:rPr>
              <a:t>LP deferred?</a:t>
            </a:r>
            <a:endParaRPr lang="en-US" sz="825" dirty="0">
              <a:ea typeface="Calibri" panose="020F0502020204030204" pitchFamily="34" charset="0"/>
              <a:cs typeface="Times New Roman" panose="02020603050405020304" pitchFamily="18" charset="0"/>
            </a:endParaRPr>
          </a:p>
        </p:txBody>
      </p:sp>
      <p:sp>
        <p:nvSpPr>
          <p:cNvPr id="89" name="TextBox 43">
            <a:extLst>
              <a:ext uri="{FF2B5EF4-FFF2-40B4-BE49-F238E27FC236}">
                <a16:creationId xmlns:a16="http://schemas.microsoft.com/office/drawing/2014/main" id="{7DDE6042-319B-407F-9BA7-744945C69845}"/>
              </a:ext>
            </a:extLst>
          </p:cNvPr>
          <p:cNvSpPr txBox="1"/>
          <p:nvPr/>
        </p:nvSpPr>
        <p:spPr>
          <a:xfrm>
            <a:off x="6472823" y="468007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1" name="Rectangle 90">
            <a:extLst>
              <a:ext uri="{FF2B5EF4-FFF2-40B4-BE49-F238E27FC236}">
                <a16:creationId xmlns:a16="http://schemas.microsoft.com/office/drawing/2014/main" id="{0B5DD1F7-1CB7-449C-840A-982057F685B1}"/>
              </a:ext>
            </a:extLst>
          </p:cNvPr>
          <p:cNvSpPr/>
          <p:nvPr/>
        </p:nvSpPr>
        <p:spPr>
          <a:xfrm>
            <a:off x="6929954" y="4604974"/>
            <a:ext cx="178308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or home with f/u 12-24 h</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IV/IM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ea typeface="Calibri" panose="020F0502020204030204" pitchFamily="34" charset="0"/>
              <a:cs typeface="Times New Roman" panose="02020603050405020304" pitchFamily="18" charset="0"/>
            </a:endParaRPr>
          </a:p>
        </p:txBody>
      </p:sp>
      <p:sp>
        <p:nvSpPr>
          <p:cNvPr id="93" name="TextBox 43">
            <a:extLst>
              <a:ext uri="{FF2B5EF4-FFF2-40B4-BE49-F238E27FC236}">
                <a16:creationId xmlns:a16="http://schemas.microsoft.com/office/drawing/2014/main" id="{41E17A15-2963-4622-936B-3A73F0E7FFEC}"/>
              </a:ext>
            </a:extLst>
          </p:cNvPr>
          <p:cNvSpPr txBox="1"/>
          <p:nvPr/>
        </p:nvSpPr>
        <p:spPr>
          <a:xfrm>
            <a:off x="5685420" y="4518840"/>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4" name="Rectangle 93">
            <a:extLst>
              <a:ext uri="{FF2B5EF4-FFF2-40B4-BE49-F238E27FC236}">
                <a16:creationId xmlns:a16="http://schemas.microsoft.com/office/drawing/2014/main" id="{72AC176F-2298-4D38-AC7A-C9FBC5F2C1C4}"/>
              </a:ext>
            </a:extLst>
          </p:cNvPr>
          <p:cNvSpPr/>
          <p:nvPr/>
        </p:nvSpPr>
        <p:spPr>
          <a:xfrm>
            <a:off x="6930119" y="4002650"/>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IV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ea typeface="Calibri" panose="020F0502020204030204" pitchFamily="34" charset="0"/>
              <a:cs typeface="Times New Roman" panose="02020603050405020304" pitchFamily="18" charset="0"/>
            </a:endParaRPr>
          </a:p>
        </p:txBody>
      </p:sp>
      <p:sp>
        <p:nvSpPr>
          <p:cNvPr id="95" name="Rectangle 94">
            <a:extLst>
              <a:ext uri="{FF2B5EF4-FFF2-40B4-BE49-F238E27FC236}">
                <a16:creationId xmlns:a16="http://schemas.microsoft.com/office/drawing/2014/main" id="{BFC516D3-4F8F-4A80-B096-ABDD6526C64B}"/>
              </a:ext>
            </a:extLst>
          </p:cNvPr>
          <p:cNvSpPr/>
          <p:nvPr/>
        </p:nvSpPr>
        <p:spPr>
          <a:xfrm>
            <a:off x="5454695" y="405758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CSF positive?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97" name="TextBox 43">
            <a:extLst>
              <a:ext uri="{FF2B5EF4-FFF2-40B4-BE49-F238E27FC236}">
                <a16:creationId xmlns:a16="http://schemas.microsoft.com/office/drawing/2014/main" id="{1621DACC-B75C-40C8-B98F-BE8F7BEA5DDA}"/>
              </a:ext>
            </a:extLst>
          </p:cNvPr>
          <p:cNvSpPr txBox="1"/>
          <p:nvPr/>
        </p:nvSpPr>
        <p:spPr>
          <a:xfrm>
            <a:off x="6474682" y="403938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99" name="Rectangle 98">
            <a:extLst>
              <a:ext uri="{FF2B5EF4-FFF2-40B4-BE49-F238E27FC236}">
                <a16:creationId xmlns:a16="http://schemas.microsoft.com/office/drawing/2014/main" id="{508181DB-443C-4163-972B-5E4C67AE1DBA}"/>
              </a:ext>
            </a:extLst>
          </p:cNvPr>
          <p:cNvSpPr/>
          <p:nvPr/>
        </p:nvSpPr>
        <p:spPr>
          <a:xfrm>
            <a:off x="6933542" y="3353203"/>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12-24 </a:t>
            </a:r>
            <a:r>
              <a:rPr lang="en-US" sz="825" dirty="0" err="1">
                <a:solidFill>
                  <a:srgbClr val="000000"/>
                </a:solidFill>
                <a:ea typeface="Calibri" panose="020F0502020204030204" pitchFamily="34" charset="0"/>
                <a:cs typeface="Times New Roman" panose="02020603050405020304" pitchFamily="18" charset="0"/>
              </a:rPr>
              <a:t>hr</a:t>
            </a:r>
            <a:r>
              <a:rPr lang="en-US" sz="825" dirty="0">
                <a:solidFill>
                  <a:srgbClr val="000000"/>
                </a:solidFill>
                <a:ea typeface="Calibri" panose="020F0502020204030204" pitchFamily="34" charset="0"/>
                <a:cs typeface="Times New Roman" panose="02020603050405020304" pitchFamily="18" charset="0"/>
              </a:rPr>
              <a:t>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IV/IM or oral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ea typeface="Calibri" panose="020F0502020204030204" pitchFamily="34" charset="0"/>
              <a:cs typeface="Times New Roman" panose="02020603050405020304" pitchFamily="18" charset="0"/>
            </a:endParaRPr>
          </a:p>
        </p:txBody>
      </p:sp>
      <p:cxnSp>
        <p:nvCxnSpPr>
          <p:cNvPr id="104" name="Connector: Elbow 103">
            <a:extLst>
              <a:ext uri="{FF2B5EF4-FFF2-40B4-BE49-F238E27FC236}">
                <a16:creationId xmlns:a16="http://schemas.microsoft.com/office/drawing/2014/main" id="{63A64CA8-B37B-4CF4-B11C-4B76575D8BC9}"/>
              </a:ext>
            </a:extLst>
          </p:cNvPr>
          <p:cNvCxnSpPr>
            <a:stCxn id="4" idx="3"/>
            <a:endCxn id="6" idx="1"/>
          </p:cNvCxnSpPr>
          <p:nvPr/>
        </p:nvCxnSpPr>
        <p:spPr>
          <a:xfrm>
            <a:off x="1313640" y="1625926"/>
            <a:ext cx="343559" cy="116"/>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6087A641-7E6B-4A69-BD5B-0808A6D81912}"/>
              </a:ext>
            </a:extLst>
          </p:cNvPr>
          <p:cNvCxnSpPr>
            <a:stCxn id="4" idx="2"/>
            <a:endCxn id="10" idx="0"/>
          </p:cNvCxnSpPr>
          <p:nvPr/>
        </p:nvCxnSpPr>
        <p:spPr>
          <a:xfrm rot="16200000" flipH="1">
            <a:off x="645414" y="1951252"/>
            <a:ext cx="308324" cy="57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06F3A8-74F0-4689-BF02-BA2B11F77136}"/>
              </a:ext>
            </a:extLst>
          </p:cNvPr>
          <p:cNvCxnSpPr>
            <a:stCxn id="10" idx="2"/>
            <a:endCxn id="15" idx="0"/>
          </p:cNvCxnSpPr>
          <p:nvPr/>
        </p:nvCxnSpPr>
        <p:spPr>
          <a:xfrm rot="5400000">
            <a:off x="644753" y="2603709"/>
            <a:ext cx="31021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110AF22E-B42F-4DFA-B574-759A261C60EC}"/>
              </a:ext>
            </a:extLst>
          </p:cNvPr>
          <p:cNvCxnSpPr>
            <a:cxnSpLocks/>
            <a:stCxn id="15" idx="2"/>
            <a:endCxn id="21" idx="0"/>
          </p:cNvCxnSpPr>
          <p:nvPr/>
        </p:nvCxnSpPr>
        <p:spPr>
          <a:xfrm rot="16200000" flipH="1">
            <a:off x="645043" y="3255965"/>
            <a:ext cx="30849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088D9C92-D705-4899-997A-EF71DE83E9CC}"/>
              </a:ext>
            </a:extLst>
          </p:cNvPr>
          <p:cNvCxnSpPr>
            <a:stCxn id="10" idx="3"/>
            <a:endCxn id="13" idx="1"/>
          </p:cNvCxnSpPr>
          <p:nvPr/>
        </p:nvCxnSpPr>
        <p:spPr>
          <a:xfrm flipV="1">
            <a:off x="1314211" y="2276116"/>
            <a:ext cx="345450" cy="103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951278DF-24C3-4E17-BDAF-B33E3864BE46}"/>
              </a:ext>
            </a:extLst>
          </p:cNvPr>
          <p:cNvCxnSpPr>
            <a:stCxn id="78" idx="3"/>
            <a:endCxn id="82" idx="1"/>
          </p:cNvCxnSpPr>
          <p:nvPr/>
        </p:nvCxnSpPr>
        <p:spPr>
          <a:xfrm flipV="1">
            <a:off x="3539135" y="4880603"/>
            <a:ext cx="445304" cy="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13127B73-DE81-46E2-8A81-7E5B889CC361}"/>
              </a:ext>
            </a:extLst>
          </p:cNvPr>
          <p:cNvCxnSpPr>
            <a:stCxn id="82" idx="3"/>
            <a:endCxn id="88" idx="1"/>
          </p:cNvCxnSpPr>
          <p:nvPr/>
        </p:nvCxnSpPr>
        <p:spPr>
          <a:xfrm flipV="1">
            <a:off x="5013139" y="4876984"/>
            <a:ext cx="444161" cy="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3" name="TextBox 43">
            <a:extLst>
              <a:ext uri="{FF2B5EF4-FFF2-40B4-BE49-F238E27FC236}">
                <a16:creationId xmlns:a16="http://schemas.microsoft.com/office/drawing/2014/main" id="{67698FD7-604A-4089-BD6B-5290B24CB945}"/>
              </a:ext>
            </a:extLst>
          </p:cNvPr>
          <p:cNvSpPr txBox="1"/>
          <p:nvPr/>
        </p:nvSpPr>
        <p:spPr>
          <a:xfrm>
            <a:off x="5683209" y="321833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36" name="Connector: Elbow 235">
            <a:extLst>
              <a:ext uri="{FF2B5EF4-FFF2-40B4-BE49-F238E27FC236}">
                <a16:creationId xmlns:a16="http://schemas.microsoft.com/office/drawing/2014/main" id="{1F25E9DE-1026-49C6-960D-0B444DAE7EC2}"/>
              </a:ext>
            </a:extLst>
          </p:cNvPr>
          <p:cNvCxnSpPr>
            <a:stCxn id="15" idx="3"/>
            <a:endCxn id="18" idx="1"/>
          </p:cNvCxnSpPr>
          <p:nvPr/>
        </p:nvCxnSpPr>
        <p:spPr>
          <a:xfrm>
            <a:off x="1313640" y="2930268"/>
            <a:ext cx="342928" cy="1381"/>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D8184CDE-BDCB-4FD1-B88A-EC0481B02CE3}"/>
              </a:ext>
            </a:extLst>
          </p:cNvPr>
          <p:cNvSpPr/>
          <p:nvPr/>
        </p:nvSpPr>
        <p:spPr>
          <a:xfrm>
            <a:off x="6653258" y="2006213"/>
            <a:ext cx="205740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unless concern for respiratory decompensation, f/u 12-24 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Blood</a:t>
            </a:r>
          </a:p>
          <a:p>
            <a:r>
              <a:rPr lang="en-US" sz="825" dirty="0">
                <a:solidFill>
                  <a:srgbClr val="000000"/>
                </a:solidFill>
                <a:ea typeface="Calibri" panose="020F0502020204030204" pitchFamily="34" charset="0"/>
                <a:cs typeface="Times New Roman" panose="02020603050405020304" pitchFamily="18" charset="0"/>
              </a:rPr>
              <a:t>Antibiotics: Oral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solidFill>
                <a:srgbClr val="000000"/>
              </a:solidFill>
              <a:ea typeface="Calibri" panose="020F0502020204030204" pitchFamily="34" charset="0"/>
              <a:cs typeface="Times New Roman" panose="02020603050405020304" pitchFamily="18" charset="0"/>
            </a:endParaRPr>
          </a:p>
        </p:txBody>
      </p:sp>
      <p:cxnSp>
        <p:nvCxnSpPr>
          <p:cNvPr id="5" name="Connector: Elbow 4">
            <a:extLst>
              <a:ext uri="{FF2B5EF4-FFF2-40B4-BE49-F238E27FC236}">
                <a16:creationId xmlns:a16="http://schemas.microsoft.com/office/drawing/2014/main" id="{F919454D-3DEC-4A74-8E71-A10E1CEF981F}"/>
              </a:ext>
            </a:extLst>
          </p:cNvPr>
          <p:cNvCxnSpPr>
            <a:cxnSpLocks/>
            <a:stCxn id="27" idx="3"/>
            <a:endCxn id="84" idx="1"/>
          </p:cNvCxnSpPr>
          <p:nvPr/>
        </p:nvCxnSpPr>
        <p:spPr>
          <a:xfrm>
            <a:off x="5629633" y="2279981"/>
            <a:ext cx="1023625" cy="55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339DB047-C767-4017-AF0C-BD4C48BFF0E7}"/>
              </a:ext>
            </a:extLst>
          </p:cNvPr>
          <p:cNvSpPr/>
          <p:nvPr/>
        </p:nvSpPr>
        <p:spPr>
          <a:xfrm>
            <a:off x="2510801" y="5364362"/>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UA positive?</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sp>
        <p:nvSpPr>
          <p:cNvPr id="117" name="Rectangle 116">
            <a:extLst>
              <a:ext uri="{FF2B5EF4-FFF2-40B4-BE49-F238E27FC236}">
                <a16:creationId xmlns:a16="http://schemas.microsoft.com/office/drawing/2014/main" id="{A8D0DE21-8FD7-41DE-91BD-8D2232EDEFBB}"/>
              </a:ext>
            </a:extLst>
          </p:cNvPr>
          <p:cNvSpPr/>
          <p:nvPr/>
        </p:nvSpPr>
        <p:spPr>
          <a:xfrm>
            <a:off x="3987202" y="5308428"/>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12 -24h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Yes, oral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ea typeface="Calibri" panose="020F0502020204030204" pitchFamily="34" charset="0"/>
              <a:cs typeface="Times New Roman" panose="02020603050405020304" pitchFamily="18" charset="0"/>
            </a:endParaRPr>
          </a:p>
        </p:txBody>
      </p:sp>
      <p:sp>
        <p:nvSpPr>
          <p:cNvPr id="119" name="Rectangle 118">
            <a:extLst>
              <a:ext uri="{FF2B5EF4-FFF2-40B4-BE49-F238E27FC236}">
                <a16:creationId xmlns:a16="http://schemas.microsoft.com/office/drawing/2014/main" id="{ECAF9838-47C9-47B1-8631-EAAF8565873E}"/>
              </a:ext>
            </a:extLst>
          </p:cNvPr>
          <p:cNvSpPr/>
          <p:nvPr/>
        </p:nvSpPr>
        <p:spPr>
          <a:xfrm>
            <a:off x="283437" y="5305063"/>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24 -36h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cxnSp>
        <p:nvCxnSpPr>
          <p:cNvPr id="65" name="Connector: Elbow 64">
            <a:extLst>
              <a:ext uri="{FF2B5EF4-FFF2-40B4-BE49-F238E27FC236}">
                <a16:creationId xmlns:a16="http://schemas.microsoft.com/office/drawing/2014/main" id="{4970C6CB-3955-421E-9A86-0E4C778C0DCE}"/>
              </a:ext>
            </a:extLst>
          </p:cNvPr>
          <p:cNvCxnSpPr>
            <a:stCxn id="27" idx="0"/>
            <a:endCxn id="74" idx="1"/>
          </p:cNvCxnSpPr>
          <p:nvPr/>
        </p:nvCxnSpPr>
        <p:spPr>
          <a:xfrm rot="5400000" flipH="1" flipV="1">
            <a:off x="5629118" y="1081453"/>
            <a:ext cx="513243" cy="1540915"/>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6EEDA41A-C6FB-4A2D-966F-2BB232C6015A}"/>
              </a:ext>
            </a:extLst>
          </p:cNvPr>
          <p:cNvCxnSpPr>
            <a:cxnSpLocks/>
            <a:stCxn id="88" idx="3"/>
            <a:endCxn id="91" idx="1"/>
          </p:cNvCxnSpPr>
          <p:nvPr/>
        </p:nvCxnSpPr>
        <p:spPr>
          <a:xfrm>
            <a:off x="6485999" y="4876984"/>
            <a:ext cx="44395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Connector: Elbow 166">
            <a:extLst>
              <a:ext uri="{FF2B5EF4-FFF2-40B4-BE49-F238E27FC236}">
                <a16:creationId xmlns:a16="http://schemas.microsoft.com/office/drawing/2014/main" id="{1B221158-2D0B-4079-B6B5-C06B7CBBA6E9}"/>
              </a:ext>
            </a:extLst>
          </p:cNvPr>
          <p:cNvCxnSpPr>
            <a:cxnSpLocks/>
            <a:stCxn id="109" idx="3"/>
            <a:endCxn id="117" idx="1"/>
          </p:cNvCxnSpPr>
          <p:nvPr/>
        </p:nvCxnSpPr>
        <p:spPr>
          <a:xfrm>
            <a:off x="3539501" y="5535812"/>
            <a:ext cx="447701"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27E8E0D7-7BD7-4E44-8023-D8588A448BF5}"/>
              </a:ext>
            </a:extLst>
          </p:cNvPr>
          <p:cNvCxnSpPr>
            <a:stCxn id="24" idx="3"/>
            <a:endCxn id="27" idx="2"/>
          </p:cNvCxnSpPr>
          <p:nvPr/>
        </p:nvCxnSpPr>
        <p:spPr>
          <a:xfrm flipV="1">
            <a:off x="5013139" y="2451432"/>
            <a:ext cx="102144" cy="1130231"/>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8" name="TextBox 43">
            <a:extLst>
              <a:ext uri="{FF2B5EF4-FFF2-40B4-BE49-F238E27FC236}">
                <a16:creationId xmlns:a16="http://schemas.microsoft.com/office/drawing/2014/main" id="{1B489278-D2AF-46A6-9A64-763A199217E3}"/>
              </a:ext>
            </a:extLst>
          </p:cNvPr>
          <p:cNvSpPr txBox="1"/>
          <p:nvPr/>
        </p:nvSpPr>
        <p:spPr>
          <a:xfrm>
            <a:off x="510760" y="179422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9" name="TextBox 43">
            <a:extLst>
              <a:ext uri="{FF2B5EF4-FFF2-40B4-BE49-F238E27FC236}">
                <a16:creationId xmlns:a16="http://schemas.microsoft.com/office/drawing/2014/main" id="{323754C4-6FE5-438B-AF77-F1BD014F9723}"/>
              </a:ext>
            </a:extLst>
          </p:cNvPr>
          <p:cNvSpPr txBox="1"/>
          <p:nvPr/>
        </p:nvSpPr>
        <p:spPr>
          <a:xfrm>
            <a:off x="510477" y="244371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31" name="Connector: Elbow 230">
            <a:extLst>
              <a:ext uri="{FF2B5EF4-FFF2-40B4-BE49-F238E27FC236}">
                <a16:creationId xmlns:a16="http://schemas.microsoft.com/office/drawing/2014/main" id="{9AFC587A-5B8D-4033-B0FA-D90D14C52086}"/>
              </a:ext>
            </a:extLst>
          </p:cNvPr>
          <p:cNvCxnSpPr>
            <a:stCxn id="88" idx="0"/>
            <a:endCxn id="95" idx="2"/>
          </p:cNvCxnSpPr>
          <p:nvPr/>
        </p:nvCxnSpPr>
        <p:spPr>
          <a:xfrm rot="16200000" flipV="1">
            <a:off x="5816523" y="4553010"/>
            <a:ext cx="30504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6" name="TextBox 43">
            <a:extLst>
              <a:ext uri="{FF2B5EF4-FFF2-40B4-BE49-F238E27FC236}">
                <a16:creationId xmlns:a16="http://schemas.microsoft.com/office/drawing/2014/main" id="{29E7C5A7-3C0E-40A6-A7C4-6E98E0EBED42}"/>
              </a:ext>
            </a:extLst>
          </p:cNvPr>
          <p:cNvSpPr txBox="1"/>
          <p:nvPr/>
        </p:nvSpPr>
        <p:spPr>
          <a:xfrm>
            <a:off x="3536509" y="534405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247" name="TextBox 43">
            <a:extLst>
              <a:ext uri="{FF2B5EF4-FFF2-40B4-BE49-F238E27FC236}">
                <a16:creationId xmlns:a16="http://schemas.microsoft.com/office/drawing/2014/main" id="{A36FD1DB-87DC-4042-AD67-1A74D1E60155}"/>
              </a:ext>
            </a:extLst>
          </p:cNvPr>
          <p:cNvSpPr txBox="1"/>
          <p:nvPr/>
        </p:nvSpPr>
        <p:spPr>
          <a:xfrm>
            <a:off x="2223301" y="534788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0" name="Rectangle 69">
            <a:extLst>
              <a:ext uri="{FF2B5EF4-FFF2-40B4-BE49-F238E27FC236}">
                <a16:creationId xmlns:a16="http://schemas.microsoft.com/office/drawing/2014/main" id="{46463774-78EA-4E45-9E0A-8056179F4874}"/>
              </a:ext>
            </a:extLst>
          </p:cNvPr>
          <p:cNvSpPr/>
          <p:nvPr/>
        </p:nvSpPr>
        <p:spPr>
          <a:xfrm>
            <a:off x="288092" y="4060049"/>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Immunization   within 48 ?</a:t>
            </a:r>
            <a:endParaRPr lang="en-US" sz="825" dirty="0">
              <a:ea typeface="Calibri" panose="020F0502020204030204" pitchFamily="34" charset="0"/>
              <a:cs typeface="Times New Roman" panose="02020603050405020304" pitchFamily="18" charset="0"/>
            </a:endParaRPr>
          </a:p>
        </p:txBody>
      </p:sp>
      <p:sp>
        <p:nvSpPr>
          <p:cNvPr id="71" name="Rectangle 70">
            <a:extLst>
              <a:ext uri="{FF2B5EF4-FFF2-40B4-BE49-F238E27FC236}">
                <a16:creationId xmlns:a16="http://schemas.microsoft.com/office/drawing/2014/main" id="{D7873265-F92B-4A0C-A82A-498A97F0BE8F}"/>
              </a:ext>
            </a:extLst>
          </p:cNvPr>
          <p:cNvSpPr/>
          <p:nvPr/>
        </p:nvSpPr>
        <p:spPr>
          <a:xfrm>
            <a:off x="1657369" y="3999728"/>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no further testing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None</a:t>
            </a:r>
            <a:endParaRPr lang="en-US" sz="825" dirty="0">
              <a:ea typeface="Calibri" panose="020F0502020204030204" pitchFamily="34" charset="0"/>
              <a:cs typeface="Times New Roman" panose="02020603050405020304" pitchFamily="18" charset="0"/>
            </a:endParaRPr>
          </a:p>
        </p:txBody>
      </p:sp>
      <p:sp>
        <p:nvSpPr>
          <p:cNvPr id="76" name="TextBox 43">
            <a:extLst>
              <a:ext uri="{FF2B5EF4-FFF2-40B4-BE49-F238E27FC236}">
                <a16:creationId xmlns:a16="http://schemas.microsoft.com/office/drawing/2014/main" id="{89DC44AC-D338-46D5-86D6-3E96917453A3}"/>
              </a:ext>
            </a:extLst>
          </p:cNvPr>
          <p:cNvSpPr txBox="1"/>
          <p:nvPr/>
        </p:nvSpPr>
        <p:spPr>
          <a:xfrm>
            <a:off x="507124" y="374795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11" name="Connector: Elbow 10">
            <a:extLst>
              <a:ext uri="{FF2B5EF4-FFF2-40B4-BE49-F238E27FC236}">
                <a16:creationId xmlns:a16="http://schemas.microsoft.com/office/drawing/2014/main" id="{07A925D9-3FCD-4269-813F-74F281D55446}"/>
              </a:ext>
            </a:extLst>
          </p:cNvPr>
          <p:cNvCxnSpPr>
            <a:stCxn id="21" idx="2"/>
            <a:endCxn id="70" idx="0"/>
          </p:cNvCxnSpPr>
          <p:nvPr/>
        </p:nvCxnSpPr>
        <p:spPr>
          <a:xfrm rot="16200000" flipH="1">
            <a:off x="647347" y="3906580"/>
            <a:ext cx="30693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6C91A4FF-F739-4CC5-B9D7-5FF755DF8B6C}"/>
              </a:ext>
            </a:extLst>
          </p:cNvPr>
          <p:cNvCxnSpPr>
            <a:stCxn id="21" idx="3"/>
            <a:endCxn id="24" idx="1"/>
          </p:cNvCxnSpPr>
          <p:nvPr/>
        </p:nvCxnSpPr>
        <p:spPr>
          <a:xfrm flipV="1">
            <a:off x="1315164" y="3581663"/>
            <a:ext cx="2669275" cy="1"/>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3F9CD5AB-D3CD-4CD7-A2E4-F9ECB41A3C53}"/>
              </a:ext>
            </a:extLst>
          </p:cNvPr>
          <p:cNvSpPr/>
          <p:nvPr/>
        </p:nvSpPr>
        <p:spPr>
          <a:xfrm>
            <a:off x="285245" y="4707584"/>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3</a:t>
            </a:r>
            <a:r>
              <a:rPr lang="en-US" sz="825" dirty="0">
                <a:solidFill>
                  <a:srgbClr val="000000"/>
                </a:solidFill>
                <a:ea typeface="Calibri" panose="020F0502020204030204" pitchFamily="34" charset="0"/>
                <a:cs typeface="Times New Roman" panose="02020603050405020304" pitchFamily="18" charset="0"/>
              </a:rPr>
              <a:t> Urine, Blood</a:t>
            </a:r>
            <a:endParaRPr lang="en-US" sz="825" dirty="0">
              <a:ea typeface="Calibri" panose="020F0502020204030204" pitchFamily="34" charset="0"/>
              <a:cs typeface="Times New Roman" panose="02020603050405020304" pitchFamily="18" charset="0"/>
            </a:endParaRPr>
          </a:p>
        </p:txBody>
      </p:sp>
      <p:cxnSp>
        <p:nvCxnSpPr>
          <p:cNvPr id="34" name="Connector: Elbow 33">
            <a:extLst>
              <a:ext uri="{FF2B5EF4-FFF2-40B4-BE49-F238E27FC236}">
                <a16:creationId xmlns:a16="http://schemas.microsoft.com/office/drawing/2014/main" id="{156A4507-5C49-4F7C-81A5-696F22352AF7}"/>
              </a:ext>
            </a:extLst>
          </p:cNvPr>
          <p:cNvCxnSpPr>
            <a:stCxn id="83" idx="3"/>
            <a:endCxn id="78" idx="1"/>
          </p:cNvCxnSpPr>
          <p:nvPr/>
        </p:nvCxnSpPr>
        <p:spPr>
          <a:xfrm>
            <a:off x="1313945" y="4879034"/>
            <a:ext cx="1196490"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576D8542-BBC0-48D5-85FA-C6DB71657784}"/>
              </a:ext>
            </a:extLst>
          </p:cNvPr>
          <p:cNvCxnSpPr>
            <a:stCxn id="78" idx="2"/>
            <a:endCxn id="109" idx="0"/>
          </p:cNvCxnSpPr>
          <p:nvPr/>
        </p:nvCxnSpPr>
        <p:spPr>
          <a:xfrm rot="16200000" flipH="1">
            <a:off x="2869915" y="5209126"/>
            <a:ext cx="310106" cy="36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26EAC612-A6F3-484D-85D4-0D79F3F90609}"/>
              </a:ext>
            </a:extLst>
          </p:cNvPr>
          <p:cNvCxnSpPr>
            <a:stCxn id="70" idx="3"/>
            <a:endCxn id="71" idx="1"/>
          </p:cNvCxnSpPr>
          <p:nvPr/>
        </p:nvCxnSpPr>
        <p:spPr>
          <a:xfrm flipV="1">
            <a:off x="1316792" y="4229757"/>
            <a:ext cx="34057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5F00C7C9-86B0-4D65-B72B-978905DBAD99}"/>
              </a:ext>
            </a:extLst>
          </p:cNvPr>
          <p:cNvCxnSpPr>
            <a:stCxn id="70" idx="2"/>
            <a:endCxn id="83" idx="0"/>
          </p:cNvCxnSpPr>
          <p:nvPr/>
        </p:nvCxnSpPr>
        <p:spPr>
          <a:xfrm rot="5400000">
            <a:off x="650125" y="4555266"/>
            <a:ext cx="30463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C8CF3E66-3B86-4F01-8FFD-8D157BB71595}"/>
              </a:ext>
            </a:extLst>
          </p:cNvPr>
          <p:cNvCxnSpPr>
            <a:stCxn id="109" idx="1"/>
            <a:endCxn id="119" idx="3"/>
          </p:cNvCxnSpPr>
          <p:nvPr/>
        </p:nvCxnSpPr>
        <p:spPr>
          <a:xfrm rot="10800000">
            <a:off x="2066517" y="5535812"/>
            <a:ext cx="444284"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4" name="Rectangle 143">
            <a:extLst>
              <a:ext uri="{FF2B5EF4-FFF2-40B4-BE49-F238E27FC236}">
                <a16:creationId xmlns:a16="http://schemas.microsoft.com/office/drawing/2014/main" id="{BF21AD6A-9C28-4D36-8383-8124DE02AD28}"/>
              </a:ext>
            </a:extLst>
          </p:cNvPr>
          <p:cNvSpPr/>
          <p:nvPr/>
        </p:nvSpPr>
        <p:spPr>
          <a:xfrm>
            <a:off x="5457299" y="3409070"/>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UA positive? </a:t>
            </a:r>
            <a:r>
              <a:rPr lang="en-US" sz="825" baseline="30000" dirty="0">
                <a:solidFill>
                  <a:srgbClr val="000000"/>
                </a:solidFill>
                <a:ea typeface="Calibri" panose="020F0502020204030204" pitchFamily="34" charset="0"/>
                <a:cs typeface="Times New Roman" panose="02020603050405020304" pitchFamily="18" charset="0"/>
              </a:rPr>
              <a:t>5</a:t>
            </a:r>
            <a:endParaRPr lang="en-US" sz="825" dirty="0">
              <a:ea typeface="Calibri" panose="020F0502020204030204" pitchFamily="34" charset="0"/>
              <a:cs typeface="Times New Roman" panose="02020603050405020304" pitchFamily="18" charset="0"/>
            </a:endParaRPr>
          </a:p>
        </p:txBody>
      </p:sp>
      <p:sp>
        <p:nvSpPr>
          <p:cNvPr id="145" name="Rectangle 144">
            <a:extLst>
              <a:ext uri="{FF2B5EF4-FFF2-40B4-BE49-F238E27FC236}">
                <a16:creationId xmlns:a16="http://schemas.microsoft.com/office/drawing/2014/main" id="{B2B06DA4-188C-4E37-8797-20E84473D10E}"/>
              </a:ext>
            </a:extLst>
          </p:cNvPr>
          <p:cNvSpPr/>
          <p:nvPr/>
        </p:nvSpPr>
        <p:spPr>
          <a:xfrm>
            <a:off x="6929754" y="2731219"/>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Admission or home with f/u 12-24 </a:t>
            </a:r>
            <a:r>
              <a:rPr lang="en-US" sz="825" dirty="0" err="1">
                <a:solidFill>
                  <a:srgbClr val="000000"/>
                </a:solidFill>
                <a:ea typeface="Calibri" panose="020F0502020204030204" pitchFamily="34" charset="0"/>
                <a:cs typeface="Times New Roman" panose="02020603050405020304" pitchFamily="18" charset="0"/>
              </a:rPr>
              <a:t>hr</a:t>
            </a:r>
            <a:r>
              <a:rPr lang="en-US" sz="825" dirty="0">
                <a:solidFill>
                  <a:srgbClr val="000000"/>
                </a:solidFill>
                <a:ea typeface="Calibri" panose="020F0502020204030204" pitchFamily="34" charset="0"/>
                <a:cs typeface="Times New Roman" panose="02020603050405020304" pitchFamily="18" charset="0"/>
              </a:rPr>
              <a:t>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IV</a:t>
            </a:r>
            <a:r>
              <a:rPr lang="en-US" sz="825" baseline="30000" dirty="0">
                <a:solidFill>
                  <a:srgbClr val="000000"/>
                </a:solidFill>
                <a:ea typeface="Calibri" panose="020F0502020204030204" pitchFamily="34" charset="0"/>
                <a:cs typeface="Times New Roman" panose="02020603050405020304" pitchFamily="18" charset="0"/>
              </a:rPr>
              <a:t> 6</a:t>
            </a:r>
            <a:endParaRPr lang="en-US" sz="825" dirty="0">
              <a:ea typeface="Calibri" panose="020F0502020204030204" pitchFamily="34" charset="0"/>
              <a:cs typeface="Times New Roman" panose="02020603050405020304" pitchFamily="18" charset="0"/>
            </a:endParaRPr>
          </a:p>
        </p:txBody>
      </p:sp>
      <p:cxnSp>
        <p:nvCxnSpPr>
          <p:cNvPr id="124" name="Connector: Elbow 123">
            <a:extLst>
              <a:ext uri="{FF2B5EF4-FFF2-40B4-BE49-F238E27FC236}">
                <a16:creationId xmlns:a16="http://schemas.microsoft.com/office/drawing/2014/main" id="{728EB698-26F9-465C-A7AE-C5AB9F646007}"/>
              </a:ext>
            </a:extLst>
          </p:cNvPr>
          <p:cNvCxnSpPr>
            <a:stCxn id="144" idx="0"/>
            <a:endCxn id="145" idx="1"/>
          </p:cNvCxnSpPr>
          <p:nvPr/>
        </p:nvCxnSpPr>
        <p:spPr>
          <a:xfrm rot="5400000" flipH="1" flipV="1">
            <a:off x="6226792" y="2706108"/>
            <a:ext cx="447821" cy="958105"/>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1699D022-1D10-4E50-A9A5-A31D68030D91}"/>
              </a:ext>
            </a:extLst>
          </p:cNvPr>
          <p:cNvCxnSpPr>
            <a:stCxn id="144" idx="3"/>
            <a:endCxn id="99" idx="1"/>
          </p:cNvCxnSpPr>
          <p:nvPr/>
        </p:nvCxnSpPr>
        <p:spPr>
          <a:xfrm>
            <a:off x="6486000" y="3580520"/>
            <a:ext cx="447542"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707ABFCD-19B0-412B-AC35-E0EFB327B168}"/>
              </a:ext>
            </a:extLst>
          </p:cNvPr>
          <p:cNvCxnSpPr>
            <a:cxnSpLocks/>
            <a:stCxn id="95" idx="0"/>
            <a:endCxn id="144" idx="2"/>
          </p:cNvCxnSpPr>
          <p:nvPr/>
        </p:nvCxnSpPr>
        <p:spPr>
          <a:xfrm rot="5400000" flipH="1" flipV="1">
            <a:off x="5818840" y="3904778"/>
            <a:ext cx="30561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7B1BC71-D2CC-432F-A14F-742607682395}"/>
              </a:ext>
            </a:extLst>
          </p:cNvPr>
          <p:cNvCxnSpPr>
            <a:stCxn id="95" idx="3"/>
            <a:endCxn id="94" idx="1"/>
          </p:cNvCxnSpPr>
          <p:nvPr/>
        </p:nvCxnSpPr>
        <p:spPr>
          <a:xfrm>
            <a:off x="6483395" y="4229037"/>
            <a:ext cx="446724"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43">
            <a:extLst>
              <a:ext uri="{FF2B5EF4-FFF2-40B4-BE49-F238E27FC236}">
                <a16:creationId xmlns:a16="http://schemas.microsoft.com/office/drawing/2014/main" id="{227BF3E9-55D9-4B43-A047-E0BB64661439}"/>
              </a:ext>
            </a:extLst>
          </p:cNvPr>
          <p:cNvSpPr txBox="1"/>
          <p:nvPr/>
        </p:nvSpPr>
        <p:spPr>
          <a:xfrm>
            <a:off x="517566" y="440617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5" name="TextBox 43">
            <a:extLst>
              <a:ext uri="{FF2B5EF4-FFF2-40B4-BE49-F238E27FC236}">
                <a16:creationId xmlns:a16="http://schemas.microsoft.com/office/drawing/2014/main" id="{8042162E-862D-4505-BE67-4D330653FCD4}"/>
              </a:ext>
            </a:extLst>
          </p:cNvPr>
          <p:cNvSpPr txBox="1"/>
          <p:nvPr/>
        </p:nvSpPr>
        <p:spPr>
          <a:xfrm>
            <a:off x="6477921" y="3394931"/>
            <a:ext cx="274320" cy="182880"/>
          </a:xfrm>
          <a:prstGeom prst="rect">
            <a:avLst/>
          </a:prstGeom>
          <a:noFill/>
          <a:ln>
            <a:noFill/>
          </a:ln>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p>
        </p:txBody>
      </p:sp>
      <p:sp>
        <p:nvSpPr>
          <p:cNvPr id="87" name="TextBox 43">
            <a:extLst>
              <a:ext uri="{FF2B5EF4-FFF2-40B4-BE49-F238E27FC236}">
                <a16:creationId xmlns:a16="http://schemas.microsoft.com/office/drawing/2014/main" id="{62427460-1ACD-40A2-9658-D6B048F35C58}"/>
              </a:ext>
            </a:extLst>
          </p:cNvPr>
          <p:cNvSpPr txBox="1"/>
          <p:nvPr/>
        </p:nvSpPr>
        <p:spPr>
          <a:xfrm>
            <a:off x="5682737" y="386540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80" name="TextBox 79">
            <a:extLst>
              <a:ext uri="{FF2B5EF4-FFF2-40B4-BE49-F238E27FC236}">
                <a16:creationId xmlns:a16="http://schemas.microsoft.com/office/drawing/2014/main" id="{34BE72DF-1282-47B0-B4F6-18AA24E850CE}"/>
              </a:ext>
            </a:extLst>
          </p:cNvPr>
          <p:cNvSpPr txBox="1"/>
          <p:nvPr/>
        </p:nvSpPr>
        <p:spPr>
          <a:xfrm>
            <a:off x="323494" y="836197"/>
            <a:ext cx="8412431" cy="369332"/>
          </a:xfrm>
          <a:prstGeom prst="rect">
            <a:avLst/>
          </a:prstGeom>
          <a:noFill/>
        </p:spPr>
        <p:txBody>
          <a:bodyPr wrap="none" rtlCol="0">
            <a:spAutoFit/>
          </a:bodyPr>
          <a:lstStyle/>
          <a:p>
            <a:r>
              <a:rPr lang="en-US" b="1" u="sng" dirty="0"/>
              <a:t>Emergency Department and Urgent Care Management of Febrile Infants Aged 29 to 60 Days</a:t>
            </a:r>
          </a:p>
        </p:txBody>
      </p:sp>
      <p:sp>
        <p:nvSpPr>
          <p:cNvPr id="90" name="Rectangle 89">
            <a:extLst>
              <a:ext uri="{FF2B5EF4-FFF2-40B4-BE49-F238E27FC236}">
                <a16:creationId xmlns:a16="http://schemas.microsoft.com/office/drawing/2014/main" id="{B6E7E05D-D837-4475-961B-D16A7C01A73D}"/>
              </a:ext>
            </a:extLst>
          </p:cNvPr>
          <p:cNvSpPr/>
          <p:nvPr/>
        </p:nvSpPr>
        <p:spPr>
          <a:xfrm>
            <a:off x="1656567" y="2701983"/>
            <a:ext cx="2057400" cy="4572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 Discuss with Pediatrics.</a:t>
            </a:r>
            <a:endParaRPr lang="en-US" sz="825" dirty="0">
              <a:ea typeface="Calibri" panose="020F0502020204030204" pitchFamily="34" charset="0"/>
              <a:cs typeface="Times New Roman" panose="02020603050405020304" pitchFamily="18" charset="0"/>
            </a:endParaRPr>
          </a:p>
        </p:txBody>
      </p:sp>
      <p:sp>
        <p:nvSpPr>
          <p:cNvPr id="77" name="TextBox 76">
            <a:extLst>
              <a:ext uri="{FF2B5EF4-FFF2-40B4-BE49-F238E27FC236}">
                <a16:creationId xmlns:a16="http://schemas.microsoft.com/office/drawing/2014/main" id="{E4592A36-6B57-4595-BE5A-FE83C385CAC3}"/>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92" name="TextBox 43">
            <a:extLst>
              <a:ext uri="{FF2B5EF4-FFF2-40B4-BE49-F238E27FC236}">
                <a16:creationId xmlns:a16="http://schemas.microsoft.com/office/drawing/2014/main" id="{78129ACC-34B2-462A-A06E-F2C2F4C66E6D}"/>
              </a:ext>
            </a:extLst>
          </p:cNvPr>
          <p:cNvSpPr txBox="1"/>
          <p:nvPr/>
        </p:nvSpPr>
        <p:spPr>
          <a:xfrm>
            <a:off x="1310702" y="2080137"/>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6" name="TextBox 43">
            <a:extLst>
              <a:ext uri="{FF2B5EF4-FFF2-40B4-BE49-F238E27FC236}">
                <a16:creationId xmlns:a16="http://schemas.microsoft.com/office/drawing/2014/main" id="{FE92D4E3-32B0-4906-A601-A0CDEEBCD8A9}"/>
              </a:ext>
            </a:extLst>
          </p:cNvPr>
          <p:cNvSpPr txBox="1"/>
          <p:nvPr/>
        </p:nvSpPr>
        <p:spPr>
          <a:xfrm>
            <a:off x="1308177" y="2739465"/>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8" name="TextBox 43">
            <a:extLst>
              <a:ext uri="{FF2B5EF4-FFF2-40B4-BE49-F238E27FC236}">
                <a16:creationId xmlns:a16="http://schemas.microsoft.com/office/drawing/2014/main" id="{6BD3C063-6713-4DB3-A14A-027B131741F2}"/>
              </a:ext>
            </a:extLst>
          </p:cNvPr>
          <p:cNvSpPr txBox="1"/>
          <p:nvPr/>
        </p:nvSpPr>
        <p:spPr>
          <a:xfrm>
            <a:off x="1308886" y="339298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0" name="TextBox 43">
            <a:extLst>
              <a:ext uri="{FF2B5EF4-FFF2-40B4-BE49-F238E27FC236}">
                <a16:creationId xmlns:a16="http://schemas.microsoft.com/office/drawing/2014/main" id="{21FD3452-5F6B-48E5-BA80-F975F5483341}"/>
              </a:ext>
            </a:extLst>
          </p:cNvPr>
          <p:cNvSpPr txBox="1"/>
          <p:nvPr/>
        </p:nvSpPr>
        <p:spPr>
          <a:xfrm>
            <a:off x="1307387" y="403425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1" name="TextBox 43">
            <a:extLst>
              <a:ext uri="{FF2B5EF4-FFF2-40B4-BE49-F238E27FC236}">
                <a16:creationId xmlns:a16="http://schemas.microsoft.com/office/drawing/2014/main" id="{2D82E2EF-5F90-4007-9B98-05740698216B}"/>
              </a:ext>
            </a:extLst>
          </p:cNvPr>
          <p:cNvSpPr txBox="1"/>
          <p:nvPr/>
        </p:nvSpPr>
        <p:spPr>
          <a:xfrm>
            <a:off x="3531461" y="4693947"/>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2" name="TextBox 43">
            <a:extLst>
              <a:ext uri="{FF2B5EF4-FFF2-40B4-BE49-F238E27FC236}">
                <a16:creationId xmlns:a16="http://schemas.microsoft.com/office/drawing/2014/main" id="{7AA51208-D9A9-4797-B38A-B336BA7CD62A}"/>
              </a:ext>
            </a:extLst>
          </p:cNvPr>
          <p:cNvSpPr txBox="1"/>
          <p:nvPr/>
        </p:nvSpPr>
        <p:spPr>
          <a:xfrm>
            <a:off x="5620876" y="2088596"/>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5" name="TextBox 104">
            <a:extLst>
              <a:ext uri="{FF2B5EF4-FFF2-40B4-BE49-F238E27FC236}">
                <a16:creationId xmlns:a16="http://schemas.microsoft.com/office/drawing/2014/main" id="{0416CB39-A9C9-43A1-9913-B47D524BE664}"/>
              </a:ext>
            </a:extLst>
          </p:cNvPr>
          <p:cNvSpPr txBox="1"/>
          <p:nvPr/>
        </p:nvSpPr>
        <p:spPr>
          <a:xfrm>
            <a:off x="2088858" y="6334180"/>
            <a:ext cx="4295163" cy="430887"/>
          </a:xfrm>
          <a:prstGeom prst="rect">
            <a:avLst/>
          </a:prstGeom>
          <a:solidFill>
            <a:srgbClr val="CCFFCC"/>
          </a:solidFill>
          <a:ln>
            <a:solidFill>
              <a:schemeClr val="tx1"/>
            </a:solidFill>
          </a:ln>
        </p:spPr>
        <p:txBody>
          <a:bodyPr wrap="square" rtlCol="0">
            <a:spAutoFit/>
          </a:bodyPr>
          <a:lstStyle/>
          <a:p>
            <a:r>
              <a:rPr lang="en-US" sz="1100" dirty="0"/>
              <a:t>Superscripts will link to “Definitions and specifications” for this age group</a:t>
            </a:r>
          </a:p>
          <a:p>
            <a:r>
              <a:rPr lang="en-US" sz="1100" dirty="0"/>
              <a:t>A link at the bottom will direct to “CA-FIRST protocol details” for this age group</a:t>
            </a:r>
          </a:p>
        </p:txBody>
      </p:sp>
    </p:spTree>
    <p:extLst>
      <p:ext uri="{BB962C8B-B14F-4D97-AF65-F5344CB8AC3E}">
        <p14:creationId xmlns:p14="http://schemas.microsoft.com/office/powerpoint/2010/main" val="2106185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49</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29 to 60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2: Definitions and specifications</a:t>
            </a:r>
          </a:p>
        </p:txBody>
      </p:sp>
    </p:spTree>
    <p:extLst>
      <p:ext uri="{BB962C8B-B14F-4D97-AF65-F5344CB8AC3E}">
        <p14:creationId xmlns:p14="http://schemas.microsoft.com/office/powerpoint/2010/main" val="950737843"/>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69D5B2-E31D-494B-BBC0-D9EBDF579C5A}"/>
              </a:ext>
            </a:extLst>
          </p:cNvPr>
          <p:cNvSpPr txBox="1"/>
          <p:nvPr/>
        </p:nvSpPr>
        <p:spPr>
          <a:xfrm>
            <a:off x="357361" y="873410"/>
            <a:ext cx="4114800" cy="5309146"/>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Terminology</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“Consider” suggests that management is  dependent on specific patient circumstances. A pediatrics consult may be helpful.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1: High risk infants</a:t>
            </a:r>
            <a:endParaRPr lang="en-US" sz="1200" b="1" dirty="0">
              <a:latin typeface="Calibri" panose="020F0502020204030204" pitchFamily="34" charset="0"/>
              <a:ea typeface="Times New Roman" panose="02020603050405020304" pitchFamily="18"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Premature infants &lt; 37 weeks gestational age.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Documented or suspected immune compromise.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Neonatal course was complicated by surgery or infection.</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Congenital or chromosomal abnormalities.</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Medically fragile infants requiring some form of technology or ongoing therapeutic intervention to sustain life.</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2:</a:t>
            </a:r>
            <a:r>
              <a:rPr lang="en-US" sz="1200" dirty="0">
                <a:latin typeface="Calibri" panose="020F0502020204030204" pitchFamily="34" charset="0"/>
                <a:ea typeface="Calibri" panose="020F0502020204030204" pitchFamily="34" charset="0"/>
                <a:cs typeface="Calibri" panose="020F0502020204030204" pitchFamily="34" charset="0"/>
              </a:rPr>
              <a:t> Discussion of appropriate testing for high-risk pediatrics patients with bronchiolitis, COVID-19, or recent immunization should be made in conjunction with the pediatric team. </a:t>
            </a:r>
          </a:p>
          <a:p>
            <a:endParaRPr lang="en-US" sz="1200" dirty="0">
              <a:latin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3: </a:t>
            </a:r>
            <a:r>
              <a:rPr lang="en-US" sz="1200" b="1" dirty="0">
                <a:latin typeface="Calibri" panose="020F0502020204030204" pitchFamily="34" charset="0"/>
                <a:ea typeface="Calibri" panose="020F0502020204030204" pitchFamily="34" charset="0"/>
                <a:cs typeface="Calibri" panose="020F0502020204030204" pitchFamily="34" charset="0"/>
              </a:rPr>
              <a:t>Focal bacterial infections: </a:t>
            </a:r>
            <a:r>
              <a:rPr lang="en-US" sz="1200" dirty="0">
                <a:latin typeface="Calibri" panose="020F0502020204030204" pitchFamily="34" charset="0"/>
                <a:ea typeface="Calibri" panose="020F0502020204030204" pitchFamily="34" charset="0"/>
                <a:cs typeface="Calibri" panose="020F0502020204030204" pitchFamily="34" charset="0"/>
              </a:rPr>
              <a:t>Cellulitis, omphalitis, septic arthritis, osteomyelitis, </a:t>
            </a:r>
            <a:r>
              <a:rPr lang="en-US" sz="1200" dirty="0" err="1">
                <a:latin typeface="Calibri" panose="020F0502020204030204" pitchFamily="34" charset="0"/>
                <a:ea typeface="Calibri" panose="020F0502020204030204" pitchFamily="34" charset="0"/>
                <a:cs typeface="Calibri" panose="020F0502020204030204" pitchFamily="34" charset="0"/>
              </a:rPr>
              <a:t>ect</a:t>
            </a:r>
            <a:r>
              <a:rPr lang="en-US" sz="1200" dirty="0">
                <a:latin typeface="Calibri" panose="020F0502020204030204" pitchFamily="34" charset="0"/>
                <a:ea typeface="Calibri" panose="020F0502020204030204" pitchFamily="34" charset="0"/>
                <a:cs typeface="Calibri" panose="020F0502020204030204" pitchFamily="34" charset="0"/>
              </a:rPr>
              <a:t>. </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4: Recommended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Urine studies</a:t>
            </a:r>
            <a:r>
              <a:rPr lang="en-US" sz="1200" dirty="0">
                <a:latin typeface="Calibri" panose="020F0502020204030204" pitchFamily="34" charset="0"/>
                <a:cs typeface="Calibri" panose="020F0502020204030204" pitchFamily="34" charset="0"/>
              </a:rPr>
              <a:t>: catheterized urinalysis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catheterized urine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Blood studies</a:t>
            </a:r>
            <a:r>
              <a:rPr lang="en-US" sz="1200" dirty="0">
                <a:latin typeface="Calibri" panose="020F0502020204030204" pitchFamily="34" charset="0"/>
                <a:cs typeface="Calibri" panose="020F0502020204030204" pitchFamily="34" charset="0"/>
              </a:rPr>
              <a:t>: complete blood count with differential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Cerebrospinal fluid studies</a:t>
            </a:r>
            <a:r>
              <a:rPr lang="en-US" sz="1200" dirty="0">
                <a:latin typeface="Calibri" panose="020F0502020204030204" pitchFamily="34" charset="0"/>
                <a:cs typeface="Calibri" panose="020F0502020204030204" pitchFamily="34" charset="0"/>
              </a:rPr>
              <a:t>: cell count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Gram stain </a:t>
            </a:r>
            <a:r>
              <a:rPr lang="en-US" sz="1200" i="1" u="sng" dirty="0">
                <a:latin typeface="Calibri" panose="020F0502020204030204" pitchFamily="34" charset="0"/>
                <a:cs typeface="Calibri" panose="020F0502020204030204" pitchFamily="34" charset="0"/>
              </a:rPr>
              <a:t>AND</a:t>
            </a:r>
            <a:r>
              <a:rPr lang="en-US" sz="1200" i="1"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glucose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protein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endParaRPr lang="en-US" sz="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5" name="TextBox 84">
            <a:extLst>
              <a:ext uri="{FF2B5EF4-FFF2-40B4-BE49-F238E27FC236}">
                <a16:creationId xmlns:a16="http://schemas.microsoft.com/office/drawing/2014/main" id="{FB955280-2781-402A-895A-EE47F66A86F9}"/>
              </a:ext>
            </a:extLst>
          </p:cNvPr>
          <p:cNvSpPr txBox="1"/>
          <p:nvPr/>
        </p:nvSpPr>
        <p:spPr>
          <a:xfrm>
            <a:off x="4683128" y="664607"/>
            <a:ext cx="4114800" cy="3739806"/>
          </a:xfrm>
          <a:prstGeom prst="rect">
            <a:avLst/>
          </a:prstGeom>
          <a:noFill/>
        </p:spPr>
        <p:txBody>
          <a:bodyPr wrap="square" rtlCol="0">
            <a:spAutoFit/>
          </a:bodyPr>
          <a:lstStyle/>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5: Definitions of positive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CSF</a:t>
            </a:r>
            <a:r>
              <a:rPr lang="en-US" sz="1200" dirty="0">
                <a:latin typeface="Calibri" panose="020F0502020204030204" pitchFamily="34" charset="0"/>
                <a:cs typeface="Calibri" panose="020F0502020204030204" pitchFamily="34" charset="0"/>
              </a:rPr>
              <a:t>: White count with pleocytosis for age or traumatic tap. </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UA</a:t>
            </a:r>
            <a:r>
              <a:rPr lang="en-US" sz="1200" dirty="0">
                <a:latin typeface="Calibri" panose="020F0502020204030204" pitchFamily="34" charset="0"/>
                <a:cs typeface="Calibri" panose="020F0502020204030204" pitchFamily="34" charset="0"/>
              </a:rPr>
              <a:t>: Positive leukocyte esterase on dipstick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&gt;5 WBC per high powered field (centrifuged)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 10 WBCs/mm3 (uncentrifuged). </a:t>
            </a:r>
          </a:p>
          <a:p>
            <a:pPr marL="257175" indent="-257175">
              <a:lnSpc>
                <a:spcPct val="105000"/>
              </a:lnSpc>
              <a:spcBef>
                <a:spcPts val="0"/>
              </a:spcBef>
              <a:spcAft>
                <a:spcPts val="0"/>
              </a:spcAft>
              <a:buFont typeface="Calibri" panose="020F0502020204030204" pitchFamily="34" charset="0"/>
              <a:buChar char="-"/>
            </a:pPr>
            <a:r>
              <a:rPr lang="en-US" sz="1200" b="1" dirty="0">
                <a:latin typeface="Calibri" panose="020F0502020204030204" pitchFamily="34" charset="0"/>
                <a:cs typeface="Calibri" panose="020F0502020204030204" pitchFamily="34" charset="0"/>
              </a:rPr>
              <a:t>Positive CBC</a:t>
            </a:r>
            <a:r>
              <a:rPr lang="en-US" sz="1200" dirty="0">
                <a:latin typeface="Calibri" panose="020F0502020204030204" pitchFamily="34" charset="0"/>
                <a:cs typeface="Calibri" panose="020F0502020204030204" pitchFamily="34" charset="0"/>
              </a:rPr>
              <a:t>: Total white blood cell count &lt; 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total white blood cell count &gt; 15,000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bands &gt; 1,500.</a:t>
            </a: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6: Antibiotics recommendations based on initial work up</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Urinary tract infection</a:t>
            </a:r>
            <a:r>
              <a:rPr lang="en-US" sz="1200" dirty="0">
                <a:latin typeface="Calibri" panose="020F0502020204030204" pitchFamily="34" charset="0"/>
                <a:cs typeface="Calibri" panose="020F0502020204030204" pitchFamily="34" charset="0"/>
              </a:rPr>
              <a:t>: </a:t>
            </a:r>
          </a:p>
          <a:p>
            <a:pPr marL="600075" lvl="1" indent="-257175">
              <a:lnSpc>
                <a:spcPct val="105000"/>
              </a:lnSpc>
              <a:buFont typeface="Calibri" panose="020F0502020204030204" pitchFamily="34" charset="0"/>
              <a:buChar char="-"/>
            </a:pPr>
            <a:r>
              <a:rPr lang="en-US" sz="1200" dirty="0">
                <a:latin typeface="Calibri" panose="020F0502020204030204" pitchFamily="34" charset="0"/>
                <a:cs typeface="Calibri" panose="020F0502020204030204" pitchFamily="34" charset="0"/>
              </a:rPr>
              <a:t>IV/IM: Ceftriaxone (50mg/kg q24h)</a:t>
            </a:r>
          </a:p>
          <a:p>
            <a:pPr marL="600075" lvl="1" indent="-257175">
              <a:lnSpc>
                <a:spcPct val="105000"/>
              </a:lnSpc>
              <a:buFont typeface="Calibri" panose="020F0502020204030204" pitchFamily="34" charset="0"/>
              <a:buChar char="-"/>
            </a:pPr>
            <a:r>
              <a:rPr lang="en-US" sz="1200" dirty="0">
                <a:latin typeface="Calibri" panose="020F0502020204030204" pitchFamily="34" charset="0"/>
                <a:cs typeface="Calibri" panose="020F0502020204030204" pitchFamily="34" charset="0"/>
              </a:rPr>
              <a:t>PO: Cefalexin (50-100 mg/kg divided TID)</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No focus identified</a:t>
            </a:r>
            <a:r>
              <a:rPr lang="en-US" sz="1200" dirty="0">
                <a:latin typeface="Calibri" panose="020F0502020204030204" pitchFamily="34" charset="0"/>
                <a:cs typeface="Calibri" panose="020F0502020204030204" pitchFamily="34" charset="0"/>
              </a:rPr>
              <a:t>: Ceftriaxone (50mg/kg q24h)</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suspected</a:t>
            </a:r>
            <a:r>
              <a:rPr lang="en-US" sz="1200" dirty="0">
                <a:latin typeface="Calibri" panose="020F0502020204030204" pitchFamily="34" charset="0"/>
                <a:cs typeface="Calibri" panose="020F0502020204030204" pitchFamily="34" charset="0"/>
              </a:rPr>
              <a:t>: Ceftriaxone (50mg/kg q12h)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vancomycin (60mg/kg/day divided q6h or q8h, interval based on chronological gestational age) </a:t>
            </a:r>
          </a:p>
          <a:p>
            <a:pPr marL="257175" indent="-257175">
              <a:lnSpc>
                <a:spcPct val="105000"/>
              </a:lnSpc>
              <a:spcBef>
                <a:spcPts val="0"/>
              </a:spcBef>
              <a:spcAft>
                <a:spcPts val="0"/>
              </a:spcAft>
              <a:buFont typeface="Calibri" panose="020F0502020204030204" pitchFamily="34" charset="0"/>
              <a:buChar char="-"/>
            </a:pPr>
            <a:endParaRPr lang="en-US" sz="1050" dirty="0"/>
          </a:p>
        </p:txBody>
      </p:sp>
      <p:sp>
        <p:nvSpPr>
          <p:cNvPr id="5" name="TextBox 4">
            <a:extLst>
              <a:ext uri="{FF2B5EF4-FFF2-40B4-BE49-F238E27FC236}">
                <a16:creationId xmlns:a16="http://schemas.microsoft.com/office/drawing/2014/main" id="{BDF59B29-E246-4153-BEA4-E83B2B4992B1}"/>
              </a:ext>
            </a:extLst>
          </p:cNvPr>
          <p:cNvSpPr txBox="1"/>
          <p:nvPr/>
        </p:nvSpPr>
        <p:spPr>
          <a:xfrm>
            <a:off x="323494" y="357321"/>
            <a:ext cx="8412431" cy="369332"/>
          </a:xfrm>
          <a:prstGeom prst="rect">
            <a:avLst/>
          </a:prstGeom>
          <a:noFill/>
        </p:spPr>
        <p:txBody>
          <a:bodyPr wrap="none" rtlCol="0">
            <a:spAutoFit/>
          </a:bodyPr>
          <a:lstStyle/>
          <a:p>
            <a:r>
              <a:rPr lang="en-US" b="1" u="sng" dirty="0"/>
              <a:t>Emergency Department and Urgent Care Management of Febrile Infants Aged 29 to 60 Days</a:t>
            </a:r>
          </a:p>
        </p:txBody>
      </p:sp>
      <p:sp>
        <p:nvSpPr>
          <p:cNvPr id="6" name="TextBox 5">
            <a:extLst>
              <a:ext uri="{FF2B5EF4-FFF2-40B4-BE49-F238E27FC236}">
                <a16:creationId xmlns:a16="http://schemas.microsoft.com/office/drawing/2014/main" id="{EB1D15AB-46EE-4C50-9025-F8FBA50F69B8}"/>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7" name="TextBox 6">
            <a:extLst>
              <a:ext uri="{FF2B5EF4-FFF2-40B4-BE49-F238E27FC236}">
                <a16:creationId xmlns:a16="http://schemas.microsoft.com/office/drawing/2014/main" id="{68EA565E-74E8-4BCA-A5A8-DBCE030EB335}"/>
              </a:ext>
            </a:extLst>
          </p:cNvPr>
          <p:cNvSpPr txBox="1"/>
          <p:nvPr/>
        </p:nvSpPr>
        <p:spPr>
          <a:xfrm>
            <a:off x="2088858" y="6468118"/>
            <a:ext cx="4295163" cy="261610"/>
          </a:xfrm>
          <a:prstGeom prst="rect">
            <a:avLst/>
          </a:prstGeom>
          <a:solidFill>
            <a:srgbClr val="CCFFCC"/>
          </a:solidFill>
          <a:ln>
            <a:solidFill>
              <a:schemeClr val="tx1"/>
            </a:solidFill>
          </a:ln>
        </p:spPr>
        <p:txBody>
          <a:bodyPr wrap="square" rtlCol="0">
            <a:spAutoFit/>
          </a:bodyPr>
          <a:lstStyle/>
          <a:p>
            <a:r>
              <a:rPr lang="en-US" sz="1100" dirty="0"/>
              <a:t>A link at the bottom will direct to “CA-FIRST protocol details” for this age group</a:t>
            </a:r>
          </a:p>
        </p:txBody>
      </p:sp>
    </p:spTree>
    <p:extLst>
      <p:ext uri="{BB962C8B-B14F-4D97-AF65-F5344CB8AC3E}">
        <p14:creationId xmlns:p14="http://schemas.microsoft.com/office/powerpoint/2010/main" val="42561562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51</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29 to 60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Level 3: CA-FIRST protocol details </a:t>
            </a:r>
          </a:p>
        </p:txBody>
      </p:sp>
    </p:spTree>
    <p:extLst>
      <p:ext uri="{BB962C8B-B14F-4D97-AF65-F5344CB8AC3E}">
        <p14:creationId xmlns:p14="http://schemas.microsoft.com/office/powerpoint/2010/main" val="2345987249"/>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29-60 Days Old, </a:t>
            </a:r>
            <a:r>
              <a:rPr lang="en-US" sz="2200" dirty="0">
                <a:solidFill>
                  <a:sysClr val="windowText" lastClr="000000"/>
                </a:solidFill>
                <a:latin typeface="Microsoft Tai Le"/>
                <a:cs typeface="Microsoft Tai Le"/>
              </a:rPr>
              <a:t>Ill-Appearing Infant</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94577" y="3598582"/>
            <a:ext cx="8226436" cy="163121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Admission</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A full septic work-up</a:t>
            </a:r>
          </a:p>
          <a:p>
            <a:pPr marL="685800" lvl="1" indent="-342900">
              <a:buFont typeface="Arial" panose="020B0604020202020204" pitchFamily="34" charset="0"/>
              <a:buChar char="•"/>
            </a:pPr>
            <a:r>
              <a:rPr lang="en-US" sz="2000" dirty="0">
                <a:solidFill>
                  <a:sysClr val="windowText" lastClr="000000"/>
                </a:solidFill>
                <a:latin typeface="Microsoft Tai Le" panose="020B0502040204020203" pitchFamily="34" charset="0"/>
                <a:cs typeface="Microsoft Tai Le" panose="020B0502040204020203" pitchFamily="34" charset="0"/>
              </a:rPr>
              <a:t>CBC, UA, CSF studies, and Blood, Urine and CSF cultures</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Parenteral antibiotics</a:t>
            </a:r>
          </a:p>
        </p:txBody>
      </p:sp>
      <p:sp>
        <p:nvSpPr>
          <p:cNvPr id="3" name="TextBox 2">
            <a:extLst>
              <a:ext uri="{FF2B5EF4-FFF2-40B4-BE49-F238E27FC236}">
                <a16:creationId xmlns:a16="http://schemas.microsoft.com/office/drawing/2014/main" id="{14DFBFD2-8C3A-4C3E-ADBE-297B222AC0FC}"/>
              </a:ext>
            </a:extLst>
          </p:cNvPr>
          <p:cNvSpPr txBox="1"/>
          <p:nvPr/>
        </p:nvSpPr>
        <p:spPr>
          <a:xfrm>
            <a:off x="494577" y="1320427"/>
            <a:ext cx="8226436" cy="1938992"/>
          </a:xfrm>
          <a:prstGeom prst="rect">
            <a:avLst/>
          </a:prstGeom>
          <a:noFill/>
        </p:spPr>
        <p:txBody>
          <a:bodyPr wrap="square" lIns="68580" tIns="34290" rIns="68580" bIns="34290" rtlCol="0" anchor="t">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Ill-appearing infants are very high risk</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and Roseville Protocol </a:t>
            </a:r>
            <a:r>
              <a:rPr lang="en-US" dirty="0">
                <a:solidFill>
                  <a:sysClr val="windowText" lastClr="000000"/>
                </a:solidFill>
                <a:latin typeface="Microsoft Tai Le" panose="020B0502040204020203" pitchFamily="34" charset="0"/>
                <a:cs typeface="Microsoft Tai Le" panose="020B0502040204020203" pitchFamily="34" charset="0"/>
              </a:rPr>
              <a:t>exclude ill-appearing infants because they are very high risk</a:t>
            </a:r>
          </a:p>
          <a:p>
            <a:pPr marL="342900" indent="-342900">
              <a:buFont typeface="Arial" panose="020B0604020202020204" pitchFamily="34" charset="0"/>
              <a:buChar char="•"/>
            </a:pPr>
            <a:r>
              <a:rPr lang="en-US" b="1" dirty="0">
                <a:latin typeface="Microsoft Tai Le"/>
                <a:cs typeface="Microsoft Tai Le"/>
              </a:rPr>
              <a:t>Data and analysis </a:t>
            </a:r>
            <a:r>
              <a:rPr lang="en-US" dirty="0">
                <a:latin typeface="Microsoft Tai Le"/>
                <a:cs typeface="Microsoft Tai Le"/>
              </a:rPr>
              <a:t>from KPNC febrile infants seen in the ED from 2010-2019 found that of those age 29-60 days with isolated ill-appearance: </a:t>
            </a:r>
          </a:p>
          <a:p>
            <a:pPr lvl="4"/>
            <a:r>
              <a:rPr lang="en-US" sz="1500" i="1" dirty="0">
                <a:latin typeface="Microsoft Tai Le"/>
                <a:cs typeface="Microsoft Tai Le"/>
              </a:rPr>
              <a:t>			</a:t>
            </a:r>
            <a:r>
              <a:rPr lang="en-US" sz="1500" i="1" dirty="0">
                <a:cs typeface="Microsoft Tai Le"/>
              </a:rPr>
              <a:t>11/138 (8%) had bacteremia without meningitis </a:t>
            </a:r>
            <a:endParaRPr lang="en-US" sz="1500" i="1" dirty="0">
              <a:cs typeface="Microsoft Tai Le" panose="020B0502040204020203" pitchFamily="34" charset="0"/>
            </a:endParaRPr>
          </a:p>
          <a:p>
            <a:pPr lvl="4"/>
            <a:r>
              <a:rPr lang="en-US" sz="1500" i="1" dirty="0">
                <a:cs typeface="Microsoft Tai Le"/>
              </a:rPr>
              <a:t>         			2/138 (2%) had meningitis</a:t>
            </a:r>
          </a:p>
        </p:txBody>
      </p:sp>
      <p:sp>
        <p:nvSpPr>
          <p:cNvPr id="7" name="TextBox 6">
            <a:extLst>
              <a:ext uri="{FF2B5EF4-FFF2-40B4-BE49-F238E27FC236}">
                <a16:creationId xmlns:a16="http://schemas.microsoft.com/office/drawing/2014/main" id="{940BB07A-E41A-48E9-80EC-338CC9A4FF89}"/>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41264804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4993" y="1385483"/>
            <a:ext cx="2743200" cy="1271060"/>
            <a:chOff x="4137004" y="1490318"/>
            <a:chExt cx="3629804" cy="785709"/>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90318"/>
              <a:ext cx="3629803" cy="785709"/>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05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within the last 48 </a:t>
              </a:r>
              <a:r>
                <a:rPr lang="en-US" sz="1100" dirty="0" err="1">
                  <a:solidFill>
                    <a:sysClr val="windowText" lastClr="000000"/>
                  </a:solidFill>
                  <a:latin typeface="Calibri" panose="020F0502020204030204" pitchFamily="34" charset="0"/>
                  <a:cs typeface="Calibri" panose="020F0502020204030204" pitchFamily="34" charset="0"/>
                </a:rPr>
                <a:t>hrs</a:t>
              </a:r>
              <a:endParaRPr lang="en-US" sz="1100" dirty="0">
                <a:solidFill>
                  <a:sysClr val="windowText" lastClr="00000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90318"/>
              <a:ext cx="3629803" cy="16957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5924" y="1385483"/>
            <a:ext cx="2468880" cy="2752726"/>
            <a:chOff x="5092117" y="1506294"/>
            <a:chExt cx="2575421" cy="3670301"/>
          </a:xfrm>
        </p:grpSpPr>
        <p:sp>
          <p:nvSpPr>
            <p:cNvPr id="14" name="Rectangle 13">
              <a:extLst>
                <a:ext uri="{FF2B5EF4-FFF2-40B4-BE49-F238E27FC236}">
                  <a16:creationId xmlns:a16="http://schemas.microsoft.com/office/drawing/2014/main" id="{49C843C5-C192-4904-A44C-33EC13CA7947}"/>
                </a:ext>
              </a:extLst>
            </p:cNvPr>
            <p:cNvSpPr/>
            <p:nvPr/>
          </p:nvSpPr>
          <p:spPr>
            <a:xfrm>
              <a:off x="5092117" y="1518995"/>
              <a:ext cx="2575421" cy="365760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lgn="ctr">
                <a:defRPr/>
              </a:pPr>
              <a:r>
                <a:rPr lang="en-US" sz="1100" dirty="0">
                  <a:solidFill>
                    <a:sysClr val="windowText" lastClr="000000"/>
                  </a:solidFill>
                  <a:latin typeface="Calibri" panose="020F0502020204030204" pitchFamily="34" charset="0"/>
                  <a:cs typeface="Calibri" panose="020F0502020204030204" pitchFamily="34" charset="0"/>
                </a:rPr>
                <a:t>Infants 29-60 days of age, temp ≥ 38C:</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Ill appearance</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506294"/>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6233703" y="1385483"/>
            <a:ext cx="2470034" cy="2265895"/>
            <a:chOff x="4137004" y="1454327"/>
            <a:chExt cx="3631501" cy="1056746"/>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8701" y="1454327"/>
              <a:ext cx="3629804" cy="105674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4327"/>
              <a:ext cx="3629802" cy="127935"/>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6" name="Rectangle 25">
            <a:extLst>
              <a:ext uri="{FF2B5EF4-FFF2-40B4-BE49-F238E27FC236}">
                <a16:creationId xmlns:a16="http://schemas.microsoft.com/office/drawing/2014/main" id="{6C223F5D-FED9-4184-9016-CC34D585029A}"/>
              </a:ext>
            </a:extLst>
          </p:cNvPr>
          <p:cNvSpPr/>
          <p:nvPr/>
        </p:nvSpPr>
        <p:spPr>
          <a:xfrm>
            <a:off x="882151" y="3176297"/>
            <a:ext cx="1828800" cy="36576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a:solidFill>
                  <a:sysClr val="windowText" lastClr="000000"/>
                </a:solidFill>
                <a:latin typeface="Calibri" panose="020F0502020204030204" pitchFamily="34" charset="0"/>
                <a:cs typeface="Calibri" panose="020F0502020204030204" pitchFamily="34" charset="0"/>
              </a:rPr>
              <a:t>Consult Pediatrics</a:t>
            </a:r>
          </a:p>
        </p:txBody>
      </p:sp>
      <p:sp>
        <p:nvSpPr>
          <p:cNvPr id="2" name="Arrow: Down 1">
            <a:extLst>
              <a:ext uri="{FF2B5EF4-FFF2-40B4-BE49-F238E27FC236}">
                <a16:creationId xmlns:a16="http://schemas.microsoft.com/office/drawing/2014/main" id="{D7F62E7E-816C-4EBC-B00B-48A4D5922454}"/>
              </a:ext>
            </a:extLst>
          </p:cNvPr>
          <p:cNvSpPr/>
          <p:nvPr/>
        </p:nvSpPr>
        <p:spPr>
          <a:xfrm>
            <a:off x="1548911" y="2659302"/>
            <a:ext cx="503339" cy="51699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38EAD00-44DA-4BB5-9010-BF2D97720473}"/>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17" name="Title 1">
            <a:extLst>
              <a:ext uri="{FF2B5EF4-FFF2-40B4-BE49-F238E27FC236}">
                <a16:creationId xmlns:a16="http://schemas.microsoft.com/office/drawing/2014/main" id="{CED13D14-24E0-42C3-8BA0-2985CC7754A1}"/>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29-60 Days Old, </a:t>
            </a:r>
            <a:r>
              <a:rPr lang="en-US" sz="2200" dirty="0">
                <a:solidFill>
                  <a:sysClr val="windowText" lastClr="000000"/>
                </a:solidFill>
                <a:latin typeface="Microsoft Tai Le"/>
                <a:cs typeface="Microsoft Tai Le"/>
              </a:rPr>
              <a:t>High-Risk Infant</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2300453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7" name="Straight Arrow Connector 76">
            <a:extLst>
              <a:ext uri="{FF2B5EF4-FFF2-40B4-BE49-F238E27FC236}">
                <a16:creationId xmlns:a16="http://schemas.microsoft.com/office/drawing/2014/main" id="{F038CE39-B230-4638-BDC3-A7D05DBF00A5}"/>
              </a:ext>
            </a:extLst>
          </p:cNvPr>
          <p:cNvCxnSpPr>
            <a:cxnSpLocks/>
            <a:stCxn id="36" idx="2"/>
            <a:endCxn id="41" idx="0"/>
          </p:cNvCxnSpPr>
          <p:nvPr/>
        </p:nvCxnSpPr>
        <p:spPr>
          <a:xfrm>
            <a:off x="4563590" y="4531207"/>
            <a:ext cx="896" cy="42492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6682A6C-F095-4A60-8C08-A9E8A754B58B}"/>
              </a:ext>
            </a:extLst>
          </p:cNvPr>
          <p:cNvCxnSpPr>
            <a:cxnSpLocks/>
            <a:stCxn id="16" idx="2"/>
            <a:endCxn id="53" idx="0"/>
          </p:cNvCxnSpPr>
          <p:nvPr/>
        </p:nvCxnSpPr>
        <p:spPr>
          <a:xfrm flipH="1">
            <a:off x="4562003" y="1960455"/>
            <a:ext cx="185" cy="22773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E1C1AE-A3A2-423E-B207-E871AEC0591F}"/>
              </a:ext>
            </a:extLst>
          </p:cNvPr>
          <p:cNvCxnSpPr>
            <a:cxnSpLocks/>
            <a:stCxn id="36" idx="3"/>
            <a:endCxn id="38" idx="1"/>
          </p:cNvCxnSpPr>
          <p:nvPr/>
        </p:nvCxnSpPr>
        <p:spPr>
          <a:xfrm>
            <a:off x="5477990" y="4210525"/>
            <a:ext cx="142482"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3F4085B-76C5-4533-A9A8-344C97EEE614}"/>
              </a:ext>
            </a:extLst>
          </p:cNvPr>
          <p:cNvGrpSpPr/>
          <p:nvPr/>
        </p:nvGrpSpPr>
        <p:grpSpPr>
          <a:xfrm>
            <a:off x="2162208" y="1491715"/>
            <a:ext cx="4118737" cy="4091733"/>
            <a:chOff x="3060778" y="1179078"/>
            <a:chExt cx="5491649" cy="5455644"/>
          </a:xfrm>
        </p:grpSpPr>
        <p:sp>
          <p:nvSpPr>
            <p:cNvPr id="55" name="TextBox 54">
              <a:extLst>
                <a:ext uri="{FF2B5EF4-FFF2-40B4-BE49-F238E27FC236}">
                  <a16:creationId xmlns:a16="http://schemas.microsoft.com/office/drawing/2014/main" id="{6DEED599-EA22-43E4-927A-A26138A30984}"/>
                </a:ext>
              </a:extLst>
            </p:cNvPr>
            <p:cNvSpPr txBox="1"/>
            <p:nvPr/>
          </p:nvSpPr>
          <p:spPr>
            <a:xfrm>
              <a:off x="6260504" y="5320933"/>
              <a:ext cx="436445" cy="307776"/>
            </a:xfrm>
            <a:prstGeom prst="rect">
              <a:avLst/>
            </a:prstGeom>
            <a:noFill/>
          </p:spPr>
          <p:txBody>
            <a:bodyPr wrap="none" rtlCol="0">
              <a:spAutoFit/>
            </a:bodyPr>
            <a:lstStyle/>
            <a:p>
              <a:r>
                <a:rPr lang="en-US" sz="900"/>
                <a:t>NO</a:t>
              </a:r>
            </a:p>
          </p:txBody>
        </p:sp>
        <p:sp>
          <p:nvSpPr>
            <p:cNvPr id="117" name="TextBox 116">
              <a:extLst>
                <a:ext uri="{FF2B5EF4-FFF2-40B4-BE49-F238E27FC236}">
                  <a16:creationId xmlns:a16="http://schemas.microsoft.com/office/drawing/2014/main" id="{625411C5-D5D7-4F59-B9EF-00A4CE9E0100}"/>
                </a:ext>
              </a:extLst>
            </p:cNvPr>
            <p:cNvSpPr txBox="1"/>
            <p:nvPr/>
          </p:nvSpPr>
          <p:spPr>
            <a:xfrm>
              <a:off x="7188374" y="4485579"/>
              <a:ext cx="496291" cy="307776"/>
            </a:xfrm>
            <a:prstGeom prst="rect">
              <a:avLst/>
            </a:prstGeom>
            <a:noFill/>
          </p:spPr>
          <p:txBody>
            <a:bodyPr wrap="none" rtlCol="0">
              <a:spAutoFit/>
            </a:bodyPr>
            <a:lstStyle/>
            <a:p>
              <a:r>
                <a:rPr lang="en-US" sz="900"/>
                <a:t>YES</a:t>
              </a:r>
            </a:p>
          </p:txBody>
        </p:sp>
        <p:grpSp>
          <p:nvGrpSpPr>
            <p:cNvPr id="6" name="Group 5">
              <a:extLst>
                <a:ext uri="{FF2B5EF4-FFF2-40B4-BE49-F238E27FC236}">
                  <a16:creationId xmlns:a16="http://schemas.microsoft.com/office/drawing/2014/main" id="{BE2C7498-5DFF-4B17-B944-8EC73CFA6310}"/>
                </a:ext>
              </a:extLst>
            </p:cNvPr>
            <p:cNvGrpSpPr/>
            <p:nvPr/>
          </p:nvGrpSpPr>
          <p:grpSpPr>
            <a:xfrm>
              <a:off x="3060778" y="1179078"/>
              <a:ext cx="5491649" cy="5455644"/>
              <a:chOff x="3060778" y="1179078"/>
              <a:chExt cx="5491649" cy="5455644"/>
            </a:xfrm>
          </p:grpSpPr>
          <p:sp>
            <p:nvSpPr>
              <p:cNvPr id="44" name="TextBox 43">
                <a:extLst>
                  <a:ext uri="{FF2B5EF4-FFF2-40B4-BE49-F238E27FC236}">
                    <a16:creationId xmlns:a16="http://schemas.microsoft.com/office/drawing/2014/main" id="{9A476156-6352-4FC6-9D8D-7EB9DAF3A14F}"/>
                  </a:ext>
                </a:extLst>
              </p:cNvPr>
              <p:cNvSpPr txBox="1"/>
              <p:nvPr/>
            </p:nvSpPr>
            <p:spPr>
              <a:xfrm>
                <a:off x="6260504" y="2752133"/>
                <a:ext cx="436445" cy="307776"/>
              </a:xfrm>
              <a:prstGeom prst="rect">
                <a:avLst/>
              </a:prstGeom>
              <a:noFill/>
            </p:spPr>
            <p:txBody>
              <a:bodyPr wrap="none" rtlCol="0">
                <a:spAutoFit/>
              </a:bodyPr>
              <a:lstStyle/>
              <a:p>
                <a:r>
                  <a:rPr lang="en-US" sz="900"/>
                  <a:t>NO</a:t>
                </a:r>
              </a:p>
            </p:txBody>
          </p:sp>
          <p:sp>
            <p:nvSpPr>
              <p:cNvPr id="52" name="Rectangle 51">
                <a:extLst>
                  <a:ext uri="{FF2B5EF4-FFF2-40B4-BE49-F238E27FC236}">
                    <a16:creationId xmlns:a16="http://schemas.microsoft.com/office/drawing/2014/main" id="{CE8258BA-F771-47F0-A445-4948F10644D6}"/>
                  </a:ext>
                </a:extLst>
              </p:cNvPr>
              <p:cNvSpPr/>
              <p:nvPr/>
            </p:nvSpPr>
            <p:spPr>
              <a:xfrm>
                <a:off x="3060778" y="2596350"/>
                <a:ext cx="1765376" cy="60730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ysClr val="windowText" lastClr="000000"/>
                  </a:solidFill>
                </a:endParaRPr>
              </a:p>
              <a:p>
                <a:pPr algn="ctr"/>
                <a:r>
                  <a:rPr lang="en-US" sz="900" dirty="0">
                    <a:solidFill>
                      <a:sysClr val="windowText" lastClr="000000"/>
                    </a:solidFill>
                  </a:rPr>
                  <a:t>Confirm urine sent by bladder </a:t>
                </a:r>
                <a:r>
                  <a:rPr lang="en-US" sz="900" dirty="0" err="1">
                    <a:solidFill>
                      <a:sysClr val="windowText" lastClr="000000"/>
                    </a:solidFill>
                  </a:rPr>
                  <a:t>cath</a:t>
                </a:r>
                <a:endParaRPr lang="en-US" sz="900" dirty="0">
                  <a:solidFill>
                    <a:sysClr val="windowText" lastClr="000000"/>
                  </a:solidFill>
                </a:endParaRPr>
              </a:p>
              <a:p>
                <a:pPr algn="ctr"/>
                <a:endParaRPr lang="en-US" sz="900" dirty="0">
                  <a:solidFill>
                    <a:sysClr val="windowText" lastClr="000000"/>
                  </a:solidFill>
                </a:endParaRPr>
              </a:p>
            </p:txBody>
          </p:sp>
          <p:sp>
            <p:nvSpPr>
              <p:cNvPr id="66" name="TextBox 65">
                <a:extLst>
                  <a:ext uri="{FF2B5EF4-FFF2-40B4-BE49-F238E27FC236}">
                    <a16:creationId xmlns:a16="http://schemas.microsoft.com/office/drawing/2014/main" id="{82373C07-6CCF-49B3-B4C4-2647914EC9CD}"/>
                  </a:ext>
                </a:extLst>
              </p:cNvPr>
              <p:cNvSpPr txBox="1"/>
              <p:nvPr/>
            </p:nvSpPr>
            <p:spPr>
              <a:xfrm>
                <a:off x="5052677" y="2032103"/>
                <a:ext cx="496291" cy="307776"/>
              </a:xfrm>
              <a:prstGeom prst="rect">
                <a:avLst/>
              </a:prstGeom>
              <a:noFill/>
            </p:spPr>
            <p:txBody>
              <a:bodyPr wrap="none" rtlCol="0">
                <a:spAutoFit/>
              </a:bodyPr>
              <a:lstStyle/>
              <a:p>
                <a:r>
                  <a:rPr lang="en-US" sz="900"/>
                  <a:t>YES</a:t>
                </a:r>
              </a:p>
            </p:txBody>
          </p:sp>
          <p:cxnSp>
            <p:nvCxnSpPr>
              <p:cNvPr id="68" name="Connector: Elbow 67">
                <a:extLst>
                  <a:ext uri="{FF2B5EF4-FFF2-40B4-BE49-F238E27FC236}">
                    <a16:creationId xmlns:a16="http://schemas.microsoft.com/office/drawing/2014/main" id="{98188D35-614B-40CC-81E6-64723C083E5C}"/>
                  </a:ext>
                </a:extLst>
              </p:cNvPr>
              <p:cNvCxnSpPr>
                <a:cxnSpLocks/>
                <a:stCxn id="53" idx="1"/>
                <a:endCxn id="52" idx="0"/>
              </p:cNvCxnSpPr>
              <p:nvPr/>
            </p:nvCxnSpPr>
            <p:spPr>
              <a:xfrm rot="10800000" flipV="1">
                <a:off x="3943466" y="2332674"/>
                <a:ext cx="1781424" cy="263675"/>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D30A43B-E654-4311-B887-F6FBE661EB67}"/>
                  </a:ext>
                </a:extLst>
              </p:cNvPr>
              <p:cNvGrpSpPr/>
              <p:nvPr/>
            </p:nvGrpSpPr>
            <p:grpSpPr>
              <a:xfrm>
                <a:off x="4199344" y="1179078"/>
                <a:ext cx="4353083" cy="5455644"/>
                <a:chOff x="4199344" y="1179078"/>
                <a:chExt cx="4353083" cy="5455644"/>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4199344" y="1179078"/>
                  <a:ext cx="4353083" cy="5455644"/>
                  <a:chOff x="-159466" y="1339845"/>
                  <a:chExt cx="7738805" cy="9698925"/>
                </a:xfrm>
              </p:grpSpPr>
              <p:sp>
                <p:nvSpPr>
                  <p:cNvPr id="16" name="Rectangle 15">
                    <a:extLst>
                      <a:ext uri="{FF2B5EF4-FFF2-40B4-BE49-F238E27FC236}">
                        <a16:creationId xmlns:a16="http://schemas.microsoft.com/office/drawing/2014/main" id="{14C815F4-3E4B-4657-8DD6-3BDF96293D0A}"/>
                      </a:ext>
                    </a:extLst>
                  </p:cNvPr>
                  <p:cNvSpPr/>
                  <p:nvPr/>
                </p:nvSpPr>
                <p:spPr>
                  <a:xfrm>
                    <a:off x="800350" y="1339845"/>
                    <a:ext cx="5409807" cy="111108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endParaRPr>
                  </a:p>
                  <a:p>
                    <a:r>
                      <a:rPr lang="en-US" sz="900" dirty="0">
                        <a:solidFill>
                          <a:schemeClr val="tx1"/>
                        </a:solidFill>
                      </a:rPr>
                      <a:t>Perform UA, UCx, CBC w/diff, blood </a:t>
                    </a:r>
                    <a:r>
                      <a:rPr lang="en-US" sz="900" dirty="0" err="1">
                        <a:solidFill>
                          <a:schemeClr val="tx1"/>
                        </a:solidFill>
                      </a:rPr>
                      <a:t>Cx</a:t>
                    </a:r>
                    <a:r>
                      <a:rPr lang="en-US" sz="900" dirty="0">
                        <a:solidFill>
                          <a:schemeClr val="tx1"/>
                        </a:solidFill>
                      </a:rPr>
                      <a:t> and LP</a:t>
                    </a:r>
                  </a:p>
                  <a:p>
                    <a:endParaRPr lang="en-US" sz="900" dirty="0">
                      <a:solidFill>
                        <a:schemeClr val="tx1"/>
                      </a:solidFill>
                    </a:endParaRPr>
                  </a:p>
                </p:txBody>
              </p:sp>
              <p:sp>
                <p:nvSpPr>
                  <p:cNvPr id="28" name="Rectangle 27">
                    <a:extLst>
                      <a:ext uri="{FF2B5EF4-FFF2-40B4-BE49-F238E27FC236}">
                        <a16:creationId xmlns:a16="http://schemas.microsoft.com/office/drawing/2014/main" id="{7D944722-CFD4-41F1-850D-378C92D1900A}"/>
                      </a:ext>
                    </a:extLst>
                  </p:cNvPr>
                  <p:cNvSpPr/>
                  <p:nvPr/>
                </p:nvSpPr>
                <p:spPr>
                  <a:xfrm>
                    <a:off x="2042611" y="5220827"/>
                    <a:ext cx="2925813" cy="84025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ysClr val="windowText" lastClr="000000"/>
                        </a:solidFill>
                      </a:rPr>
                      <a:t>Initiate </a:t>
                    </a:r>
                    <a:r>
                      <a:rPr lang="en-US" sz="900" dirty="0" err="1">
                        <a:solidFill>
                          <a:sysClr val="windowText" lastClr="000000"/>
                        </a:solidFill>
                      </a:rPr>
                      <a:t>Pabx</a:t>
                    </a:r>
                    <a:endParaRPr lang="en-US" sz="900" dirty="0">
                      <a:solidFill>
                        <a:sysClr val="windowText" lastClr="000000"/>
                      </a:solidFill>
                    </a:endParaRPr>
                  </a:p>
                  <a:p>
                    <a:pPr marL="171450" indent="-171450">
                      <a:buFont typeface="+mj-lt"/>
                      <a:buAutoNum type="arabicPeriod"/>
                    </a:pPr>
                    <a:r>
                      <a:rPr lang="en-US" sz="900" dirty="0">
                        <a:solidFill>
                          <a:sysClr val="windowText" lastClr="000000"/>
                        </a:solidFill>
                      </a:rPr>
                      <a:t>Observe in hospital</a:t>
                    </a:r>
                  </a:p>
                </p:txBody>
              </p:sp>
              <p:sp>
                <p:nvSpPr>
                  <p:cNvPr id="36" name="Diamond 35">
                    <a:extLst>
                      <a:ext uri="{FF2B5EF4-FFF2-40B4-BE49-F238E27FC236}">
                        <a16:creationId xmlns:a16="http://schemas.microsoft.com/office/drawing/2014/main" id="{74EE7E50-2129-46CB-A048-8AFABA71449A}"/>
                      </a:ext>
                    </a:extLst>
                  </p:cNvPr>
                  <p:cNvSpPr/>
                  <p:nvPr/>
                </p:nvSpPr>
                <p:spPr>
                  <a:xfrm>
                    <a:off x="1341112" y="7024296"/>
                    <a:ext cx="4334928" cy="152027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ysClr val="windowText" lastClr="000000"/>
                        </a:solidFill>
                      </a:rPr>
                      <a:t>Pathogen or Source identified</a:t>
                    </a:r>
                  </a:p>
                </p:txBody>
              </p:sp>
              <p:sp>
                <p:nvSpPr>
                  <p:cNvPr id="38" name="Rectangle 37">
                    <a:extLst>
                      <a:ext uri="{FF2B5EF4-FFF2-40B4-BE49-F238E27FC236}">
                        <a16:creationId xmlns:a16="http://schemas.microsoft.com/office/drawing/2014/main" id="{69007924-3AB5-44F1-A207-AE39F6A7ED9C}"/>
                      </a:ext>
                    </a:extLst>
                  </p:cNvPr>
                  <p:cNvSpPr/>
                  <p:nvPr/>
                </p:nvSpPr>
                <p:spPr>
                  <a:xfrm>
                    <a:off x="6013775" y="7276821"/>
                    <a:ext cx="1565564" cy="101522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41" name="Rectangle 40">
                    <a:extLst>
                      <a:ext uri="{FF2B5EF4-FFF2-40B4-BE49-F238E27FC236}">
                        <a16:creationId xmlns:a16="http://schemas.microsoft.com/office/drawing/2014/main" id="{E73D0D02-152E-4442-A4E8-890DF8E6A7B1}"/>
                      </a:ext>
                    </a:extLst>
                  </p:cNvPr>
                  <p:cNvSpPr/>
                  <p:nvPr/>
                </p:nvSpPr>
                <p:spPr>
                  <a:xfrm>
                    <a:off x="-159466" y="9551804"/>
                    <a:ext cx="7340331" cy="148696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a:solidFill>
                          <a:sysClr val="windowText" lastClr="000000"/>
                        </a:solidFill>
                      </a:rPr>
                      <a:t>Discontinue antimicrobial(s) and may discharge hospitalized infant if all </a:t>
                    </a:r>
                    <a:r>
                      <a:rPr lang="en-US" sz="900" err="1">
                        <a:solidFill>
                          <a:sysClr val="windowText" lastClr="000000"/>
                        </a:solidFill>
                      </a:rPr>
                      <a:t>Cx</a:t>
                    </a:r>
                    <a:r>
                      <a:rPr lang="en-US" sz="900">
                        <a:solidFill>
                          <a:sysClr val="windowText" lastClr="000000"/>
                        </a:solidFill>
                      </a:rPr>
                      <a:t>- at 24-36 </a:t>
                    </a:r>
                    <a:r>
                      <a:rPr lang="en-US" sz="900" err="1">
                        <a:solidFill>
                          <a:sysClr val="windowText" lastClr="000000"/>
                        </a:solidFill>
                      </a:rPr>
                      <a:t>hrs</a:t>
                    </a:r>
                    <a:endParaRPr lang="en-US" sz="900">
                      <a:solidFill>
                        <a:sysClr val="windowText" lastClr="000000"/>
                      </a:solidFill>
                    </a:endParaRPr>
                  </a:p>
                  <a:p>
                    <a:pPr marL="144661" indent="-144661">
                      <a:buFont typeface="+mj-lt"/>
                      <a:buAutoNum type="arabicPeriod"/>
                    </a:pPr>
                    <a:r>
                      <a:rPr lang="en-US" sz="900">
                        <a:solidFill>
                          <a:sysClr val="windowText" lastClr="000000"/>
                        </a:solidFill>
                      </a:rPr>
                      <a:t>Follow for duration of illness</a:t>
                    </a:r>
                  </a:p>
                </p:txBody>
              </p:sp>
            </p:grpSp>
            <p:sp>
              <p:nvSpPr>
                <p:cNvPr id="53" name="Diamond 52">
                  <a:extLst>
                    <a:ext uri="{FF2B5EF4-FFF2-40B4-BE49-F238E27FC236}">
                      <a16:creationId xmlns:a16="http://schemas.microsoft.com/office/drawing/2014/main" id="{75D858EC-E7A1-4D55-83BA-E1EA9D296B37}"/>
                    </a:ext>
                  </a:extLst>
                </p:cNvPr>
                <p:cNvSpPr/>
                <p:nvPr/>
              </p:nvSpPr>
              <p:spPr>
                <a:xfrm>
                  <a:off x="5724890" y="2107715"/>
                  <a:ext cx="1071230" cy="44992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UA+ </a:t>
                  </a:r>
                </a:p>
              </p:txBody>
            </p:sp>
            <p:cxnSp>
              <p:nvCxnSpPr>
                <p:cNvPr id="101" name="Straight Arrow Connector 100">
                  <a:extLst>
                    <a:ext uri="{FF2B5EF4-FFF2-40B4-BE49-F238E27FC236}">
                      <a16:creationId xmlns:a16="http://schemas.microsoft.com/office/drawing/2014/main" id="{3ACFF553-329C-45C1-A288-B71BF0FF4E46}"/>
                    </a:ext>
                  </a:extLst>
                </p:cNvPr>
                <p:cNvCxnSpPr>
                  <a:cxnSpLocks/>
                  <a:stCxn id="53" idx="2"/>
                  <a:endCxn id="28" idx="0"/>
                </p:cNvCxnSpPr>
                <p:nvPr/>
              </p:nvCxnSpPr>
              <p:spPr>
                <a:xfrm>
                  <a:off x="6260505" y="2557635"/>
                  <a:ext cx="395" cy="80449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A15820E-E515-4511-868B-76A76068B4C0}"/>
                    </a:ext>
                  </a:extLst>
                </p:cNvPr>
                <p:cNvCxnSpPr>
                  <a:cxnSpLocks/>
                  <a:stCxn id="28" idx="2"/>
                  <a:endCxn id="36" idx="0"/>
                </p:cNvCxnSpPr>
                <p:nvPr/>
              </p:nvCxnSpPr>
              <p:spPr>
                <a:xfrm>
                  <a:off x="6260900" y="3834773"/>
                  <a:ext cx="1720" cy="54180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cxnSp>
        <p:nvCxnSpPr>
          <p:cNvPr id="82" name="Straight Arrow Connector 81">
            <a:extLst>
              <a:ext uri="{FF2B5EF4-FFF2-40B4-BE49-F238E27FC236}">
                <a16:creationId xmlns:a16="http://schemas.microsoft.com/office/drawing/2014/main" id="{6C8C1CCB-EE87-462C-9719-E58B98C16EFD}"/>
              </a:ext>
            </a:extLst>
          </p:cNvPr>
          <p:cNvCxnSpPr>
            <a:stCxn id="52" idx="3"/>
            <a:endCxn id="44" idx="1"/>
          </p:cNvCxnSpPr>
          <p:nvPr/>
        </p:nvCxnSpPr>
        <p:spPr>
          <a:xfrm>
            <a:off x="3486240" y="2782408"/>
            <a:ext cx="1075763" cy="4514"/>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32F098D-73B8-412E-B0AC-EF044FE8705D}"/>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30" name="Title 1">
            <a:extLst>
              <a:ext uri="{FF2B5EF4-FFF2-40B4-BE49-F238E27FC236}">
                <a16:creationId xmlns:a16="http://schemas.microsoft.com/office/drawing/2014/main" id="{E75341BA-3D6A-43C0-9CCE-EC4BAC0EE59C}"/>
              </a:ext>
            </a:extLst>
          </p:cNvPr>
          <p:cNvSpPr txBox="1">
            <a:spLocks/>
          </p:cNvSpPr>
          <p:nvPr/>
        </p:nvSpPr>
        <p:spPr bwMode="gray">
          <a:xfrm>
            <a:off x="47499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29-60 Days Old, </a:t>
            </a:r>
            <a:r>
              <a:rPr lang="en-US" sz="2200" dirty="0">
                <a:solidFill>
                  <a:sysClr val="windowText" lastClr="000000"/>
                </a:solidFill>
                <a:latin typeface="Microsoft Tai Le"/>
                <a:cs typeface="Microsoft Tai Le"/>
              </a:rPr>
              <a:t>High-Risk Infant</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42660105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4993" y="1329938"/>
            <a:ext cx="2743200" cy="913982"/>
            <a:chOff x="4137003" y="1454324"/>
            <a:chExt cx="3642503" cy="489203"/>
          </a:xfrm>
        </p:grpSpPr>
        <p:sp>
          <p:nvSpPr>
            <p:cNvPr id="11" name="Rectangle 10">
              <a:extLst>
                <a:ext uri="{FF2B5EF4-FFF2-40B4-BE49-F238E27FC236}">
                  <a16:creationId xmlns:a16="http://schemas.microsoft.com/office/drawing/2014/main" id="{D16DD992-3020-481A-89A5-70797C986525}"/>
                </a:ext>
              </a:extLst>
            </p:cNvPr>
            <p:cNvSpPr/>
            <p:nvPr/>
          </p:nvSpPr>
          <p:spPr>
            <a:xfrm>
              <a:off x="4137003" y="1454324"/>
              <a:ext cx="3642503" cy="489203"/>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within the last 48 </a:t>
              </a:r>
              <a:r>
                <a:rPr lang="en-US" sz="1100" dirty="0" err="1">
                  <a:solidFill>
                    <a:sysClr val="windowText" lastClr="000000"/>
                  </a:solidFill>
                  <a:latin typeface="Calibri" panose="020F0502020204030204" pitchFamily="34" charset="0"/>
                  <a:cs typeface="Calibri" panose="020F0502020204030204" pitchFamily="34" charset="0"/>
                </a:rPr>
                <a:t>hrs</a:t>
              </a: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42502" cy="14682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90931" y="1329517"/>
            <a:ext cx="2468880" cy="3301749"/>
            <a:chOff x="4570495" y="1946243"/>
            <a:chExt cx="3097044" cy="5233453"/>
          </a:xfrm>
        </p:grpSpPr>
        <p:sp>
          <p:nvSpPr>
            <p:cNvPr id="14" name="Rectangle 13">
              <a:extLst>
                <a:ext uri="{FF2B5EF4-FFF2-40B4-BE49-F238E27FC236}">
                  <a16:creationId xmlns:a16="http://schemas.microsoft.com/office/drawing/2014/main" id="{49C843C5-C192-4904-A44C-33EC13CA7947}"/>
                </a:ext>
              </a:extLst>
            </p:cNvPr>
            <p:cNvSpPr/>
            <p:nvPr/>
          </p:nvSpPr>
          <p:spPr>
            <a:xfrm>
              <a:off x="4570495" y="1946243"/>
              <a:ext cx="3097044" cy="5233453"/>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22-60 days, well-appearing, temp ≥ 38C, with clinical bronchiolitis (with or without a positive test for RSV) AND one of the following:</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p:txBody>
        </p:sp>
        <p:sp>
          <p:nvSpPr>
            <p:cNvPr id="15" name="Rectangle 14">
              <a:extLst>
                <a:ext uri="{FF2B5EF4-FFF2-40B4-BE49-F238E27FC236}">
                  <a16:creationId xmlns:a16="http://schemas.microsoft.com/office/drawing/2014/main" id="{A8FF4DF0-213D-4ACE-A088-E77513CE29A8}"/>
                </a:ext>
              </a:extLst>
            </p:cNvPr>
            <p:cNvSpPr/>
            <p:nvPr/>
          </p:nvSpPr>
          <p:spPr>
            <a:xfrm>
              <a:off x="4570495" y="1946247"/>
              <a:ext cx="3097044" cy="434812"/>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50" y="1329943"/>
            <a:ext cx="2468880" cy="3566161"/>
            <a:chOff x="4137004" y="1454324"/>
            <a:chExt cx="3629804" cy="189565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4"/>
              <a:ext cx="3629803" cy="189565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defRPr/>
              </a:pPr>
              <a:r>
                <a:rPr lang="en-US" sz="1100" dirty="0">
                  <a:solidFill>
                    <a:sysClr val="windowText" lastClr="000000"/>
                  </a:solidFill>
                  <a:latin typeface="Calibri" panose="020F0502020204030204" pitchFamily="34" charset="0"/>
                  <a:cs typeface="Calibri" panose="020F0502020204030204" pitchFamily="34" charset="0"/>
                </a:rPr>
                <a:t>* The AAP guidance </a:t>
              </a:r>
              <a:r>
                <a:rPr lang="en-US" sz="1100" b="1" dirty="0">
                  <a:solidFill>
                    <a:sysClr val="windowText" lastClr="000000"/>
                  </a:solidFill>
                  <a:latin typeface="Calibri" panose="020F0502020204030204" pitchFamily="34" charset="0"/>
                  <a:cs typeface="Calibri" panose="020F0502020204030204" pitchFamily="34" charset="0"/>
                </a:rPr>
                <a:t>excludes </a:t>
              </a:r>
              <a:r>
                <a:rPr lang="en-US" sz="1100" dirty="0">
                  <a:solidFill>
                    <a:sysClr val="windowText" lastClr="000000"/>
                  </a:solidFill>
                  <a:latin typeface="Calibri" panose="020F0502020204030204" pitchFamily="34" charset="0"/>
                  <a:cs typeface="Calibri" panose="020F0502020204030204" pitchFamily="34" charset="0"/>
                </a:rPr>
                <a:t>RSV patients.</a:t>
              </a:r>
            </a:p>
            <a:p>
              <a:pPr>
                <a:defRPr/>
              </a:pPr>
              <a:r>
                <a:rPr lang="en-US" sz="1100" dirty="0">
                  <a:solidFill>
                    <a:schemeClr val="tx1"/>
                  </a:solidFill>
                  <a:latin typeface="Calibri" panose="020F0502020204030204" pitchFamily="34" charset="0"/>
                  <a:cs typeface="Calibri" panose="020F0502020204030204" pitchFamily="34" charset="0"/>
                </a:rPr>
                <a:t>†</a:t>
              </a:r>
              <a:r>
                <a:rPr lang="en-US" sz="1100" b="1"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Bacterial meningitis is extremely rare in RSV + clinical bronchiolitis</a:t>
              </a:r>
            </a:p>
            <a:p>
              <a:pPr lvl="0">
                <a:defRPr/>
              </a:pPr>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If observed at home, then recommend prescription for oral antimicrobial to treat presumed UTI.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3" cy="14582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90930" y="4868234"/>
            <a:ext cx="2468881" cy="1745432"/>
            <a:chOff x="4180096" y="1446604"/>
            <a:chExt cx="3629804" cy="594865"/>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80096" y="1449355"/>
              <a:ext cx="3629803" cy="59211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complete blood count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80097" y="1446604"/>
              <a:ext cx="3629803" cy="93492"/>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2" name="TextBox 21">
            <a:extLst>
              <a:ext uri="{FF2B5EF4-FFF2-40B4-BE49-F238E27FC236}">
                <a16:creationId xmlns:a16="http://schemas.microsoft.com/office/drawing/2014/main" id="{3677CA9B-599E-4F6A-B8C8-FEC387557DCB}"/>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3" name="Title 1">
            <a:extLst>
              <a:ext uri="{FF2B5EF4-FFF2-40B4-BE49-F238E27FC236}">
                <a16:creationId xmlns:a16="http://schemas.microsoft.com/office/drawing/2014/main" id="{CE7DD65E-991E-4CDF-A83F-DA63F11E8CFF}"/>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High-Risk,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29" name="Rectangle 28">
            <a:extLst>
              <a:ext uri="{FF2B5EF4-FFF2-40B4-BE49-F238E27FC236}">
                <a16:creationId xmlns:a16="http://schemas.microsoft.com/office/drawing/2014/main" id="{68CD7597-F937-4E86-A522-6A3C39347980}"/>
              </a:ext>
            </a:extLst>
          </p:cNvPr>
          <p:cNvSpPr/>
          <p:nvPr/>
        </p:nvSpPr>
        <p:spPr>
          <a:xfrm>
            <a:off x="882151" y="2769896"/>
            <a:ext cx="1828800" cy="36576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dirty="0">
                <a:solidFill>
                  <a:sysClr val="windowText" lastClr="000000"/>
                </a:solidFill>
                <a:latin typeface="Calibri" panose="020F0502020204030204" pitchFamily="34" charset="0"/>
                <a:cs typeface="Calibri" panose="020F0502020204030204" pitchFamily="34" charset="0"/>
              </a:rPr>
              <a:t>Consult Pediatrics</a:t>
            </a:r>
          </a:p>
        </p:txBody>
      </p:sp>
      <p:sp>
        <p:nvSpPr>
          <p:cNvPr id="30" name="Arrow: Down 29">
            <a:extLst>
              <a:ext uri="{FF2B5EF4-FFF2-40B4-BE49-F238E27FC236}">
                <a16:creationId xmlns:a16="http://schemas.microsoft.com/office/drawing/2014/main" id="{507DB909-EC06-4C30-BB53-4FA090D00C0C}"/>
              </a:ext>
            </a:extLst>
          </p:cNvPr>
          <p:cNvSpPr/>
          <p:nvPr/>
        </p:nvSpPr>
        <p:spPr>
          <a:xfrm>
            <a:off x="1548911" y="2252901"/>
            <a:ext cx="503339" cy="51699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41548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C32F098D-73B8-412E-B0AC-EF044FE8705D}"/>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30" name="Title 1">
            <a:extLst>
              <a:ext uri="{FF2B5EF4-FFF2-40B4-BE49-F238E27FC236}">
                <a16:creationId xmlns:a16="http://schemas.microsoft.com/office/drawing/2014/main" id="{E75341BA-3D6A-43C0-9CCE-EC4BAC0EE59C}"/>
              </a:ext>
            </a:extLst>
          </p:cNvPr>
          <p:cNvSpPr txBox="1">
            <a:spLocks/>
          </p:cNvSpPr>
          <p:nvPr/>
        </p:nvSpPr>
        <p:spPr bwMode="gray">
          <a:xfrm>
            <a:off x="47499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High-Risk,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grpSp>
        <p:nvGrpSpPr>
          <p:cNvPr id="27" name="Group 26">
            <a:extLst>
              <a:ext uri="{FF2B5EF4-FFF2-40B4-BE49-F238E27FC236}">
                <a16:creationId xmlns:a16="http://schemas.microsoft.com/office/drawing/2014/main" id="{71515E87-B2FD-4048-B3D2-239EE28ACAE0}"/>
              </a:ext>
            </a:extLst>
          </p:cNvPr>
          <p:cNvGrpSpPr/>
          <p:nvPr/>
        </p:nvGrpSpPr>
        <p:grpSpPr>
          <a:xfrm>
            <a:off x="1690631" y="1883504"/>
            <a:ext cx="3691545" cy="3090993"/>
            <a:chOff x="3023164" y="1317577"/>
            <a:chExt cx="4922060" cy="4121324"/>
          </a:xfrm>
        </p:grpSpPr>
        <p:cxnSp>
          <p:nvCxnSpPr>
            <p:cNvPr id="31" name="Straight Arrow Connector 30">
              <a:extLst>
                <a:ext uri="{FF2B5EF4-FFF2-40B4-BE49-F238E27FC236}">
                  <a16:creationId xmlns:a16="http://schemas.microsoft.com/office/drawing/2014/main" id="{1031729C-E503-4717-B04E-DF066BED1F29}"/>
                </a:ext>
              </a:extLst>
            </p:cNvPr>
            <p:cNvCxnSpPr>
              <a:cxnSpLocks/>
              <a:stCxn id="47" idx="2"/>
              <a:endCxn id="45" idx="0"/>
            </p:cNvCxnSpPr>
            <p:nvPr/>
          </p:nvCxnSpPr>
          <p:spPr>
            <a:xfrm>
              <a:off x="6423714" y="1942563"/>
              <a:ext cx="11681" cy="70070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58F94DC0-E3B7-4A4D-AA5A-B0E35CEAF547}"/>
                </a:ext>
              </a:extLst>
            </p:cNvPr>
            <p:cNvGrpSpPr/>
            <p:nvPr/>
          </p:nvGrpSpPr>
          <p:grpSpPr>
            <a:xfrm>
              <a:off x="3023164" y="1317577"/>
              <a:ext cx="4922060" cy="4121324"/>
              <a:chOff x="2860201" y="1179078"/>
              <a:chExt cx="4922060" cy="4121324"/>
            </a:xfrm>
          </p:grpSpPr>
          <p:sp>
            <p:nvSpPr>
              <p:cNvPr id="34" name="TextBox 33">
                <a:extLst>
                  <a:ext uri="{FF2B5EF4-FFF2-40B4-BE49-F238E27FC236}">
                    <a16:creationId xmlns:a16="http://schemas.microsoft.com/office/drawing/2014/main" id="{F1BABFBD-14B8-4438-8267-D0F0F40B287B}"/>
                  </a:ext>
                </a:extLst>
              </p:cNvPr>
              <p:cNvSpPr txBox="1"/>
              <p:nvPr/>
            </p:nvSpPr>
            <p:spPr>
              <a:xfrm>
                <a:off x="6230261" y="3429857"/>
                <a:ext cx="447132"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a:solidFill>
                      <a:prstClr val="black"/>
                    </a:solidFill>
                    <a:latin typeface="+mj-lt"/>
                    <a:cs typeface="+mn-cs"/>
                  </a:rPr>
                  <a:t>NO</a:t>
                </a:r>
              </a:p>
            </p:txBody>
          </p:sp>
          <p:sp>
            <p:nvSpPr>
              <p:cNvPr id="35" name="Rectangle 34">
                <a:extLst>
                  <a:ext uri="{FF2B5EF4-FFF2-40B4-BE49-F238E27FC236}">
                    <a16:creationId xmlns:a16="http://schemas.microsoft.com/office/drawing/2014/main" id="{F0C6DD19-5F6A-43D5-9CBA-DB8A9A031825}"/>
                  </a:ext>
                </a:extLst>
              </p:cNvPr>
              <p:cNvSpPr/>
              <p:nvPr/>
            </p:nvSpPr>
            <p:spPr>
              <a:xfrm>
                <a:off x="2860201" y="3568356"/>
                <a:ext cx="1765376" cy="60730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900" dirty="0">
                  <a:solidFill>
                    <a:sysClr val="windowText" lastClr="000000"/>
                  </a:solidFill>
                  <a:latin typeface="+mj-lt"/>
                </a:endParaRPr>
              </a:p>
              <a:p>
                <a:pPr algn="ctr" defTabSz="685800" eaLnBrk="1" fontAlgn="auto" hangingPunct="1">
                  <a:spcBef>
                    <a:spcPts val="0"/>
                  </a:spcBef>
                  <a:spcAft>
                    <a:spcPts val="0"/>
                  </a:spcAft>
                  <a:defRPr/>
                </a:pPr>
                <a:r>
                  <a:rPr lang="en-US" sz="900" dirty="0">
                    <a:solidFill>
                      <a:sysClr val="windowText" lastClr="000000"/>
                    </a:solidFill>
                    <a:latin typeface="+mj-lt"/>
                  </a:rPr>
                  <a:t>Confirm urine sent by bladder </a:t>
                </a:r>
                <a:r>
                  <a:rPr lang="en-US" sz="900" dirty="0" err="1">
                    <a:solidFill>
                      <a:sysClr val="windowText" lastClr="000000"/>
                    </a:solidFill>
                    <a:latin typeface="+mj-lt"/>
                  </a:rPr>
                  <a:t>cath</a:t>
                </a:r>
                <a:endParaRPr lang="en-US" sz="900" dirty="0">
                  <a:solidFill>
                    <a:sysClr val="windowText" lastClr="000000"/>
                  </a:solidFill>
                  <a:latin typeface="+mj-lt"/>
                </a:endParaRPr>
              </a:p>
              <a:p>
                <a:pPr algn="ctr" defTabSz="685800" eaLnBrk="1" fontAlgn="auto" hangingPunct="1">
                  <a:spcBef>
                    <a:spcPts val="0"/>
                  </a:spcBef>
                  <a:spcAft>
                    <a:spcPts val="0"/>
                  </a:spcAft>
                  <a:defRPr/>
                </a:pPr>
                <a:endParaRPr lang="en-US" sz="900" dirty="0">
                  <a:solidFill>
                    <a:sysClr val="windowText" lastClr="000000"/>
                  </a:solidFill>
                  <a:latin typeface="+mj-lt"/>
                </a:endParaRPr>
              </a:p>
            </p:txBody>
          </p:sp>
          <p:sp>
            <p:nvSpPr>
              <p:cNvPr id="37" name="TextBox 36">
                <a:extLst>
                  <a:ext uri="{FF2B5EF4-FFF2-40B4-BE49-F238E27FC236}">
                    <a16:creationId xmlns:a16="http://schemas.microsoft.com/office/drawing/2014/main" id="{3525F164-4A72-40AF-AFA9-76AD012AAC11}"/>
                  </a:ext>
                </a:extLst>
              </p:cNvPr>
              <p:cNvSpPr txBox="1"/>
              <p:nvPr/>
            </p:nvSpPr>
            <p:spPr>
              <a:xfrm>
                <a:off x="4491096" y="2677553"/>
                <a:ext cx="496291"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dirty="0">
                    <a:solidFill>
                      <a:prstClr val="black"/>
                    </a:solidFill>
                    <a:latin typeface="+mj-lt"/>
                    <a:cs typeface="+mn-cs"/>
                  </a:rPr>
                  <a:t>YES</a:t>
                </a:r>
              </a:p>
            </p:txBody>
          </p:sp>
          <p:cxnSp>
            <p:nvCxnSpPr>
              <p:cNvPr id="39" name="Connector: Elbow 38">
                <a:extLst>
                  <a:ext uri="{FF2B5EF4-FFF2-40B4-BE49-F238E27FC236}">
                    <a16:creationId xmlns:a16="http://schemas.microsoft.com/office/drawing/2014/main" id="{F4422BF2-970B-43BB-973E-702B450DCCA3}"/>
                  </a:ext>
                </a:extLst>
              </p:cNvPr>
              <p:cNvCxnSpPr>
                <a:cxnSpLocks/>
                <a:stCxn id="45" idx="1"/>
                <a:endCxn id="35" idx="0"/>
              </p:cNvCxnSpPr>
              <p:nvPr/>
            </p:nvCxnSpPr>
            <p:spPr>
              <a:xfrm rot="10800000" flipV="1">
                <a:off x="3742890" y="2937778"/>
                <a:ext cx="1743303" cy="630577"/>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3665CDBC-EB37-4C5E-BF49-9155823FD543}"/>
                  </a:ext>
                </a:extLst>
              </p:cNvPr>
              <p:cNvGrpSpPr/>
              <p:nvPr/>
            </p:nvGrpSpPr>
            <p:grpSpPr>
              <a:xfrm>
                <a:off x="4739241" y="1179078"/>
                <a:ext cx="3043020" cy="4121324"/>
                <a:chOff x="4739241" y="1179078"/>
                <a:chExt cx="3043020" cy="4121324"/>
              </a:xfrm>
            </p:grpSpPr>
            <p:grpSp>
              <p:nvGrpSpPr>
                <p:cNvPr id="42" name="Group 41">
                  <a:extLst>
                    <a:ext uri="{FF2B5EF4-FFF2-40B4-BE49-F238E27FC236}">
                      <a16:creationId xmlns:a16="http://schemas.microsoft.com/office/drawing/2014/main" id="{2B4CCD67-F54C-4FB0-A189-62C565C0BED4}"/>
                    </a:ext>
                  </a:extLst>
                </p:cNvPr>
                <p:cNvGrpSpPr/>
                <p:nvPr/>
              </p:nvGrpSpPr>
              <p:grpSpPr>
                <a:xfrm>
                  <a:off x="4739241" y="1179078"/>
                  <a:ext cx="3043020" cy="4121324"/>
                  <a:chOff x="800350" y="1339845"/>
                  <a:chExt cx="5409807" cy="7326800"/>
                </a:xfrm>
              </p:grpSpPr>
              <p:sp>
                <p:nvSpPr>
                  <p:cNvPr id="47" name="Rectangle 46">
                    <a:extLst>
                      <a:ext uri="{FF2B5EF4-FFF2-40B4-BE49-F238E27FC236}">
                        <a16:creationId xmlns:a16="http://schemas.microsoft.com/office/drawing/2014/main" id="{46CF3ABB-EC54-41BD-BD12-439D24A22B46}"/>
                      </a:ext>
                    </a:extLst>
                  </p:cNvPr>
                  <p:cNvSpPr/>
                  <p:nvPr/>
                </p:nvSpPr>
                <p:spPr>
                  <a:xfrm>
                    <a:off x="800350" y="1339845"/>
                    <a:ext cx="5409807" cy="111108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900" dirty="0">
                      <a:solidFill>
                        <a:prstClr val="black"/>
                      </a:solidFill>
                      <a:latin typeface="+mj-lt"/>
                    </a:endParaRPr>
                  </a:p>
                  <a:p>
                    <a:pPr algn="ctr" defTabSz="685800" eaLnBrk="1" fontAlgn="auto" hangingPunct="1">
                      <a:spcBef>
                        <a:spcPts val="0"/>
                      </a:spcBef>
                      <a:spcAft>
                        <a:spcPts val="0"/>
                      </a:spcAft>
                      <a:defRPr/>
                    </a:pPr>
                    <a:r>
                      <a:rPr lang="en-US" sz="900" dirty="0">
                        <a:solidFill>
                          <a:prstClr val="black"/>
                        </a:solidFill>
                        <a:latin typeface="+mj-lt"/>
                      </a:rPr>
                      <a:t>Perform UA, UCx, CBC w/diff, and blood </a:t>
                    </a:r>
                    <a:r>
                      <a:rPr lang="en-US" sz="900" dirty="0" err="1">
                        <a:solidFill>
                          <a:prstClr val="black"/>
                        </a:solidFill>
                        <a:latin typeface="+mj-lt"/>
                      </a:rPr>
                      <a:t>Cx</a:t>
                    </a:r>
                    <a:endParaRPr lang="en-US" sz="900" dirty="0">
                      <a:solidFill>
                        <a:prstClr val="black"/>
                      </a:solidFill>
                      <a:latin typeface="+mj-lt"/>
                    </a:endParaRPr>
                  </a:p>
                  <a:p>
                    <a:pPr algn="ctr" defTabSz="685800" eaLnBrk="1" fontAlgn="auto" hangingPunct="1">
                      <a:spcBef>
                        <a:spcPts val="0"/>
                      </a:spcBef>
                      <a:spcAft>
                        <a:spcPts val="0"/>
                      </a:spcAft>
                      <a:defRPr/>
                    </a:pPr>
                    <a:endParaRPr lang="en-US" sz="900" dirty="0">
                      <a:solidFill>
                        <a:prstClr val="black"/>
                      </a:solidFill>
                      <a:latin typeface="+mj-lt"/>
                    </a:endParaRPr>
                  </a:p>
                </p:txBody>
              </p:sp>
              <p:sp>
                <p:nvSpPr>
                  <p:cNvPr id="48" name="Rectangle 47">
                    <a:extLst>
                      <a:ext uri="{FF2B5EF4-FFF2-40B4-BE49-F238E27FC236}">
                        <a16:creationId xmlns:a16="http://schemas.microsoft.com/office/drawing/2014/main" id="{1682DD05-7B4E-4336-B7FC-7735BE9D8B8C}"/>
                      </a:ext>
                    </a:extLst>
                  </p:cNvPr>
                  <p:cNvSpPr/>
                  <p:nvPr/>
                </p:nvSpPr>
                <p:spPr>
                  <a:xfrm>
                    <a:off x="1211007" y="7464707"/>
                    <a:ext cx="4630021" cy="120193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900" dirty="0">
                        <a:solidFill>
                          <a:sysClr val="windowText" lastClr="000000"/>
                        </a:solidFill>
                        <a:latin typeface="+mj-lt"/>
                      </a:rPr>
                      <a:t>LP, </a:t>
                    </a:r>
                    <a:r>
                      <a:rPr lang="en-US" sz="900" dirty="0" err="1">
                        <a:solidFill>
                          <a:sysClr val="windowText" lastClr="000000"/>
                        </a:solidFill>
                        <a:latin typeface="+mj-lt"/>
                      </a:rPr>
                      <a:t>Pabx</a:t>
                    </a:r>
                    <a:r>
                      <a:rPr lang="en-US" sz="900" dirty="0">
                        <a:solidFill>
                          <a:sysClr val="windowText" lastClr="000000"/>
                        </a:solidFill>
                        <a:latin typeface="+mj-lt"/>
                      </a:rPr>
                      <a:t> and disposition in discussion with Pediatrics</a:t>
                    </a:r>
                    <a:r>
                      <a:rPr lang="en-US" sz="900" b="1" dirty="0">
                        <a:latin typeface="+mj-lt"/>
                      </a:rPr>
                      <a:t> </a:t>
                    </a:r>
                    <a:r>
                      <a:rPr lang="en-US" sz="900" b="1" dirty="0">
                        <a:solidFill>
                          <a:schemeClr val="tx1"/>
                        </a:solidFill>
                        <a:latin typeface="+mj-lt"/>
                      </a:rPr>
                      <a:t>‡</a:t>
                    </a:r>
                  </a:p>
                </p:txBody>
              </p:sp>
            </p:grpSp>
            <p:sp>
              <p:nvSpPr>
                <p:cNvPr id="45" name="Diamond 44">
                  <a:extLst>
                    <a:ext uri="{FF2B5EF4-FFF2-40B4-BE49-F238E27FC236}">
                      <a16:creationId xmlns:a16="http://schemas.microsoft.com/office/drawing/2014/main" id="{61D6E94C-4900-4EED-A034-F87170F32347}"/>
                    </a:ext>
                  </a:extLst>
                </p:cNvPr>
                <p:cNvSpPr/>
                <p:nvPr/>
              </p:nvSpPr>
              <p:spPr>
                <a:xfrm>
                  <a:off x="5486192" y="2504767"/>
                  <a:ext cx="1572479" cy="866023"/>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900">
                      <a:solidFill>
                        <a:prstClr val="black"/>
                      </a:solidFill>
                      <a:latin typeface="+mj-lt"/>
                    </a:rPr>
                    <a:t>UA+ </a:t>
                  </a:r>
                </a:p>
              </p:txBody>
            </p:sp>
            <p:cxnSp>
              <p:nvCxnSpPr>
                <p:cNvPr id="46" name="Straight Arrow Connector 45">
                  <a:extLst>
                    <a:ext uri="{FF2B5EF4-FFF2-40B4-BE49-F238E27FC236}">
                      <a16:creationId xmlns:a16="http://schemas.microsoft.com/office/drawing/2014/main" id="{D719BE47-3705-4F91-8257-3066B1F37E8F}"/>
                    </a:ext>
                  </a:extLst>
                </p:cNvPr>
                <p:cNvCxnSpPr>
                  <a:cxnSpLocks/>
                  <a:stCxn id="45" idx="2"/>
                  <a:endCxn id="48" idx="0"/>
                </p:cNvCxnSpPr>
                <p:nvPr/>
              </p:nvCxnSpPr>
              <p:spPr>
                <a:xfrm flipH="1">
                  <a:off x="6272431" y="3370790"/>
                  <a:ext cx="1" cy="125352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cxnSp>
        <p:nvCxnSpPr>
          <p:cNvPr id="49" name="Straight Arrow Connector 48">
            <a:extLst>
              <a:ext uri="{FF2B5EF4-FFF2-40B4-BE49-F238E27FC236}">
                <a16:creationId xmlns:a16="http://schemas.microsoft.com/office/drawing/2014/main" id="{B822142D-7F15-4B73-BE93-35F8791F8723}"/>
              </a:ext>
            </a:extLst>
          </p:cNvPr>
          <p:cNvCxnSpPr>
            <a:cxnSpLocks/>
            <a:stCxn id="35" idx="3"/>
          </p:cNvCxnSpPr>
          <p:nvPr/>
        </p:nvCxnSpPr>
        <p:spPr>
          <a:xfrm>
            <a:off x="3014663" y="3903201"/>
            <a:ext cx="1226196"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D7ED9E5-B229-4830-BEFA-6F1A1D4F4C0B}"/>
              </a:ext>
            </a:extLst>
          </p:cNvPr>
          <p:cNvSpPr/>
          <p:nvPr/>
        </p:nvSpPr>
        <p:spPr>
          <a:xfrm>
            <a:off x="6042996" y="1883504"/>
            <a:ext cx="2724149" cy="1744002"/>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 </a:t>
            </a:r>
            <a:r>
              <a:rPr lang="en-US" sz="900" dirty="0">
                <a:solidFill>
                  <a:sysClr val="windowText" lastClr="000000"/>
                </a:solidFill>
              </a:rPr>
              <a:t>If observed at home, then recommend oral antimicrobials to treat presumed UTI if UA positive. Clinicians may manage infants at home if ALL following criteria are met: </a:t>
            </a:r>
            <a:r>
              <a:rPr lang="en-US" sz="900" b="1" dirty="0">
                <a:solidFill>
                  <a:sysClr val="windowText" lastClr="000000"/>
                </a:solidFill>
              </a:rPr>
              <a:t>1) Verbal teaching and written instructions </a:t>
            </a:r>
            <a:r>
              <a:rPr lang="en-US" sz="900" dirty="0">
                <a:solidFill>
                  <a:sysClr val="windowText" lastClr="000000"/>
                </a:solidFill>
              </a:rPr>
              <a:t>have been provided for monitoring throughout the period at home  </a:t>
            </a:r>
            <a:r>
              <a:rPr lang="en-US" sz="900" b="1" dirty="0">
                <a:solidFill>
                  <a:sysClr val="windowText" lastClr="000000"/>
                </a:solidFill>
              </a:rPr>
              <a:t>2)</a:t>
            </a:r>
            <a:r>
              <a:rPr lang="en-US" sz="900" dirty="0">
                <a:solidFill>
                  <a:sysClr val="windowText" lastClr="000000"/>
                </a:solidFill>
              </a:rPr>
              <a:t> Follow-up plans</a:t>
            </a:r>
            <a:r>
              <a:rPr lang="en-US" sz="900" b="1" dirty="0">
                <a:solidFill>
                  <a:sysClr val="windowText" lastClr="000000"/>
                </a:solidFill>
              </a:rPr>
              <a:t> </a:t>
            </a:r>
            <a:r>
              <a:rPr lang="en-US" sz="900" dirty="0">
                <a:solidFill>
                  <a:sysClr val="windowText" lastClr="000000"/>
                </a:solidFill>
              </a:rPr>
              <a:t>for </a:t>
            </a:r>
            <a:r>
              <a:rPr lang="en-US" sz="900" b="1" dirty="0">
                <a:solidFill>
                  <a:sysClr val="windowText" lastClr="000000"/>
                </a:solidFill>
              </a:rPr>
              <a:t>re-evaluation</a:t>
            </a:r>
            <a:r>
              <a:rPr lang="en-US" sz="900" dirty="0">
                <a:solidFill>
                  <a:sysClr val="windowText" lastClr="000000"/>
                </a:solidFill>
              </a:rPr>
              <a:t> have been developed and are in place </a:t>
            </a:r>
            <a:r>
              <a:rPr lang="en-US" sz="900" b="1" dirty="0">
                <a:solidFill>
                  <a:sysClr val="windowText" lastClr="000000"/>
                </a:solidFill>
              </a:rPr>
              <a:t>3)</a:t>
            </a:r>
            <a:r>
              <a:rPr lang="en-US" sz="900" dirty="0">
                <a:solidFill>
                  <a:sysClr val="windowText" lastClr="000000"/>
                </a:solidFill>
              </a:rPr>
              <a:t> </a:t>
            </a:r>
            <a:r>
              <a:rPr lang="en-US" sz="900" b="1" dirty="0">
                <a:solidFill>
                  <a:sysClr val="windowText" lastClr="000000"/>
                </a:solidFill>
              </a:rPr>
              <a:t>Plans have been developed and are in place in case of change in clinical status</a:t>
            </a:r>
            <a:r>
              <a:rPr lang="en-US" sz="900" dirty="0">
                <a:solidFill>
                  <a:sysClr val="windowText" lastClr="000000"/>
                </a:solidFill>
              </a:rPr>
              <a:t>, including means of communication between family and providers and access to emergency medical care.</a:t>
            </a:r>
          </a:p>
        </p:txBody>
      </p:sp>
    </p:spTree>
    <p:extLst>
      <p:ext uri="{BB962C8B-B14F-4D97-AF65-F5344CB8AC3E}">
        <p14:creationId xmlns:p14="http://schemas.microsoft.com/office/powerpoint/2010/main" val="24279264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4993" y="1329936"/>
            <a:ext cx="2743200" cy="3566161"/>
            <a:chOff x="4137003" y="1454323"/>
            <a:chExt cx="3642503" cy="1908765"/>
          </a:xfrm>
        </p:grpSpPr>
        <p:sp>
          <p:nvSpPr>
            <p:cNvPr id="11" name="Rectangle 10">
              <a:extLst>
                <a:ext uri="{FF2B5EF4-FFF2-40B4-BE49-F238E27FC236}">
                  <a16:creationId xmlns:a16="http://schemas.microsoft.com/office/drawing/2014/main" id="{D16DD992-3020-481A-89A5-70797C986525}"/>
                </a:ext>
              </a:extLst>
            </p:cNvPr>
            <p:cNvSpPr/>
            <p:nvPr/>
          </p:nvSpPr>
          <p:spPr>
            <a:xfrm>
              <a:off x="4137003" y="1454323"/>
              <a:ext cx="3642503" cy="1908765"/>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within the last 48 </a:t>
              </a:r>
              <a:r>
                <a:rPr lang="en-US" sz="1100" dirty="0" err="1">
                  <a:solidFill>
                    <a:sysClr val="windowText" lastClr="000000"/>
                  </a:solidFill>
                  <a:latin typeface="Calibri" panose="020F0502020204030204" pitchFamily="34" charset="0"/>
                  <a:cs typeface="Calibri" panose="020F0502020204030204" pitchFamily="34" charset="0"/>
                </a:rPr>
                <a:t>hrs</a:t>
              </a: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42502" cy="14682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90931" y="1329518"/>
            <a:ext cx="2468880" cy="914400"/>
            <a:chOff x="4570495" y="1946245"/>
            <a:chExt cx="3097044" cy="1449374"/>
          </a:xfrm>
        </p:grpSpPr>
        <p:sp>
          <p:nvSpPr>
            <p:cNvPr id="14" name="Rectangle 13">
              <a:extLst>
                <a:ext uri="{FF2B5EF4-FFF2-40B4-BE49-F238E27FC236}">
                  <a16:creationId xmlns:a16="http://schemas.microsoft.com/office/drawing/2014/main" id="{49C843C5-C192-4904-A44C-33EC13CA7947}"/>
                </a:ext>
              </a:extLst>
            </p:cNvPr>
            <p:cNvSpPr/>
            <p:nvPr/>
          </p:nvSpPr>
          <p:spPr>
            <a:xfrm>
              <a:off x="4570495" y="1946245"/>
              <a:ext cx="3097044" cy="1449374"/>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22-60 days, well-appearing, temp ≥ 38C, with clinical bronchiolitis (with or without a positive test for RSV)</a:t>
              </a:r>
            </a:p>
          </p:txBody>
        </p:sp>
        <p:sp>
          <p:nvSpPr>
            <p:cNvPr id="15" name="Rectangle 14">
              <a:extLst>
                <a:ext uri="{FF2B5EF4-FFF2-40B4-BE49-F238E27FC236}">
                  <a16:creationId xmlns:a16="http://schemas.microsoft.com/office/drawing/2014/main" id="{A8FF4DF0-213D-4ACE-A088-E77513CE29A8}"/>
                </a:ext>
              </a:extLst>
            </p:cNvPr>
            <p:cNvSpPr/>
            <p:nvPr/>
          </p:nvSpPr>
          <p:spPr>
            <a:xfrm>
              <a:off x="4570495" y="1946247"/>
              <a:ext cx="3097044" cy="434812"/>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32550" y="1329943"/>
            <a:ext cx="2468880" cy="3566161"/>
            <a:chOff x="4137004" y="1454324"/>
            <a:chExt cx="3629804" cy="1895659"/>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54324"/>
              <a:ext cx="3629803" cy="189565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defRPr/>
              </a:pPr>
              <a:r>
                <a:rPr lang="en-US" sz="1100" dirty="0">
                  <a:solidFill>
                    <a:sysClr val="windowText" lastClr="000000"/>
                  </a:solidFill>
                  <a:latin typeface="Calibri" panose="020F0502020204030204" pitchFamily="34" charset="0"/>
                  <a:cs typeface="Calibri" panose="020F0502020204030204" pitchFamily="34" charset="0"/>
                </a:rPr>
                <a:t>* The AAP guidance </a:t>
              </a:r>
              <a:r>
                <a:rPr lang="en-US" sz="1100" b="1" dirty="0">
                  <a:solidFill>
                    <a:sysClr val="windowText" lastClr="000000"/>
                  </a:solidFill>
                  <a:latin typeface="Calibri" panose="020F0502020204030204" pitchFamily="34" charset="0"/>
                  <a:cs typeface="Calibri" panose="020F0502020204030204" pitchFamily="34" charset="0"/>
                </a:rPr>
                <a:t>excludes </a:t>
              </a:r>
              <a:r>
                <a:rPr lang="en-US" sz="1100" dirty="0">
                  <a:solidFill>
                    <a:sysClr val="windowText" lastClr="000000"/>
                  </a:solidFill>
                  <a:latin typeface="Calibri" panose="020F0502020204030204" pitchFamily="34" charset="0"/>
                  <a:cs typeface="Calibri" panose="020F0502020204030204" pitchFamily="34" charset="0"/>
                </a:rPr>
                <a:t>RSV patients.</a:t>
              </a:r>
            </a:p>
            <a:p>
              <a:pPr>
                <a:defRPr/>
              </a:pPr>
              <a:r>
                <a:rPr lang="en-US" sz="1100" dirty="0">
                  <a:solidFill>
                    <a:schemeClr val="tx1"/>
                  </a:solidFill>
                  <a:latin typeface="Calibri" panose="020F0502020204030204" pitchFamily="34" charset="0"/>
                  <a:cs typeface="Calibri" panose="020F0502020204030204" pitchFamily="34" charset="0"/>
                </a:rPr>
                <a:t>†</a:t>
              </a:r>
              <a:r>
                <a:rPr lang="en-US" sz="1100" b="1"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Bacterial meningitis is extremely rare in RSV + clinical bronchiolitis</a:t>
              </a:r>
            </a:p>
            <a:p>
              <a:pPr lvl="0">
                <a:defRPr/>
              </a:pPr>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If observed at home, then recommend prescription for oral antimicrobial to treat presumed UTI.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54327"/>
              <a:ext cx="3629803" cy="14582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90930" y="2465140"/>
            <a:ext cx="2468881" cy="1745432"/>
            <a:chOff x="4180096" y="1446604"/>
            <a:chExt cx="3629804" cy="594865"/>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80096" y="1449355"/>
              <a:ext cx="3629803" cy="59211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complete blood count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80097" y="1446604"/>
              <a:ext cx="3629803" cy="93492"/>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2" name="TextBox 21">
            <a:extLst>
              <a:ext uri="{FF2B5EF4-FFF2-40B4-BE49-F238E27FC236}">
                <a16:creationId xmlns:a16="http://schemas.microsoft.com/office/drawing/2014/main" id="{3677CA9B-599E-4F6A-B8C8-FEC387557DCB}"/>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3" name="Title 1">
            <a:extLst>
              <a:ext uri="{FF2B5EF4-FFF2-40B4-BE49-F238E27FC236}">
                <a16:creationId xmlns:a16="http://schemas.microsoft.com/office/drawing/2014/main" id="{CE7DD65E-991E-4CDF-A83F-DA63F11E8CFF}"/>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Low-Risk,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13004636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110C9BB-3AC4-4C0C-920B-1B30D1CA9D39}"/>
              </a:ext>
            </a:extLst>
          </p:cNvPr>
          <p:cNvGrpSpPr/>
          <p:nvPr/>
        </p:nvGrpSpPr>
        <p:grpSpPr>
          <a:xfrm>
            <a:off x="1074202" y="1770827"/>
            <a:ext cx="5229787" cy="3740907"/>
            <a:chOff x="2205197" y="614260"/>
            <a:chExt cx="6973049" cy="4987876"/>
          </a:xfrm>
        </p:grpSpPr>
        <p:cxnSp>
          <p:nvCxnSpPr>
            <p:cNvPr id="28" name="Straight Arrow Connector 27">
              <a:extLst>
                <a:ext uri="{FF2B5EF4-FFF2-40B4-BE49-F238E27FC236}">
                  <a16:creationId xmlns:a16="http://schemas.microsoft.com/office/drawing/2014/main" id="{182E1749-49F0-4761-B6F2-04783389ADC3}"/>
                </a:ext>
              </a:extLst>
            </p:cNvPr>
            <p:cNvCxnSpPr>
              <a:cxnSpLocks/>
              <a:stCxn id="23" idx="2"/>
              <a:endCxn id="29" idx="0"/>
            </p:cNvCxnSpPr>
            <p:nvPr/>
          </p:nvCxnSpPr>
          <p:spPr>
            <a:xfrm>
              <a:off x="7105886" y="2883909"/>
              <a:ext cx="6687" cy="150208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90C9071-29FE-4465-AF6B-99E980BA52FF}"/>
                </a:ext>
              </a:extLst>
            </p:cNvPr>
            <p:cNvGrpSpPr/>
            <p:nvPr/>
          </p:nvGrpSpPr>
          <p:grpSpPr>
            <a:xfrm>
              <a:off x="2205197" y="614260"/>
              <a:ext cx="6973049" cy="4987876"/>
              <a:chOff x="2205197" y="614260"/>
              <a:chExt cx="6973049" cy="4987876"/>
            </a:xfrm>
          </p:grpSpPr>
          <p:sp>
            <p:nvSpPr>
              <p:cNvPr id="21" name="TextBox 20">
                <a:extLst>
                  <a:ext uri="{FF2B5EF4-FFF2-40B4-BE49-F238E27FC236}">
                    <a16:creationId xmlns:a16="http://schemas.microsoft.com/office/drawing/2014/main" id="{DB81D492-7C0D-4A0C-999C-36E8D9DE504A}"/>
                  </a:ext>
                </a:extLst>
              </p:cNvPr>
              <p:cNvSpPr txBox="1"/>
              <p:nvPr/>
            </p:nvSpPr>
            <p:spPr>
              <a:xfrm>
                <a:off x="7250142" y="3153717"/>
                <a:ext cx="436445" cy="307776"/>
              </a:xfrm>
              <a:prstGeom prst="rect">
                <a:avLst/>
              </a:prstGeom>
              <a:noFill/>
            </p:spPr>
            <p:txBody>
              <a:bodyPr wrap="none" rtlCol="0">
                <a:spAutoFit/>
              </a:bodyPr>
              <a:lstStyle/>
              <a:p>
                <a:r>
                  <a:rPr lang="en-US" sz="900">
                    <a:latin typeface="+mj-lt"/>
                  </a:rPr>
                  <a:t>NO</a:t>
                </a:r>
              </a:p>
            </p:txBody>
          </p:sp>
          <p:cxnSp>
            <p:nvCxnSpPr>
              <p:cNvPr id="27" name="Straight Arrow Connector 26">
                <a:extLst>
                  <a:ext uri="{FF2B5EF4-FFF2-40B4-BE49-F238E27FC236}">
                    <a16:creationId xmlns:a16="http://schemas.microsoft.com/office/drawing/2014/main" id="{62715D02-BF5D-4954-9511-0C74AEC78385}"/>
                  </a:ext>
                </a:extLst>
              </p:cNvPr>
              <p:cNvCxnSpPr>
                <a:cxnSpLocks/>
                <a:stCxn id="16" idx="2"/>
                <a:endCxn id="23" idx="0"/>
              </p:cNvCxnSpPr>
              <p:nvPr/>
            </p:nvCxnSpPr>
            <p:spPr>
              <a:xfrm>
                <a:off x="7105886" y="1196115"/>
                <a:ext cx="0" cy="87387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AE7080B-6787-4CAE-939C-79DB0756D376}"/>
                  </a:ext>
                </a:extLst>
              </p:cNvPr>
              <p:cNvGrpSpPr/>
              <p:nvPr/>
            </p:nvGrpSpPr>
            <p:grpSpPr>
              <a:xfrm>
                <a:off x="2205197" y="614260"/>
                <a:ext cx="6973049" cy="4987876"/>
                <a:chOff x="2205197" y="614260"/>
                <a:chExt cx="6973049" cy="4987876"/>
              </a:xfrm>
            </p:grpSpPr>
            <p:grpSp>
              <p:nvGrpSpPr>
                <p:cNvPr id="6" name="Group 5">
                  <a:extLst>
                    <a:ext uri="{FF2B5EF4-FFF2-40B4-BE49-F238E27FC236}">
                      <a16:creationId xmlns:a16="http://schemas.microsoft.com/office/drawing/2014/main" id="{ECD19815-3ABA-4EF8-9C46-DB3094FC9BD4}"/>
                    </a:ext>
                  </a:extLst>
                </p:cNvPr>
                <p:cNvGrpSpPr/>
                <p:nvPr/>
              </p:nvGrpSpPr>
              <p:grpSpPr>
                <a:xfrm>
                  <a:off x="5753348" y="614260"/>
                  <a:ext cx="1977298" cy="1758586"/>
                  <a:chOff x="1247250" y="1092018"/>
                  <a:chExt cx="3515197" cy="3126379"/>
                </a:xfrm>
              </p:grpSpPr>
              <p:sp>
                <p:nvSpPr>
                  <p:cNvPr id="16" name="Rectangle 15">
                    <a:extLst>
                      <a:ext uri="{FF2B5EF4-FFF2-40B4-BE49-F238E27FC236}">
                        <a16:creationId xmlns:a16="http://schemas.microsoft.com/office/drawing/2014/main" id="{14C815F4-3E4B-4657-8DD6-3BDF96293D0A}"/>
                      </a:ext>
                    </a:extLst>
                  </p:cNvPr>
                  <p:cNvSpPr/>
                  <p:nvPr/>
                </p:nvSpPr>
                <p:spPr>
                  <a:xfrm>
                    <a:off x="2541076" y="1092018"/>
                    <a:ext cx="2221371" cy="1034409"/>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mj-lt"/>
                    </a:endParaRPr>
                  </a:p>
                  <a:p>
                    <a:pPr algn="ctr"/>
                    <a:r>
                      <a:rPr lang="en-US" sz="900" dirty="0">
                        <a:solidFill>
                          <a:schemeClr val="tx1"/>
                        </a:solidFill>
                        <a:latin typeface="+mj-lt"/>
                      </a:rPr>
                      <a:t>UA &amp; UCx</a:t>
                    </a:r>
                  </a:p>
                  <a:p>
                    <a:pPr algn="ctr"/>
                    <a:endParaRPr lang="en-US" sz="900" dirty="0">
                      <a:solidFill>
                        <a:schemeClr val="tx1"/>
                      </a:solidFill>
                      <a:latin typeface="+mj-lt"/>
                    </a:endParaRPr>
                  </a:p>
                </p:txBody>
              </p:sp>
              <p:sp>
                <p:nvSpPr>
                  <p:cNvPr id="2" name="TextBox 1">
                    <a:extLst>
                      <a:ext uri="{FF2B5EF4-FFF2-40B4-BE49-F238E27FC236}">
                        <a16:creationId xmlns:a16="http://schemas.microsoft.com/office/drawing/2014/main" id="{B3A294D1-9205-488A-A9D6-4186444C3EF3}"/>
                      </a:ext>
                    </a:extLst>
                  </p:cNvPr>
                  <p:cNvSpPr txBox="1"/>
                  <p:nvPr/>
                </p:nvSpPr>
                <p:spPr>
                  <a:xfrm>
                    <a:off x="1247250" y="3671239"/>
                    <a:ext cx="882294" cy="547158"/>
                  </a:xfrm>
                  <a:prstGeom prst="rect">
                    <a:avLst/>
                  </a:prstGeom>
                  <a:noFill/>
                </p:spPr>
                <p:txBody>
                  <a:bodyPr wrap="none" rtlCol="0">
                    <a:spAutoFit/>
                  </a:bodyPr>
                  <a:lstStyle/>
                  <a:p>
                    <a:r>
                      <a:rPr lang="en-US" sz="900">
                        <a:latin typeface="+mj-lt"/>
                      </a:rPr>
                      <a:t>YES</a:t>
                    </a:r>
                  </a:p>
                </p:txBody>
              </p:sp>
            </p:grpSp>
            <p:sp>
              <p:nvSpPr>
                <p:cNvPr id="23" name="Diamond 22">
                  <a:extLst>
                    <a:ext uri="{FF2B5EF4-FFF2-40B4-BE49-F238E27FC236}">
                      <a16:creationId xmlns:a16="http://schemas.microsoft.com/office/drawing/2014/main" id="{120AEB69-28C6-4AEC-8FD9-DDF1346B7BCD}"/>
                    </a:ext>
                  </a:extLst>
                </p:cNvPr>
                <p:cNvSpPr/>
                <p:nvPr/>
              </p:nvSpPr>
              <p:spPr>
                <a:xfrm>
                  <a:off x="6363404" y="2069994"/>
                  <a:ext cx="1484964" cy="81391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latin typeface="+mj-lt"/>
                    </a:rPr>
                    <a:t>UA+ </a:t>
                  </a:r>
                </a:p>
              </p:txBody>
            </p:sp>
            <p:sp>
              <p:nvSpPr>
                <p:cNvPr id="29" name="Rectangle 28">
                  <a:extLst>
                    <a:ext uri="{FF2B5EF4-FFF2-40B4-BE49-F238E27FC236}">
                      <a16:creationId xmlns:a16="http://schemas.microsoft.com/office/drawing/2014/main" id="{B1766528-CAD5-420F-BBC4-41501CB071A1}"/>
                    </a:ext>
                  </a:extLst>
                </p:cNvPr>
                <p:cNvSpPr/>
                <p:nvPr/>
              </p:nvSpPr>
              <p:spPr>
                <a:xfrm>
                  <a:off x="5046900" y="4385997"/>
                  <a:ext cx="4131346" cy="1216139"/>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a:solidFill>
                        <a:schemeClr val="tx1"/>
                      </a:solidFill>
                      <a:latin typeface="+mj-lt"/>
                    </a:rPr>
                    <a:t>Need not perform CBC , blood culture or LP*</a:t>
                  </a:r>
                </a:p>
                <a:p>
                  <a:pPr marL="171450" indent="-171450">
                    <a:buAutoNum type="arabicPeriod"/>
                  </a:pPr>
                  <a:r>
                    <a:rPr lang="en-US" sz="900">
                      <a:solidFill>
                        <a:schemeClr val="tx1"/>
                      </a:solidFill>
                      <a:latin typeface="+mj-lt"/>
                    </a:rPr>
                    <a:t>Need not administer antimicrobials</a:t>
                  </a:r>
                </a:p>
                <a:p>
                  <a:pPr marL="171450" indent="-171450">
                    <a:buAutoNum type="arabicPeriod"/>
                  </a:pPr>
                  <a:r>
                    <a:rPr lang="en-US" sz="900">
                      <a:solidFill>
                        <a:schemeClr val="tx1"/>
                      </a:solidFill>
                      <a:latin typeface="+mj-lt"/>
                    </a:rPr>
                    <a:t>Unless concern for respiratory decompensation, observe closely at home</a:t>
                  </a:r>
                  <a:r>
                    <a:rPr lang="en-US" sz="900" b="1">
                      <a:solidFill>
                        <a:schemeClr val="tx1"/>
                      </a:solidFill>
                      <a:latin typeface="+mj-lt"/>
                    </a:rPr>
                    <a:t> † </a:t>
                  </a:r>
                </a:p>
                <a:p>
                  <a:pPr marL="171450" indent="-171450">
                    <a:buAutoNum type="arabicPeriod"/>
                  </a:pPr>
                  <a:r>
                    <a:rPr lang="en-US" sz="900">
                      <a:solidFill>
                        <a:schemeClr val="tx1"/>
                      </a:solidFill>
                      <a:latin typeface="+mj-lt"/>
                    </a:rPr>
                    <a:t>Follow-up within 24-36 </a:t>
                  </a:r>
                  <a:r>
                    <a:rPr lang="en-US" sz="900" err="1">
                      <a:solidFill>
                        <a:schemeClr val="tx1"/>
                      </a:solidFill>
                      <a:latin typeface="+mj-lt"/>
                    </a:rPr>
                    <a:t>hrs</a:t>
                  </a:r>
                  <a:r>
                    <a:rPr lang="en-US" sz="900">
                      <a:solidFill>
                        <a:schemeClr val="tx1"/>
                      </a:solidFill>
                      <a:latin typeface="+mj-lt"/>
                    </a:rPr>
                    <a:t> </a:t>
                  </a:r>
                </a:p>
              </p:txBody>
            </p:sp>
            <p:sp>
              <p:nvSpPr>
                <p:cNvPr id="31" name="Rectangle 30">
                  <a:extLst>
                    <a:ext uri="{FF2B5EF4-FFF2-40B4-BE49-F238E27FC236}">
                      <a16:creationId xmlns:a16="http://schemas.microsoft.com/office/drawing/2014/main" id="{3B16064F-1545-4E6A-8B74-275B3AAE9085}"/>
                    </a:ext>
                  </a:extLst>
                </p:cNvPr>
                <p:cNvSpPr/>
                <p:nvPr/>
              </p:nvSpPr>
              <p:spPr>
                <a:xfrm>
                  <a:off x="2205197" y="1722692"/>
                  <a:ext cx="3269701" cy="151933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1450" indent="-171450">
                    <a:buAutoNum type="arabicPeriod"/>
                  </a:pPr>
                  <a:r>
                    <a:rPr lang="en-US" sz="900" dirty="0">
                      <a:solidFill>
                        <a:schemeClr val="tx1"/>
                      </a:solidFill>
                      <a:latin typeface="+mj-lt"/>
                    </a:rPr>
                    <a:t>Confirm urine sent by bladder </a:t>
                  </a:r>
                  <a:r>
                    <a:rPr lang="en-US" sz="900" dirty="0" err="1">
                      <a:solidFill>
                        <a:schemeClr val="tx1"/>
                      </a:solidFill>
                      <a:latin typeface="+mj-lt"/>
                    </a:rPr>
                    <a:t>cath</a:t>
                  </a:r>
                  <a:r>
                    <a:rPr lang="en-US" sz="900" dirty="0">
                      <a:solidFill>
                        <a:schemeClr val="tx1"/>
                      </a:solidFill>
                      <a:latin typeface="+mj-lt"/>
                    </a:rPr>
                    <a:t> </a:t>
                  </a:r>
                </a:p>
                <a:p>
                  <a:pPr marL="171450" indent="-171450">
                    <a:buAutoNum type="arabicPeriod"/>
                  </a:pPr>
                  <a:r>
                    <a:rPr lang="en-US" sz="900" dirty="0">
                      <a:solidFill>
                        <a:schemeClr val="tx1"/>
                      </a:solidFill>
                      <a:latin typeface="+mj-lt"/>
                    </a:rPr>
                    <a:t>May obtain CBC and blood culture</a:t>
                  </a:r>
                </a:p>
                <a:p>
                  <a:pPr marL="171450" indent="-171450">
                    <a:buAutoNum type="arabicPeriod"/>
                  </a:pPr>
                  <a:r>
                    <a:rPr lang="en-US" sz="900" dirty="0">
                      <a:solidFill>
                        <a:schemeClr val="tx1"/>
                      </a:solidFill>
                      <a:latin typeface="+mj-lt"/>
                    </a:rPr>
                    <a:t>Need not perform LP </a:t>
                  </a:r>
                  <a:r>
                    <a:rPr lang="en-US" sz="900" b="1" dirty="0">
                      <a:solidFill>
                        <a:schemeClr val="tx1"/>
                      </a:solidFill>
                      <a:latin typeface="+mj-lt"/>
                    </a:rPr>
                    <a:t>† </a:t>
                  </a:r>
                </a:p>
                <a:p>
                  <a:pPr marL="171450" indent="-171450">
                    <a:buAutoNum type="arabicPeriod"/>
                  </a:pPr>
                  <a:r>
                    <a:rPr lang="en-US" sz="900" dirty="0">
                      <a:solidFill>
                        <a:schemeClr val="tx1"/>
                      </a:solidFill>
                      <a:latin typeface="+mj-lt"/>
                    </a:rPr>
                    <a:t>Administer oral antimicrobial</a:t>
                  </a:r>
                </a:p>
                <a:p>
                  <a:pPr marL="171450" indent="-171450">
                    <a:buAutoNum type="arabicPeriod"/>
                  </a:pPr>
                  <a:r>
                    <a:rPr lang="en-US" sz="900" dirty="0">
                      <a:solidFill>
                        <a:schemeClr val="tx1"/>
                      </a:solidFill>
                      <a:latin typeface="+mj-lt"/>
                    </a:rPr>
                    <a:t>Unless concern for respiratory decompensation, observe closely at home</a:t>
                  </a:r>
                  <a:r>
                    <a:rPr lang="en-US" sz="900" b="1" dirty="0">
                      <a:solidFill>
                        <a:schemeClr val="tx1"/>
                      </a:solidFill>
                      <a:latin typeface="+mj-lt"/>
                    </a:rPr>
                    <a:t> ‡ </a:t>
                  </a:r>
                </a:p>
                <a:p>
                  <a:pPr marL="171450" indent="-171450">
                    <a:buAutoNum type="arabicPeriod"/>
                  </a:pPr>
                  <a:r>
                    <a:rPr lang="en-US" sz="900" dirty="0">
                      <a:solidFill>
                        <a:schemeClr val="tx1"/>
                      </a:solidFill>
                      <a:latin typeface="+mj-lt"/>
                    </a:rPr>
                    <a:t>Follow-up in 12-24 </a:t>
                  </a:r>
                  <a:r>
                    <a:rPr lang="en-US" sz="900" dirty="0" err="1">
                      <a:solidFill>
                        <a:schemeClr val="tx1"/>
                      </a:solidFill>
                      <a:latin typeface="+mj-lt"/>
                    </a:rPr>
                    <a:t>hrs</a:t>
                  </a:r>
                  <a:endParaRPr lang="en-US" sz="900" dirty="0">
                    <a:solidFill>
                      <a:schemeClr val="tx1"/>
                    </a:solidFill>
                    <a:latin typeface="+mj-lt"/>
                  </a:endParaRPr>
                </a:p>
              </p:txBody>
            </p:sp>
          </p:grpSp>
        </p:grpSp>
        <p:cxnSp>
          <p:nvCxnSpPr>
            <p:cNvPr id="12" name="Straight Arrow Connector 11">
              <a:extLst>
                <a:ext uri="{FF2B5EF4-FFF2-40B4-BE49-F238E27FC236}">
                  <a16:creationId xmlns:a16="http://schemas.microsoft.com/office/drawing/2014/main" id="{2B2FF98F-DEBF-4F97-8668-D6848B943126}"/>
                </a:ext>
              </a:extLst>
            </p:cNvPr>
            <p:cNvCxnSpPr>
              <a:cxnSpLocks/>
              <a:stCxn id="23" idx="1"/>
              <a:endCxn id="31" idx="3"/>
            </p:cNvCxnSpPr>
            <p:nvPr/>
          </p:nvCxnSpPr>
          <p:spPr>
            <a:xfrm flipH="1">
              <a:off x="5474898" y="2476952"/>
              <a:ext cx="888505" cy="540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5A4FA89A-C4A5-4EA6-855E-9803D63ABDBB}"/>
              </a:ext>
            </a:extLst>
          </p:cNvPr>
          <p:cNvSpPr/>
          <p:nvPr/>
        </p:nvSpPr>
        <p:spPr>
          <a:xfrm>
            <a:off x="5793149" y="1436251"/>
            <a:ext cx="2543620" cy="2890216"/>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p>
          <a:p>
            <a:r>
              <a:rPr lang="en-US" sz="900" b="1" dirty="0">
                <a:solidFill>
                  <a:schemeClr val="tx1"/>
                </a:solidFill>
              </a:rPr>
              <a:t>* </a:t>
            </a:r>
            <a:r>
              <a:rPr lang="en-US" sz="900" dirty="0">
                <a:solidFill>
                  <a:schemeClr val="tx1"/>
                </a:solidFill>
              </a:rPr>
              <a:t>The AAP guidance </a:t>
            </a:r>
            <a:r>
              <a:rPr lang="en-US" sz="900" b="1" dirty="0">
                <a:solidFill>
                  <a:schemeClr val="tx1"/>
                </a:solidFill>
              </a:rPr>
              <a:t>excludes</a:t>
            </a:r>
            <a:r>
              <a:rPr lang="en-US" sz="900" dirty="0">
                <a:solidFill>
                  <a:schemeClr val="tx1"/>
                </a:solidFill>
              </a:rPr>
              <a:t> RSV patients.</a:t>
            </a:r>
            <a:endParaRPr lang="en-US" sz="900" b="1" dirty="0">
              <a:solidFill>
                <a:schemeClr val="tx1"/>
              </a:solidFill>
            </a:endParaRPr>
          </a:p>
          <a:p>
            <a:r>
              <a:rPr lang="en-US" sz="900" b="1" dirty="0">
                <a:solidFill>
                  <a:schemeClr val="tx1"/>
                </a:solidFill>
              </a:rPr>
              <a:t>† </a:t>
            </a:r>
            <a:r>
              <a:rPr lang="en-US" sz="900" dirty="0">
                <a:solidFill>
                  <a:schemeClr val="tx1"/>
                </a:solidFill>
              </a:rPr>
              <a:t>In addition to the presence of vesicles and/or seizures, infants should be considered at increased risk of HSV if any of the following are present: CSF pleocytosis with a negative gram stain, leukopenia, thrombocytopenia, hypothermia, mucous membrane ulcers, or maternal history of genital HSV lesions or fever from 48 </a:t>
            </a:r>
            <a:r>
              <a:rPr lang="en-US" sz="900" dirty="0" err="1">
                <a:solidFill>
                  <a:schemeClr val="tx1"/>
                </a:solidFill>
              </a:rPr>
              <a:t>hrs</a:t>
            </a:r>
            <a:r>
              <a:rPr lang="en-US" sz="900" dirty="0">
                <a:solidFill>
                  <a:schemeClr val="tx1"/>
                </a:solidFill>
              </a:rPr>
              <a:t> before to 48 </a:t>
            </a:r>
            <a:r>
              <a:rPr lang="en-US" sz="900" dirty="0" err="1">
                <a:solidFill>
                  <a:schemeClr val="tx1"/>
                </a:solidFill>
              </a:rPr>
              <a:t>hrs</a:t>
            </a:r>
            <a:r>
              <a:rPr lang="en-US" sz="900" dirty="0">
                <a:solidFill>
                  <a:schemeClr val="tx1"/>
                </a:solidFill>
              </a:rPr>
              <a:t> after delivery. If liver function tests were obtained, then an elevated ALT also indicates a higher risk of HSV. For further details of evaluation and management of HSV see AAP Redbook.</a:t>
            </a:r>
            <a:endParaRPr lang="en-US" sz="900" b="1" dirty="0">
              <a:solidFill>
                <a:schemeClr val="tx1"/>
              </a:solidFill>
            </a:endParaRPr>
          </a:p>
          <a:p>
            <a:r>
              <a:rPr lang="en-US" sz="900" b="1" dirty="0">
                <a:solidFill>
                  <a:schemeClr val="tx1"/>
                </a:solidFill>
              </a:rPr>
              <a:t>‡ </a:t>
            </a:r>
            <a:r>
              <a:rPr lang="en-US" sz="900" dirty="0">
                <a:solidFill>
                  <a:schemeClr val="tx1"/>
                </a:solidFill>
              </a:rPr>
              <a:t>Bacterial meningitis is rare in RSV + bronchiolitis</a:t>
            </a:r>
          </a:p>
          <a:p>
            <a:endParaRPr lang="en-US" sz="900" dirty="0">
              <a:solidFill>
                <a:schemeClr val="tx1"/>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a:p>
            <a:r>
              <a:rPr lang="en-US" sz="900" dirty="0">
                <a:solidFill>
                  <a:schemeClr val="tx1"/>
                </a:solidFill>
              </a:rPr>
              <a:t>“</a:t>
            </a:r>
            <a:r>
              <a:rPr lang="en-US" sz="900" b="1" dirty="0">
                <a:solidFill>
                  <a:schemeClr val="tx1"/>
                </a:solidFill>
              </a:rPr>
              <a:t>Need Not</a:t>
            </a:r>
            <a:r>
              <a:rPr lang="en-US" sz="900" dirty="0">
                <a:solidFill>
                  <a:schemeClr val="tx1"/>
                </a:solidFill>
              </a:rPr>
              <a:t>” can be interpreted as ”Usually not indicated.” </a:t>
            </a:r>
          </a:p>
          <a:p>
            <a:endParaRPr lang="en-US" sz="900" dirty="0">
              <a:solidFill>
                <a:schemeClr val="tx1"/>
              </a:solidFill>
            </a:endParaRPr>
          </a:p>
        </p:txBody>
      </p:sp>
      <p:sp>
        <p:nvSpPr>
          <p:cNvPr id="20" name="TextBox 19">
            <a:extLst>
              <a:ext uri="{FF2B5EF4-FFF2-40B4-BE49-F238E27FC236}">
                <a16:creationId xmlns:a16="http://schemas.microsoft.com/office/drawing/2014/main" id="{B36E2B14-A73B-43B4-B5BF-5855AF94CB78}"/>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18" name="Title 1">
            <a:extLst>
              <a:ext uri="{FF2B5EF4-FFF2-40B4-BE49-F238E27FC236}">
                <a16:creationId xmlns:a16="http://schemas.microsoft.com/office/drawing/2014/main" id="{24A36A6A-F70C-407C-931C-5CE603B3E02B}"/>
              </a:ext>
            </a:extLst>
          </p:cNvPr>
          <p:cNvSpPr txBox="1">
            <a:spLocks/>
          </p:cNvSpPr>
          <p:nvPr/>
        </p:nvSpPr>
        <p:spPr bwMode="gray">
          <a:xfrm>
            <a:off x="47499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22-60 Days Old, </a:t>
            </a:r>
            <a:r>
              <a:rPr lang="en-US" sz="2300" dirty="0">
                <a:solidFill>
                  <a:sysClr val="windowText" lastClr="000000"/>
                </a:solidFill>
                <a:latin typeface="Microsoft Tai Le"/>
                <a:cs typeface="Microsoft Tai Le"/>
              </a:rPr>
              <a:t>Low-Risk, Well-Appearing Infant </a:t>
            </a:r>
          </a:p>
          <a:p>
            <a:r>
              <a:rPr lang="en-US" sz="2300" dirty="0">
                <a:solidFill>
                  <a:sysClr val="windowText" lastClr="000000"/>
                </a:solidFill>
                <a:latin typeface="Microsoft Tai Le"/>
                <a:cs typeface="Microsoft Tai Le"/>
              </a:rPr>
              <a:t>with bronchiolitis</a:t>
            </a:r>
            <a:endParaRPr lang="en-US" sz="23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7094947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5235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22-60 Days Old, </a:t>
            </a:r>
            <a:r>
              <a:rPr lang="en-US" sz="2200" dirty="0">
                <a:solidFill>
                  <a:sysClr val="windowText" lastClr="000000"/>
                </a:solidFill>
                <a:latin typeface="Microsoft Tai Le"/>
                <a:cs typeface="Microsoft Tai Le"/>
              </a:rPr>
              <a:t>Low-Risk, Well-Appearing Infant </a:t>
            </a:r>
            <a:br>
              <a:rPr lang="en-US" sz="2200" dirty="0">
                <a:solidFill>
                  <a:sysClr val="windowText" lastClr="000000"/>
                </a:solidFill>
                <a:latin typeface="Microsoft Tai Le"/>
                <a:cs typeface="Microsoft Tai Le"/>
              </a:rPr>
            </a:br>
            <a:r>
              <a:rPr lang="en-US" sz="2200" dirty="0">
                <a:solidFill>
                  <a:sysClr val="windowText" lastClr="000000"/>
                </a:solidFill>
                <a:latin typeface="Microsoft Tai Le"/>
                <a:cs typeface="Microsoft Tai Le"/>
              </a:rPr>
              <a:t>with bronchiolitis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505087" y="4150766"/>
            <a:ext cx="8226436" cy="70788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UA and urine culture only</a:t>
            </a:r>
          </a:p>
        </p:txBody>
      </p:sp>
      <p:sp>
        <p:nvSpPr>
          <p:cNvPr id="3" name="TextBox 2">
            <a:extLst>
              <a:ext uri="{FF2B5EF4-FFF2-40B4-BE49-F238E27FC236}">
                <a16:creationId xmlns:a16="http://schemas.microsoft.com/office/drawing/2014/main" id="{5F4A758E-AA94-4D4C-8744-EA1952159033}"/>
              </a:ext>
            </a:extLst>
          </p:cNvPr>
          <p:cNvSpPr txBox="1"/>
          <p:nvPr/>
        </p:nvSpPr>
        <p:spPr>
          <a:xfrm>
            <a:off x="458782" y="1325152"/>
            <a:ext cx="8226436" cy="2539157"/>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known bronchiolitis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clinical bronchiolitis from their algorithms because they are lower 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A review </a:t>
            </a:r>
            <a:r>
              <a:rPr lang="en-US" dirty="0">
                <a:solidFill>
                  <a:sysClr val="windowText" lastClr="000000"/>
                </a:solidFill>
                <a:latin typeface="Microsoft Tai Le" panose="020B0502040204020203" pitchFamily="34" charset="0"/>
                <a:cs typeface="Microsoft Tai Le" panose="020B0502040204020203" pitchFamily="34" charset="0"/>
              </a:rPr>
              <a:t>(Ralston et al) of 11 studies of febrile infants with clinical bronchiolitis found no cases of meningitis </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22-60 days who were well-appearing and RSV+: </a:t>
            </a:r>
          </a:p>
          <a:p>
            <a:pPr lvl="8"/>
            <a:r>
              <a:rPr lang="en-US" sz="1500"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0/119 had bacteremia without meningitis </a:t>
            </a:r>
          </a:p>
          <a:p>
            <a:r>
              <a:rPr lang="en-US" sz="1500" i="1" dirty="0">
                <a:solidFill>
                  <a:sysClr val="windowText" lastClr="000000"/>
                </a:solidFill>
                <a:cs typeface="Microsoft Tai Le" panose="020B0502040204020203" pitchFamily="34" charset="0"/>
              </a:rPr>
              <a:t>		      			0/119 had meningitis</a:t>
            </a:r>
          </a:p>
        </p:txBody>
      </p:sp>
      <p:sp>
        <p:nvSpPr>
          <p:cNvPr id="7" name="TextBox 6">
            <a:extLst>
              <a:ext uri="{FF2B5EF4-FFF2-40B4-BE49-F238E27FC236}">
                <a16:creationId xmlns:a16="http://schemas.microsoft.com/office/drawing/2014/main" id="{DBD1469C-8A9B-4D9B-9B01-DE98854582C6}"/>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38947968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61507"/>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29-60 Days Old, Well-Appearing Infant</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Vaccinated within 48 hours</a:t>
            </a:r>
          </a:p>
        </p:txBody>
      </p:sp>
      <p:sp>
        <p:nvSpPr>
          <p:cNvPr id="9" name="Rectangle 8">
            <a:extLst>
              <a:ext uri="{FF2B5EF4-FFF2-40B4-BE49-F238E27FC236}">
                <a16:creationId xmlns:a16="http://schemas.microsoft.com/office/drawing/2014/main" id="{C95DA26A-CF1C-DF49-B317-718087E3A7BB}"/>
              </a:ext>
            </a:extLst>
          </p:cNvPr>
          <p:cNvSpPr/>
          <p:nvPr/>
        </p:nvSpPr>
        <p:spPr>
          <a:xfrm>
            <a:off x="505088" y="4044036"/>
            <a:ext cx="8226436" cy="1015663"/>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May go home without further testing</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Need not perform UA and urine culture</a:t>
            </a:r>
          </a:p>
        </p:txBody>
      </p:sp>
      <p:sp>
        <p:nvSpPr>
          <p:cNvPr id="4" name="TextBox 3">
            <a:extLst>
              <a:ext uri="{FF2B5EF4-FFF2-40B4-BE49-F238E27FC236}">
                <a16:creationId xmlns:a16="http://schemas.microsoft.com/office/drawing/2014/main" id="{CEF8A224-25AB-406D-85E2-986E5F9942E6}"/>
              </a:ext>
            </a:extLst>
          </p:cNvPr>
          <p:cNvSpPr txBox="1"/>
          <p:nvPr/>
        </p:nvSpPr>
        <p:spPr>
          <a:xfrm>
            <a:off x="453081" y="1324615"/>
            <a:ext cx="8226436" cy="2308324"/>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recent vaccinations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vaccinations within 48 hours of presentation from their algorithms because they are low-risk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61-90 days with no high-risk criteria and vaccination within 48 hours: </a:t>
            </a:r>
          </a:p>
          <a:p>
            <a:r>
              <a:rPr lang="en-US" b="1"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0/94 had bacteremia without meningitis </a:t>
            </a:r>
          </a:p>
          <a:p>
            <a:r>
              <a:rPr lang="en-US" sz="1500" i="1" dirty="0">
                <a:solidFill>
                  <a:sysClr val="windowText" lastClr="000000"/>
                </a:solidFill>
                <a:cs typeface="Microsoft Tai Le" panose="020B0502040204020203" pitchFamily="34" charset="0"/>
              </a:rPr>
              <a:t>		      		 	0/94 had meningitis</a:t>
            </a:r>
          </a:p>
        </p:txBody>
      </p:sp>
      <p:sp>
        <p:nvSpPr>
          <p:cNvPr id="7" name="TextBox 6">
            <a:extLst>
              <a:ext uri="{FF2B5EF4-FFF2-40B4-BE49-F238E27FC236}">
                <a16:creationId xmlns:a16="http://schemas.microsoft.com/office/drawing/2014/main" id="{FFAE6979-2C50-4094-B971-255055627C06}"/>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1149013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73096" y="1365249"/>
            <a:ext cx="2743200" cy="4297680"/>
            <a:chOff x="4137004" y="1412089"/>
            <a:chExt cx="3629804" cy="2004310"/>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12089"/>
              <a:ext cx="3629803" cy="2004310"/>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Premature infants &lt; 37 </a:t>
              </a:r>
              <a:r>
                <a:rPr lang="en-US" sz="1100" dirty="0" err="1">
                  <a:solidFill>
                    <a:sysClr val="windowText" lastClr="000000"/>
                  </a:solidFill>
                  <a:latin typeface="Calibri" panose="020F0502020204030204" pitchFamily="34" charset="0"/>
                  <a:cs typeface="Calibri" panose="020F0502020204030204" pitchFamily="34" charset="0"/>
                </a:rPr>
                <a:t>wks</a:t>
              </a:r>
              <a:r>
                <a:rPr lang="en-US" sz="1100" dirty="0">
                  <a:solidFill>
                    <a:sysClr val="windowText" lastClr="000000"/>
                  </a:solidFill>
                  <a:latin typeface="Calibri" panose="020F0502020204030204" pitchFamily="34" charset="0"/>
                  <a:cs typeface="Calibri" panose="020F0502020204030204" pitchFamily="34" charset="0"/>
                </a:rPr>
                <a:t> gestational age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Febrile infants with high suspicion of HSV infection (e.g., vesicles)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clinical bronchiolitis, with or without positive tests for RSV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documented or suspected immune compromise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whose neonatal course was complicated by surgery or infection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congenital or chromosomal abnormalities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who have received immunizations w/in the last 48 </a:t>
              </a:r>
              <a:r>
                <a:rPr lang="en-US" sz="1100" dirty="0" err="1">
                  <a:solidFill>
                    <a:sysClr val="windowText" lastClr="000000"/>
                  </a:solidFill>
                  <a:latin typeface="Calibri" panose="020F0502020204030204" pitchFamily="34" charset="0"/>
                  <a:cs typeface="Calibri" panose="020F0502020204030204" pitchFamily="34" charset="0"/>
                </a:rPr>
                <a:t>hrs</a:t>
              </a:r>
              <a:r>
                <a:rPr lang="en-US" sz="1100" dirty="0">
                  <a:solidFill>
                    <a:sysClr val="windowText" lastClr="000000"/>
                  </a:solidFill>
                  <a:latin typeface="Calibri" panose="020F0502020204030204" pitchFamily="34" charset="0"/>
                  <a:cs typeface="Calibri" panose="020F0502020204030204" pitchFamily="34" charset="0"/>
                </a:rPr>
                <a:t>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12089"/>
              <a:ext cx="3629803" cy="12793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74718" y="1362837"/>
            <a:ext cx="2468880" cy="731520"/>
            <a:chOff x="5092117" y="1946246"/>
            <a:chExt cx="2575421" cy="975360"/>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97536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latin typeface="Calibri" panose="020F0502020204030204" pitchFamily="34" charset="0"/>
                <a:cs typeface="Calibri" panose="020F0502020204030204" pitchFamily="34" charset="0"/>
              </a:endParaRPr>
            </a:p>
            <a:p>
              <a:pPr lvl="0" algn="ctr">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r>
                <a:rPr lang="en-US" sz="1100" dirty="0">
                  <a:solidFill>
                    <a:sysClr val="windowText" lastClr="000000"/>
                  </a:solidFill>
                  <a:latin typeface="Calibri" panose="020F0502020204030204" pitchFamily="34" charset="0"/>
                  <a:cs typeface="Calibri" panose="020F0502020204030204" pitchFamily="34" charset="0"/>
                </a:rPr>
                <a:t>Infants 29-60 days of age, well-appearing, temp ≥ 38C</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7" y="1946246"/>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02023" y="1362838"/>
            <a:ext cx="2468880" cy="3749040"/>
            <a:chOff x="4137004" y="1443360"/>
            <a:chExt cx="3629804" cy="1398804"/>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37005" y="1443360"/>
              <a:ext cx="3629803" cy="139880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a:defRPr/>
              </a:pPr>
              <a:r>
                <a:rPr lang="en-US" sz="1100" dirty="0">
                  <a:solidFill>
                    <a:sysClr val="windowText" lastClr="000000"/>
                  </a:solidFill>
                  <a:latin typeface="Calibri" panose="020F0502020204030204" pitchFamily="34" charset="0"/>
                  <a:cs typeface="Calibri" panose="020F0502020204030204" pitchFamily="34" charset="0"/>
                </a:rPr>
                <a:t>* AAP includes temp &gt; 38.5C, CRP &gt; 2.0 mg/dl or ANC &gt; 4000 to 5200 per mm</a:t>
              </a:r>
            </a:p>
            <a:p>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If observed at home, then recommend prescription for oral antimicrobial to treat presumed UTI. </a:t>
              </a:r>
            </a:p>
            <a:p>
              <a:r>
                <a:rPr lang="en-US" sz="1100" dirty="0">
                  <a:solidFill>
                    <a:schemeClr val="tx1"/>
                  </a:solidFill>
                  <a:latin typeface="Calibri" panose="020F0502020204030204" pitchFamily="34" charset="0"/>
                  <a:cs typeface="Calibri" panose="020F0502020204030204" pitchFamily="34" charset="0"/>
                </a:rPr>
                <a:t>‡</a:t>
              </a:r>
              <a:r>
                <a:rPr lang="en-US" sz="1100" baseline="300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Clinicians may manage infants at home if ALL following criteria are met:</a:t>
              </a:r>
              <a:r>
                <a:rPr lang="en-US" sz="1100" b="1" dirty="0">
                  <a:solidFill>
                    <a:sysClr val="windowText" lastClr="000000"/>
                  </a:solidFill>
                  <a:latin typeface="Calibri" panose="020F0502020204030204" pitchFamily="34" charset="0"/>
                  <a:cs typeface="Calibri" panose="020F0502020204030204" pitchFamily="34" charset="0"/>
                </a:rPr>
                <a:t> 1) Verbal teaching and written instructions </a:t>
              </a:r>
              <a:r>
                <a:rPr lang="en-US" sz="1100" dirty="0">
                  <a:solidFill>
                    <a:sysClr val="windowText" lastClr="000000"/>
                  </a:solidFill>
                  <a:latin typeface="Calibri" panose="020F0502020204030204" pitchFamily="34" charset="0"/>
                  <a:cs typeface="Calibri" panose="020F0502020204030204" pitchFamily="34" charset="0"/>
                </a:rPr>
                <a:t>have been provided for monitoring throughout the period at home </a:t>
              </a:r>
              <a:r>
                <a:rPr lang="en-US" sz="1100" b="1" dirty="0">
                  <a:solidFill>
                    <a:sysClr val="windowText" lastClr="000000"/>
                  </a:solidFill>
                  <a:latin typeface="Calibri" panose="020F0502020204030204" pitchFamily="34" charset="0"/>
                  <a:cs typeface="Calibri" panose="020F0502020204030204" pitchFamily="34" charset="0"/>
                </a:rPr>
                <a:t> 2) </a:t>
              </a:r>
              <a:r>
                <a:rPr lang="en-US" sz="1100" dirty="0">
                  <a:solidFill>
                    <a:sysClr val="windowText" lastClr="000000"/>
                  </a:solidFill>
                  <a:latin typeface="Calibri" panose="020F0502020204030204" pitchFamily="34" charset="0"/>
                  <a:cs typeface="Calibri" panose="020F0502020204030204" pitchFamily="34" charset="0"/>
                </a:rPr>
                <a:t>Follow-up plans for</a:t>
              </a:r>
              <a:r>
                <a:rPr lang="en-US" sz="1100" b="1" dirty="0">
                  <a:solidFill>
                    <a:sysClr val="windowText" lastClr="000000"/>
                  </a:solidFill>
                  <a:latin typeface="Calibri" panose="020F0502020204030204" pitchFamily="34" charset="0"/>
                  <a:cs typeface="Calibri" panose="020F0502020204030204" pitchFamily="34" charset="0"/>
                </a:rPr>
                <a:t> re-evaluation </a:t>
              </a:r>
              <a:r>
                <a:rPr lang="en-US" sz="1100" dirty="0">
                  <a:solidFill>
                    <a:sysClr val="windowText" lastClr="000000"/>
                  </a:solidFill>
                  <a:latin typeface="Calibri" panose="020F0502020204030204" pitchFamily="34" charset="0"/>
                  <a:cs typeface="Calibri" panose="020F0502020204030204" pitchFamily="34" charset="0"/>
                </a:rPr>
                <a:t>have been developed and are in place </a:t>
              </a:r>
              <a:r>
                <a:rPr lang="en-US" sz="1100" b="1" dirty="0">
                  <a:solidFill>
                    <a:sysClr val="windowText" lastClr="000000"/>
                  </a:solidFill>
                  <a:latin typeface="Calibri" panose="020F0502020204030204" pitchFamily="34" charset="0"/>
                  <a:cs typeface="Calibri" panose="020F0502020204030204" pitchFamily="34" charset="0"/>
                </a:rPr>
                <a:t>3) Plans have been developed and are in place in case of change in clinical status</a:t>
              </a:r>
              <a:r>
                <a:rPr lang="en-US" sz="1100" dirty="0">
                  <a:solidFill>
                    <a:sysClr val="windowText" lastClr="000000"/>
                  </a:solidFill>
                  <a:latin typeface="Calibri" panose="020F0502020204030204" pitchFamily="34" charset="0"/>
                  <a:cs typeface="Calibri" panose="020F0502020204030204" pitchFamily="34" charset="0"/>
                </a:rPr>
                <a:t>, including means of communication between family and providers and access to emergency medical care.</a:t>
              </a:r>
            </a:p>
            <a:p>
              <a:pPr lvl="0">
                <a:defRPr/>
              </a:pPr>
              <a:r>
                <a:rPr lang="en-US" sz="1100" dirty="0">
                  <a:solidFill>
                    <a:schemeClr val="tx1"/>
                  </a:solidFill>
                  <a:latin typeface="Calibri" panose="020F0502020204030204" pitchFamily="34" charset="0"/>
                  <a:cs typeface="Calibri" panose="020F0502020204030204" pitchFamily="34" charset="0"/>
                </a:rPr>
                <a:t>§ </a:t>
              </a:r>
              <a:r>
                <a:rPr lang="en-US" sz="1100" dirty="0">
                  <a:solidFill>
                    <a:sysClr val="windowText" lastClr="000000"/>
                  </a:solidFill>
                  <a:latin typeface="Calibri" panose="020F0502020204030204" pitchFamily="34" charset="0"/>
                  <a:cs typeface="Calibri" panose="020F0502020204030204" pitchFamily="34" charset="0"/>
                </a:rPr>
                <a:t>CGA = gestational age + chronological age</a:t>
              </a:r>
            </a:p>
          </p:txBody>
        </p:sp>
        <p:sp>
          <p:nvSpPr>
            <p:cNvPr id="18" name="Rectangle 17">
              <a:extLst>
                <a:ext uri="{FF2B5EF4-FFF2-40B4-BE49-F238E27FC236}">
                  <a16:creationId xmlns:a16="http://schemas.microsoft.com/office/drawing/2014/main" id="{A179D32E-AC81-4BA2-807C-33C9039A0B74}"/>
                </a:ext>
              </a:extLst>
            </p:cNvPr>
            <p:cNvSpPr/>
            <p:nvPr/>
          </p:nvSpPr>
          <p:spPr>
            <a:xfrm>
              <a:off x="4137004" y="1444068"/>
              <a:ext cx="3629803" cy="102352"/>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dirty="0">
                  <a:solidFill>
                    <a:sysClr val="windowText" lastClr="000000"/>
                  </a:solidFill>
                  <a:latin typeface="Calibri" panose="020F0502020204030204" pitchFamily="34" charset="0"/>
                  <a:cs typeface="Calibri" panose="020F0502020204030204" pitchFamily="34" charset="0"/>
                </a:rPr>
                <a:t>Footnotes</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74718" y="2364645"/>
            <a:ext cx="2468880" cy="3108959"/>
            <a:chOff x="4137004" y="1454327"/>
            <a:chExt cx="3629804" cy="1449926"/>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5" y="1454327"/>
              <a:ext cx="3629803" cy="1449926"/>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latin typeface="Calibri" panose="020F0502020204030204" pitchFamily="34" charset="0"/>
                <a:cs typeface="Calibri" panose="020F0502020204030204" pitchFamily="34" charset="0"/>
              </a:endParaRPr>
            </a:p>
            <a:p>
              <a:pPr lvl="0">
                <a:defRPr/>
              </a:pPr>
              <a:endParaRPr lang="en-US" sz="1100" dirty="0">
                <a:solidFill>
                  <a:sysClr val="windowText" lastClr="000000"/>
                </a:solidFill>
                <a:latin typeface="Calibri" panose="020F0502020204030204" pitchFamily="34" charset="0"/>
                <a:cs typeface="Calibri" panose="020F0502020204030204" pitchFamily="34" charset="0"/>
              </a:endParaRP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AAP: American Academy of Pediatrics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ANC: absolute neutrophil count</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Cath: catheter</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CBC w/diff: complete blood count with differential</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CRP: C-reactive protein</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CSF: cerebrospinal fluid</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Cx</a:t>
              </a:r>
              <a:r>
                <a:rPr lang="en-US" sz="1100" dirty="0">
                  <a:solidFill>
                    <a:sysClr val="windowText" lastClr="000000"/>
                  </a:solidFill>
                  <a:latin typeface="Calibri" panose="020F0502020204030204" pitchFamily="34" charset="0"/>
                  <a:cs typeface="Calibri" panose="020F0502020204030204" pitchFamily="34" charset="0"/>
                </a:rPr>
                <a:t>: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HSV: herpes simplex virus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LP: lumbar puncture</a:t>
              </a:r>
            </a:p>
            <a:p>
              <a:pPr marL="257175" indent="-257175">
                <a:buFont typeface="+mj-lt"/>
                <a:buAutoNum type="arabicPeriod"/>
                <a:defRPr/>
              </a:pPr>
              <a:r>
                <a:rPr lang="en-US" sz="1100" dirty="0" err="1">
                  <a:solidFill>
                    <a:sysClr val="windowText" lastClr="000000"/>
                  </a:solidFill>
                  <a:latin typeface="Calibri" panose="020F0502020204030204" pitchFamily="34" charset="0"/>
                  <a:cs typeface="Calibri" panose="020F0502020204030204" pitchFamily="34" charset="0"/>
                </a:rPr>
                <a:t>Pabx</a:t>
              </a:r>
              <a:r>
                <a:rPr lang="en-US" sz="1100" dirty="0">
                  <a:solidFill>
                    <a:sysClr val="windowText" lastClr="000000"/>
                  </a:solidFill>
                  <a:latin typeface="Calibri" panose="020F0502020204030204" pitchFamily="34" charset="0"/>
                  <a:cs typeface="Calibri" panose="020F0502020204030204" pitchFamily="34" charset="0"/>
                </a:rPr>
                <a:t>: parenteral antibiotics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RSV: respiratory syncytial virus </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UA: urinalysis</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UCx: urine culture</a:t>
              </a:r>
            </a:p>
            <a:p>
              <a:pPr marL="257175" indent="-257175">
                <a:buFont typeface="+mj-lt"/>
                <a:buAutoNum type="arabicPeriod"/>
                <a:defRPr/>
              </a:pPr>
              <a:r>
                <a:rPr lang="en-US" sz="1100" dirty="0">
                  <a:solidFill>
                    <a:sysClr val="windowText" lastClr="000000"/>
                  </a:solidFill>
                  <a:latin typeface="Calibri" panose="020F0502020204030204" pitchFamily="34" charset="0"/>
                  <a:cs typeface="Calibri" panose="020F0502020204030204" pitchFamily="34" charset="0"/>
                </a:rPr>
                <a:t>UTI: urinary tract infection</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4327"/>
              <a:ext cx="3629802"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200" b="1">
                  <a:solidFill>
                    <a:sysClr val="windowText" lastClr="000000"/>
                  </a:solidFill>
                  <a:latin typeface="Calibri" panose="020F0502020204030204" pitchFamily="34" charset="0"/>
                  <a:cs typeface="Calibri" panose="020F0502020204030204" pitchFamily="34" charset="0"/>
                </a:rPr>
                <a:t>Abbreviations</a:t>
              </a:r>
            </a:p>
          </p:txBody>
        </p:sp>
      </p:grpSp>
      <p:sp>
        <p:nvSpPr>
          <p:cNvPr id="23" name="TextBox 22">
            <a:extLst>
              <a:ext uri="{FF2B5EF4-FFF2-40B4-BE49-F238E27FC236}">
                <a16:creationId xmlns:a16="http://schemas.microsoft.com/office/drawing/2014/main" id="{0F660A1E-2A68-4877-B738-7512D6C88A11}"/>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4" name="Title 1">
            <a:extLst>
              <a:ext uri="{FF2B5EF4-FFF2-40B4-BE49-F238E27FC236}">
                <a16:creationId xmlns:a16="http://schemas.microsoft.com/office/drawing/2014/main" id="{448DAF98-1646-41FA-87A6-41F4081CD5A9}"/>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29-60 Days Old, </a:t>
            </a:r>
            <a:r>
              <a:rPr lang="en-US" sz="2200" dirty="0">
                <a:solidFill>
                  <a:sysClr val="windowText" lastClr="000000"/>
                </a:solidFill>
                <a:latin typeface="Microsoft Tai Le"/>
                <a:cs typeface="Microsoft Tai Le"/>
              </a:rPr>
              <a:t>Low-Risk, Well-Appearing Infant</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20403107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CD19815-3ABA-4EF8-9C46-DB3094FC9BD4}"/>
              </a:ext>
            </a:extLst>
          </p:cNvPr>
          <p:cNvGrpSpPr/>
          <p:nvPr/>
        </p:nvGrpSpPr>
        <p:grpSpPr>
          <a:xfrm>
            <a:off x="5529706" y="1255389"/>
            <a:ext cx="3492773" cy="2164088"/>
            <a:chOff x="4565874" y="140259"/>
            <a:chExt cx="8279162" cy="5129688"/>
          </a:xfrm>
        </p:grpSpPr>
        <p:grpSp>
          <p:nvGrpSpPr>
            <p:cNvPr id="43" name="Group 42">
              <a:extLst>
                <a:ext uri="{FF2B5EF4-FFF2-40B4-BE49-F238E27FC236}">
                  <a16:creationId xmlns:a16="http://schemas.microsoft.com/office/drawing/2014/main" id="{1ABB7E58-07A0-48B5-95FC-9844AFEA9FFB}"/>
                </a:ext>
              </a:extLst>
            </p:cNvPr>
            <p:cNvGrpSpPr/>
            <p:nvPr/>
          </p:nvGrpSpPr>
          <p:grpSpPr>
            <a:xfrm>
              <a:off x="4565874" y="140259"/>
              <a:ext cx="8279162" cy="5129688"/>
              <a:chOff x="4468955" y="444686"/>
              <a:chExt cx="8279162" cy="5129688"/>
            </a:xfrm>
          </p:grpSpPr>
          <p:sp>
            <p:nvSpPr>
              <p:cNvPr id="16" name="Rectangle 15">
                <a:extLst>
                  <a:ext uri="{FF2B5EF4-FFF2-40B4-BE49-F238E27FC236}">
                    <a16:creationId xmlns:a16="http://schemas.microsoft.com/office/drawing/2014/main" id="{14C815F4-3E4B-4657-8DD6-3BDF96293D0A}"/>
                  </a:ext>
                </a:extLst>
              </p:cNvPr>
              <p:cNvSpPr/>
              <p:nvPr/>
            </p:nvSpPr>
            <p:spPr>
              <a:xfrm>
                <a:off x="5313812" y="444686"/>
                <a:ext cx="3196866" cy="100445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dirty="0"/>
              </a:p>
              <a:p>
                <a:pPr algn="ctr"/>
                <a:r>
                  <a:rPr lang="en-US" sz="900" dirty="0">
                    <a:solidFill>
                      <a:schemeClr val="tx1"/>
                    </a:solidFill>
                  </a:rPr>
                  <a:t>Perform UA, UCx, CBC w/diff, blood </a:t>
                </a:r>
                <a:r>
                  <a:rPr lang="en-US" sz="900" dirty="0" err="1">
                    <a:solidFill>
                      <a:schemeClr val="tx1"/>
                    </a:solidFill>
                  </a:rPr>
                  <a:t>Cx</a:t>
                </a:r>
                <a:endParaRPr lang="en-US" sz="900" dirty="0">
                  <a:solidFill>
                    <a:schemeClr val="tx1"/>
                  </a:solidFill>
                </a:endParaRPr>
              </a:p>
              <a:p>
                <a:pPr algn="ctr"/>
                <a:endParaRPr lang="en-US" sz="760" dirty="0"/>
              </a:p>
            </p:txBody>
          </p:sp>
          <p:sp>
            <p:nvSpPr>
              <p:cNvPr id="17" name="Diamond 16">
                <a:extLst>
                  <a:ext uri="{FF2B5EF4-FFF2-40B4-BE49-F238E27FC236}">
                    <a16:creationId xmlns:a16="http://schemas.microsoft.com/office/drawing/2014/main" id="{1B3D07EF-FCBC-42E1-8E98-7DB1DE37CD41}"/>
                  </a:ext>
                </a:extLst>
              </p:cNvPr>
              <p:cNvSpPr/>
              <p:nvPr/>
            </p:nvSpPr>
            <p:spPr>
              <a:xfrm>
                <a:off x="4468955" y="1825700"/>
                <a:ext cx="4886574" cy="1520922"/>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 </a:t>
                </a:r>
              </a:p>
              <a:p>
                <a:pPr algn="ctr"/>
                <a:r>
                  <a:rPr lang="en-US" sz="900" dirty="0">
                    <a:solidFill>
                      <a:schemeClr val="tx1"/>
                    </a:solidFill>
                  </a:rPr>
                  <a:t>WBC &lt; 5K or &gt; 15K or bands &gt; 1.5K</a:t>
                </a:r>
                <a:r>
                  <a:rPr lang="en-US" sz="900" b="1" dirty="0">
                    <a:solidFill>
                      <a:schemeClr val="tx1"/>
                    </a:solidFill>
                  </a:rPr>
                  <a:t>*</a:t>
                </a:r>
              </a:p>
              <a:p>
                <a:pPr algn="ctr"/>
                <a:r>
                  <a:rPr lang="en-US" sz="900" dirty="0">
                    <a:solidFill>
                      <a:schemeClr val="tx1"/>
                    </a:solidFill>
                  </a:rPr>
                  <a:t> </a:t>
                </a:r>
              </a:p>
            </p:txBody>
          </p:sp>
          <p:sp>
            <p:nvSpPr>
              <p:cNvPr id="33" name="Rectangle 32">
                <a:extLst>
                  <a:ext uri="{FF2B5EF4-FFF2-40B4-BE49-F238E27FC236}">
                    <a16:creationId xmlns:a16="http://schemas.microsoft.com/office/drawing/2014/main" id="{8BC7738E-2020-44FF-ACEA-1060D8515E86}"/>
                  </a:ext>
                </a:extLst>
              </p:cNvPr>
              <p:cNvSpPr/>
              <p:nvPr/>
            </p:nvSpPr>
            <p:spPr>
              <a:xfrm>
                <a:off x="8749906" y="2896420"/>
                <a:ext cx="3998211" cy="267795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a:solidFill>
                      <a:schemeClr val="tx1"/>
                    </a:solidFill>
                  </a:rPr>
                  <a:t>Confirm urine sent by bladder </a:t>
                </a:r>
                <a:r>
                  <a:rPr lang="en-US" sz="900" err="1">
                    <a:solidFill>
                      <a:schemeClr val="tx1"/>
                    </a:solidFill>
                  </a:rPr>
                  <a:t>cath</a:t>
                </a:r>
                <a:r>
                  <a:rPr lang="en-US" sz="900">
                    <a:solidFill>
                      <a:schemeClr val="tx1"/>
                    </a:solidFill>
                  </a:rPr>
                  <a:t> </a:t>
                </a:r>
              </a:p>
              <a:p>
                <a:pPr marL="171450" indent="-171450">
                  <a:buAutoNum type="arabicPeriod"/>
                </a:pPr>
                <a:r>
                  <a:rPr lang="en-US" sz="900">
                    <a:solidFill>
                      <a:schemeClr val="tx1"/>
                    </a:solidFill>
                  </a:rPr>
                  <a:t>Need not perform LP</a:t>
                </a:r>
              </a:p>
              <a:p>
                <a:pPr marL="171450" indent="-171450">
                  <a:buAutoNum type="arabicPeriod"/>
                </a:pPr>
                <a:r>
                  <a:rPr lang="en-US" sz="900">
                    <a:solidFill>
                      <a:schemeClr val="tx1"/>
                    </a:solidFill>
                  </a:rPr>
                  <a:t>Administer oral antimicrobial</a:t>
                </a:r>
              </a:p>
              <a:p>
                <a:pPr marL="171450" indent="-171450">
                  <a:buAutoNum type="arabicPeriod"/>
                </a:pPr>
                <a:r>
                  <a:rPr lang="en-US" sz="900">
                    <a:solidFill>
                      <a:schemeClr val="tx1"/>
                    </a:solidFill>
                  </a:rPr>
                  <a:t>May observe at home </a:t>
                </a:r>
                <a:r>
                  <a:rPr lang="en-US" sz="900" b="1">
                    <a:solidFill>
                      <a:schemeClr val="tx1"/>
                    </a:solidFill>
                  </a:rPr>
                  <a:t>† ‡</a:t>
                </a:r>
              </a:p>
              <a:p>
                <a:pPr marL="171450" indent="-171450">
                  <a:buAutoNum type="arabicPeriod"/>
                </a:pPr>
                <a:r>
                  <a:rPr lang="en-US" sz="900">
                    <a:solidFill>
                      <a:schemeClr val="tx1"/>
                    </a:solidFill>
                  </a:rPr>
                  <a:t>Follow-up in 12-24 </a:t>
                </a:r>
                <a:r>
                  <a:rPr lang="en-US" sz="900" err="1">
                    <a:solidFill>
                      <a:schemeClr val="tx1"/>
                    </a:solidFill>
                  </a:rPr>
                  <a:t>hrs</a:t>
                </a:r>
                <a:endParaRPr lang="en-US" sz="900">
                  <a:solidFill>
                    <a:schemeClr val="tx1"/>
                  </a:solidFill>
                </a:endParaRPr>
              </a:p>
            </p:txBody>
          </p:sp>
          <p:sp>
            <p:nvSpPr>
              <p:cNvPr id="36" name="Diamond 35">
                <a:extLst>
                  <a:ext uri="{FF2B5EF4-FFF2-40B4-BE49-F238E27FC236}">
                    <a16:creationId xmlns:a16="http://schemas.microsoft.com/office/drawing/2014/main" id="{74EE7E50-2129-46CB-A048-8AFABA71449A}"/>
                  </a:ext>
                </a:extLst>
              </p:cNvPr>
              <p:cNvSpPr/>
              <p:nvPr/>
            </p:nvSpPr>
            <p:spPr>
              <a:xfrm>
                <a:off x="6101730" y="3780313"/>
                <a:ext cx="1621027" cy="873919"/>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a:t>
                </a:r>
              </a:p>
            </p:txBody>
          </p:sp>
        </p:grpSp>
        <p:sp>
          <p:nvSpPr>
            <p:cNvPr id="44" name="TextBox 43">
              <a:extLst>
                <a:ext uri="{FF2B5EF4-FFF2-40B4-BE49-F238E27FC236}">
                  <a16:creationId xmlns:a16="http://schemas.microsoft.com/office/drawing/2014/main" id="{9A476156-6352-4FC6-9D8D-7EB9DAF3A14F}"/>
                </a:ext>
              </a:extLst>
            </p:cNvPr>
            <p:cNvSpPr txBox="1"/>
            <p:nvPr/>
          </p:nvSpPr>
          <p:spPr>
            <a:xfrm>
              <a:off x="7078406" y="2983444"/>
              <a:ext cx="775902" cy="547157"/>
            </a:xfrm>
            <a:prstGeom prst="rect">
              <a:avLst/>
            </a:prstGeom>
            <a:noFill/>
          </p:spPr>
          <p:txBody>
            <a:bodyPr wrap="none" rtlCol="0">
              <a:spAutoFit/>
            </a:bodyPr>
            <a:lstStyle/>
            <a:p>
              <a:r>
                <a:rPr lang="en-US" sz="900"/>
                <a:t>NO</a:t>
              </a:r>
              <a:endParaRPr lang="en-US" sz="760"/>
            </a:p>
          </p:txBody>
        </p:sp>
      </p:grpSp>
      <p:sp>
        <p:nvSpPr>
          <p:cNvPr id="45" name="TextBox 44">
            <a:extLst>
              <a:ext uri="{FF2B5EF4-FFF2-40B4-BE49-F238E27FC236}">
                <a16:creationId xmlns:a16="http://schemas.microsoft.com/office/drawing/2014/main" id="{C312A9D4-F1C7-4DC5-9355-83924DD87EA9}"/>
              </a:ext>
            </a:extLst>
          </p:cNvPr>
          <p:cNvSpPr txBox="1"/>
          <p:nvPr/>
        </p:nvSpPr>
        <p:spPr>
          <a:xfrm>
            <a:off x="6943726" y="2622738"/>
            <a:ext cx="372218" cy="230832"/>
          </a:xfrm>
          <a:prstGeom prst="rect">
            <a:avLst/>
          </a:prstGeom>
          <a:noFill/>
        </p:spPr>
        <p:txBody>
          <a:bodyPr wrap="none" rtlCol="0">
            <a:spAutoFit/>
          </a:bodyPr>
          <a:lstStyle/>
          <a:p>
            <a:r>
              <a:rPr lang="en-US" sz="900"/>
              <a:t>YES</a:t>
            </a:r>
          </a:p>
        </p:txBody>
      </p:sp>
      <p:sp>
        <p:nvSpPr>
          <p:cNvPr id="46" name="TextBox 45">
            <a:extLst>
              <a:ext uri="{FF2B5EF4-FFF2-40B4-BE49-F238E27FC236}">
                <a16:creationId xmlns:a16="http://schemas.microsoft.com/office/drawing/2014/main" id="{FDCFC7A2-9907-4E31-8E0F-F437CB37E0FC}"/>
              </a:ext>
            </a:extLst>
          </p:cNvPr>
          <p:cNvSpPr txBox="1"/>
          <p:nvPr/>
        </p:nvSpPr>
        <p:spPr>
          <a:xfrm>
            <a:off x="6589681" y="3092149"/>
            <a:ext cx="327334" cy="230832"/>
          </a:xfrm>
          <a:prstGeom prst="rect">
            <a:avLst/>
          </a:prstGeom>
          <a:noFill/>
        </p:spPr>
        <p:txBody>
          <a:bodyPr wrap="none" rtlCol="0">
            <a:spAutoFit/>
          </a:bodyPr>
          <a:lstStyle/>
          <a:p>
            <a:r>
              <a:rPr lang="en-US" sz="900"/>
              <a:t>NO</a:t>
            </a:r>
          </a:p>
        </p:txBody>
      </p:sp>
      <p:sp>
        <p:nvSpPr>
          <p:cNvPr id="39" name="Rectangle 38">
            <a:extLst>
              <a:ext uri="{FF2B5EF4-FFF2-40B4-BE49-F238E27FC236}">
                <a16:creationId xmlns:a16="http://schemas.microsoft.com/office/drawing/2014/main" id="{2B1A50DC-84AA-4289-BF4D-6BD508110BDC}"/>
              </a:ext>
            </a:extLst>
          </p:cNvPr>
          <p:cNvSpPr/>
          <p:nvPr/>
        </p:nvSpPr>
        <p:spPr>
          <a:xfrm>
            <a:off x="5573587" y="3490254"/>
            <a:ext cx="1973763" cy="69847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a:solidFill>
                  <a:schemeClr val="tx1"/>
                </a:solidFill>
              </a:rPr>
              <a:t>Need not perform LP</a:t>
            </a:r>
          </a:p>
          <a:p>
            <a:pPr marL="171450" indent="-171450">
              <a:buAutoNum type="arabicPeriod"/>
            </a:pPr>
            <a:r>
              <a:rPr lang="en-US" sz="900">
                <a:solidFill>
                  <a:schemeClr val="tx1"/>
                </a:solidFill>
              </a:rPr>
              <a:t>Need not administer antimicrobials</a:t>
            </a:r>
          </a:p>
          <a:p>
            <a:pPr marL="171450" indent="-171450">
              <a:buAutoNum type="arabicPeriod"/>
            </a:pPr>
            <a:r>
              <a:rPr lang="en-US" sz="900">
                <a:solidFill>
                  <a:schemeClr val="tx1"/>
                </a:solidFill>
              </a:rPr>
              <a:t>Observe at home</a:t>
            </a:r>
            <a:r>
              <a:rPr lang="en-US" sz="900" b="1">
                <a:solidFill>
                  <a:schemeClr val="tx1"/>
                </a:solidFill>
              </a:rPr>
              <a:t> ‡ </a:t>
            </a:r>
          </a:p>
          <a:p>
            <a:pPr marL="171450" indent="-171450">
              <a:buAutoNum type="arabicPeriod"/>
            </a:pPr>
            <a:r>
              <a:rPr lang="en-US" sz="900">
                <a:solidFill>
                  <a:schemeClr val="tx1"/>
                </a:solidFill>
              </a:rPr>
              <a:t>Follow-up within 24-36 </a:t>
            </a:r>
            <a:r>
              <a:rPr lang="en-US" sz="900" err="1">
                <a:solidFill>
                  <a:schemeClr val="tx1"/>
                </a:solidFill>
              </a:rPr>
              <a:t>hrs</a:t>
            </a:r>
            <a:r>
              <a:rPr lang="en-US" sz="900">
                <a:solidFill>
                  <a:schemeClr val="tx1"/>
                </a:solidFill>
              </a:rPr>
              <a:t> </a:t>
            </a:r>
          </a:p>
        </p:txBody>
      </p:sp>
      <p:sp>
        <p:nvSpPr>
          <p:cNvPr id="23" name="Diamond 22">
            <a:extLst>
              <a:ext uri="{FF2B5EF4-FFF2-40B4-BE49-F238E27FC236}">
                <a16:creationId xmlns:a16="http://schemas.microsoft.com/office/drawing/2014/main" id="{BC89F77D-636A-4C56-B647-F9C9F7C2447D}"/>
              </a:ext>
            </a:extLst>
          </p:cNvPr>
          <p:cNvSpPr/>
          <p:nvPr/>
        </p:nvSpPr>
        <p:spPr>
          <a:xfrm>
            <a:off x="4382942" y="4523565"/>
            <a:ext cx="1503182" cy="83894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Pathogen or Source identified at 24-36 </a:t>
            </a:r>
            <a:r>
              <a:rPr lang="en-US" sz="900" dirty="0" err="1">
                <a:solidFill>
                  <a:schemeClr val="tx1"/>
                </a:solidFill>
              </a:rPr>
              <a:t>hrs</a:t>
            </a:r>
            <a:endParaRPr lang="en-US" sz="900" dirty="0">
              <a:solidFill>
                <a:schemeClr val="tx1"/>
              </a:solidFill>
            </a:endParaRPr>
          </a:p>
        </p:txBody>
      </p:sp>
      <p:sp>
        <p:nvSpPr>
          <p:cNvPr id="25" name="Rectangle 24">
            <a:extLst>
              <a:ext uri="{FF2B5EF4-FFF2-40B4-BE49-F238E27FC236}">
                <a16:creationId xmlns:a16="http://schemas.microsoft.com/office/drawing/2014/main" id="{F53F290E-C31D-4F56-BE3F-C13D5AFDA587}"/>
              </a:ext>
            </a:extLst>
          </p:cNvPr>
          <p:cNvSpPr/>
          <p:nvPr/>
        </p:nvSpPr>
        <p:spPr>
          <a:xfrm>
            <a:off x="3973288" y="5561249"/>
            <a:ext cx="2326148" cy="68313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dirty="0">
                <a:solidFill>
                  <a:schemeClr val="tx1"/>
                </a:solidFill>
              </a:rPr>
              <a:t>Discontinue antimicrobial(s)  if administered</a:t>
            </a:r>
          </a:p>
          <a:p>
            <a:pPr marL="144661" indent="-144661">
              <a:buFont typeface="+mj-lt"/>
              <a:buAutoNum type="arabicPeriod"/>
            </a:pPr>
            <a:r>
              <a:rPr lang="en-US" sz="900" dirty="0">
                <a:solidFill>
                  <a:schemeClr val="tx1"/>
                </a:solidFill>
              </a:rPr>
              <a:t>May discharge hospitalized infant  </a:t>
            </a:r>
          </a:p>
          <a:p>
            <a:pPr marL="144661" indent="-144661">
              <a:buFont typeface="+mj-lt"/>
              <a:buAutoNum type="arabicPeriod"/>
            </a:pPr>
            <a:r>
              <a:rPr lang="en-US" sz="900" dirty="0">
                <a:solidFill>
                  <a:schemeClr val="tx1"/>
                </a:solidFill>
              </a:rPr>
              <a:t>Follow for duration of illness</a:t>
            </a:r>
            <a:endParaRPr lang="en-US" dirty="0">
              <a:solidFill>
                <a:schemeClr val="tx1"/>
              </a:solidFill>
            </a:endParaRPr>
          </a:p>
        </p:txBody>
      </p:sp>
      <p:cxnSp>
        <p:nvCxnSpPr>
          <p:cNvPr id="9" name="Straight Arrow Connector 8">
            <a:extLst>
              <a:ext uri="{FF2B5EF4-FFF2-40B4-BE49-F238E27FC236}">
                <a16:creationId xmlns:a16="http://schemas.microsoft.com/office/drawing/2014/main" id="{9B79435A-8629-4D2B-B6A4-BF3E08DA3D4D}"/>
              </a:ext>
            </a:extLst>
          </p:cNvPr>
          <p:cNvCxnSpPr>
            <a:cxnSpLocks/>
            <a:stCxn id="36" idx="2"/>
            <a:endCxn id="39" idx="0"/>
          </p:cNvCxnSpPr>
          <p:nvPr/>
        </p:nvCxnSpPr>
        <p:spPr>
          <a:xfrm>
            <a:off x="6560468" y="3031292"/>
            <a:ext cx="0" cy="45896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5C07850-41ED-4E32-A2A9-BE3DE327D1E1}"/>
              </a:ext>
            </a:extLst>
          </p:cNvPr>
          <p:cNvCxnSpPr>
            <a:cxnSpLocks/>
            <a:stCxn id="36" idx="3"/>
          </p:cNvCxnSpPr>
          <p:nvPr/>
        </p:nvCxnSpPr>
        <p:spPr>
          <a:xfrm>
            <a:off x="6902404" y="2846949"/>
            <a:ext cx="433329"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5C4AAC73-8463-4116-85B3-C4D70A0076FA}"/>
              </a:ext>
            </a:extLst>
          </p:cNvPr>
          <p:cNvSpPr/>
          <p:nvPr/>
        </p:nvSpPr>
        <p:spPr>
          <a:xfrm>
            <a:off x="3186717" y="1913070"/>
            <a:ext cx="1963072" cy="508371"/>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a:p>
            <a:pPr marL="171450" indent="-171450">
              <a:buFont typeface="+mj-lt"/>
              <a:buAutoNum type="arabicPeriod"/>
            </a:pPr>
            <a:r>
              <a:rPr lang="en-US" sz="900" dirty="0">
                <a:solidFill>
                  <a:schemeClr val="tx1"/>
                </a:solidFill>
              </a:rPr>
              <a:t>Confirm urine sent by bladder </a:t>
            </a:r>
            <a:r>
              <a:rPr lang="en-US" sz="900" dirty="0" err="1">
                <a:solidFill>
                  <a:schemeClr val="tx1"/>
                </a:solidFill>
              </a:rPr>
              <a:t>cath</a:t>
            </a:r>
            <a:endParaRPr lang="en-US" sz="900" dirty="0">
              <a:solidFill>
                <a:schemeClr val="tx1"/>
              </a:solidFill>
            </a:endParaRPr>
          </a:p>
          <a:p>
            <a:pPr marL="171450" indent="-171450">
              <a:buFont typeface="+mj-lt"/>
              <a:buAutoNum type="arabicPeriod"/>
            </a:pPr>
            <a:r>
              <a:rPr lang="en-US" sz="900" dirty="0">
                <a:solidFill>
                  <a:schemeClr val="tx1"/>
                </a:solidFill>
              </a:rPr>
              <a:t>May perform LP</a:t>
            </a:r>
          </a:p>
          <a:p>
            <a:pPr algn="ctr"/>
            <a:endParaRPr lang="en-US" sz="900" dirty="0">
              <a:solidFill>
                <a:schemeClr val="tx1"/>
              </a:solidFill>
            </a:endParaRPr>
          </a:p>
        </p:txBody>
      </p:sp>
      <p:sp>
        <p:nvSpPr>
          <p:cNvPr id="38" name="TextBox 37">
            <a:extLst>
              <a:ext uri="{FF2B5EF4-FFF2-40B4-BE49-F238E27FC236}">
                <a16:creationId xmlns:a16="http://schemas.microsoft.com/office/drawing/2014/main" id="{5F236346-F75A-4DDF-8F31-8E52C2525D8D}"/>
              </a:ext>
            </a:extLst>
          </p:cNvPr>
          <p:cNvSpPr txBox="1"/>
          <p:nvPr/>
        </p:nvSpPr>
        <p:spPr>
          <a:xfrm>
            <a:off x="5226401" y="1959392"/>
            <a:ext cx="372218" cy="230832"/>
          </a:xfrm>
          <a:prstGeom prst="rect">
            <a:avLst/>
          </a:prstGeom>
          <a:noFill/>
        </p:spPr>
        <p:txBody>
          <a:bodyPr wrap="none" rtlCol="0">
            <a:spAutoFit/>
          </a:bodyPr>
          <a:lstStyle/>
          <a:p>
            <a:r>
              <a:rPr lang="en-US" sz="900"/>
              <a:t>YES</a:t>
            </a:r>
          </a:p>
        </p:txBody>
      </p:sp>
      <p:sp>
        <p:nvSpPr>
          <p:cNvPr id="67" name="TextBox 66">
            <a:extLst>
              <a:ext uri="{FF2B5EF4-FFF2-40B4-BE49-F238E27FC236}">
                <a16:creationId xmlns:a16="http://schemas.microsoft.com/office/drawing/2014/main" id="{80B77DAE-FB0D-449A-855A-F65E7DA54F1D}"/>
              </a:ext>
            </a:extLst>
          </p:cNvPr>
          <p:cNvSpPr txBox="1"/>
          <p:nvPr/>
        </p:nvSpPr>
        <p:spPr>
          <a:xfrm>
            <a:off x="3009760" y="2727272"/>
            <a:ext cx="402095" cy="230832"/>
          </a:xfrm>
          <a:prstGeom prst="rect">
            <a:avLst/>
          </a:prstGeom>
          <a:noFill/>
        </p:spPr>
        <p:txBody>
          <a:bodyPr wrap="square" rtlCol="0">
            <a:spAutoFit/>
          </a:bodyPr>
          <a:lstStyle/>
          <a:p>
            <a:r>
              <a:rPr lang="en-US" sz="900"/>
              <a:t>YES</a:t>
            </a:r>
          </a:p>
        </p:txBody>
      </p:sp>
      <p:cxnSp>
        <p:nvCxnSpPr>
          <p:cNvPr id="72" name="Straight Arrow Connector 71">
            <a:extLst>
              <a:ext uri="{FF2B5EF4-FFF2-40B4-BE49-F238E27FC236}">
                <a16:creationId xmlns:a16="http://schemas.microsoft.com/office/drawing/2014/main" id="{D371E572-A12E-40E8-A815-E154D14DD8A2}"/>
              </a:ext>
            </a:extLst>
          </p:cNvPr>
          <p:cNvCxnSpPr>
            <a:cxnSpLocks/>
            <a:endCxn id="73" idx="0"/>
          </p:cNvCxnSpPr>
          <p:nvPr/>
        </p:nvCxnSpPr>
        <p:spPr>
          <a:xfrm>
            <a:off x="3946159" y="2427655"/>
            <a:ext cx="0" cy="25862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Diamond 72">
            <a:extLst>
              <a:ext uri="{FF2B5EF4-FFF2-40B4-BE49-F238E27FC236}">
                <a16:creationId xmlns:a16="http://schemas.microsoft.com/office/drawing/2014/main" id="{4CE07736-2270-4A1A-91D3-69A0E6E47708}"/>
              </a:ext>
            </a:extLst>
          </p:cNvPr>
          <p:cNvSpPr/>
          <p:nvPr/>
        </p:nvSpPr>
        <p:spPr>
          <a:xfrm>
            <a:off x="3387465" y="2686277"/>
            <a:ext cx="1117388" cy="527069"/>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CSF obtained</a:t>
            </a:r>
          </a:p>
        </p:txBody>
      </p:sp>
      <p:sp>
        <p:nvSpPr>
          <p:cNvPr id="74" name="Diamond 73">
            <a:extLst>
              <a:ext uri="{FF2B5EF4-FFF2-40B4-BE49-F238E27FC236}">
                <a16:creationId xmlns:a16="http://schemas.microsoft.com/office/drawing/2014/main" id="{0DF8E794-BC68-49E2-88D0-C8A2139488D2}"/>
              </a:ext>
            </a:extLst>
          </p:cNvPr>
          <p:cNvSpPr/>
          <p:nvPr/>
        </p:nvSpPr>
        <p:spPr>
          <a:xfrm>
            <a:off x="576744" y="3878973"/>
            <a:ext cx="1564715" cy="729352"/>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CSF pleocytosis or traumatic</a:t>
            </a:r>
          </a:p>
        </p:txBody>
      </p:sp>
      <p:cxnSp>
        <p:nvCxnSpPr>
          <p:cNvPr id="75" name="Straight Arrow Connector 74">
            <a:extLst>
              <a:ext uri="{FF2B5EF4-FFF2-40B4-BE49-F238E27FC236}">
                <a16:creationId xmlns:a16="http://schemas.microsoft.com/office/drawing/2014/main" id="{4444A430-2D4A-4D48-8438-B85E1272C987}"/>
              </a:ext>
            </a:extLst>
          </p:cNvPr>
          <p:cNvCxnSpPr>
            <a:cxnSpLocks/>
          </p:cNvCxnSpPr>
          <p:nvPr/>
        </p:nvCxnSpPr>
        <p:spPr>
          <a:xfrm>
            <a:off x="3944507" y="3213346"/>
            <a:ext cx="0" cy="18817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B4CE1822-FD5A-41C4-93B9-DDF079DE985B}"/>
              </a:ext>
            </a:extLst>
          </p:cNvPr>
          <p:cNvSpPr/>
          <p:nvPr/>
        </p:nvSpPr>
        <p:spPr>
          <a:xfrm>
            <a:off x="3133024" y="3401524"/>
            <a:ext cx="2135855" cy="53483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Administer </a:t>
            </a:r>
            <a:r>
              <a:rPr lang="en-US" sz="900" dirty="0" err="1">
                <a:solidFill>
                  <a:schemeClr val="tx1"/>
                </a:solidFill>
              </a:rPr>
              <a:t>Pabx</a:t>
            </a:r>
            <a:endParaRPr lang="en-US" sz="900" dirty="0">
              <a:solidFill>
                <a:schemeClr val="tx1"/>
              </a:solidFill>
            </a:endParaRPr>
          </a:p>
          <a:p>
            <a:pPr marL="171450" indent="-171450">
              <a:buFont typeface="+mj-lt"/>
              <a:buAutoNum type="arabicPeriod"/>
            </a:pPr>
            <a:r>
              <a:rPr lang="en-US" sz="900" dirty="0">
                <a:solidFill>
                  <a:schemeClr val="tx1"/>
                </a:solidFill>
              </a:rPr>
              <a:t>May observe in hospital or at home </a:t>
            </a:r>
            <a:r>
              <a:rPr lang="en-US" sz="900" b="1" dirty="0">
                <a:solidFill>
                  <a:schemeClr val="tx1"/>
                </a:solidFill>
              </a:rPr>
              <a:t>‡ </a:t>
            </a:r>
            <a:r>
              <a:rPr lang="en-US" sz="900" dirty="0">
                <a:solidFill>
                  <a:schemeClr val="tx1"/>
                </a:solidFill>
              </a:rPr>
              <a:t>with follow-up in 12-24 </a:t>
            </a:r>
            <a:r>
              <a:rPr lang="en-US" sz="900" dirty="0" err="1">
                <a:solidFill>
                  <a:schemeClr val="tx1"/>
                </a:solidFill>
              </a:rPr>
              <a:t>hrs</a:t>
            </a:r>
            <a:endParaRPr lang="en-US" sz="900" dirty="0">
              <a:solidFill>
                <a:schemeClr val="tx1"/>
              </a:solidFill>
            </a:endParaRPr>
          </a:p>
        </p:txBody>
      </p:sp>
      <p:cxnSp>
        <p:nvCxnSpPr>
          <p:cNvPr id="78" name="Straight Arrow Connector 77">
            <a:extLst>
              <a:ext uri="{FF2B5EF4-FFF2-40B4-BE49-F238E27FC236}">
                <a16:creationId xmlns:a16="http://schemas.microsoft.com/office/drawing/2014/main" id="{425C1BB8-D96C-44BB-AB6B-374A9601C4B8}"/>
              </a:ext>
            </a:extLst>
          </p:cNvPr>
          <p:cNvCxnSpPr>
            <a:cxnSpLocks/>
            <a:stCxn id="74" idx="2"/>
            <a:endCxn id="118" idx="0"/>
          </p:cNvCxnSpPr>
          <p:nvPr/>
        </p:nvCxnSpPr>
        <p:spPr>
          <a:xfrm flipH="1">
            <a:off x="1356261" y="4608325"/>
            <a:ext cx="2841" cy="15796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7F0DE98C-C1C2-4F28-B9D1-E19E9332D225}"/>
              </a:ext>
            </a:extLst>
          </p:cNvPr>
          <p:cNvSpPr txBox="1"/>
          <p:nvPr/>
        </p:nvSpPr>
        <p:spPr>
          <a:xfrm>
            <a:off x="3995975" y="3167693"/>
            <a:ext cx="327334" cy="230832"/>
          </a:xfrm>
          <a:prstGeom prst="rect">
            <a:avLst/>
          </a:prstGeom>
          <a:noFill/>
        </p:spPr>
        <p:txBody>
          <a:bodyPr wrap="none" rtlCol="0">
            <a:spAutoFit/>
          </a:bodyPr>
          <a:lstStyle/>
          <a:p>
            <a:r>
              <a:rPr lang="en-US" sz="900"/>
              <a:t>NO</a:t>
            </a:r>
          </a:p>
        </p:txBody>
      </p:sp>
      <p:cxnSp>
        <p:nvCxnSpPr>
          <p:cNvPr id="88" name="Straight Arrow Connector 87">
            <a:extLst>
              <a:ext uri="{FF2B5EF4-FFF2-40B4-BE49-F238E27FC236}">
                <a16:creationId xmlns:a16="http://schemas.microsoft.com/office/drawing/2014/main" id="{C4AFF413-31C8-4458-95A6-DC9603CE1C35}"/>
              </a:ext>
            </a:extLst>
          </p:cNvPr>
          <p:cNvCxnSpPr>
            <a:cxnSpLocks/>
            <a:stCxn id="17" idx="2"/>
            <a:endCxn id="36" idx="0"/>
          </p:cNvCxnSpPr>
          <p:nvPr/>
        </p:nvCxnSpPr>
        <p:spPr>
          <a:xfrm>
            <a:off x="6560468" y="2479644"/>
            <a:ext cx="0" cy="182963"/>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C0B64D9-79B7-4823-BE5C-45BDBE65E215}"/>
              </a:ext>
            </a:extLst>
          </p:cNvPr>
          <p:cNvCxnSpPr>
            <a:cxnSpLocks/>
            <a:stCxn id="17" idx="1"/>
            <a:endCxn id="34" idx="3"/>
          </p:cNvCxnSpPr>
          <p:nvPr/>
        </p:nvCxnSpPr>
        <p:spPr>
          <a:xfrm flipH="1">
            <a:off x="5149789" y="2158824"/>
            <a:ext cx="379917" cy="8432"/>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7A7741DB-2C29-4CAC-A7B1-B7EF9F3AE307}"/>
              </a:ext>
            </a:extLst>
          </p:cNvPr>
          <p:cNvCxnSpPr>
            <a:cxnSpLocks/>
            <a:stCxn id="16" idx="2"/>
            <a:endCxn id="17" idx="0"/>
          </p:cNvCxnSpPr>
          <p:nvPr/>
        </p:nvCxnSpPr>
        <p:spPr>
          <a:xfrm flipH="1">
            <a:off x="6560469" y="1679143"/>
            <a:ext cx="1" cy="15886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E1C129EA-7CC0-4C66-9DF4-4A4D270120A7}"/>
              </a:ext>
            </a:extLst>
          </p:cNvPr>
          <p:cNvSpPr/>
          <p:nvPr/>
        </p:nvSpPr>
        <p:spPr>
          <a:xfrm>
            <a:off x="2611340" y="4006790"/>
            <a:ext cx="1750136" cy="46040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dirty="0">
                <a:solidFill>
                  <a:schemeClr val="tx1"/>
                </a:solidFill>
              </a:rPr>
              <a:t>Administer </a:t>
            </a:r>
            <a:r>
              <a:rPr lang="en-US" sz="900" dirty="0" err="1">
                <a:solidFill>
                  <a:schemeClr val="tx1"/>
                </a:solidFill>
              </a:rPr>
              <a:t>Pabx</a:t>
            </a:r>
            <a:endParaRPr lang="en-US" sz="900" dirty="0">
              <a:solidFill>
                <a:schemeClr val="tx1"/>
              </a:solidFill>
            </a:endParaRPr>
          </a:p>
          <a:p>
            <a:pPr marL="171450" indent="-171450">
              <a:buAutoNum type="arabicPeriod"/>
            </a:pPr>
            <a:r>
              <a:rPr lang="en-US" sz="900" dirty="0">
                <a:solidFill>
                  <a:schemeClr val="tx1"/>
                </a:solidFill>
              </a:rPr>
              <a:t>Observe closely in hospital</a:t>
            </a:r>
          </a:p>
        </p:txBody>
      </p:sp>
      <p:cxnSp>
        <p:nvCxnSpPr>
          <p:cNvPr id="110" name="Straight Arrow Connector 109">
            <a:extLst>
              <a:ext uri="{FF2B5EF4-FFF2-40B4-BE49-F238E27FC236}">
                <a16:creationId xmlns:a16="http://schemas.microsoft.com/office/drawing/2014/main" id="{E7BDC2B3-4BA7-4889-9D08-1A4F8291507C}"/>
              </a:ext>
            </a:extLst>
          </p:cNvPr>
          <p:cNvCxnSpPr>
            <a:cxnSpLocks/>
            <a:stCxn id="23" idx="2"/>
            <a:endCxn id="25" idx="0"/>
          </p:cNvCxnSpPr>
          <p:nvPr/>
        </p:nvCxnSpPr>
        <p:spPr>
          <a:xfrm>
            <a:off x="5134533" y="5362509"/>
            <a:ext cx="1829" cy="19874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C555580-221B-4B09-9DE6-509C849934EF}"/>
              </a:ext>
            </a:extLst>
          </p:cNvPr>
          <p:cNvCxnSpPr>
            <a:cxnSpLocks/>
            <a:stCxn id="74" idx="3"/>
            <a:endCxn id="103" idx="1"/>
          </p:cNvCxnSpPr>
          <p:nvPr/>
        </p:nvCxnSpPr>
        <p:spPr>
          <a:xfrm flipV="1">
            <a:off x="2141459" y="4236993"/>
            <a:ext cx="469881" cy="665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18" name="Diamond 117">
            <a:extLst>
              <a:ext uri="{FF2B5EF4-FFF2-40B4-BE49-F238E27FC236}">
                <a16:creationId xmlns:a16="http://schemas.microsoft.com/office/drawing/2014/main" id="{338CD509-EBCE-4CD3-9481-69D8444B6F77}"/>
              </a:ext>
            </a:extLst>
          </p:cNvPr>
          <p:cNvSpPr/>
          <p:nvPr/>
        </p:nvSpPr>
        <p:spPr>
          <a:xfrm>
            <a:off x="944781" y="4766291"/>
            <a:ext cx="822960" cy="36868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a:t>
            </a:r>
          </a:p>
        </p:txBody>
      </p:sp>
      <p:sp>
        <p:nvSpPr>
          <p:cNvPr id="119" name="TextBox 118">
            <a:extLst>
              <a:ext uri="{FF2B5EF4-FFF2-40B4-BE49-F238E27FC236}">
                <a16:creationId xmlns:a16="http://schemas.microsoft.com/office/drawing/2014/main" id="{06B9E652-F3C4-4330-86F0-04082A912480}"/>
              </a:ext>
            </a:extLst>
          </p:cNvPr>
          <p:cNvSpPr txBox="1"/>
          <p:nvPr/>
        </p:nvSpPr>
        <p:spPr>
          <a:xfrm>
            <a:off x="1038247" y="5178284"/>
            <a:ext cx="327334" cy="230832"/>
          </a:xfrm>
          <a:prstGeom prst="rect">
            <a:avLst/>
          </a:prstGeom>
          <a:noFill/>
        </p:spPr>
        <p:txBody>
          <a:bodyPr wrap="none" rtlCol="0">
            <a:spAutoFit/>
          </a:bodyPr>
          <a:lstStyle/>
          <a:p>
            <a:r>
              <a:rPr lang="en-US" sz="900"/>
              <a:t>NO</a:t>
            </a:r>
          </a:p>
        </p:txBody>
      </p:sp>
      <p:sp>
        <p:nvSpPr>
          <p:cNvPr id="120" name="Rectangle 119">
            <a:extLst>
              <a:ext uri="{FF2B5EF4-FFF2-40B4-BE49-F238E27FC236}">
                <a16:creationId xmlns:a16="http://schemas.microsoft.com/office/drawing/2014/main" id="{D9F18020-00E3-4F2A-BE74-A70619515B12}"/>
              </a:ext>
            </a:extLst>
          </p:cNvPr>
          <p:cNvSpPr/>
          <p:nvPr/>
        </p:nvSpPr>
        <p:spPr>
          <a:xfrm>
            <a:off x="1978552" y="4576092"/>
            <a:ext cx="1686746" cy="755380"/>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a:solidFill>
                  <a:schemeClr val="tx1"/>
                </a:solidFill>
              </a:rPr>
              <a:t>Administer parenteral or oral antimicrobial</a:t>
            </a:r>
          </a:p>
          <a:p>
            <a:pPr marL="171450" indent="-171450">
              <a:buAutoNum type="arabicPeriod"/>
            </a:pPr>
            <a:r>
              <a:rPr lang="en-US" sz="900">
                <a:solidFill>
                  <a:schemeClr val="tx1"/>
                </a:solidFill>
              </a:rPr>
              <a:t>May observe at home</a:t>
            </a:r>
            <a:r>
              <a:rPr lang="en-US" sz="900" b="1">
                <a:solidFill>
                  <a:schemeClr val="tx1"/>
                </a:solidFill>
              </a:rPr>
              <a:t> ‡ </a:t>
            </a:r>
          </a:p>
          <a:p>
            <a:pPr marL="171450" indent="-171450">
              <a:buAutoNum type="arabicPeriod"/>
            </a:pPr>
            <a:r>
              <a:rPr lang="en-US" sz="900">
                <a:solidFill>
                  <a:schemeClr val="tx1"/>
                </a:solidFill>
              </a:rPr>
              <a:t>Follow-up in 12-24 </a:t>
            </a:r>
            <a:r>
              <a:rPr lang="en-US" sz="900" err="1">
                <a:solidFill>
                  <a:schemeClr val="tx1"/>
                </a:solidFill>
              </a:rPr>
              <a:t>hrs</a:t>
            </a:r>
            <a:endParaRPr lang="en-US" sz="900">
              <a:solidFill>
                <a:schemeClr val="tx1"/>
              </a:solidFill>
            </a:endParaRPr>
          </a:p>
        </p:txBody>
      </p:sp>
      <p:sp>
        <p:nvSpPr>
          <p:cNvPr id="121" name="Rectangle 120">
            <a:extLst>
              <a:ext uri="{FF2B5EF4-FFF2-40B4-BE49-F238E27FC236}">
                <a16:creationId xmlns:a16="http://schemas.microsoft.com/office/drawing/2014/main" id="{D29F2BDD-9057-4AC0-B8E5-1B5A47247C1F}"/>
              </a:ext>
            </a:extLst>
          </p:cNvPr>
          <p:cNvSpPr/>
          <p:nvPr/>
        </p:nvSpPr>
        <p:spPr>
          <a:xfrm>
            <a:off x="539904" y="5511015"/>
            <a:ext cx="1948121" cy="60252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900" dirty="0">
                <a:solidFill>
                  <a:schemeClr val="tx1"/>
                </a:solidFill>
              </a:rPr>
              <a:t>Administer </a:t>
            </a:r>
            <a:r>
              <a:rPr lang="en-US" sz="900" dirty="0" err="1">
                <a:solidFill>
                  <a:schemeClr val="tx1"/>
                </a:solidFill>
              </a:rPr>
              <a:t>Pabx</a:t>
            </a:r>
            <a:endParaRPr lang="en-US" sz="900" dirty="0">
              <a:solidFill>
                <a:schemeClr val="tx1"/>
              </a:solidFill>
            </a:endParaRPr>
          </a:p>
          <a:p>
            <a:pPr marL="171450" indent="-171450">
              <a:buAutoNum type="arabicPeriod"/>
            </a:pPr>
            <a:r>
              <a:rPr lang="en-US" sz="900" dirty="0">
                <a:solidFill>
                  <a:schemeClr val="tx1"/>
                </a:solidFill>
              </a:rPr>
              <a:t>May observe in hospital or at home</a:t>
            </a:r>
            <a:r>
              <a:rPr lang="en-US" sz="900" b="1" dirty="0">
                <a:solidFill>
                  <a:schemeClr val="tx1"/>
                </a:solidFill>
              </a:rPr>
              <a:t> ‡</a:t>
            </a:r>
            <a:r>
              <a:rPr lang="en-US" sz="900" b="1" baseline="30000" dirty="0">
                <a:solidFill>
                  <a:schemeClr val="tx1"/>
                </a:solidFill>
              </a:rPr>
              <a:t> </a:t>
            </a:r>
            <a:r>
              <a:rPr lang="en-US" sz="900" dirty="0">
                <a:solidFill>
                  <a:schemeClr val="tx1"/>
                </a:solidFill>
              </a:rPr>
              <a:t>with follow-up in 12-24 </a:t>
            </a:r>
            <a:r>
              <a:rPr lang="en-US" sz="900" dirty="0" err="1">
                <a:solidFill>
                  <a:schemeClr val="tx1"/>
                </a:solidFill>
              </a:rPr>
              <a:t>hrs</a:t>
            </a:r>
            <a:endParaRPr lang="en-US" sz="900" dirty="0">
              <a:solidFill>
                <a:schemeClr val="tx1"/>
              </a:solidFill>
            </a:endParaRPr>
          </a:p>
        </p:txBody>
      </p:sp>
      <p:cxnSp>
        <p:nvCxnSpPr>
          <p:cNvPr id="125" name="Straight Arrow Connector 124">
            <a:extLst>
              <a:ext uri="{FF2B5EF4-FFF2-40B4-BE49-F238E27FC236}">
                <a16:creationId xmlns:a16="http://schemas.microsoft.com/office/drawing/2014/main" id="{1B78799C-08F9-417B-A308-04EBB9F55A6E}"/>
              </a:ext>
            </a:extLst>
          </p:cNvPr>
          <p:cNvCxnSpPr>
            <a:cxnSpLocks/>
          </p:cNvCxnSpPr>
          <p:nvPr/>
        </p:nvCxnSpPr>
        <p:spPr>
          <a:xfrm flipH="1">
            <a:off x="1359103" y="5134976"/>
            <a:ext cx="0" cy="37603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B2D363CB-DE00-4BC0-BB3C-8CB6C167D392}"/>
              </a:ext>
            </a:extLst>
          </p:cNvPr>
          <p:cNvCxnSpPr>
            <a:cxnSpLocks/>
            <a:stCxn id="118" idx="3"/>
            <a:endCxn id="120" idx="1"/>
          </p:cNvCxnSpPr>
          <p:nvPr/>
        </p:nvCxnSpPr>
        <p:spPr>
          <a:xfrm>
            <a:off x="1767741" y="4950634"/>
            <a:ext cx="210811" cy="314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1A3D96A0-A291-4206-9954-35B9A7405AA1}"/>
              </a:ext>
            </a:extLst>
          </p:cNvPr>
          <p:cNvSpPr txBox="1"/>
          <p:nvPr/>
        </p:nvSpPr>
        <p:spPr>
          <a:xfrm>
            <a:off x="2236978" y="4003445"/>
            <a:ext cx="374362" cy="230832"/>
          </a:xfrm>
          <a:prstGeom prst="rect">
            <a:avLst/>
          </a:prstGeom>
          <a:noFill/>
        </p:spPr>
        <p:txBody>
          <a:bodyPr wrap="square" rtlCol="0">
            <a:spAutoFit/>
          </a:bodyPr>
          <a:lstStyle/>
          <a:p>
            <a:r>
              <a:rPr lang="en-US" sz="900"/>
              <a:t>YES</a:t>
            </a:r>
          </a:p>
        </p:txBody>
      </p:sp>
      <p:sp>
        <p:nvSpPr>
          <p:cNvPr id="139" name="TextBox 138">
            <a:extLst>
              <a:ext uri="{FF2B5EF4-FFF2-40B4-BE49-F238E27FC236}">
                <a16:creationId xmlns:a16="http://schemas.microsoft.com/office/drawing/2014/main" id="{9ED4EACF-C031-456B-A2EC-5FFDC24661D5}"/>
              </a:ext>
            </a:extLst>
          </p:cNvPr>
          <p:cNvSpPr txBox="1"/>
          <p:nvPr/>
        </p:nvSpPr>
        <p:spPr>
          <a:xfrm>
            <a:off x="1657061" y="4707431"/>
            <a:ext cx="369332" cy="230832"/>
          </a:xfrm>
          <a:prstGeom prst="rect">
            <a:avLst/>
          </a:prstGeom>
          <a:noFill/>
        </p:spPr>
        <p:txBody>
          <a:bodyPr wrap="square" rtlCol="0">
            <a:spAutoFit/>
          </a:bodyPr>
          <a:lstStyle/>
          <a:p>
            <a:r>
              <a:rPr lang="en-US" sz="900"/>
              <a:t>YES</a:t>
            </a:r>
          </a:p>
        </p:txBody>
      </p:sp>
      <p:sp>
        <p:nvSpPr>
          <p:cNvPr id="141" name="TextBox 140">
            <a:extLst>
              <a:ext uri="{FF2B5EF4-FFF2-40B4-BE49-F238E27FC236}">
                <a16:creationId xmlns:a16="http://schemas.microsoft.com/office/drawing/2014/main" id="{8B427133-7F3E-4602-ADF3-FF9F6F9E4D43}"/>
              </a:ext>
            </a:extLst>
          </p:cNvPr>
          <p:cNvSpPr txBox="1"/>
          <p:nvPr/>
        </p:nvSpPr>
        <p:spPr>
          <a:xfrm>
            <a:off x="5201477" y="5349926"/>
            <a:ext cx="327334" cy="230832"/>
          </a:xfrm>
          <a:prstGeom prst="rect">
            <a:avLst/>
          </a:prstGeom>
          <a:noFill/>
        </p:spPr>
        <p:txBody>
          <a:bodyPr wrap="none" rtlCol="0">
            <a:spAutoFit/>
          </a:bodyPr>
          <a:lstStyle/>
          <a:p>
            <a:r>
              <a:rPr lang="en-US" sz="900"/>
              <a:t>NO</a:t>
            </a:r>
          </a:p>
        </p:txBody>
      </p:sp>
      <p:sp>
        <p:nvSpPr>
          <p:cNvPr id="142" name="TextBox 141">
            <a:extLst>
              <a:ext uri="{FF2B5EF4-FFF2-40B4-BE49-F238E27FC236}">
                <a16:creationId xmlns:a16="http://schemas.microsoft.com/office/drawing/2014/main" id="{5EA9B9EE-FCFE-4427-AE40-232EB9F61765}"/>
              </a:ext>
            </a:extLst>
          </p:cNvPr>
          <p:cNvSpPr txBox="1"/>
          <p:nvPr/>
        </p:nvSpPr>
        <p:spPr>
          <a:xfrm>
            <a:off x="1052177" y="4579017"/>
            <a:ext cx="327334" cy="230832"/>
          </a:xfrm>
          <a:prstGeom prst="rect">
            <a:avLst/>
          </a:prstGeom>
          <a:noFill/>
        </p:spPr>
        <p:txBody>
          <a:bodyPr wrap="none" rtlCol="0">
            <a:spAutoFit/>
          </a:bodyPr>
          <a:lstStyle/>
          <a:p>
            <a:r>
              <a:rPr lang="en-US" sz="900" dirty="0"/>
              <a:t>NO</a:t>
            </a:r>
          </a:p>
        </p:txBody>
      </p:sp>
      <p:cxnSp>
        <p:nvCxnSpPr>
          <p:cNvPr id="147" name="Connector: Elbow 146">
            <a:extLst>
              <a:ext uri="{FF2B5EF4-FFF2-40B4-BE49-F238E27FC236}">
                <a16:creationId xmlns:a16="http://schemas.microsoft.com/office/drawing/2014/main" id="{B45FFE9D-D733-4C96-ACA6-E7CB40AB4599}"/>
              </a:ext>
            </a:extLst>
          </p:cNvPr>
          <p:cNvCxnSpPr>
            <a:cxnSpLocks/>
            <a:stCxn id="121" idx="3"/>
          </p:cNvCxnSpPr>
          <p:nvPr/>
        </p:nvCxnSpPr>
        <p:spPr>
          <a:xfrm flipV="1">
            <a:off x="2488025" y="4953894"/>
            <a:ext cx="1894917" cy="858384"/>
          </a:xfrm>
          <a:prstGeom prst="bentConnector3">
            <a:avLst>
              <a:gd name="adj1" fmla="val 71250"/>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ADE1140D-A1F2-4687-A375-2B5F1F12EBCC}"/>
              </a:ext>
            </a:extLst>
          </p:cNvPr>
          <p:cNvCxnSpPr>
            <a:cxnSpLocks/>
          </p:cNvCxnSpPr>
          <p:nvPr/>
        </p:nvCxnSpPr>
        <p:spPr>
          <a:xfrm flipV="1">
            <a:off x="3665298" y="4941428"/>
            <a:ext cx="717644" cy="1074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0F8F0995-5A73-4C5F-A4AC-0BA091B5F3CB}"/>
              </a:ext>
            </a:extLst>
          </p:cNvPr>
          <p:cNvCxnSpPr>
            <a:cxnSpLocks/>
            <a:stCxn id="103" idx="3"/>
            <a:endCxn id="23" idx="0"/>
          </p:cNvCxnSpPr>
          <p:nvPr/>
        </p:nvCxnSpPr>
        <p:spPr>
          <a:xfrm>
            <a:off x="4361476" y="4236993"/>
            <a:ext cx="773057" cy="286572"/>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nector: Elbow 153">
            <a:extLst>
              <a:ext uri="{FF2B5EF4-FFF2-40B4-BE49-F238E27FC236}">
                <a16:creationId xmlns:a16="http://schemas.microsoft.com/office/drawing/2014/main" id="{6EF0153F-778D-476E-BFBB-7E4F908E25BA}"/>
              </a:ext>
            </a:extLst>
          </p:cNvPr>
          <p:cNvCxnSpPr>
            <a:cxnSpLocks/>
            <a:stCxn id="77" idx="3"/>
            <a:endCxn id="23" idx="0"/>
          </p:cNvCxnSpPr>
          <p:nvPr/>
        </p:nvCxnSpPr>
        <p:spPr>
          <a:xfrm flipH="1">
            <a:off x="5134534" y="3668941"/>
            <a:ext cx="134345" cy="854624"/>
          </a:xfrm>
          <a:prstGeom prst="bentConnector4">
            <a:avLst>
              <a:gd name="adj1" fmla="val -127619"/>
              <a:gd name="adj2" fmla="val 6664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Connector: Elbow 155">
            <a:extLst>
              <a:ext uri="{FF2B5EF4-FFF2-40B4-BE49-F238E27FC236}">
                <a16:creationId xmlns:a16="http://schemas.microsoft.com/office/drawing/2014/main" id="{89FE0196-9A31-4B27-9D79-AD02662977CA}"/>
              </a:ext>
            </a:extLst>
          </p:cNvPr>
          <p:cNvCxnSpPr>
            <a:cxnSpLocks/>
          </p:cNvCxnSpPr>
          <p:nvPr/>
        </p:nvCxnSpPr>
        <p:spPr>
          <a:xfrm rot="5400000">
            <a:off x="5680083" y="3645777"/>
            <a:ext cx="334837" cy="1425935"/>
          </a:xfrm>
          <a:prstGeom prst="bentConnector3">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55948A9B-F0D4-4202-8A02-5B3E6CE34D9A}"/>
              </a:ext>
            </a:extLst>
          </p:cNvPr>
          <p:cNvCxnSpPr>
            <a:cxnSpLocks/>
            <a:stCxn id="33" idx="2"/>
          </p:cNvCxnSpPr>
          <p:nvPr/>
        </p:nvCxnSpPr>
        <p:spPr>
          <a:xfrm rot="5400000">
            <a:off x="6310854" y="2492915"/>
            <a:ext cx="941692" cy="2794815"/>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4E405D9B-75AB-41E6-870A-B501379C6615}"/>
              </a:ext>
            </a:extLst>
          </p:cNvPr>
          <p:cNvSpPr/>
          <p:nvPr/>
        </p:nvSpPr>
        <p:spPr>
          <a:xfrm>
            <a:off x="170198" y="1161416"/>
            <a:ext cx="2724149" cy="265176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900" b="1" dirty="0">
                <a:solidFill>
                  <a:schemeClr val="tx1"/>
                </a:solidFill>
              </a:rPr>
              <a:t>Footnotes:</a:t>
            </a:r>
            <a:endParaRPr lang="en-US" sz="900" dirty="0">
              <a:solidFill>
                <a:schemeClr val="tx1"/>
              </a:solidFill>
            </a:endParaRPr>
          </a:p>
          <a:p>
            <a:r>
              <a:rPr lang="en-US" sz="900" b="1" dirty="0">
                <a:solidFill>
                  <a:schemeClr val="tx1"/>
                </a:solidFill>
              </a:rPr>
              <a:t>* </a:t>
            </a:r>
            <a:r>
              <a:rPr lang="en-US" sz="900" dirty="0">
                <a:solidFill>
                  <a:schemeClr val="tx1"/>
                </a:solidFill>
              </a:rPr>
              <a:t>AAP includes temp &gt; 38.5C, CRP &gt; 2.0 mg/dl or ANC &gt; 4000-5200 </a:t>
            </a:r>
          </a:p>
          <a:p>
            <a:r>
              <a:rPr lang="en-US" sz="900" b="1" dirty="0">
                <a:solidFill>
                  <a:schemeClr val="tx1"/>
                </a:solidFill>
              </a:rPr>
              <a:t>†</a:t>
            </a:r>
            <a:r>
              <a:rPr lang="en-US" sz="900" dirty="0">
                <a:solidFill>
                  <a:schemeClr val="tx1"/>
                </a:solidFill>
              </a:rPr>
              <a:t> </a:t>
            </a:r>
            <a:r>
              <a:rPr lang="en-US" sz="900" dirty="0">
                <a:solidFill>
                  <a:sysClr val="windowText" lastClr="000000"/>
                </a:solidFill>
              </a:rPr>
              <a:t>If observed at home, then recommend prescription for oral antimicrobial to treat presumed UTI. </a:t>
            </a:r>
          </a:p>
          <a:p>
            <a:r>
              <a:rPr lang="en-US" sz="900" b="1" dirty="0">
                <a:solidFill>
                  <a:schemeClr val="tx1"/>
                </a:solidFill>
              </a:rPr>
              <a:t>‡</a:t>
            </a:r>
            <a:r>
              <a:rPr lang="en-US" sz="900" b="1" baseline="30000" dirty="0">
                <a:solidFill>
                  <a:schemeClr val="tx1"/>
                </a:solidFill>
              </a:rPr>
              <a:t> </a:t>
            </a:r>
            <a:r>
              <a:rPr lang="en-US" sz="900" dirty="0">
                <a:solidFill>
                  <a:sysClr val="windowText" lastClr="000000"/>
                </a:solidFill>
              </a:rPr>
              <a:t>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a:p>
            <a:endParaRPr lang="en-US" sz="900" dirty="0">
              <a:solidFill>
                <a:sysClr val="windowText" lastClr="000000"/>
              </a:solidFill>
            </a:endParaRPr>
          </a:p>
          <a:p>
            <a:r>
              <a:rPr lang="en-US" sz="900" b="1" u="sng" dirty="0">
                <a:solidFill>
                  <a:schemeClr val="tx1"/>
                </a:solidFill>
              </a:rPr>
              <a:t>Guideline Terminology</a:t>
            </a:r>
            <a:r>
              <a:rPr lang="en-US" sz="900" b="1" dirty="0">
                <a:solidFill>
                  <a:schemeClr val="tx1"/>
                </a:solidFill>
              </a:rPr>
              <a:t>: </a:t>
            </a:r>
          </a:p>
          <a:p>
            <a:r>
              <a:rPr lang="en-US" sz="900" dirty="0">
                <a:solidFill>
                  <a:schemeClr val="tx1"/>
                </a:solidFill>
              </a:rPr>
              <a:t>“</a:t>
            </a:r>
            <a:r>
              <a:rPr lang="en-US" sz="900" b="1" dirty="0">
                <a:solidFill>
                  <a:schemeClr val="tx1"/>
                </a:solidFill>
              </a:rPr>
              <a:t>May</a:t>
            </a:r>
            <a:r>
              <a:rPr lang="en-US" sz="900" dirty="0">
                <a:solidFill>
                  <a:schemeClr val="tx1"/>
                </a:solidFill>
              </a:rPr>
              <a:t>” can be interpreted as “consider” and will depend on specific patient circumstances.  Pediatrics Consult may be helpful. </a:t>
            </a:r>
          </a:p>
          <a:p>
            <a:r>
              <a:rPr lang="en-US" sz="900" dirty="0">
                <a:solidFill>
                  <a:schemeClr val="tx1"/>
                </a:solidFill>
              </a:rPr>
              <a:t>“</a:t>
            </a:r>
            <a:r>
              <a:rPr lang="en-US" sz="900" b="1" dirty="0">
                <a:solidFill>
                  <a:schemeClr val="tx1"/>
                </a:solidFill>
              </a:rPr>
              <a:t>Need Not</a:t>
            </a:r>
            <a:r>
              <a:rPr lang="en-US" sz="900" dirty="0">
                <a:solidFill>
                  <a:schemeClr val="tx1"/>
                </a:solidFill>
              </a:rPr>
              <a:t>” can be interpreted as ”Usually not indicated.” </a:t>
            </a:r>
            <a:endParaRPr lang="en-US" sz="900" dirty="0">
              <a:solidFill>
                <a:sysClr val="windowText" lastClr="000000"/>
              </a:solidFill>
            </a:endParaRPr>
          </a:p>
        </p:txBody>
      </p:sp>
      <p:cxnSp>
        <p:nvCxnSpPr>
          <p:cNvPr id="111" name="Connector: Elbow 110">
            <a:extLst>
              <a:ext uri="{FF2B5EF4-FFF2-40B4-BE49-F238E27FC236}">
                <a16:creationId xmlns:a16="http://schemas.microsoft.com/office/drawing/2014/main" id="{3A84AFB2-DA7C-4026-A424-395730E2EDC1}"/>
              </a:ext>
            </a:extLst>
          </p:cNvPr>
          <p:cNvCxnSpPr>
            <a:cxnSpLocks/>
            <a:stCxn id="73" idx="1"/>
          </p:cNvCxnSpPr>
          <p:nvPr/>
        </p:nvCxnSpPr>
        <p:spPr>
          <a:xfrm rot="10800000" flipV="1">
            <a:off x="1375025" y="2949812"/>
            <a:ext cx="2012440" cy="920694"/>
          </a:xfrm>
          <a:prstGeom prst="bentConnector3">
            <a:avLst>
              <a:gd name="adj1" fmla="val 18446"/>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47FAFE6-8189-45E6-AD28-B74B420646A6}"/>
              </a:ext>
            </a:extLst>
          </p:cNvPr>
          <p:cNvSpPr/>
          <p:nvPr/>
        </p:nvSpPr>
        <p:spPr>
          <a:xfrm>
            <a:off x="8026206" y="4460574"/>
            <a:ext cx="994155" cy="965262"/>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dirty="0">
                <a:solidFill>
                  <a:schemeClr val="tx1"/>
                </a:solidFill>
              </a:rPr>
              <a:t>Complete treatment with oral antimicrobials </a:t>
            </a:r>
          </a:p>
          <a:p>
            <a:pPr marL="171450" indent="-171450">
              <a:buFont typeface="+mj-lt"/>
              <a:buAutoNum type="arabicPeriod"/>
            </a:pPr>
            <a:r>
              <a:rPr lang="en-US" sz="900" dirty="0">
                <a:solidFill>
                  <a:schemeClr val="tx1"/>
                </a:solidFill>
              </a:rPr>
              <a:t>Discharge hospitalized infants</a:t>
            </a:r>
          </a:p>
        </p:txBody>
      </p:sp>
      <p:cxnSp>
        <p:nvCxnSpPr>
          <p:cNvPr id="112" name="Straight Arrow Connector 111">
            <a:extLst>
              <a:ext uri="{FF2B5EF4-FFF2-40B4-BE49-F238E27FC236}">
                <a16:creationId xmlns:a16="http://schemas.microsoft.com/office/drawing/2014/main" id="{14504BD5-F85D-4252-8301-190ADF85C9F3}"/>
              </a:ext>
            </a:extLst>
          </p:cNvPr>
          <p:cNvCxnSpPr>
            <a:cxnSpLocks/>
            <a:stCxn id="23" idx="3"/>
            <a:endCxn id="60" idx="1"/>
          </p:cNvCxnSpPr>
          <p:nvPr/>
        </p:nvCxnSpPr>
        <p:spPr>
          <a:xfrm flipV="1">
            <a:off x="5886124" y="4946800"/>
            <a:ext cx="356926" cy="462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AC3C9D17-F25B-4D3D-AC00-2E4E30859E6E}"/>
              </a:ext>
            </a:extLst>
          </p:cNvPr>
          <p:cNvSpPr txBox="1"/>
          <p:nvPr/>
        </p:nvSpPr>
        <p:spPr>
          <a:xfrm>
            <a:off x="5886177" y="4728253"/>
            <a:ext cx="391682" cy="230832"/>
          </a:xfrm>
          <a:prstGeom prst="rect">
            <a:avLst/>
          </a:prstGeom>
          <a:noFill/>
        </p:spPr>
        <p:txBody>
          <a:bodyPr wrap="square" rtlCol="0">
            <a:spAutoFit/>
          </a:bodyPr>
          <a:lstStyle/>
          <a:p>
            <a:r>
              <a:rPr lang="en-US" sz="900" dirty="0"/>
              <a:t>YES</a:t>
            </a:r>
          </a:p>
        </p:txBody>
      </p:sp>
      <p:sp>
        <p:nvSpPr>
          <p:cNvPr id="60" name="Diamond 59">
            <a:extLst>
              <a:ext uri="{FF2B5EF4-FFF2-40B4-BE49-F238E27FC236}">
                <a16:creationId xmlns:a16="http://schemas.microsoft.com/office/drawing/2014/main" id="{63248166-61C8-4DDC-B60C-7AA0BBED1E86}"/>
              </a:ext>
            </a:extLst>
          </p:cNvPr>
          <p:cNvSpPr/>
          <p:nvPr/>
        </p:nvSpPr>
        <p:spPr>
          <a:xfrm>
            <a:off x="6243050" y="4527327"/>
            <a:ext cx="1503182" cy="838945"/>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Source limited to urine</a:t>
            </a:r>
          </a:p>
        </p:txBody>
      </p:sp>
      <p:sp>
        <p:nvSpPr>
          <p:cNvPr id="62" name="Rectangle 61">
            <a:extLst>
              <a:ext uri="{FF2B5EF4-FFF2-40B4-BE49-F238E27FC236}">
                <a16:creationId xmlns:a16="http://schemas.microsoft.com/office/drawing/2014/main" id="{B31E7359-DF41-484A-B510-A5F8DE1321B1}"/>
              </a:ext>
            </a:extLst>
          </p:cNvPr>
          <p:cNvSpPr/>
          <p:nvPr/>
        </p:nvSpPr>
        <p:spPr>
          <a:xfrm>
            <a:off x="6675260" y="5553183"/>
            <a:ext cx="660472" cy="34692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Treat infection</a:t>
            </a:r>
          </a:p>
        </p:txBody>
      </p:sp>
      <p:sp>
        <p:nvSpPr>
          <p:cNvPr id="63" name="TextBox 62">
            <a:extLst>
              <a:ext uri="{FF2B5EF4-FFF2-40B4-BE49-F238E27FC236}">
                <a16:creationId xmlns:a16="http://schemas.microsoft.com/office/drawing/2014/main" id="{9D49730B-11D7-44F9-922A-570F41B83828}"/>
              </a:ext>
            </a:extLst>
          </p:cNvPr>
          <p:cNvSpPr txBox="1"/>
          <p:nvPr/>
        </p:nvSpPr>
        <p:spPr>
          <a:xfrm>
            <a:off x="7677821" y="4705703"/>
            <a:ext cx="391682" cy="230832"/>
          </a:xfrm>
          <a:prstGeom prst="rect">
            <a:avLst/>
          </a:prstGeom>
          <a:noFill/>
        </p:spPr>
        <p:txBody>
          <a:bodyPr wrap="square" rtlCol="0">
            <a:spAutoFit/>
          </a:bodyPr>
          <a:lstStyle/>
          <a:p>
            <a:r>
              <a:rPr lang="en-US" sz="900"/>
              <a:t>YES</a:t>
            </a:r>
          </a:p>
        </p:txBody>
      </p:sp>
      <p:cxnSp>
        <p:nvCxnSpPr>
          <p:cNvPr id="64" name="Straight Arrow Connector 63">
            <a:extLst>
              <a:ext uri="{FF2B5EF4-FFF2-40B4-BE49-F238E27FC236}">
                <a16:creationId xmlns:a16="http://schemas.microsoft.com/office/drawing/2014/main" id="{526BC3F4-60C9-4B2F-995F-7DD58355848B}"/>
              </a:ext>
            </a:extLst>
          </p:cNvPr>
          <p:cNvCxnSpPr>
            <a:cxnSpLocks/>
            <a:stCxn id="60" idx="3"/>
            <a:endCxn id="24" idx="1"/>
          </p:cNvCxnSpPr>
          <p:nvPr/>
        </p:nvCxnSpPr>
        <p:spPr>
          <a:xfrm flipV="1">
            <a:off x="7746233" y="4943205"/>
            <a:ext cx="279973" cy="359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BDDDA3B-BB44-48C4-8BC6-5B64A4BE842D}"/>
              </a:ext>
            </a:extLst>
          </p:cNvPr>
          <p:cNvCxnSpPr>
            <a:cxnSpLocks/>
          </p:cNvCxnSpPr>
          <p:nvPr/>
        </p:nvCxnSpPr>
        <p:spPr>
          <a:xfrm>
            <a:off x="7002979" y="5370682"/>
            <a:ext cx="1828" cy="19874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43CE3432-5B41-49D5-A086-13917944D2BA}"/>
              </a:ext>
            </a:extLst>
          </p:cNvPr>
          <p:cNvSpPr txBox="1"/>
          <p:nvPr/>
        </p:nvSpPr>
        <p:spPr>
          <a:xfrm>
            <a:off x="7069923" y="5358099"/>
            <a:ext cx="327334" cy="230832"/>
          </a:xfrm>
          <a:prstGeom prst="rect">
            <a:avLst/>
          </a:prstGeom>
          <a:noFill/>
        </p:spPr>
        <p:txBody>
          <a:bodyPr wrap="none" rtlCol="0">
            <a:spAutoFit/>
          </a:bodyPr>
          <a:lstStyle/>
          <a:p>
            <a:r>
              <a:rPr lang="en-US" sz="900"/>
              <a:t>NO</a:t>
            </a:r>
          </a:p>
        </p:txBody>
      </p:sp>
      <p:sp>
        <p:nvSpPr>
          <p:cNvPr id="65" name="TextBox 64">
            <a:extLst>
              <a:ext uri="{FF2B5EF4-FFF2-40B4-BE49-F238E27FC236}">
                <a16:creationId xmlns:a16="http://schemas.microsoft.com/office/drawing/2014/main" id="{4FB19BEF-F899-4EC8-B08A-B0CEDB8303D9}"/>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79" name="Title 1">
            <a:extLst>
              <a:ext uri="{FF2B5EF4-FFF2-40B4-BE49-F238E27FC236}">
                <a16:creationId xmlns:a16="http://schemas.microsoft.com/office/drawing/2014/main" id="{BE27DC74-24D2-4801-AB88-6C023E19278B}"/>
              </a:ext>
            </a:extLst>
          </p:cNvPr>
          <p:cNvSpPr txBox="1">
            <a:spLocks/>
          </p:cNvSpPr>
          <p:nvPr/>
        </p:nvSpPr>
        <p:spPr bwMode="gray">
          <a:xfrm>
            <a:off x="474993"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300" dirty="0">
                <a:solidFill>
                  <a:schemeClr val="tx1"/>
                </a:solidFill>
                <a:latin typeface="Microsoft Tai Le"/>
                <a:cs typeface="Microsoft Tai Le"/>
              </a:rPr>
              <a:t>Febrile, 29-60 Days Old, </a:t>
            </a:r>
            <a:r>
              <a:rPr lang="en-US" sz="2300" dirty="0">
                <a:solidFill>
                  <a:sysClr val="windowText" lastClr="000000"/>
                </a:solidFill>
                <a:latin typeface="Microsoft Tai Le"/>
                <a:cs typeface="Microsoft Tai Le"/>
              </a:rPr>
              <a:t>Low-Risk, Well-Appearing Infant</a:t>
            </a:r>
            <a:endParaRPr lang="en-US" sz="2300" dirty="0">
              <a:solidFill>
                <a:sysClr val="windowText" lastClr="000000"/>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679279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Well-Appearing Infant 29-60 Days with Abnormal </a:t>
            </a:r>
            <a:br>
              <a:rPr lang="en-US" sz="2200" dirty="0">
                <a:solidFill>
                  <a:schemeClr val="tx1"/>
                </a:solidFill>
                <a:latin typeface="Microsoft Tai Le"/>
                <a:cs typeface="Microsoft Tai Le"/>
              </a:rPr>
            </a:br>
            <a:r>
              <a:rPr lang="en-US" sz="2200" dirty="0">
                <a:solidFill>
                  <a:schemeClr val="tx1"/>
                </a:solidFill>
                <a:latin typeface="Microsoft Tai Le"/>
                <a:cs typeface="Microsoft Tai Le"/>
              </a:rPr>
              <a:t>WBC Count or Bands</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74993" y="5445735"/>
            <a:ext cx="8226436" cy="684803"/>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latin typeface="Microsoft Tai Le"/>
                <a:cs typeface="Microsoft Tai Le"/>
              </a:rPr>
              <a:t>May perform LP</a:t>
            </a:r>
          </a:p>
        </p:txBody>
      </p:sp>
      <p:sp>
        <p:nvSpPr>
          <p:cNvPr id="3" name="TextBox 2">
            <a:extLst>
              <a:ext uri="{FF2B5EF4-FFF2-40B4-BE49-F238E27FC236}">
                <a16:creationId xmlns:a16="http://schemas.microsoft.com/office/drawing/2014/main" id="{256360C3-933B-4442-BDFB-2C439951A6BD}"/>
              </a:ext>
            </a:extLst>
          </p:cNvPr>
          <p:cNvSpPr txBox="1"/>
          <p:nvPr/>
        </p:nvSpPr>
        <p:spPr>
          <a:xfrm>
            <a:off x="453081" y="1323808"/>
            <a:ext cx="8226436" cy="4062651"/>
          </a:xfrm>
          <a:prstGeom prst="rect">
            <a:avLst/>
          </a:prstGeom>
          <a:noFill/>
        </p:spPr>
        <p:txBody>
          <a:bodyPr wrap="square" rtlCol="0">
            <a:spAutoFit/>
          </a:bodyPr>
          <a:lstStyle/>
          <a:p>
            <a:r>
              <a:rPr lang="en-US" b="1" u="sng" dirty="0">
                <a:latin typeface="Microsoft Tai Le"/>
                <a:cs typeface="Microsoft Tai Le"/>
              </a:rPr>
              <a:t>May Perform LP: </a:t>
            </a:r>
          </a:p>
          <a:p>
            <a:pPr marL="257175" indent="-257175">
              <a:buFont typeface="Arial" panose="020B0604020202020204" pitchFamily="34" charset="0"/>
              <a:buChar char="•"/>
            </a:pPr>
            <a:r>
              <a:rPr lang="en-US" dirty="0">
                <a:latin typeface="Microsoft Tai Le"/>
                <a:cs typeface="Microsoft Tai Le"/>
              </a:rPr>
              <a:t>Infants with </a:t>
            </a:r>
            <a:r>
              <a:rPr lang="en-US" b="1" dirty="0">
                <a:latin typeface="Microsoft Tai Le"/>
                <a:cs typeface="Microsoft Tai Le"/>
              </a:rPr>
              <a:t>abnormal blood work </a:t>
            </a:r>
            <a:r>
              <a:rPr lang="en-US" dirty="0">
                <a:latin typeface="Microsoft Tai Le"/>
                <a:cs typeface="Microsoft Tai Le"/>
              </a:rPr>
              <a:t>were more likely to have IBI with temp &gt; 38.5</a:t>
            </a:r>
          </a:p>
          <a:p>
            <a:pPr marL="257175" indent="-257175">
              <a:buFont typeface="Arial" panose="020B0604020202020204" pitchFamily="34" charset="0"/>
              <a:buChar char="•"/>
            </a:pPr>
            <a:r>
              <a:rPr lang="en-US" b="1" dirty="0">
                <a:latin typeface="Microsoft Tai Le"/>
                <a:cs typeface="Microsoft Tai Le"/>
              </a:rPr>
              <a:t>High Risk [blood work and temp &gt; 38.5]:</a:t>
            </a:r>
          </a:p>
          <a:p>
            <a:r>
              <a:rPr lang="en-US" dirty="0">
                <a:latin typeface="Microsoft Tai Le"/>
                <a:cs typeface="Microsoft Tai Le"/>
              </a:rPr>
              <a:t>	</a:t>
            </a:r>
            <a:r>
              <a:rPr lang="en-US" sz="1500" i="1" dirty="0">
                <a:latin typeface="+mj-lt"/>
                <a:cs typeface="Microsoft Tai Le"/>
              </a:rPr>
              <a:t>IBI: 14/184 (7.6%)</a:t>
            </a:r>
          </a:p>
          <a:p>
            <a:r>
              <a:rPr lang="en-US" sz="1500" i="1" dirty="0">
                <a:latin typeface="+mj-lt"/>
                <a:cs typeface="Microsoft Tai Le"/>
              </a:rPr>
              <a:t>	Meningitis: 4/184 (2.2%)</a:t>
            </a:r>
          </a:p>
          <a:p>
            <a:pPr marL="257175" indent="-257175">
              <a:buFont typeface="Arial" panose="020B0604020202020204" pitchFamily="34" charset="0"/>
              <a:buChar char="•"/>
            </a:pPr>
            <a:endParaRPr lang="en-US" dirty="0">
              <a:latin typeface="Microsoft Tai Le"/>
              <a:cs typeface="Microsoft Tai Le"/>
            </a:endParaRPr>
          </a:p>
          <a:p>
            <a:pPr marL="257175" indent="-257175">
              <a:buFont typeface="Arial" panose="020B0604020202020204" pitchFamily="34" charset="0"/>
              <a:buChar char="•"/>
            </a:pPr>
            <a:r>
              <a:rPr lang="en-US" b="1" dirty="0">
                <a:latin typeface="Microsoft Tai Le"/>
                <a:cs typeface="Microsoft Tai Le"/>
              </a:rPr>
              <a:t>High Risk [blood work and temp 38.0-38.5]</a:t>
            </a:r>
          </a:p>
          <a:p>
            <a:r>
              <a:rPr lang="en-US" dirty="0">
                <a:latin typeface="Microsoft Tai Le"/>
                <a:cs typeface="Microsoft Tai Le"/>
              </a:rPr>
              <a:t>	</a:t>
            </a:r>
            <a:r>
              <a:rPr lang="en-US" sz="1500" i="1" dirty="0">
                <a:latin typeface="+mj-lt"/>
                <a:cs typeface="Microsoft Tai Le"/>
              </a:rPr>
              <a:t>IBI: 3/92 (3.3%)</a:t>
            </a:r>
          </a:p>
          <a:p>
            <a:r>
              <a:rPr lang="en-US" sz="1500" i="1" dirty="0">
                <a:latin typeface="+mj-lt"/>
                <a:cs typeface="Microsoft Tai Le"/>
              </a:rPr>
              <a:t>	Meningitis: 0/92</a:t>
            </a:r>
          </a:p>
          <a:p>
            <a:pPr marL="257175" indent="-257175">
              <a:buFont typeface="Arial" panose="020B0604020202020204" pitchFamily="34" charset="0"/>
              <a:buChar char="•"/>
            </a:pPr>
            <a:endParaRPr lang="en-US" dirty="0">
              <a:latin typeface="Microsoft Tai Le"/>
              <a:cs typeface="Microsoft Tai Le"/>
            </a:endParaRPr>
          </a:p>
          <a:p>
            <a:pPr marL="257175" indent="-257175">
              <a:buFont typeface="Arial" panose="020B0604020202020204" pitchFamily="34" charset="0"/>
              <a:buChar char="•"/>
            </a:pPr>
            <a:r>
              <a:rPr lang="en-US" b="1" dirty="0">
                <a:latin typeface="Microsoft Tai Le"/>
                <a:cs typeface="Microsoft Tai Le"/>
              </a:rPr>
              <a:t>Temp alone (without abnormal blood work) was not associated with higher IBI risk </a:t>
            </a:r>
          </a:p>
          <a:p>
            <a:r>
              <a:rPr lang="en-US" sz="1500" i="1" dirty="0">
                <a:latin typeface="+mj-lt"/>
                <a:cs typeface="Microsoft Tai Le"/>
              </a:rPr>
              <a:t>	IBI: 1/255 (0.4%)</a:t>
            </a:r>
          </a:p>
          <a:p>
            <a:r>
              <a:rPr lang="en-US" sz="1500" i="1" dirty="0">
                <a:latin typeface="+mj-lt"/>
                <a:cs typeface="Microsoft Tai Le"/>
              </a:rPr>
              <a:t>	Meningitis: 0/255</a:t>
            </a:r>
            <a:endParaRPr lang="en-US" sz="1500" b="1" i="1" dirty="0">
              <a:latin typeface="+mj-lt"/>
              <a:cs typeface="Microsoft Tai Le"/>
            </a:endParaRPr>
          </a:p>
        </p:txBody>
      </p:sp>
      <p:sp>
        <p:nvSpPr>
          <p:cNvPr id="7" name="TextBox 6">
            <a:extLst>
              <a:ext uri="{FF2B5EF4-FFF2-40B4-BE49-F238E27FC236}">
                <a16:creationId xmlns:a16="http://schemas.microsoft.com/office/drawing/2014/main" id="{7B356A03-7DC5-47AF-B344-5A3E55B1F3F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19856900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Well-Appearing Infant 29-60 Days with Normal Blood Work</a:t>
            </a:r>
            <a:endParaRPr lang="en-US" sz="2200" dirty="0">
              <a:solidFill>
                <a:sysClr val="windowText" lastClr="000000"/>
              </a:solidFill>
              <a:latin typeface="Microsoft Tai Le" panose="020B0502040204020203" pitchFamily="34" charset="0"/>
              <a:cs typeface="Microsoft Tai Le" panose="020B0502040204020203" pitchFamily="34" charset="0"/>
            </a:endParaRPr>
          </a:p>
        </p:txBody>
      </p:sp>
      <p:sp>
        <p:nvSpPr>
          <p:cNvPr id="9" name="Rectangle 8">
            <a:extLst>
              <a:ext uri="{FF2B5EF4-FFF2-40B4-BE49-F238E27FC236}">
                <a16:creationId xmlns:a16="http://schemas.microsoft.com/office/drawing/2014/main" id="{C95DA26A-CF1C-DF49-B317-718087E3A7BB}"/>
              </a:ext>
            </a:extLst>
          </p:cNvPr>
          <p:cNvSpPr/>
          <p:nvPr/>
        </p:nvSpPr>
        <p:spPr>
          <a:xfrm>
            <a:off x="453081" y="2391024"/>
            <a:ext cx="8226436" cy="1300356"/>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pPr marL="685800" lvl="1" indent="-342900">
              <a:buFont typeface="Arial" panose="020B0604020202020204" pitchFamily="34" charset="0"/>
              <a:buChar char="•"/>
            </a:pPr>
            <a:r>
              <a:rPr lang="en-US" sz="2000" dirty="0">
                <a:latin typeface="Microsoft Tai Le"/>
                <a:cs typeface="Microsoft Tai Le"/>
              </a:rPr>
              <a:t>Need not perform LP</a:t>
            </a:r>
          </a:p>
          <a:p>
            <a:pPr marL="685800" lvl="1" indent="-342900">
              <a:buFont typeface="Arial" panose="020B0604020202020204" pitchFamily="34" charset="0"/>
              <a:buChar char="•"/>
            </a:pPr>
            <a:r>
              <a:rPr lang="en-US" sz="2000" dirty="0">
                <a:latin typeface="Microsoft Tai Le"/>
                <a:cs typeface="Microsoft Tai Le"/>
              </a:rPr>
              <a:t>Administer oral antimicrobial</a:t>
            </a:r>
          </a:p>
          <a:p>
            <a:pPr marL="685800" lvl="1" indent="-342900">
              <a:buFont typeface="Arial" panose="020B0604020202020204" pitchFamily="34" charset="0"/>
              <a:buChar char="•"/>
            </a:pPr>
            <a:r>
              <a:rPr lang="en-US" sz="2000" dirty="0">
                <a:latin typeface="Microsoft Tai Le"/>
                <a:cs typeface="Microsoft Tai Le"/>
              </a:rPr>
              <a:t>May observe at home with follow-up in 12-24 </a:t>
            </a:r>
            <a:r>
              <a:rPr lang="en-US" sz="2000" dirty="0" err="1">
                <a:latin typeface="Microsoft Tai Le"/>
                <a:cs typeface="Microsoft Tai Le"/>
              </a:rPr>
              <a:t>hrs</a:t>
            </a:r>
            <a:endParaRPr lang="en-US" sz="2000" dirty="0">
              <a:latin typeface="Microsoft Tai Le" panose="020B0502040204020203" pitchFamily="34" charset="0"/>
              <a:cs typeface="Microsoft Tai Le" panose="020B0502040204020203" pitchFamily="34" charset="0"/>
            </a:endParaRPr>
          </a:p>
        </p:txBody>
      </p:sp>
      <p:sp>
        <p:nvSpPr>
          <p:cNvPr id="3" name="TextBox 2">
            <a:extLst>
              <a:ext uri="{FF2B5EF4-FFF2-40B4-BE49-F238E27FC236}">
                <a16:creationId xmlns:a16="http://schemas.microsoft.com/office/drawing/2014/main" id="{256360C3-933B-4442-BDFB-2C439951A6BD}"/>
              </a:ext>
            </a:extLst>
          </p:cNvPr>
          <p:cNvSpPr txBox="1"/>
          <p:nvPr/>
        </p:nvSpPr>
        <p:spPr>
          <a:xfrm>
            <a:off x="453081" y="1323808"/>
            <a:ext cx="8226436" cy="854080"/>
          </a:xfrm>
          <a:prstGeom prst="rect">
            <a:avLst/>
          </a:prstGeom>
          <a:noFill/>
        </p:spPr>
        <p:txBody>
          <a:bodyPr wrap="square" rtlCol="0">
            <a:spAutoFit/>
          </a:bodyPr>
          <a:lstStyle/>
          <a:p>
            <a:r>
              <a:rPr lang="en-US" sz="1950" b="1" u="sng" dirty="0">
                <a:latin typeface="Microsoft Tai Le" panose="020B0502040204020203" pitchFamily="34" charset="0"/>
                <a:cs typeface="Microsoft Tai Le" panose="020B0502040204020203" pitchFamily="34" charset="0"/>
              </a:rPr>
              <a:t>UA+ </a:t>
            </a:r>
          </a:p>
          <a:p>
            <a:pPr lvl="1" defTabSz="685800">
              <a:defRPr/>
            </a:pPr>
            <a:r>
              <a:rPr lang="en-US" sz="1500" i="1" dirty="0">
                <a:solidFill>
                  <a:prstClr val="black"/>
                </a:solidFill>
                <a:cs typeface="Microsoft Tai Le" panose="020B0502040204020203" pitchFamily="34" charset="0"/>
              </a:rPr>
              <a:t>IBI: 3/48 (6.2%) [bacteremic UTI]</a:t>
            </a:r>
          </a:p>
          <a:p>
            <a:pPr lvl="1" defTabSz="685800">
              <a:defRPr/>
            </a:pPr>
            <a:r>
              <a:rPr lang="en-US" sz="1500" i="1" dirty="0">
                <a:solidFill>
                  <a:prstClr val="black"/>
                </a:solidFill>
                <a:cs typeface="Microsoft Tai Le" panose="020B0502040204020203" pitchFamily="34" charset="0"/>
              </a:rPr>
              <a:t>Meningitis: 0/48 </a:t>
            </a:r>
            <a:endParaRPr lang="en-US" sz="750" i="1" dirty="0">
              <a:solidFill>
                <a:prstClr val="black"/>
              </a:solidFill>
              <a:cs typeface="Microsoft Tai Le" panose="020B0502040204020203" pitchFamily="34" charset="0"/>
            </a:endParaRPr>
          </a:p>
        </p:txBody>
      </p:sp>
      <p:sp>
        <p:nvSpPr>
          <p:cNvPr id="7" name="TextBox 6">
            <a:extLst>
              <a:ext uri="{FF2B5EF4-FFF2-40B4-BE49-F238E27FC236}">
                <a16:creationId xmlns:a16="http://schemas.microsoft.com/office/drawing/2014/main" id="{7B356A03-7DC5-47AF-B344-5A3E55B1F3F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 name="Rectangle 5">
            <a:extLst>
              <a:ext uri="{FF2B5EF4-FFF2-40B4-BE49-F238E27FC236}">
                <a16:creationId xmlns:a16="http://schemas.microsoft.com/office/drawing/2014/main" id="{6109559E-0F14-421F-B912-D5D8C4B66B9C}"/>
              </a:ext>
            </a:extLst>
          </p:cNvPr>
          <p:cNvSpPr/>
          <p:nvPr/>
        </p:nvSpPr>
        <p:spPr>
          <a:xfrm>
            <a:off x="453081" y="4884014"/>
            <a:ext cx="8226436" cy="992579"/>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pPr marL="685800" lvl="1" indent="-342900">
              <a:buFont typeface="Arial" panose="020B0604020202020204" pitchFamily="34" charset="0"/>
              <a:buChar char="•"/>
            </a:pPr>
            <a:r>
              <a:rPr lang="en-US" sz="2000" dirty="0">
                <a:latin typeface="Microsoft Tai Le"/>
                <a:cs typeface="Microsoft Tai Le"/>
              </a:rPr>
              <a:t>Need not perform LP or administer antimicrobials</a:t>
            </a:r>
          </a:p>
          <a:p>
            <a:pPr marL="685800" lvl="1" indent="-342900">
              <a:buFont typeface="Arial" panose="020B0604020202020204" pitchFamily="34" charset="0"/>
              <a:buChar char="•"/>
            </a:pPr>
            <a:r>
              <a:rPr lang="en-US" sz="2000" dirty="0">
                <a:latin typeface="Microsoft Tai Le"/>
                <a:cs typeface="Microsoft Tai Le"/>
              </a:rPr>
              <a:t>Observe at home with follow-up within 24-36 </a:t>
            </a:r>
            <a:r>
              <a:rPr lang="en-US" sz="2000" dirty="0" err="1">
                <a:latin typeface="Microsoft Tai Le"/>
                <a:cs typeface="Microsoft Tai Le"/>
              </a:rPr>
              <a:t>hrs</a:t>
            </a:r>
            <a:endParaRPr lang="en-US" sz="2000" dirty="0">
              <a:latin typeface="Microsoft Tai Le"/>
              <a:cs typeface="Microsoft Tai Le"/>
            </a:endParaRPr>
          </a:p>
        </p:txBody>
      </p:sp>
      <p:sp>
        <p:nvSpPr>
          <p:cNvPr id="8" name="TextBox 7">
            <a:extLst>
              <a:ext uri="{FF2B5EF4-FFF2-40B4-BE49-F238E27FC236}">
                <a16:creationId xmlns:a16="http://schemas.microsoft.com/office/drawing/2014/main" id="{C367A211-0796-409F-9372-296110D2048B}"/>
              </a:ext>
            </a:extLst>
          </p:cNvPr>
          <p:cNvSpPr txBox="1"/>
          <p:nvPr/>
        </p:nvSpPr>
        <p:spPr>
          <a:xfrm>
            <a:off x="453081" y="3907524"/>
            <a:ext cx="8226436" cy="854080"/>
          </a:xfrm>
          <a:prstGeom prst="rect">
            <a:avLst/>
          </a:prstGeom>
          <a:noFill/>
        </p:spPr>
        <p:txBody>
          <a:bodyPr wrap="square" rtlCol="0">
            <a:spAutoFit/>
          </a:bodyPr>
          <a:lstStyle/>
          <a:p>
            <a:r>
              <a:rPr lang="en-US" sz="1950" b="1" u="sng" dirty="0">
                <a:latin typeface="Microsoft Tai Le" panose="020B0502040204020203" pitchFamily="34" charset="0"/>
                <a:cs typeface="Microsoft Tai Le" panose="020B0502040204020203" pitchFamily="34" charset="0"/>
              </a:rPr>
              <a:t>UA- </a:t>
            </a:r>
          </a:p>
          <a:p>
            <a:pPr lvl="1" defTabSz="685800">
              <a:defRPr/>
            </a:pPr>
            <a:r>
              <a:rPr lang="en-US" sz="1500" i="1" dirty="0">
                <a:solidFill>
                  <a:prstClr val="black"/>
                </a:solidFill>
                <a:cs typeface="Microsoft Tai Le" panose="020B0502040204020203" pitchFamily="34" charset="0"/>
              </a:rPr>
              <a:t>IBI: 3/514 (0.6%)</a:t>
            </a:r>
          </a:p>
          <a:p>
            <a:pPr lvl="1" defTabSz="685800">
              <a:defRPr/>
            </a:pPr>
            <a:r>
              <a:rPr lang="en-US" sz="1500" i="1" dirty="0">
                <a:solidFill>
                  <a:prstClr val="black"/>
                </a:solidFill>
                <a:cs typeface="Microsoft Tai Le" panose="020B0502040204020203" pitchFamily="34" charset="0"/>
              </a:rPr>
              <a:t>Meningitis: 0/514</a:t>
            </a:r>
            <a:endParaRPr lang="en-US" sz="750" i="1" dirty="0">
              <a:solidFill>
                <a:prstClr val="black"/>
              </a:solidFill>
              <a:cs typeface="Microsoft Tai Le" panose="020B0502040204020203" pitchFamily="34" charset="0"/>
            </a:endParaRPr>
          </a:p>
        </p:txBody>
      </p:sp>
    </p:spTree>
    <p:extLst>
      <p:ext uri="{BB962C8B-B14F-4D97-AF65-F5344CB8AC3E}">
        <p14:creationId xmlns:p14="http://schemas.microsoft.com/office/powerpoint/2010/main" val="37472672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74993"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Infant, </a:t>
            </a:r>
            <a:r>
              <a:rPr lang="en-US" sz="2200" dirty="0">
                <a:solidFill>
                  <a:sysClr val="windowText" lastClr="000000"/>
                </a:solidFill>
                <a:latin typeface="Microsoft Tai Le" panose="020B0502040204020203" pitchFamily="34" charset="0"/>
                <a:cs typeface="Microsoft Tai Le" panose="020B0502040204020203" pitchFamily="34" charset="0"/>
              </a:rPr>
              <a:t>Isolated COVID-19 Positive</a:t>
            </a:r>
          </a:p>
        </p:txBody>
      </p:sp>
      <p:sp>
        <p:nvSpPr>
          <p:cNvPr id="9" name="Rectangle 8">
            <a:extLst>
              <a:ext uri="{FF2B5EF4-FFF2-40B4-BE49-F238E27FC236}">
                <a16:creationId xmlns:a16="http://schemas.microsoft.com/office/drawing/2014/main" id="{C95DA26A-CF1C-DF49-B317-718087E3A7BB}"/>
              </a:ext>
            </a:extLst>
          </p:cNvPr>
          <p:cNvSpPr/>
          <p:nvPr/>
        </p:nvSpPr>
        <p:spPr>
          <a:xfrm>
            <a:off x="474993" y="3041202"/>
            <a:ext cx="8226436" cy="2531462"/>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r>
              <a:rPr lang="en-US" sz="2000" dirty="0">
                <a:latin typeface="Microsoft Tai Le"/>
                <a:cs typeface="Microsoft Tai Le"/>
              </a:rPr>
              <a:t>For those at </a:t>
            </a:r>
            <a:r>
              <a:rPr lang="en-US" sz="2000" b="1" dirty="0">
                <a:latin typeface="Microsoft Tai Le"/>
                <a:cs typeface="Microsoft Tai Le"/>
              </a:rPr>
              <a:t>baseline low-risk:</a:t>
            </a:r>
          </a:p>
          <a:p>
            <a:pPr marL="685800" lvl="1" indent="-342900">
              <a:buFont typeface="Arial" panose="020B0604020202020204" pitchFamily="34" charset="0"/>
              <a:buChar char="•"/>
            </a:pPr>
            <a:r>
              <a:rPr lang="en-US" sz="2000" b="1" dirty="0">
                <a:latin typeface="Microsoft Tai Le"/>
                <a:cs typeface="Microsoft Tai Le"/>
              </a:rPr>
              <a:t>Age 7-21 days: </a:t>
            </a:r>
            <a:r>
              <a:rPr lang="en-US" sz="2000" dirty="0">
                <a:latin typeface="Microsoft Tai Le"/>
                <a:cs typeface="Microsoft Tai Le"/>
              </a:rPr>
              <a:t>Consult with Pediatrics</a:t>
            </a:r>
          </a:p>
          <a:p>
            <a:pPr marL="685800" lvl="1" indent="-342900">
              <a:buFont typeface="Arial" panose="020B0604020202020204" pitchFamily="34" charset="0"/>
              <a:buChar char="•"/>
              <a:defRPr/>
            </a:pPr>
            <a:r>
              <a:rPr lang="en-US" sz="2000" b="1" dirty="0">
                <a:latin typeface="Microsoft Tai Le"/>
                <a:cs typeface="Microsoft Tai Le"/>
              </a:rPr>
              <a:t>Age 22-60 days: </a:t>
            </a:r>
            <a:endParaRPr lang="en-US" sz="2000" b="1" dirty="0">
              <a:latin typeface="Microsoft Tai Le" panose="020B0502040204020203" pitchFamily="34" charset="0"/>
              <a:cs typeface="Microsoft Tai Le" panose="020B0502040204020203" pitchFamily="34" charset="0"/>
            </a:endParaRPr>
          </a:p>
          <a:p>
            <a:pPr marL="1028700" lvl="2" indent="-342900">
              <a:buFont typeface="Arial" panose="020B0604020202020204" pitchFamily="34" charset="0"/>
              <a:buChar char="•"/>
              <a:defRPr/>
            </a:pPr>
            <a:r>
              <a:rPr lang="en-US" sz="2000" dirty="0">
                <a:latin typeface="Microsoft Tai Le"/>
                <a:cs typeface="Microsoft Tai Le"/>
              </a:rPr>
              <a:t>CBC and blood culture, UA and urine culture</a:t>
            </a:r>
          </a:p>
          <a:p>
            <a:pPr marL="1028700" lvl="2" indent="-342900">
              <a:buFont typeface="Arial" panose="020B0604020202020204" pitchFamily="34" charset="0"/>
              <a:buChar char="•"/>
              <a:defRPr/>
            </a:pPr>
            <a:r>
              <a:rPr lang="en-US" sz="2000" dirty="0">
                <a:latin typeface="Microsoft Tai Le"/>
                <a:cs typeface="Microsoft Tai Le"/>
              </a:rPr>
              <a:t>Disposition in discussion with Pediatrics</a:t>
            </a:r>
          </a:p>
          <a:p>
            <a:pPr marL="685800" lvl="1" indent="-342900">
              <a:buFont typeface="Arial" panose="020B0604020202020204" pitchFamily="34" charset="0"/>
              <a:buChar char="•"/>
            </a:pPr>
            <a:r>
              <a:rPr lang="en-US" sz="2000" b="1" dirty="0">
                <a:latin typeface="Microsoft Tai Le"/>
                <a:cs typeface="Microsoft Tai Le"/>
              </a:rPr>
              <a:t>61-90 days: </a:t>
            </a:r>
            <a:r>
              <a:rPr lang="en-US" sz="2000" dirty="0">
                <a:latin typeface="Microsoft Tai Le"/>
                <a:cs typeface="Microsoft Tai Le"/>
              </a:rPr>
              <a:t>Need not perform UA and urine culture</a:t>
            </a:r>
          </a:p>
          <a:p>
            <a:r>
              <a:rPr lang="en-US" sz="2000" b="1" dirty="0">
                <a:latin typeface="Microsoft Tai Le"/>
                <a:cs typeface="Microsoft Tai Le"/>
              </a:rPr>
              <a:t>High-risk baseline: </a:t>
            </a:r>
            <a:r>
              <a:rPr lang="en-US" sz="2000" dirty="0">
                <a:latin typeface="Microsoft Tai Le"/>
                <a:cs typeface="Microsoft Tai Le"/>
              </a:rPr>
              <a:t>Consult with Pediatrics</a:t>
            </a:r>
          </a:p>
        </p:txBody>
      </p:sp>
      <p:sp>
        <p:nvSpPr>
          <p:cNvPr id="3" name="TextBox 2">
            <a:extLst>
              <a:ext uri="{FF2B5EF4-FFF2-40B4-BE49-F238E27FC236}">
                <a16:creationId xmlns:a16="http://schemas.microsoft.com/office/drawing/2014/main" id="{256360C3-933B-4442-BDFB-2C439951A6BD}"/>
              </a:ext>
            </a:extLst>
          </p:cNvPr>
          <p:cNvSpPr txBox="1"/>
          <p:nvPr/>
        </p:nvSpPr>
        <p:spPr>
          <a:xfrm>
            <a:off x="453081" y="1323808"/>
            <a:ext cx="8226436" cy="1246495"/>
          </a:xfrm>
          <a:prstGeom prst="rect">
            <a:avLst/>
          </a:prstGeom>
          <a:noFill/>
        </p:spPr>
        <p:txBody>
          <a:bodyPr wrap="square" rtlCol="0">
            <a:spAutoFit/>
          </a:bodyPr>
          <a:lstStyle/>
          <a:p>
            <a:r>
              <a:rPr lang="en-US" sz="2000" b="1" u="sng" dirty="0">
                <a:latin typeface="Microsoft Tai Le"/>
                <a:cs typeface="Microsoft Tai Le"/>
              </a:rPr>
              <a:t>Known COVID+ infant</a:t>
            </a:r>
          </a:p>
          <a:p>
            <a:pPr marL="257175" indent="-257175">
              <a:buFont typeface="Arial" panose="020B0604020202020204" pitchFamily="34" charset="0"/>
              <a:buChar char="•"/>
            </a:pPr>
            <a:r>
              <a:rPr lang="en-US" b="1" dirty="0">
                <a:latin typeface="Microsoft Tai Le"/>
                <a:cs typeface="Microsoft Tai Le"/>
              </a:rPr>
              <a:t>No data </a:t>
            </a:r>
            <a:r>
              <a:rPr lang="en-US" dirty="0">
                <a:latin typeface="Microsoft Tai Le"/>
                <a:cs typeface="Microsoft Tai Le"/>
              </a:rPr>
              <a:t>are currently available to inform management </a:t>
            </a:r>
            <a:endParaRPr lang="en-US" dirty="0">
              <a:latin typeface="Microsoft Tai Le" panose="020B0502040204020203" pitchFamily="34" charset="0"/>
              <a:cs typeface="Microsoft Tai Le" panose="020B0502040204020203" pitchFamily="34" charset="0"/>
            </a:endParaRPr>
          </a:p>
          <a:p>
            <a:pPr marL="257175" indent="-257175">
              <a:buFont typeface="Arial" panose="020B0604020202020204" pitchFamily="34" charset="0"/>
              <a:buChar char="•"/>
            </a:pPr>
            <a:r>
              <a:rPr lang="en-US" dirty="0">
                <a:latin typeface="Microsoft Tai Le"/>
                <a:cs typeface="Microsoft Tai Le"/>
              </a:rPr>
              <a:t>Until additional data are obtained, </a:t>
            </a:r>
            <a:r>
              <a:rPr lang="en-US" b="1" dirty="0">
                <a:latin typeface="Microsoft Tai Le"/>
                <a:cs typeface="Microsoft Tai Le"/>
              </a:rPr>
              <a:t>test and treat based on other age and risk matched criteria</a:t>
            </a:r>
          </a:p>
        </p:txBody>
      </p:sp>
      <p:sp>
        <p:nvSpPr>
          <p:cNvPr id="7" name="TextBox 6">
            <a:extLst>
              <a:ext uri="{FF2B5EF4-FFF2-40B4-BE49-F238E27FC236}">
                <a16:creationId xmlns:a16="http://schemas.microsoft.com/office/drawing/2014/main" id="{7B356A03-7DC5-47AF-B344-5A3E55B1F3F4}"/>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9845707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66</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88420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dirty="0">
                <a:solidFill>
                  <a:srgbClr val="FFFFFF"/>
                </a:solidFill>
              </a:rPr>
              <a:t>61 to 90 days Old</a:t>
            </a:r>
          </a:p>
        </p:txBody>
      </p:sp>
    </p:spTree>
    <p:extLst>
      <p:ext uri="{BB962C8B-B14F-4D97-AF65-F5344CB8AC3E}">
        <p14:creationId xmlns:p14="http://schemas.microsoft.com/office/powerpoint/2010/main" val="411236819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67</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566737"/>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1650651"/>
            <a:ext cx="7315200" cy="73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Management of 61 to 90 days old </a:t>
            </a:r>
          </a:p>
        </p:txBody>
      </p:sp>
      <p:grpSp>
        <p:nvGrpSpPr>
          <p:cNvPr id="9" name="Group 4">
            <a:extLst>
              <a:ext uri="{FF2B5EF4-FFF2-40B4-BE49-F238E27FC236}">
                <a16:creationId xmlns:a16="http://schemas.microsoft.com/office/drawing/2014/main" id="{6FAB5B0E-5ECE-4D83-8FBF-FD741014B91F}"/>
              </a:ext>
            </a:extLst>
          </p:cNvPr>
          <p:cNvGrpSpPr>
            <a:grpSpLocks/>
          </p:cNvGrpSpPr>
          <p:nvPr/>
        </p:nvGrpSpPr>
        <p:grpSpPr bwMode="auto">
          <a:xfrm>
            <a:off x="0" y="3247230"/>
            <a:ext cx="9144000" cy="2862263"/>
            <a:chOff x="0" y="1150"/>
            <a:chExt cx="5760" cy="1803"/>
          </a:xfrm>
        </p:grpSpPr>
        <p:sp>
          <p:nvSpPr>
            <p:cNvPr id="10" name="Rectangle 5">
              <a:extLst>
                <a:ext uri="{FF2B5EF4-FFF2-40B4-BE49-F238E27FC236}">
                  <a16:creationId xmlns:a16="http://schemas.microsoft.com/office/drawing/2014/main" id="{8BA300B0-156D-4AB3-B99A-1D784B6BB869}"/>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11" name="Line 6">
              <a:extLst>
                <a:ext uri="{FF2B5EF4-FFF2-40B4-BE49-F238E27FC236}">
                  <a16:creationId xmlns:a16="http://schemas.microsoft.com/office/drawing/2014/main" id="{417F91B2-7172-41B4-90A6-8160FF057041}"/>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2" name="Rectangle 8">
            <a:extLst>
              <a:ext uri="{FF2B5EF4-FFF2-40B4-BE49-F238E27FC236}">
                <a16:creationId xmlns:a16="http://schemas.microsoft.com/office/drawing/2014/main" id="{5AF25031-331B-42BB-B1A6-5C42A7325D82}"/>
              </a:ext>
            </a:extLst>
          </p:cNvPr>
          <p:cNvSpPr>
            <a:spLocks noChangeArrowheads="1"/>
          </p:cNvSpPr>
          <p:nvPr/>
        </p:nvSpPr>
        <p:spPr bwMode="gray">
          <a:xfrm>
            <a:off x="1399190" y="2674368"/>
            <a:ext cx="6695747" cy="222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eaLnBrk="1" hangingPunct="1">
              <a:spcBef>
                <a:spcPct val="50000"/>
              </a:spcBef>
              <a:buNone/>
            </a:pPr>
            <a:r>
              <a:rPr lang="en-US" altLang="en-US" sz="3600" dirty="0">
                <a:solidFill>
                  <a:srgbClr val="FFFFFF"/>
                </a:solidFill>
              </a:rPr>
              <a:t>Level 1: Flowchart</a:t>
            </a:r>
          </a:p>
          <a:p>
            <a:pPr eaLnBrk="1" hangingPunct="1">
              <a:spcBef>
                <a:spcPct val="50000"/>
              </a:spcBef>
              <a:buNone/>
            </a:pPr>
            <a:r>
              <a:rPr lang="en-US" altLang="en-US" sz="3600" dirty="0">
                <a:solidFill>
                  <a:srgbClr val="FFFFFF"/>
                </a:solidFill>
              </a:rPr>
              <a:t>Level 2: Definitions and specifications</a:t>
            </a:r>
          </a:p>
          <a:p>
            <a:pPr eaLnBrk="1" hangingPunct="1">
              <a:spcBef>
                <a:spcPct val="50000"/>
              </a:spcBef>
              <a:buNone/>
            </a:pPr>
            <a:r>
              <a:rPr lang="en-US" altLang="en-US" sz="3600" dirty="0">
                <a:solidFill>
                  <a:srgbClr val="FFFFFF"/>
                </a:solidFill>
              </a:rPr>
              <a:t>Level 3: CA-FIRST protocol details </a:t>
            </a:r>
          </a:p>
        </p:txBody>
      </p:sp>
    </p:spTree>
    <p:extLst>
      <p:ext uri="{BB962C8B-B14F-4D97-AF65-F5344CB8AC3E}">
        <p14:creationId xmlns:p14="http://schemas.microsoft.com/office/powerpoint/2010/main" val="591006686"/>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68</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61 to 90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1: Flowchart</a:t>
            </a:r>
          </a:p>
        </p:txBody>
      </p:sp>
    </p:spTree>
    <p:extLst>
      <p:ext uri="{BB962C8B-B14F-4D97-AF65-F5344CB8AC3E}">
        <p14:creationId xmlns:p14="http://schemas.microsoft.com/office/powerpoint/2010/main" val="216794217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4AAC73-8463-4116-85B3-C4D70A0076FA}"/>
              </a:ext>
            </a:extLst>
          </p:cNvPr>
          <p:cNvSpPr/>
          <p:nvPr/>
        </p:nvSpPr>
        <p:spPr>
          <a:xfrm>
            <a:off x="277639" y="145447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Well-appearing?</a:t>
            </a:r>
            <a:endParaRPr lang="en-US" sz="825" dirty="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1C129EA-7CC0-4C66-9DF4-4A4D270120A7}"/>
              </a:ext>
            </a:extLst>
          </p:cNvPr>
          <p:cNvSpPr/>
          <p:nvPr/>
        </p:nvSpPr>
        <p:spPr>
          <a:xfrm>
            <a:off x="1649898" y="1396013"/>
            <a:ext cx="24003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825" dirty="0">
                <a:solidFill>
                  <a:srgbClr val="000000"/>
                </a:solidFill>
                <a:ea typeface="Calibri" panose="020F0502020204030204" pitchFamily="34" charset="0"/>
                <a:cs typeface="Times New Roman" panose="02020603050405020304" pitchFamily="18" charset="0"/>
              </a:rPr>
              <a:t>Management: Admission</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endParaRPr lang="en-US" sz="825" dirty="0">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Yes, IV </a:t>
            </a:r>
            <a:r>
              <a:rPr lang="en-US" sz="825" baseline="30000" dirty="0">
                <a:solidFill>
                  <a:srgbClr val="000000"/>
                </a:solidFill>
                <a:ea typeface="Calibri" panose="020F0502020204030204" pitchFamily="34" charset="0"/>
                <a:cs typeface="Times New Roman" panose="02020603050405020304" pitchFamily="18" charset="0"/>
              </a:rPr>
              <a:t>6</a:t>
            </a:r>
            <a:r>
              <a:rPr lang="en-US" sz="825" dirty="0">
                <a:solidFill>
                  <a:srgbClr val="000000"/>
                </a:solidFill>
                <a:ea typeface="Calibri" panose="020F0502020204030204" pitchFamily="34" charset="0"/>
                <a:cs typeface="Times New Roman" panose="02020603050405020304" pitchFamily="18" charset="0"/>
              </a:rPr>
              <a:t>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7" name="TextBox 43">
            <a:extLst>
              <a:ext uri="{FF2B5EF4-FFF2-40B4-BE49-F238E27FC236}">
                <a16:creationId xmlns:a16="http://schemas.microsoft.com/office/drawing/2014/main" id="{9A476156-6352-4FC6-9D8D-7EB9DAF3A14F}"/>
              </a:ext>
            </a:extLst>
          </p:cNvPr>
          <p:cNvSpPr txBox="1"/>
          <p:nvPr/>
        </p:nvSpPr>
        <p:spPr>
          <a:xfrm>
            <a:off x="1299901" y="1434875"/>
            <a:ext cx="274320" cy="182880"/>
          </a:xfrm>
          <a:prstGeom prst="rect">
            <a:avLst/>
          </a:prstGeom>
          <a:noFill/>
        </p:spPr>
        <p:txBody>
          <a:bodyPr wrap="none" rtlCol="0">
            <a:sp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endPar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E30F78FD-4BF7-4EC2-AEF0-ADC65415B208}"/>
              </a:ext>
            </a:extLst>
          </p:cNvPr>
          <p:cNvSpPr/>
          <p:nvPr/>
        </p:nvSpPr>
        <p:spPr>
          <a:xfrm>
            <a:off x="278211" y="2105701"/>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High risk infant? </a:t>
            </a:r>
            <a:r>
              <a:rPr lang="en-US" sz="825" baseline="30000" dirty="0">
                <a:solidFill>
                  <a:srgbClr val="000000"/>
                </a:solidFill>
                <a:ea typeface="Calibri" panose="020F0502020204030204" pitchFamily="34" charset="0"/>
                <a:cs typeface="Times New Roman" panose="02020603050405020304" pitchFamily="18" charset="0"/>
              </a:rPr>
              <a:t>1</a:t>
            </a:r>
            <a:endParaRPr lang="en-US" sz="825" dirty="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2EEAA836-A0BE-460E-AA57-8D42F5D78FFC}"/>
              </a:ext>
            </a:extLst>
          </p:cNvPr>
          <p:cNvSpPr/>
          <p:nvPr/>
        </p:nvSpPr>
        <p:spPr>
          <a:xfrm>
            <a:off x="1652361" y="2046087"/>
            <a:ext cx="240030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825" dirty="0">
                <a:solidFill>
                  <a:srgbClr val="000000"/>
                </a:solidFill>
                <a:ea typeface="Calibri" panose="020F0502020204030204" pitchFamily="34" charset="0"/>
                <a:cs typeface="Times New Roman" panose="02020603050405020304" pitchFamily="18" charset="0"/>
              </a:rPr>
              <a:t>Management: Per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p>
          <a:p>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4</a:t>
            </a:r>
            <a:r>
              <a:rPr lang="en-US" sz="825" dirty="0">
                <a:solidFill>
                  <a:srgbClr val="000000"/>
                </a:solidFill>
                <a:ea typeface="Calibri" panose="020F0502020204030204" pitchFamily="34" charset="0"/>
                <a:cs typeface="Times New Roman" panose="02020603050405020304" pitchFamily="18" charset="0"/>
              </a:rPr>
              <a:t> Urine, Blood. CSF in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endParaRPr lang="en-US" sz="825" dirty="0">
              <a:solidFill>
                <a:srgbClr val="000000"/>
              </a:solidFill>
              <a:ea typeface="Calibri" panose="020F0502020204030204" pitchFamily="34" charset="0"/>
              <a:cs typeface="Times New Roman" panose="02020603050405020304" pitchFamily="18" charset="0"/>
            </a:endParaRPr>
          </a:p>
          <a:p>
            <a:r>
              <a:rPr lang="en-US" sz="825" dirty="0">
                <a:solidFill>
                  <a:srgbClr val="000000"/>
                </a:solidFill>
                <a:ea typeface="Calibri" panose="020F0502020204030204" pitchFamily="34" charset="0"/>
                <a:cs typeface="Times New Roman" panose="02020603050405020304" pitchFamily="18" charset="0"/>
              </a:rPr>
              <a:t>Antibiotics: Per discussion with pediatrics</a:t>
            </a:r>
            <a:r>
              <a:rPr lang="en-US" sz="825" baseline="30000" dirty="0">
                <a:solidFill>
                  <a:srgbClr val="000000"/>
                </a:solidFill>
                <a:ea typeface="Calibri" panose="020F0502020204030204" pitchFamily="34" charset="0"/>
                <a:cs typeface="Times New Roman" panose="02020603050405020304" pitchFamily="18" charset="0"/>
              </a:rPr>
              <a:t>2</a:t>
            </a:r>
            <a:r>
              <a:rPr lang="en-US" sz="825" dirty="0">
                <a:solidFill>
                  <a:srgbClr val="000000"/>
                </a:solidFill>
                <a:ea typeface="Calibri" panose="020F0502020204030204" pitchFamily="34" charset="0"/>
                <a:cs typeface="Times New Roman" panose="02020603050405020304" pitchFamily="18" charset="0"/>
              </a:rPr>
              <a:t> </a:t>
            </a:r>
            <a:endParaRPr lang="en-US" sz="825" dirty="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D47E620F-D206-4495-A619-67BAC399113C}"/>
              </a:ext>
            </a:extLst>
          </p:cNvPr>
          <p:cNvSpPr/>
          <p:nvPr/>
        </p:nvSpPr>
        <p:spPr>
          <a:xfrm>
            <a:off x="277639" y="2758818"/>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Focal infection? </a:t>
            </a:r>
            <a:r>
              <a:rPr lang="en-US" sz="825" baseline="30000" dirty="0">
                <a:solidFill>
                  <a:srgbClr val="000000"/>
                </a:solidFill>
                <a:ea typeface="Calibri" panose="020F0502020204030204" pitchFamily="34" charset="0"/>
                <a:cs typeface="Times New Roman" panose="02020603050405020304" pitchFamily="18" charset="0"/>
              </a:rPr>
              <a:t>3</a:t>
            </a:r>
            <a:endParaRPr lang="en-US" sz="825" dirty="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A3252E03-AE9A-420D-90DC-F9C349F9AE11}"/>
              </a:ext>
            </a:extLst>
          </p:cNvPr>
          <p:cNvSpPr/>
          <p:nvPr/>
        </p:nvSpPr>
        <p:spPr>
          <a:xfrm>
            <a:off x="1649267" y="2760199"/>
            <a:ext cx="2057400" cy="34290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Manage according to accepted standards</a:t>
            </a:r>
            <a:endParaRPr lang="en-US" sz="825" dirty="0">
              <a:ea typeface="Calibri" panose="020F0502020204030204" pitchFamily="34" charset="0"/>
              <a:cs typeface="Times New Roman" panose="02020603050405020304" pitchFamily="18" charset="0"/>
            </a:endParaRPr>
          </a:p>
        </p:txBody>
      </p:sp>
      <p:sp>
        <p:nvSpPr>
          <p:cNvPr id="20" name="TextBox 43">
            <a:extLst>
              <a:ext uri="{FF2B5EF4-FFF2-40B4-BE49-F238E27FC236}">
                <a16:creationId xmlns:a16="http://schemas.microsoft.com/office/drawing/2014/main" id="{41D87251-7B0F-468B-9065-5DF83BBCEE6A}"/>
              </a:ext>
            </a:extLst>
          </p:cNvPr>
          <p:cNvSpPr txBox="1"/>
          <p:nvPr/>
        </p:nvSpPr>
        <p:spPr>
          <a:xfrm>
            <a:off x="501318" y="310578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21" name="Rectangle 20">
            <a:extLst>
              <a:ext uri="{FF2B5EF4-FFF2-40B4-BE49-F238E27FC236}">
                <a16:creationId xmlns:a16="http://schemas.microsoft.com/office/drawing/2014/main" id="{48DE9810-2091-4E71-AD7C-FF6E9AEB7DC8}"/>
              </a:ext>
            </a:extLst>
          </p:cNvPr>
          <p:cNvSpPr/>
          <p:nvPr/>
        </p:nvSpPr>
        <p:spPr>
          <a:xfrm>
            <a:off x="279164" y="3410213"/>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Bronchiolitis?</a:t>
            </a:r>
            <a:endParaRPr lang="en-US" sz="825" dirty="0">
              <a:ea typeface="Calibri" panose="020F0502020204030204" pitchFamily="34" charset="0"/>
              <a:cs typeface="Times New Roman" panose="02020603050405020304" pitchFamily="18" charset="0"/>
            </a:endParaRPr>
          </a:p>
        </p:txBody>
      </p:sp>
      <p:sp>
        <p:nvSpPr>
          <p:cNvPr id="74" name="Rectangle 73">
            <a:extLst>
              <a:ext uri="{FF2B5EF4-FFF2-40B4-BE49-F238E27FC236}">
                <a16:creationId xmlns:a16="http://schemas.microsoft.com/office/drawing/2014/main" id="{D40ED8B2-92DB-4B5D-9F87-63F43E20CBD9}"/>
              </a:ext>
            </a:extLst>
          </p:cNvPr>
          <p:cNvSpPr/>
          <p:nvPr/>
        </p:nvSpPr>
        <p:spPr>
          <a:xfrm>
            <a:off x="1649267" y="3305249"/>
            <a:ext cx="2057400" cy="548640"/>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unless concern for respiratory decompensation.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sp>
        <p:nvSpPr>
          <p:cNvPr id="78" name="Rectangle 77">
            <a:extLst>
              <a:ext uri="{FF2B5EF4-FFF2-40B4-BE49-F238E27FC236}">
                <a16:creationId xmlns:a16="http://schemas.microsoft.com/office/drawing/2014/main" id="{A478BD71-6392-4A44-8170-D1C4D5AB8F3A}"/>
              </a:ext>
            </a:extLst>
          </p:cNvPr>
          <p:cNvSpPr/>
          <p:nvPr/>
        </p:nvSpPr>
        <p:spPr>
          <a:xfrm>
            <a:off x="3020871" y="4714607"/>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UA positive?</a:t>
            </a:r>
            <a:r>
              <a:rPr lang="en-US" sz="825" baseline="30000" dirty="0">
                <a:solidFill>
                  <a:srgbClr val="000000"/>
                </a:solidFill>
                <a:ea typeface="Calibri" panose="020F0502020204030204" pitchFamily="34" charset="0"/>
                <a:cs typeface="Times New Roman" panose="02020603050405020304" pitchFamily="18" charset="0"/>
              </a:rPr>
              <a:t> 5</a:t>
            </a:r>
            <a:endParaRPr lang="en-US" sz="825" dirty="0">
              <a:ea typeface="Calibri" panose="020F0502020204030204" pitchFamily="34" charset="0"/>
              <a:cs typeface="Times New Roman" panose="02020603050405020304" pitchFamily="18" charset="0"/>
            </a:endParaRPr>
          </a:p>
        </p:txBody>
      </p:sp>
      <p:cxnSp>
        <p:nvCxnSpPr>
          <p:cNvPr id="104" name="Connector: Elbow 103">
            <a:extLst>
              <a:ext uri="{FF2B5EF4-FFF2-40B4-BE49-F238E27FC236}">
                <a16:creationId xmlns:a16="http://schemas.microsoft.com/office/drawing/2014/main" id="{63A64CA8-B37B-4CF4-B11C-4B76575D8BC9}"/>
              </a:ext>
            </a:extLst>
          </p:cNvPr>
          <p:cNvCxnSpPr>
            <a:stCxn id="4" idx="3"/>
            <a:endCxn id="6" idx="1"/>
          </p:cNvCxnSpPr>
          <p:nvPr/>
        </p:nvCxnSpPr>
        <p:spPr>
          <a:xfrm>
            <a:off x="1306340" y="1625926"/>
            <a:ext cx="343559" cy="116"/>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6087A641-7E6B-4A69-BD5B-0808A6D81912}"/>
              </a:ext>
            </a:extLst>
          </p:cNvPr>
          <p:cNvCxnSpPr>
            <a:stCxn id="4" idx="2"/>
            <a:endCxn id="10" idx="0"/>
          </p:cNvCxnSpPr>
          <p:nvPr/>
        </p:nvCxnSpPr>
        <p:spPr>
          <a:xfrm rot="16200000" flipH="1">
            <a:off x="638114" y="1951252"/>
            <a:ext cx="308324" cy="572"/>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06F3A8-74F0-4689-BF02-BA2B11F77136}"/>
              </a:ext>
            </a:extLst>
          </p:cNvPr>
          <p:cNvCxnSpPr>
            <a:stCxn id="10" idx="2"/>
            <a:endCxn id="15" idx="0"/>
          </p:cNvCxnSpPr>
          <p:nvPr/>
        </p:nvCxnSpPr>
        <p:spPr>
          <a:xfrm rot="5400000">
            <a:off x="637453" y="2603709"/>
            <a:ext cx="31021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110AF22E-B42F-4DFA-B574-759A261C60EC}"/>
              </a:ext>
            </a:extLst>
          </p:cNvPr>
          <p:cNvCxnSpPr>
            <a:cxnSpLocks/>
            <a:stCxn id="15" idx="2"/>
            <a:endCxn id="21" idx="0"/>
          </p:cNvCxnSpPr>
          <p:nvPr/>
        </p:nvCxnSpPr>
        <p:spPr>
          <a:xfrm rot="16200000" flipH="1">
            <a:off x="637742" y="3255965"/>
            <a:ext cx="30849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088D9C92-D705-4899-997A-EF71DE83E9CC}"/>
              </a:ext>
            </a:extLst>
          </p:cNvPr>
          <p:cNvCxnSpPr>
            <a:stCxn id="10" idx="3"/>
            <a:endCxn id="13" idx="1"/>
          </p:cNvCxnSpPr>
          <p:nvPr/>
        </p:nvCxnSpPr>
        <p:spPr>
          <a:xfrm flipV="1">
            <a:off x="1306911" y="2276116"/>
            <a:ext cx="345450" cy="1035"/>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Connector: Elbow 235">
            <a:extLst>
              <a:ext uri="{FF2B5EF4-FFF2-40B4-BE49-F238E27FC236}">
                <a16:creationId xmlns:a16="http://schemas.microsoft.com/office/drawing/2014/main" id="{1F25E9DE-1026-49C6-960D-0B444DAE7EC2}"/>
              </a:ext>
            </a:extLst>
          </p:cNvPr>
          <p:cNvCxnSpPr>
            <a:stCxn id="15" idx="3"/>
            <a:endCxn id="18" idx="1"/>
          </p:cNvCxnSpPr>
          <p:nvPr/>
        </p:nvCxnSpPr>
        <p:spPr>
          <a:xfrm>
            <a:off x="1306339" y="2930268"/>
            <a:ext cx="342928"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A8D0DE21-8FD7-41DE-91BD-8D2232EDEFBB}"/>
              </a:ext>
            </a:extLst>
          </p:cNvPr>
          <p:cNvSpPr/>
          <p:nvPr/>
        </p:nvSpPr>
        <p:spPr>
          <a:xfrm>
            <a:off x="4399487" y="5325898"/>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24-36h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None</a:t>
            </a:r>
            <a:endParaRPr lang="en-US" sz="825" dirty="0">
              <a:ea typeface="Calibri" panose="020F0502020204030204" pitchFamily="34" charset="0"/>
              <a:cs typeface="Times New Roman" panose="02020603050405020304" pitchFamily="18" charset="0"/>
            </a:endParaRPr>
          </a:p>
        </p:txBody>
      </p:sp>
      <p:sp>
        <p:nvSpPr>
          <p:cNvPr id="119" name="Rectangle 118">
            <a:extLst>
              <a:ext uri="{FF2B5EF4-FFF2-40B4-BE49-F238E27FC236}">
                <a16:creationId xmlns:a16="http://schemas.microsoft.com/office/drawing/2014/main" id="{ECAF9838-47C9-47B1-8631-EAAF8565873E}"/>
              </a:ext>
            </a:extLst>
          </p:cNvPr>
          <p:cNvSpPr/>
          <p:nvPr/>
        </p:nvSpPr>
        <p:spPr>
          <a:xfrm>
            <a:off x="4392194" y="4648732"/>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12-24h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Blood</a:t>
            </a:r>
          </a:p>
          <a:p>
            <a:r>
              <a:rPr lang="en-US" sz="825" dirty="0">
                <a:solidFill>
                  <a:srgbClr val="000000"/>
                </a:solidFill>
                <a:ea typeface="Calibri" panose="020F0502020204030204" pitchFamily="34" charset="0"/>
                <a:cs typeface="Times New Roman" panose="02020603050405020304" pitchFamily="18" charset="0"/>
              </a:rPr>
              <a:t>Antibiotics: Yes, oral </a:t>
            </a:r>
            <a:r>
              <a:rPr lang="en-US" sz="825" baseline="30000" dirty="0">
                <a:solidFill>
                  <a:srgbClr val="000000"/>
                </a:solidFill>
                <a:ea typeface="Calibri" panose="020F0502020204030204" pitchFamily="34" charset="0"/>
                <a:cs typeface="Times New Roman" panose="02020603050405020304" pitchFamily="18" charset="0"/>
              </a:rPr>
              <a:t>6</a:t>
            </a:r>
            <a:endParaRPr lang="en-US" sz="825" dirty="0">
              <a:solidFill>
                <a:srgbClr val="000000"/>
              </a:solidFill>
              <a:ea typeface="Calibri" panose="020F0502020204030204" pitchFamily="34" charset="0"/>
              <a:cs typeface="Times New Roman" panose="02020603050405020304" pitchFamily="18" charset="0"/>
            </a:endParaRPr>
          </a:p>
        </p:txBody>
      </p:sp>
      <p:sp>
        <p:nvSpPr>
          <p:cNvPr id="218" name="TextBox 43">
            <a:extLst>
              <a:ext uri="{FF2B5EF4-FFF2-40B4-BE49-F238E27FC236}">
                <a16:creationId xmlns:a16="http://schemas.microsoft.com/office/drawing/2014/main" id="{1B489278-D2AF-46A6-9A64-763A199217E3}"/>
              </a:ext>
            </a:extLst>
          </p:cNvPr>
          <p:cNvSpPr txBox="1"/>
          <p:nvPr/>
        </p:nvSpPr>
        <p:spPr>
          <a:xfrm>
            <a:off x="503459" y="179422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9" name="TextBox 43">
            <a:extLst>
              <a:ext uri="{FF2B5EF4-FFF2-40B4-BE49-F238E27FC236}">
                <a16:creationId xmlns:a16="http://schemas.microsoft.com/office/drawing/2014/main" id="{323754C4-6FE5-438B-AF77-F1BD014F9723}"/>
              </a:ext>
            </a:extLst>
          </p:cNvPr>
          <p:cNvSpPr txBox="1"/>
          <p:nvPr/>
        </p:nvSpPr>
        <p:spPr>
          <a:xfrm>
            <a:off x="503177" y="245210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70" name="Rectangle 69">
            <a:extLst>
              <a:ext uri="{FF2B5EF4-FFF2-40B4-BE49-F238E27FC236}">
                <a16:creationId xmlns:a16="http://schemas.microsoft.com/office/drawing/2014/main" id="{46463774-78EA-4E45-9E0A-8056179F4874}"/>
              </a:ext>
            </a:extLst>
          </p:cNvPr>
          <p:cNvSpPr/>
          <p:nvPr/>
        </p:nvSpPr>
        <p:spPr>
          <a:xfrm>
            <a:off x="280792" y="4060049"/>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07000"/>
              </a:lnSpc>
              <a:spcBef>
                <a:spcPts val="0"/>
              </a:spcBef>
              <a:spcAft>
                <a:spcPts val="600"/>
              </a:spcAft>
            </a:pPr>
            <a:r>
              <a:rPr lang="en-US" sz="825" dirty="0">
                <a:solidFill>
                  <a:srgbClr val="000000"/>
                </a:solidFill>
                <a:ea typeface="Calibri" panose="020F0502020204030204" pitchFamily="34" charset="0"/>
                <a:cs typeface="Times New Roman" panose="02020603050405020304" pitchFamily="18" charset="0"/>
              </a:rPr>
              <a:t>Immunization   within 48 ?</a:t>
            </a:r>
            <a:endParaRPr lang="en-US" sz="825" dirty="0">
              <a:ea typeface="Calibri" panose="020F0502020204030204" pitchFamily="34" charset="0"/>
              <a:cs typeface="Times New Roman" panose="02020603050405020304" pitchFamily="18" charset="0"/>
            </a:endParaRPr>
          </a:p>
        </p:txBody>
      </p:sp>
      <p:sp>
        <p:nvSpPr>
          <p:cNvPr id="71" name="Rectangle 70">
            <a:extLst>
              <a:ext uri="{FF2B5EF4-FFF2-40B4-BE49-F238E27FC236}">
                <a16:creationId xmlns:a16="http://schemas.microsoft.com/office/drawing/2014/main" id="{D7873265-F92B-4A0C-A82A-498A97F0BE8F}"/>
              </a:ext>
            </a:extLst>
          </p:cNvPr>
          <p:cNvSpPr/>
          <p:nvPr/>
        </p:nvSpPr>
        <p:spPr>
          <a:xfrm>
            <a:off x="1650069" y="3999728"/>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Consider no further testing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Antibiotics: None</a:t>
            </a:r>
            <a:endParaRPr lang="en-US" sz="825" dirty="0">
              <a:ea typeface="Calibri" panose="020F0502020204030204" pitchFamily="34" charset="0"/>
              <a:cs typeface="Times New Roman" panose="02020603050405020304" pitchFamily="18" charset="0"/>
            </a:endParaRPr>
          </a:p>
        </p:txBody>
      </p:sp>
      <p:sp>
        <p:nvSpPr>
          <p:cNvPr id="76" name="TextBox 43">
            <a:extLst>
              <a:ext uri="{FF2B5EF4-FFF2-40B4-BE49-F238E27FC236}">
                <a16:creationId xmlns:a16="http://schemas.microsoft.com/office/drawing/2014/main" id="{89DC44AC-D338-46D5-86D6-3E96917453A3}"/>
              </a:ext>
            </a:extLst>
          </p:cNvPr>
          <p:cNvSpPr txBox="1"/>
          <p:nvPr/>
        </p:nvSpPr>
        <p:spPr>
          <a:xfrm>
            <a:off x="506648" y="374795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11" name="Connector: Elbow 10">
            <a:extLst>
              <a:ext uri="{FF2B5EF4-FFF2-40B4-BE49-F238E27FC236}">
                <a16:creationId xmlns:a16="http://schemas.microsoft.com/office/drawing/2014/main" id="{07A925D9-3FCD-4269-813F-74F281D55446}"/>
              </a:ext>
            </a:extLst>
          </p:cNvPr>
          <p:cNvCxnSpPr>
            <a:stCxn id="21" idx="2"/>
            <a:endCxn id="70" idx="0"/>
          </p:cNvCxnSpPr>
          <p:nvPr/>
        </p:nvCxnSpPr>
        <p:spPr>
          <a:xfrm rot="16200000" flipH="1">
            <a:off x="640047" y="3906580"/>
            <a:ext cx="30693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3F9CD5AB-D3CD-4CD7-A2E4-F9ECB41A3C53}"/>
              </a:ext>
            </a:extLst>
          </p:cNvPr>
          <p:cNvSpPr/>
          <p:nvPr/>
        </p:nvSpPr>
        <p:spPr>
          <a:xfrm>
            <a:off x="277945" y="4707584"/>
            <a:ext cx="1028700" cy="342900"/>
          </a:xfrm>
          <a:prstGeom prst="rect">
            <a:avLst/>
          </a:prstGeom>
          <a:solidFill>
            <a:srgbClr val="FFD966"/>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a:t>
            </a:r>
            <a:r>
              <a:rPr lang="en-US" sz="825" baseline="30000" dirty="0">
                <a:solidFill>
                  <a:srgbClr val="000000"/>
                </a:solidFill>
                <a:ea typeface="Calibri" panose="020F0502020204030204" pitchFamily="34" charset="0"/>
                <a:cs typeface="Times New Roman" panose="02020603050405020304" pitchFamily="18" charset="0"/>
              </a:rPr>
              <a:t>3</a:t>
            </a:r>
            <a:r>
              <a:rPr lang="en-US" sz="825" dirty="0">
                <a:solidFill>
                  <a:srgbClr val="000000"/>
                </a:solidFill>
                <a:ea typeface="Calibri" panose="020F0502020204030204" pitchFamily="34" charset="0"/>
                <a:cs typeface="Times New Roman" panose="02020603050405020304" pitchFamily="18" charset="0"/>
              </a:rPr>
              <a:t> Consider Urine</a:t>
            </a:r>
            <a:endParaRPr lang="en-US" sz="825" dirty="0">
              <a:ea typeface="Calibri" panose="020F0502020204030204" pitchFamily="34" charset="0"/>
              <a:cs typeface="Times New Roman" panose="02020603050405020304" pitchFamily="18" charset="0"/>
            </a:endParaRPr>
          </a:p>
        </p:txBody>
      </p:sp>
      <p:cxnSp>
        <p:nvCxnSpPr>
          <p:cNvPr id="49" name="Connector: Elbow 48">
            <a:extLst>
              <a:ext uri="{FF2B5EF4-FFF2-40B4-BE49-F238E27FC236}">
                <a16:creationId xmlns:a16="http://schemas.microsoft.com/office/drawing/2014/main" id="{26EAC612-A6F3-484D-85D4-0D79F3F90609}"/>
              </a:ext>
            </a:extLst>
          </p:cNvPr>
          <p:cNvCxnSpPr>
            <a:stCxn id="70" idx="3"/>
            <a:endCxn id="71" idx="1"/>
          </p:cNvCxnSpPr>
          <p:nvPr/>
        </p:nvCxnSpPr>
        <p:spPr>
          <a:xfrm flipV="1">
            <a:off x="1309492" y="4229757"/>
            <a:ext cx="34057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5F00C7C9-86B0-4D65-B72B-978905DBAD99}"/>
              </a:ext>
            </a:extLst>
          </p:cNvPr>
          <p:cNvCxnSpPr>
            <a:stCxn id="70" idx="2"/>
            <a:endCxn id="83" idx="0"/>
          </p:cNvCxnSpPr>
          <p:nvPr/>
        </p:nvCxnSpPr>
        <p:spPr>
          <a:xfrm rot="5400000">
            <a:off x="640837" y="4557254"/>
            <a:ext cx="308610"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43">
            <a:extLst>
              <a:ext uri="{FF2B5EF4-FFF2-40B4-BE49-F238E27FC236}">
                <a16:creationId xmlns:a16="http://schemas.microsoft.com/office/drawing/2014/main" id="{227BF3E9-55D9-4B43-A047-E0BB64661439}"/>
              </a:ext>
            </a:extLst>
          </p:cNvPr>
          <p:cNvSpPr txBox="1"/>
          <p:nvPr/>
        </p:nvSpPr>
        <p:spPr>
          <a:xfrm>
            <a:off x="510266" y="440617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cxnSp>
        <p:nvCxnSpPr>
          <p:cNvPr id="28" name="Connector: Elbow 27">
            <a:extLst>
              <a:ext uri="{FF2B5EF4-FFF2-40B4-BE49-F238E27FC236}">
                <a16:creationId xmlns:a16="http://schemas.microsoft.com/office/drawing/2014/main" id="{7D489800-7FBF-48DF-AE94-3AB37BDEBAF1}"/>
              </a:ext>
            </a:extLst>
          </p:cNvPr>
          <p:cNvCxnSpPr>
            <a:stCxn id="78" idx="3"/>
            <a:endCxn id="119" idx="1"/>
          </p:cNvCxnSpPr>
          <p:nvPr/>
        </p:nvCxnSpPr>
        <p:spPr>
          <a:xfrm flipV="1">
            <a:off x="4049571" y="4878761"/>
            <a:ext cx="342623"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A982ABCC-5026-4C51-873F-C2927DF43C02}"/>
              </a:ext>
            </a:extLst>
          </p:cNvPr>
          <p:cNvCxnSpPr>
            <a:stCxn id="78" idx="2"/>
            <a:endCxn id="117" idx="1"/>
          </p:cNvCxnSpPr>
          <p:nvPr/>
        </p:nvCxnSpPr>
        <p:spPr>
          <a:xfrm rot="16200000" flipH="1">
            <a:off x="3718144" y="4874584"/>
            <a:ext cx="498420" cy="864266"/>
          </a:xfrm>
          <a:prstGeom prst="bentConnector2">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A4F2B715-E5AB-4619-B396-A702567A132A}"/>
              </a:ext>
            </a:extLst>
          </p:cNvPr>
          <p:cNvCxnSpPr>
            <a:stCxn id="21" idx="3"/>
            <a:endCxn id="74" idx="1"/>
          </p:cNvCxnSpPr>
          <p:nvPr/>
        </p:nvCxnSpPr>
        <p:spPr>
          <a:xfrm flipV="1">
            <a:off x="1307864" y="3579569"/>
            <a:ext cx="341403"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2" name="TextBox 43">
            <a:extLst>
              <a:ext uri="{FF2B5EF4-FFF2-40B4-BE49-F238E27FC236}">
                <a16:creationId xmlns:a16="http://schemas.microsoft.com/office/drawing/2014/main" id="{C31F5EE1-ACD2-4928-8F11-E646BFB327EF}"/>
              </a:ext>
            </a:extLst>
          </p:cNvPr>
          <p:cNvSpPr txBox="1"/>
          <p:nvPr/>
        </p:nvSpPr>
        <p:spPr>
          <a:xfrm>
            <a:off x="3247080" y="5059072"/>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96" name="Rectangle 95">
            <a:extLst>
              <a:ext uri="{FF2B5EF4-FFF2-40B4-BE49-F238E27FC236}">
                <a16:creationId xmlns:a16="http://schemas.microsoft.com/office/drawing/2014/main" id="{A4A95F92-E48C-4847-81EB-F9333F54E384}"/>
              </a:ext>
            </a:extLst>
          </p:cNvPr>
          <p:cNvSpPr/>
          <p:nvPr/>
        </p:nvSpPr>
        <p:spPr>
          <a:xfrm>
            <a:off x="1649267" y="4712470"/>
            <a:ext cx="1028700" cy="342900"/>
          </a:xfrm>
          <a:prstGeom prst="rect">
            <a:avLst/>
          </a:prstGeom>
          <a:solidFill>
            <a:srgbClr val="E2F0D9"/>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Urine deferred?</a:t>
            </a:r>
            <a:endParaRPr lang="en-US" sz="825" dirty="0">
              <a:ea typeface="Calibri" panose="020F0502020204030204" pitchFamily="34" charset="0"/>
              <a:cs typeface="Times New Roman" panose="02020603050405020304" pitchFamily="18" charset="0"/>
            </a:endParaRPr>
          </a:p>
        </p:txBody>
      </p:sp>
      <p:sp>
        <p:nvSpPr>
          <p:cNvPr id="98" name="Rectangle 97">
            <a:extLst>
              <a:ext uri="{FF2B5EF4-FFF2-40B4-BE49-F238E27FC236}">
                <a16:creationId xmlns:a16="http://schemas.microsoft.com/office/drawing/2014/main" id="{146D21C5-6099-434E-8031-6CEC837DF29C}"/>
              </a:ext>
            </a:extLst>
          </p:cNvPr>
          <p:cNvSpPr/>
          <p:nvPr/>
        </p:nvSpPr>
        <p:spPr>
          <a:xfrm>
            <a:off x="1269303" y="5363756"/>
            <a:ext cx="1783080" cy="460058"/>
          </a:xfrm>
          <a:prstGeom prst="rect">
            <a:avLst/>
          </a:prstGeom>
          <a:solidFill>
            <a:srgbClr val="CCCCFF"/>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Management: Home, f/u 12-24h </a:t>
            </a:r>
          </a:p>
          <a:p>
            <a:pPr>
              <a:spcBef>
                <a:spcPts val="0"/>
              </a:spcBef>
              <a:spcAft>
                <a:spcPts val="0"/>
              </a:spcAft>
            </a:pPr>
            <a:r>
              <a:rPr lang="en-US" sz="825" dirty="0">
                <a:solidFill>
                  <a:srgbClr val="000000"/>
                </a:solidFill>
                <a:ea typeface="Calibri" panose="020F0502020204030204" pitchFamily="34" charset="0"/>
                <a:cs typeface="Times New Roman" panose="02020603050405020304" pitchFamily="18" charset="0"/>
              </a:rPr>
              <a:t>Labs: None</a:t>
            </a:r>
          </a:p>
          <a:p>
            <a:r>
              <a:rPr lang="en-US" sz="825" dirty="0">
                <a:solidFill>
                  <a:srgbClr val="000000"/>
                </a:solidFill>
                <a:ea typeface="Calibri" panose="020F0502020204030204" pitchFamily="34" charset="0"/>
                <a:cs typeface="Times New Roman" panose="02020603050405020304" pitchFamily="18" charset="0"/>
              </a:rPr>
              <a:t>Antibiotics: None</a:t>
            </a:r>
          </a:p>
        </p:txBody>
      </p:sp>
      <p:cxnSp>
        <p:nvCxnSpPr>
          <p:cNvPr id="41" name="Connector: Elbow 40">
            <a:extLst>
              <a:ext uri="{FF2B5EF4-FFF2-40B4-BE49-F238E27FC236}">
                <a16:creationId xmlns:a16="http://schemas.microsoft.com/office/drawing/2014/main" id="{12088298-6D86-470A-8219-20BD8C1A1F3A}"/>
              </a:ext>
            </a:extLst>
          </p:cNvPr>
          <p:cNvCxnSpPr>
            <a:stCxn id="83" idx="3"/>
            <a:endCxn id="96" idx="1"/>
          </p:cNvCxnSpPr>
          <p:nvPr/>
        </p:nvCxnSpPr>
        <p:spPr>
          <a:xfrm>
            <a:off x="1306645" y="4879034"/>
            <a:ext cx="342622"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360B63C0-EC8E-4657-AD8E-D1AFA4410712}"/>
              </a:ext>
            </a:extLst>
          </p:cNvPr>
          <p:cNvCxnSpPr>
            <a:stCxn id="96" idx="2"/>
            <a:endCxn id="98" idx="0"/>
          </p:cNvCxnSpPr>
          <p:nvPr/>
        </p:nvCxnSpPr>
        <p:spPr>
          <a:xfrm rot="5400000">
            <a:off x="2009423" y="5209563"/>
            <a:ext cx="308387"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2D4FF85-DCDC-4F6B-91A9-3584F64F11F4}"/>
              </a:ext>
            </a:extLst>
          </p:cNvPr>
          <p:cNvCxnSpPr>
            <a:cxnSpLocks/>
            <a:stCxn id="96" idx="3"/>
            <a:endCxn id="78" idx="1"/>
          </p:cNvCxnSpPr>
          <p:nvPr/>
        </p:nvCxnSpPr>
        <p:spPr>
          <a:xfrm>
            <a:off x="2677967" y="4883920"/>
            <a:ext cx="342905" cy="0"/>
          </a:xfrm>
          <a:prstGeom prst="bent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3528C6C-979F-49E1-8DEC-B023E8017431}"/>
              </a:ext>
            </a:extLst>
          </p:cNvPr>
          <p:cNvSpPr txBox="1"/>
          <p:nvPr/>
        </p:nvSpPr>
        <p:spPr>
          <a:xfrm>
            <a:off x="323494" y="836197"/>
            <a:ext cx="8412431" cy="369332"/>
          </a:xfrm>
          <a:prstGeom prst="rect">
            <a:avLst/>
          </a:prstGeom>
          <a:noFill/>
        </p:spPr>
        <p:txBody>
          <a:bodyPr wrap="none" rtlCol="0">
            <a:spAutoFit/>
          </a:bodyPr>
          <a:lstStyle/>
          <a:p>
            <a:r>
              <a:rPr lang="en-US" b="1" u="sng" dirty="0"/>
              <a:t>Emergency Department and Urgent Care Management of Febrile Infants Aged 61 to 90 Days</a:t>
            </a:r>
          </a:p>
        </p:txBody>
      </p:sp>
      <p:sp>
        <p:nvSpPr>
          <p:cNvPr id="50" name="TextBox 49">
            <a:extLst>
              <a:ext uri="{FF2B5EF4-FFF2-40B4-BE49-F238E27FC236}">
                <a16:creationId xmlns:a16="http://schemas.microsoft.com/office/drawing/2014/main" id="{1B70EAFA-39EA-43F7-9D99-356655E77C9B}"/>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52" name="TextBox 43">
            <a:extLst>
              <a:ext uri="{FF2B5EF4-FFF2-40B4-BE49-F238E27FC236}">
                <a16:creationId xmlns:a16="http://schemas.microsoft.com/office/drawing/2014/main" id="{0B335345-D650-423F-B378-7A5B06CF039C}"/>
              </a:ext>
            </a:extLst>
          </p:cNvPr>
          <p:cNvSpPr txBox="1"/>
          <p:nvPr/>
        </p:nvSpPr>
        <p:spPr>
          <a:xfrm>
            <a:off x="1303280" y="208171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3" name="TextBox 43">
            <a:extLst>
              <a:ext uri="{FF2B5EF4-FFF2-40B4-BE49-F238E27FC236}">
                <a16:creationId xmlns:a16="http://schemas.microsoft.com/office/drawing/2014/main" id="{A9381036-89FC-40B6-B638-1908A3DA0798}"/>
              </a:ext>
            </a:extLst>
          </p:cNvPr>
          <p:cNvSpPr txBox="1"/>
          <p:nvPr/>
        </p:nvSpPr>
        <p:spPr>
          <a:xfrm>
            <a:off x="1296456" y="2737288"/>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4" name="TextBox 43">
            <a:extLst>
              <a:ext uri="{FF2B5EF4-FFF2-40B4-BE49-F238E27FC236}">
                <a16:creationId xmlns:a16="http://schemas.microsoft.com/office/drawing/2014/main" id="{89ED0EB7-C869-4ACE-90D3-D222B6A42B2B}"/>
              </a:ext>
            </a:extLst>
          </p:cNvPr>
          <p:cNvSpPr txBox="1"/>
          <p:nvPr/>
        </p:nvSpPr>
        <p:spPr>
          <a:xfrm>
            <a:off x="1306725" y="339313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43">
            <a:extLst>
              <a:ext uri="{FF2B5EF4-FFF2-40B4-BE49-F238E27FC236}">
                <a16:creationId xmlns:a16="http://schemas.microsoft.com/office/drawing/2014/main" id="{757E9E86-02E5-4890-AF4C-BF6924C041A9}"/>
              </a:ext>
            </a:extLst>
          </p:cNvPr>
          <p:cNvSpPr txBox="1"/>
          <p:nvPr/>
        </p:nvSpPr>
        <p:spPr>
          <a:xfrm>
            <a:off x="1304845" y="4033284"/>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6" name="TextBox 43">
            <a:extLst>
              <a:ext uri="{FF2B5EF4-FFF2-40B4-BE49-F238E27FC236}">
                <a16:creationId xmlns:a16="http://schemas.microsoft.com/office/drawing/2014/main" id="{3CC314DB-CC53-463B-ACCB-F04387810799}"/>
              </a:ext>
            </a:extLst>
          </p:cNvPr>
          <p:cNvSpPr txBox="1"/>
          <p:nvPr/>
        </p:nvSpPr>
        <p:spPr>
          <a:xfrm>
            <a:off x="1875476" y="5059853"/>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7" name="TextBox 43">
            <a:extLst>
              <a:ext uri="{FF2B5EF4-FFF2-40B4-BE49-F238E27FC236}">
                <a16:creationId xmlns:a16="http://schemas.microsoft.com/office/drawing/2014/main" id="{88ECE721-590C-405A-8FC7-F1EB849A5952}"/>
              </a:ext>
            </a:extLst>
          </p:cNvPr>
          <p:cNvSpPr txBox="1"/>
          <p:nvPr/>
        </p:nvSpPr>
        <p:spPr>
          <a:xfrm>
            <a:off x="4039814" y="4693641"/>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YES</a:t>
            </a:r>
            <a:endPar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8" name="TextBox 43">
            <a:extLst>
              <a:ext uri="{FF2B5EF4-FFF2-40B4-BE49-F238E27FC236}">
                <a16:creationId xmlns:a16="http://schemas.microsoft.com/office/drawing/2014/main" id="{7508E722-3C92-4F2F-AC48-2CD443223244}"/>
              </a:ext>
            </a:extLst>
          </p:cNvPr>
          <p:cNvSpPr txBox="1"/>
          <p:nvPr/>
        </p:nvSpPr>
        <p:spPr>
          <a:xfrm>
            <a:off x="2666868" y="4687879"/>
            <a:ext cx="274320" cy="182880"/>
          </a:xfrm>
          <a:prstGeom prst="rect">
            <a:avLst/>
          </a:prstGeom>
          <a:noFill/>
        </p:spPr>
        <p:txBody>
          <a:bodyPr wrap="none" rtlCol="0">
            <a:noAutofit/>
          </a:bodyPr>
          <a:lstStyle/>
          <a:p>
            <a:pPr>
              <a:lnSpc>
                <a:spcPct val="107000"/>
              </a:lnSpc>
              <a:spcBef>
                <a:spcPts val="0"/>
              </a:spcBef>
              <a:spcAft>
                <a:spcPts val="600"/>
              </a:spcAft>
            </a:pPr>
            <a:r>
              <a:rPr lang="en-US" sz="800" b="1" dirty="0">
                <a:solidFill>
                  <a:srgbClr val="008000"/>
                </a:solidFill>
                <a:latin typeface="Calibri" panose="020F0502020204030204" pitchFamily="34" charset="0"/>
                <a:ea typeface="Calibri" panose="020F0502020204030204" pitchFamily="34" charset="0"/>
                <a:cs typeface="Times New Roman" panose="02020603050405020304" pitchFamily="18" charset="0"/>
              </a:rPr>
              <a:t>NO</a:t>
            </a:r>
          </a:p>
        </p:txBody>
      </p:sp>
      <p:sp>
        <p:nvSpPr>
          <p:cNvPr id="60" name="TextBox 59">
            <a:extLst>
              <a:ext uri="{FF2B5EF4-FFF2-40B4-BE49-F238E27FC236}">
                <a16:creationId xmlns:a16="http://schemas.microsoft.com/office/drawing/2014/main" id="{B06C2AEF-F8E3-46AA-9469-26821A5580DE}"/>
              </a:ext>
            </a:extLst>
          </p:cNvPr>
          <p:cNvSpPr txBox="1"/>
          <p:nvPr/>
        </p:nvSpPr>
        <p:spPr>
          <a:xfrm>
            <a:off x="2088858" y="6334180"/>
            <a:ext cx="4295163" cy="430887"/>
          </a:xfrm>
          <a:prstGeom prst="rect">
            <a:avLst/>
          </a:prstGeom>
          <a:solidFill>
            <a:srgbClr val="CCFFCC"/>
          </a:solidFill>
          <a:ln>
            <a:solidFill>
              <a:schemeClr val="tx1"/>
            </a:solidFill>
          </a:ln>
        </p:spPr>
        <p:txBody>
          <a:bodyPr wrap="square" rtlCol="0">
            <a:spAutoFit/>
          </a:bodyPr>
          <a:lstStyle/>
          <a:p>
            <a:r>
              <a:rPr lang="en-US" sz="1100" dirty="0"/>
              <a:t>Superscripts will link to “Definitions and specifications” for this age group</a:t>
            </a:r>
          </a:p>
          <a:p>
            <a:r>
              <a:rPr lang="en-US" sz="1100" dirty="0"/>
              <a:t>A link at the bottom will direct to “CA-FIRST protocol details” for this age group</a:t>
            </a:r>
          </a:p>
        </p:txBody>
      </p:sp>
    </p:spTree>
    <p:extLst>
      <p:ext uri="{BB962C8B-B14F-4D97-AF65-F5344CB8AC3E}">
        <p14:creationId xmlns:p14="http://schemas.microsoft.com/office/powerpoint/2010/main" val="3316406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70</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61 to 90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2: Definitions and specifications</a:t>
            </a:r>
          </a:p>
        </p:txBody>
      </p:sp>
    </p:spTree>
    <p:extLst>
      <p:ext uri="{BB962C8B-B14F-4D97-AF65-F5344CB8AC3E}">
        <p14:creationId xmlns:p14="http://schemas.microsoft.com/office/powerpoint/2010/main" val="692826018"/>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69D5B2-E31D-494B-BBC0-D9EBDF579C5A}"/>
              </a:ext>
            </a:extLst>
          </p:cNvPr>
          <p:cNvSpPr txBox="1"/>
          <p:nvPr/>
        </p:nvSpPr>
        <p:spPr>
          <a:xfrm>
            <a:off x="357361" y="871742"/>
            <a:ext cx="4114800" cy="5309146"/>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Terminology</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“Consider” suggests that management is  dependent on specific patient circumstances. A pediatrics consult may be helpful.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1: High risk infants</a:t>
            </a:r>
            <a:endParaRPr lang="en-US" sz="1200" b="1" dirty="0">
              <a:latin typeface="Calibri" panose="020F0502020204030204" pitchFamily="34" charset="0"/>
              <a:ea typeface="Times New Roman" panose="02020603050405020304" pitchFamily="18" charset="0"/>
              <a:cs typeface="Calibri" panose="020F0502020204030204" pitchFamily="34" charset="0"/>
            </a:endParaRP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Premature infants &lt; 37 weeks gestational age.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Documented or suspected immune compromise.</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Neonatal course was complicated by surgery or infection.</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Congenital or chromosomal abnormalities.</a:t>
            </a:r>
          </a:p>
          <a:p>
            <a:pPr marL="257175" indent="-257175">
              <a:lnSpc>
                <a:spcPct val="105000"/>
              </a:lnSpc>
              <a:spcBef>
                <a:spcPts val="0"/>
              </a:spcBef>
              <a:spcAft>
                <a:spcPts val="0"/>
              </a:spcAft>
              <a:buFont typeface="Calibri" panose="020F0502020204030204" pitchFamily="34" charset="0"/>
              <a:buChar char="-"/>
            </a:pPr>
            <a:r>
              <a:rPr lang="en-US" sz="1200" dirty="0">
                <a:latin typeface="Calibri" panose="020F0502020204030204" pitchFamily="34" charset="0"/>
                <a:cs typeface="Calibri" panose="020F0502020204030204" pitchFamily="34" charset="0"/>
              </a:rPr>
              <a:t>Medically fragile infants requiring some form of technology or ongoing therapeutic intervention to sustain life.</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2:</a:t>
            </a:r>
            <a:r>
              <a:rPr lang="en-US" sz="1200" dirty="0">
                <a:latin typeface="Calibri" panose="020F0502020204030204" pitchFamily="34" charset="0"/>
                <a:ea typeface="Calibri" panose="020F0502020204030204" pitchFamily="34" charset="0"/>
                <a:cs typeface="Calibri" panose="020F0502020204030204" pitchFamily="34" charset="0"/>
              </a:rPr>
              <a:t> Discussion of appropriate testing and treatment with pediatrics is suggested for ill appearing infants and high-risk patients with bronchiolitis, COVID-19, or recent immunization. </a:t>
            </a:r>
          </a:p>
          <a:p>
            <a:endParaRPr lang="en-US" sz="1200" dirty="0">
              <a:latin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3: </a:t>
            </a:r>
            <a:r>
              <a:rPr lang="en-US" sz="1200" b="1" dirty="0">
                <a:latin typeface="Calibri" panose="020F0502020204030204" pitchFamily="34" charset="0"/>
                <a:ea typeface="Calibri" panose="020F0502020204030204" pitchFamily="34" charset="0"/>
                <a:cs typeface="Calibri" panose="020F0502020204030204" pitchFamily="34" charset="0"/>
              </a:rPr>
              <a:t>Focal bacterial infections: </a:t>
            </a:r>
            <a:r>
              <a:rPr lang="en-US" sz="1200" dirty="0">
                <a:latin typeface="Calibri" panose="020F0502020204030204" pitchFamily="34" charset="0"/>
                <a:ea typeface="Calibri" panose="020F0502020204030204" pitchFamily="34" charset="0"/>
                <a:cs typeface="Calibri" panose="020F0502020204030204" pitchFamily="34" charset="0"/>
              </a:rPr>
              <a:t>Cellulitis, omphalitis, septic arthritis, osteomyelitis, </a:t>
            </a:r>
            <a:r>
              <a:rPr lang="en-US" sz="1200" dirty="0" err="1">
                <a:latin typeface="Calibri" panose="020F0502020204030204" pitchFamily="34" charset="0"/>
                <a:ea typeface="Calibri" panose="020F0502020204030204" pitchFamily="34" charset="0"/>
                <a:cs typeface="Calibri" panose="020F0502020204030204" pitchFamily="34" charset="0"/>
              </a:rPr>
              <a:t>ect</a:t>
            </a:r>
            <a:r>
              <a:rPr lang="en-US" sz="1200" dirty="0">
                <a:latin typeface="Calibri" panose="020F0502020204030204" pitchFamily="34" charset="0"/>
                <a:ea typeface="Calibri" panose="020F0502020204030204" pitchFamily="34" charset="0"/>
                <a:cs typeface="Calibri" panose="020F0502020204030204" pitchFamily="34" charset="0"/>
              </a:rPr>
              <a:t>. </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4: Recommended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Urine studies</a:t>
            </a:r>
            <a:r>
              <a:rPr lang="en-US" sz="1200" dirty="0">
                <a:latin typeface="Calibri" panose="020F0502020204030204" pitchFamily="34" charset="0"/>
                <a:cs typeface="Calibri" panose="020F0502020204030204" pitchFamily="34" charset="0"/>
              </a:rPr>
              <a:t>: catheterized urinalysis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catheterized urine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Blood studies</a:t>
            </a:r>
            <a:r>
              <a:rPr lang="en-US" sz="1200" dirty="0">
                <a:latin typeface="Calibri" panose="020F0502020204030204" pitchFamily="34" charset="0"/>
                <a:cs typeface="Calibri" panose="020F0502020204030204" pitchFamily="34" charset="0"/>
              </a:rPr>
              <a:t>: complete blood count with differential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Cerebrospinal fluid studies</a:t>
            </a:r>
            <a:r>
              <a:rPr lang="en-US" sz="1200" dirty="0">
                <a:latin typeface="Calibri" panose="020F0502020204030204" pitchFamily="34" charset="0"/>
                <a:cs typeface="Calibri" panose="020F0502020204030204" pitchFamily="34" charset="0"/>
              </a:rPr>
              <a:t>: cell count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Gram stain </a:t>
            </a:r>
            <a:r>
              <a:rPr lang="en-US" sz="1200" i="1" u="sng" dirty="0">
                <a:latin typeface="Calibri" panose="020F0502020204030204" pitchFamily="34" charset="0"/>
                <a:cs typeface="Calibri" panose="020F0502020204030204" pitchFamily="34" charset="0"/>
              </a:rPr>
              <a:t>AND</a:t>
            </a:r>
            <a:r>
              <a:rPr lang="en-US" sz="1200" i="1"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glucose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protein </a:t>
            </a:r>
            <a:r>
              <a:rPr lang="en-US" sz="1200" i="1" u="sng" dirty="0">
                <a:latin typeface="Calibri" panose="020F0502020204030204" pitchFamily="34" charset="0"/>
                <a:cs typeface="Calibri" panose="020F0502020204030204" pitchFamily="34" charset="0"/>
              </a:rPr>
              <a:t>AND</a:t>
            </a:r>
            <a:r>
              <a:rPr lang="en-US" sz="1200" dirty="0">
                <a:latin typeface="Calibri" panose="020F0502020204030204" pitchFamily="34" charset="0"/>
                <a:cs typeface="Calibri" panose="020F0502020204030204" pitchFamily="34" charset="0"/>
              </a:rPr>
              <a:t> bacterial culture.</a:t>
            </a:r>
          </a:p>
          <a:p>
            <a:endParaRPr lang="en-US" sz="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5" name="TextBox 84">
            <a:extLst>
              <a:ext uri="{FF2B5EF4-FFF2-40B4-BE49-F238E27FC236}">
                <a16:creationId xmlns:a16="http://schemas.microsoft.com/office/drawing/2014/main" id="{FB955280-2781-402A-895A-EE47F66A86F9}"/>
              </a:ext>
            </a:extLst>
          </p:cNvPr>
          <p:cNvSpPr txBox="1"/>
          <p:nvPr/>
        </p:nvSpPr>
        <p:spPr>
          <a:xfrm>
            <a:off x="4684038" y="860453"/>
            <a:ext cx="4114800" cy="3545907"/>
          </a:xfrm>
          <a:prstGeom prst="rect">
            <a:avLst/>
          </a:prstGeom>
          <a:noFill/>
        </p:spPr>
        <p:txBody>
          <a:bodyPr wrap="square" rtlCol="0">
            <a:spAutoFit/>
          </a:bodyPr>
          <a:lstStyle/>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5: Definitions of positive labs</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CSF</a:t>
            </a:r>
            <a:r>
              <a:rPr lang="en-US" sz="1200" dirty="0">
                <a:latin typeface="Calibri" panose="020F0502020204030204" pitchFamily="34" charset="0"/>
                <a:cs typeface="Calibri" panose="020F0502020204030204" pitchFamily="34" charset="0"/>
              </a:rPr>
              <a:t>: White count with pleocytosis for age or traumatic tap. </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Positive UA</a:t>
            </a:r>
            <a:r>
              <a:rPr lang="en-US" sz="1200" dirty="0">
                <a:latin typeface="Calibri" panose="020F0502020204030204" pitchFamily="34" charset="0"/>
                <a:cs typeface="Calibri" panose="020F0502020204030204" pitchFamily="34" charset="0"/>
              </a:rPr>
              <a:t>: Positive leukocyte esterase on dipstick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&gt;5 WBC per high powered field (centrifuged)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&gt; 10 WBCs/mm3 (uncentrifuged). </a:t>
            </a:r>
          </a:p>
          <a:p>
            <a:pPr marL="257175" indent="-257175">
              <a:lnSpc>
                <a:spcPct val="105000"/>
              </a:lnSpc>
              <a:spcBef>
                <a:spcPts val="0"/>
              </a:spcBef>
              <a:spcAft>
                <a:spcPts val="0"/>
              </a:spcAft>
              <a:buFont typeface="Calibri" panose="020F0502020204030204" pitchFamily="34" charset="0"/>
              <a:buChar char="-"/>
            </a:pPr>
            <a:r>
              <a:rPr lang="en-US" sz="1200" b="1" dirty="0">
                <a:latin typeface="Calibri" panose="020F0502020204030204" pitchFamily="34" charset="0"/>
                <a:cs typeface="Calibri" panose="020F0502020204030204" pitchFamily="34" charset="0"/>
              </a:rPr>
              <a:t>Positive CBC</a:t>
            </a:r>
            <a:r>
              <a:rPr lang="en-US" sz="1200" dirty="0">
                <a:latin typeface="Calibri" panose="020F0502020204030204" pitchFamily="34" charset="0"/>
                <a:cs typeface="Calibri" panose="020F0502020204030204" pitchFamily="34" charset="0"/>
              </a:rPr>
              <a:t>: Total white blood cell count &lt; 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total white blood cell count &gt; 15,000 </a:t>
            </a:r>
            <a:r>
              <a:rPr lang="en-US" sz="1200" i="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bands &gt; 1,500.</a:t>
            </a:r>
          </a:p>
          <a:p>
            <a:pPr marL="257175" indent="-257175">
              <a:lnSpc>
                <a:spcPct val="105000"/>
              </a:lnSpc>
              <a:spcBef>
                <a:spcPts val="0"/>
              </a:spcBef>
              <a:spcAft>
                <a:spcPts val="0"/>
              </a:spcAft>
              <a:buFont typeface="Calibri" panose="020F0502020204030204" pitchFamily="34" charset="0"/>
              <a:buChar char="-"/>
            </a:pPr>
            <a:endParaRPr lang="en-US" sz="1200" dirty="0">
              <a:latin typeface="Calibri" panose="020F0502020204030204" pitchFamily="34" charset="0"/>
              <a:cs typeface="Calibri" panose="020F0502020204030204" pitchFamily="34" charset="0"/>
            </a:endParaRPr>
          </a:p>
          <a:p>
            <a:pPr>
              <a:lnSpc>
                <a:spcPct val="105000"/>
              </a:lnSpc>
              <a:spcBef>
                <a:spcPts val="0"/>
              </a:spcBef>
              <a:spcAft>
                <a:spcPts val="0"/>
              </a:spcAft>
            </a:pPr>
            <a:r>
              <a:rPr lang="en-US" sz="1200" b="1" dirty="0">
                <a:latin typeface="Calibri" panose="020F0502020204030204" pitchFamily="34" charset="0"/>
                <a:cs typeface="Calibri" panose="020F0502020204030204" pitchFamily="34" charset="0"/>
              </a:rPr>
              <a:t>6: Antibiotics recommendations based on initial work up</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Urinary tract infection</a:t>
            </a:r>
            <a:r>
              <a:rPr lang="en-US" sz="1200" dirty="0">
                <a:latin typeface="Calibri" panose="020F0502020204030204" pitchFamily="34" charset="0"/>
                <a:cs typeface="Calibri" panose="020F0502020204030204" pitchFamily="34" charset="0"/>
              </a:rPr>
              <a:t>: </a:t>
            </a:r>
          </a:p>
          <a:p>
            <a:pPr marL="600075" lvl="1" indent="-257175">
              <a:lnSpc>
                <a:spcPct val="105000"/>
              </a:lnSpc>
              <a:buFont typeface="Calibri" panose="020F0502020204030204" pitchFamily="34" charset="0"/>
              <a:buChar char="-"/>
            </a:pPr>
            <a:r>
              <a:rPr lang="en-US" sz="1200" dirty="0">
                <a:latin typeface="Calibri" panose="020F0502020204030204" pitchFamily="34" charset="0"/>
                <a:cs typeface="Calibri" panose="020F0502020204030204" pitchFamily="34" charset="0"/>
              </a:rPr>
              <a:t>IV/IM: Ceftriaxone 50mg/kg q24h</a:t>
            </a:r>
          </a:p>
          <a:p>
            <a:pPr marL="600075" lvl="1" indent="-257175">
              <a:lnSpc>
                <a:spcPct val="105000"/>
              </a:lnSpc>
              <a:buFont typeface="Calibri" panose="020F0502020204030204" pitchFamily="34" charset="0"/>
              <a:buChar char="-"/>
            </a:pPr>
            <a:r>
              <a:rPr lang="en-US" sz="1200" dirty="0">
                <a:latin typeface="Calibri" panose="020F0502020204030204" pitchFamily="34" charset="0"/>
                <a:cs typeface="Calibri" panose="020F0502020204030204" pitchFamily="34" charset="0"/>
              </a:rPr>
              <a:t>PO: Cefalexin 50-100 mg/kg divided TID</a:t>
            </a:r>
          </a:p>
          <a:p>
            <a:pPr marL="257175" indent="-257175">
              <a:lnSpc>
                <a:spcPct val="105000"/>
              </a:lnSpc>
              <a:spcBef>
                <a:spcPts val="0"/>
              </a:spcBef>
              <a:spcAft>
                <a:spcPts val="0"/>
              </a:spcAft>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No focus identified</a:t>
            </a:r>
            <a:r>
              <a:rPr lang="en-US" sz="1200" dirty="0">
                <a:latin typeface="Calibri" panose="020F0502020204030204" pitchFamily="34" charset="0"/>
                <a:cs typeface="Calibri" panose="020F0502020204030204" pitchFamily="34" charset="0"/>
              </a:rPr>
              <a:t>: Ceftriaxone 50mg/kg q24h</a:t>
            </a:r>
          </a:p>
          <a:p>
            <a:pPr marL="257175" indent="-257175">
              <a:lnSpc>
                <a:spcPct val="105000"/>
              </a:lnSpc>
              <a:buFont typeface="Calibri" panose="020F0502020204030204" pitchFamily="34" charset="0"/>
              <a:buChar char="-"/>
            </a:pPr>
            <a:r>
              <a:rPr lang="en-US" sz="1200" b="1" i="1" dirty="0">
                <a:latin typeface="Calibri" panose="020F0502020204030204" pitchFamily="34" charset="0"/>
                <a:cs typeface="Calibri" panose="020F0502020204030204" pitchFamily="34" charset="0"/>
              </a:rPr>
              <a:t>Meningitis suspected</a:t>
            </a:r>
            <a:r>
              <a:rPr lang="en-US" sz="1200" dirty="0">
                <a:latin typeface="Calibri" panose="020F0502020204030204" pitchFamily="34" charset="0"/>
                <a:cs typeface="Calibri" panose="020F0502020204030204" pitchFamily="34" charset="0"/>
              </a:rPr>
              <a:t>: Ceftriaxone 50mg/kg q12h </a:t>
            </a:r>
            <a:r>
              <a:rPr lang="en-US" sz="1200" i="1" u="sng" dirty="0">
                <a:latin typeface="Calibri" panose="020F0502020204030204" pitchFamily="34" charset="0"/>
                <a:cs typeface="Calibri" panose="020F0502020204030204" pitchFamily="34" charset="0"/>
              </a:rPr>
              <a:t>PLUS</a:t>
            </a:r>
            <a:r>
              <a:rPr lang="en-US" sz="1200" dirty="0">
                <a:latin typeface="Calibri" panose="020F0502020204030204" pitchFamily="34" charset="0"/>
                <a:cs typeface="Calibri" panose="020F0502020204030204" pitchFamily="34" charset="0"/>
              </a:rPr>
              <a:t> vancomycin (60mg/kg/day divided q6h or q8h, interval based on chronological gestational age) </a:t>
            </a:r>
          </a:p>
          <a:p>
            <a:pPr marL="257175" indent="-257175">
              <a:lnSpc>
                <a:spcPct val="105000"/>
              </a:lnSpc>
              <a:spcBef>
                <a:spcPts val="0"/>
              </a:spcBef>
              <a:spcAft>
                <a:spcPts val="0"/>
              </a:spcAft>
              <a:buFont typeface="Calibri" panose="020F0502020204030204" pitchFamily="34" charset="0"/>
              <a:buChar char="-"/>
            </a:pPr>
            <a:endParaRPr lang="en-US" sz="1050" dirty="0"/>
          </a:p>
        </p:txBody>
      </p:sp>
      <p:sp>
        <p:nvSpPr>
          <p:cNvPr id="5" name="TextBox 4">
            <a:extLst>
              <a:ext uri="{FF2B5EF4-FFF2-40B4-BE49-F238E27FC236}">
                <a16:creationId xmlns:a16="http://schemas.microsoft.com/office/drawing/2014/main" id="{047B5139-045E-496A-A52E-7AFD69F787E2}"/>
              </a:ext>
            </a:extLst>
          </p:cNvPr>
          <p:cNvSpPr txBox="1"/>
          <p:nvPr/>
        </p:nvSpPr>
        <p:spPr>
          <a:xfrm>
            <a:off x="323494" y="357321"/>
            <a:ext cx="8412431" cy="369332"/>
          </a:xfrm>
          <a:prstGeom prst="rect">
            <a:avLst/>
          </a:prstGeom>
          <a:noFill/>
        </p:spPr>
        <p:txBody>
          <a:bodyPr wrap="none" rtlCol="0">
            <a:spAutoFit/>
          </a:bodyPr>
          <a:lstStyle/>
          <a:p>
            <a:r>
              <a:rPr lang="en-US" b="1" u="sng" dirty="0"/>
              <a:t>Emergency Department and Urgent Care Management of Febrile Infants Aged 61 to 90 Days</a:t>
            </a:r>
          </a:p>
        </p:txBody>
      </p:sp>
      <p:sp>
        <p:nvSpPr>
          <p:cNvPr id="7" name="TextBox 6">
            <a:extLst>
              <a:ext uri="{FF2B5EF4-FFF2-40B4-BE49-F238E27FC236}">
                <a16:creationId xmlns:a16="http://schemas.microsoft.com/office/drawing/2014/main" id="{5E8ECE2C-970B-42EB-B521-96F4341EF643}"/>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6" name="TextBox 5">
            <a:extLst>
              <a:ext uri="{FF2B5EF4-FFF2-40B4-BE49-F238E27FC236}">
                <a16:creationId xmlns:a16="http://schemas.microsoft.com/office/drawing/2014/main" id="{48298353-F247-4784-BAC9-3E5FF1501C1B}"/>
              </a:ext>
            </a:extLst>
          </p:cNvPr>
          <p:cNvSpPr txBox="1"/>
          <p:nvPr/>
        </p:nvSpPr>
        <p:spPr>
          <a:xfrm>
            <a:off x="2088858" y="6468118"/>
            <a:ext cx="4295163" cy="261610"/>
          </a:xfrm>
          <a:prstGeom prst="rect">
            <a:avLst/>
          </a:prstGeom>
          <a:solidFill>
            <a:srgbClr val="CCFFCC"/>
          </a:solidFill>
          <a:ln>
            <a:solidFill>
              <a:schemeClr val="tx1"/>
            </a:solidFill>
          </a:ln>
        </p:spPr>
        <p:txBody>
          <a:bodyPr wrap="square" rtlCol="0">
            <a:spAutoFit/>
          </a:bodyPr>
          <a:lstStyle/>
          <a:p>
            <a:r>
              <a:rPr lang="en-US" sz="1100" dirty="0"/>
              <a:t>A link at the bottom will direct to “CA-FIRST protocol details” for this age group</a:t>
            </a:r>
          </a:p>
        </p:txBody>
      </p:sp>
    </p:spTree>
    <p:extLst>
      <p:ext uri="{BB962C8B-B14F-4D97-AF65-F5344CB8AC3E}">
        <p14:creationId xmlns:p14="http://schemas.microsoft.com/office/powerpoint/2010/main" val="17814555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EB60217A-A867-46BB-B9B1-1019E009133F}"/>
              </a:ext>
            </a:extLst>
          </p:cNvPr>
          <p:cNvSpPr>
            <a:spLocks noGrp="1"/>
          </p:cNvSpPr>
          <p:nvPr>
            <p:ph type="sldNum" sz="quarter" idx="10"/>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r"/>
            <a:fld id="{48AF0F56-A561-40AC-B25E-45799AF5B7C2}" type="slidenum">
              <a:rPr lang="en-US" altLang="en-US">
                <a:solidFill>
                  <a:srgbClr val="414636"/>
                </a:solidFill>
              </a:rPr>
              <a:pPr algn="r"/>
              <a:t>72</a:t>
            </a:fld>
            <a:endParaRPr lang="en-US" altLang="en-US" dirty="0">
              <a:solidFill>
                <a:srgbClr val="414636"/>
              </a:solidFill>
            </a:endParaRPr>
          </a:p>
        </p:txBody>
      </p:sp>
      <p:sp>
        <p:nvSpPr>
          <p:cNvPr id="29699" name="Footer Placeholder 3">
            <a:extLst>
              <a:ext uri="{FF2B5EF4-FFF2-40B4-BE49-F238E27FC236}">
                <a16:creationId xmlns:a16="http://schemas.microsoft.com/office/drawing/2014/main" id="{78E21ED1-F464-4BF0-A2C7-E83B4426BC44}"/>
              </a:ext>
            </a:extLst>
          </p:cNvPr>
          <p:cNvSpPr>
            <a:spLocks noGrp="1"/>
          </p:cNvSpPr>
          <p:nvPr>
            <p:ph type="ftr" sz="quarter" idx="11"/>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r>
              <a:rPr lang="en-US" altLang="en-US" dirty="0">
                <a:solidFill>
                  <a:schemeClr val="bg2"/>
                </a:solidFill>
              </a:rPr>
              <a:t>|     © 2011 Kaiser Foundation Health Plan, Inc. For internal use only.</a:t>
            </a:r>
          </a:p>
        </p:txBody>
      </p:sp>
      <p:sp>
        <p:nvSpPr>
          <p:cNvPr id="29700" name="Date Placeholder 4">
            <a:extLst>
              <a:ext uri="{FF2B5EF4-FFF2-40B4-BE49-F238E27FC236}">
                <a16:creationId xmlns:a16="http://schemas.microsoft.com/office/drawing/2014/main" id="{F44EC1A2-875C-46D5-840A-BD31A5AA0C27}"/>
              </a:ext>
            </a:extLst>
          </p:cNvPr>
          <p:cNvSpPr>
            <a:spLocks noGrp="1"/>
          </p:cNvSpPr>
          <p:nvPr>
            <p:ph type="dt" sz="quarter" idx="12"/>
          </p:nvPr>
        </p:nvSpPr>
        <p:spPr>
          <a:noFill/>
        </p:spPr>
        <p:txBody>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algn="l"/>
            <a:fld id="{78FCA204-2D03-46D7-A464-DE91FA993484}" type="datetime4">
              <a:rPr lang="en-US" altLang="en-US">
                <a:solidFill>
                  <a:schemeClr val="bg2"/>
                </a:solidFill>
              </a:rPr>
              <a:pPr algn="l"/>
              <a:t>May 26, 2022</a:t>
            </a:fld>
            <a:endParaRPr lang="en-US" altLang="en-US" dirty="0">
              <a:solidFill>
                <a:schemeClr val="bg2"/>
              </a:solidFill>
            </a:endParaRPr>
          </a:p>
        </p:txBody>
      </p:sp>
      <p:grpSp>
        <p:nvGrpSpPr>
          <p:cNvPr id="1805316" name="Group 4">
            <a:extLst>
              <a:ext uri="{FF2B5EF4-FFF2-40B4-BE49-F238E27FC236}">
                <a16:creationId xmlns:a16="http://schemas.microsoft.com/office/drawing/2014/main" id="{83EAB182-C6F5-455C-8484-44AE07CC1F7B}"/>
              </a:ext>
            </a:extLst>
          </p:cNvPr>
          <p:cNvGrpSpPr>
            <a:grpSpLocks/>
          </p:cNvGrpSpPr>
          <p:nvPr/>
        </p:nvGrpSpPr>
        <p:grpSpPr bwMode="auto">
          <a:xfrm>
            <a:off x="0" y="1825625"/>
            <a:ext cx="9144000" cy="2862263"/>
            <a:chOff x="0" y="1150"/>
            <a:chExt cx="5760" cy="1803"/>
          </a:xfrm>
        </p:grpSpPr>
        <p:sp>
          <p:nvSpPr>
            <p:cNvPr id="29706" name="Rectangle 5">
              <a:extLst>
                <a:ext uri="{FF2B5EF4-FFF2-40B4-BE49-F238E27FC236}">
                  <a16:creationId xmlns:a16="http://schemas.microsoft.com/office/drawing/2014/main" id="{8D896494-2B09-4FFF-BAFF-8DD285A2357E}"/>
                </a:ext>
              </a:extLst>
            </p:cNvPr>
            <p:cNvSpPr>
              <a:spLocks noChangeArrowheads="1"/>
            </p:cNvSpPr>
            <p:nvPr/>
          </p:nvSpPr>
          <p:spPr bwMode="gray">
            <a:xfrm>
              <a:off x="0" y="1150"/>
              <a:ext cx="5760" cy="1797"/>
            </a:xfrm>
            <a:prstGeom prst="rect">
              <a:avLst/>
            </a:prstGeom>
            <a:solidFill>
              <a:schemeClr val="accent2"/>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Narrow" panose="020B0606020202030204" pitchFamily="34" charset="0"/>
                  <a:cs typeface="Arial" panose="020B0604020202020204" pitchFamily="34" charset="0"/>
                </a:defRPr>
              </a:lvl1pPr>
              <a:lvl2pPr marL="742950" indent="-285750" algn="ctr">
                <a:defRPr>
                  <a:solidFill>
                    <a:schemeClr val="tx1"/>
                  </a:solidFill>
                  <a:latin typeface="Arial Narrow" panose="020B0606020202030204" pitchFamily="34" charset="0"/>
                  <a:cs typeface="Arial" panose="020B0604020202020204" pitchFamily="34" charset="0"/>
                </a:defRPr>
              </a:lvl2pPr>
              <a:lvl3pPr marL="1143000" indent="-228600" algn="ctr">
                <a:defRPr>
                  <a:solidFill>
                    <a:schemeClr val="tx1"/>
                  </a:solidFill>
                  <a:latin typeface="Arial Narrow" panose="020B0606020202030204" pitchFamily="34" charset="0"/>
                  <a:cs typeface="Arial" panose="020B0604020202020204" pitchFamily="34" charset="0"/>
                </a:defRPr>
              </a:lvl3pPr>
              <a:lvl4pPr marL="1600200" indent="-228600" algn="ctr">
                <a:defRPr>
                  <a:solidFill>
                    <a:schemeClr val="tx1"/>
                  </a:solidFill>
                  <a:latin typeface="Arial Narrow" panose="020B0606020202030204" pitchFamily="34" charset="0"/>
                  <a:cs typeface="Arial" panose="020B0604020202020204" pitchFamily="34" charset="0"/>
                </a:defRPr>
              </a:lvl4pPr>
              <a:lvl5pPr marL="2057400" indent="-228600" algn="ctr">
                <a:defRPr>
                  <a:solidFill>
                    <a:schemeClr val="tx1"/>
                  </a:solidFill>
                  <a:latin typeface="Arial Narrow" panose="020B060602020203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Narrow" panose="020B0606020202030204" pitchFamily="34" charset="0"/>
                  <a:cs typeface="Arial" panose="020B0604020202020204" pitchFamily="34" charset="0"/>
                </a:defRPr>
              </a:lvl9pPr>
            </a:lstStyle>
            <a:p>
              <a:pPr eaLnBrk="1" hangingPunct="1"/>
              <a:endParaRPr lang="en-US" altLang="en-US" dirty="0"/>
            </a:p>
          </p:txBody>
        </p:sp>
        <p:sp>
          <p:nvSpPr>
            <p:cNvPr id="29707" name="Line 6">
              <a:extLst>
                <a:ext uri="{FF2B5EF4-FFF2-40B4-BE49-F238E27FC236}">
                  <a16:creationId xmlns:a16="http://schemas.microsoft.com/office/drawing/2014/main" id="{0C60555E-3FA4-4F0C-8394-546CFBE82F75}"/>
                </a:ext>
              </a:extLst>
            </p:cNvPr>
            <p:cNvSpPr>
              <a:spLocks noChangeShapeType="1"/>
            </p:cNvSpPr>
            <p:nvPr/>
          </p:nvSpPr>
          <p:spPr bwMode="gray">
            <a:xfrm>
              <a:off x="0" y="2953"/>
              <a:ext cx="576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dirty="0"/>
            </a:p>
          </p:txBody>
        </p:sp>
      </p:grpSp>
      <p:sp>
        <p:nvSpPr>
          <p:cNvPr id="1805320" name="Rectangle 8">
            <a:extLst>
              <a:ext uri="{FF2B5EF4-FFF2-40B4-BE49-F238E27FC236}">
                <a16:creationId xmlns:a16="http://schemas.microsoft.com/office/drawing/2014/main" id="{CE201C0A-0F42-4F3F-B732-A178B4DA6F7D}"/>
              </a:ext>
            </a:extLst>
          </p:cNvPr>
          <p:cNvSpPr>
            <a:spLocks noChangeArrowheads="1"/>
          </p:cNvSpPr>
          <p:nvPr/>
        </p:nvSpPr>
        <p:spPr bwMode="gray">
          <a:xfrm>
            <a:off x="914400" y="2393297"/>
            <a:ext cx="7315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marL="114300" indent="-114300">
              <a:lnSpc>
                <a:spcPct val="95000"/>
              </a:lnSpc>
              <a:spcBef>
                <a:spcPct val="35000"/>
              </a:spcBef>
              <a:buClr>
                <a:schemeClr val="accent2"/>
              </a:buClr>
              <a:buFont typeface="Wingdings" panose="05000000000000000000" pitchFamily="2" charset="2"/>
              <a:buChar char="§"/>
              <a:defRPr sz="2400">
                <a:solidFill>
                  <a:schemeClr val="tx1"/>
                </a:solidFill>
                <a:latin typeface="Arial Narrow" panose="020B0606020202030204" pitchFamily="34" charset="0"/>
                <a:cs typeface="Arial" panose="020B0604020202020204" pitchFamily="34" charset="0"/>
              </a:defRPr>
            </a:lvl1pPr>
            <a:lvl2pPr marL="742950" indent="-285750">
              <a:lnSpc>
                <a:spcPct val="95000"/>
              </a:lnSpc>
              <a:spcBef>
                <a:spcPct val="35000"/>
              </a:spcBef>
              <a:buClr>
                <a:schemeClr val="accent2"/>
              </a:buClr>
              <a:buFont typeface="Arial" panose="020B0604020202020204" pitchFamily="34" charset="0"/>
              <a:buChar char="–"/>
              <a:defRPr sz="2000">
                <a:solidFill>
                  <a:schemeClr val="tx1"/>
                </a:solidFill>
                <a:latin typeface="Arial Narrow" panose="020B0606020202030204" pitchFamily="34" charset="0"/>
                <a:cs typeface="Arial" panose="020B0604020202020204" pitchFamily="34" charset="0"/>
              </a:defRPr>
            </a:lvl2pPr>
            <a:lvl3pPr marL="1143000" indent="-228600">
              <a:lnSpc>
                <a:spcPct val="95000"/>
              </a:lnSpc>
              <a:spcBef>
                <a:spcPct val="35000"/>
              </a:spcBef>
              <a:buClr>
                <a:schemeClr val="accent2"/>
              </a:buClr>
              <a:buFont typeface="Wingdings" panose="05000000000000000000" pitchFamily="2" charset="2"/>
              <a:buChar char="§"/>
              <a:defRPr>
                <a:solidFill>
                  <a:schemeClr val="tx1"/>
                </a:solidFill>
                <a:latin typeface="Arial Narrow" panose="020B0606020202030204" pitchFamily="34" charset="0"/>
                <a:cs typeface="Arial" panose="020B0604020202020204" pitchFamily="34" charset="0"/>
              </a:defRPr>
            </a:lvl3pPr>
            <a:lvl4pPr marL="16002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4pPr>
            <a:lvl5pPr marL="2057400" indent="-228600">
              <a:lnSpc>
                <a:spcPct val="95000"/>
              </a:lnSpc>
              <a:spcBef>
                <a:spcPct val="35000"/>
              </a:spcBef>
              <a:buClr>
                <a:schemeClr val="accent2"/>
              </a:buClr>
              <a:buChar char="»"/>
              <a:defRPr sz="1600">
                <a:solidFill>
                  <a:schemeClr val="tx1"/>
                </a:solidFill>
                <a:latin typeface="Arial Narrow" panose="020B0606020202030204" pitchFamily="34" charset="0"/>
                <a:cs typeface="Arial" panose="020B0604020202020204" pitchFamily="34" charset="0"/>
              </a:defRPr>
            </a:lvl5pPr>
            <a:lvl6pPr marL="25146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6pPr>
            <a:lvl7pPr marL="29718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7pPr>
            <a:lvl8pPr marL="34290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8pPr>
            <a:lvl9pPr marL="3886200" indent="-228600" eaLnBrk="0" fontAlgn="base" hangingPunct="0">
              <a:lnSpc>
                <a:spcPct val="95000"/>
              </a:lnSpc>
              <a:spcBef>
                <a:spcPct val="35000"/>
              </a:spcBef>
              <a:spcAft>
                <a:spcPct val="0"/>
              </a:spcAft>
              <a:buClr>
                <a:schemeClr val="accent2"/>
              </a:buClr>
              <a:buChar char="»"/>
              <a:defRPr sz="1600">
                <a:solidFill>
                  <a:schemeClr val="tx1"/>
                </a:solidFill>
                <a:latin typeface="Arial Narrow" panose="020B0606020202030204" pitchFamily="34" charset="0"/>
                <a:cs typeface="Arial" panose="020B0604020202020204" pitchFamily="34" charset="0"/>
              </a:defRPr>
            </a:lvl9pPr>
          </a:lstStyle>
          <a:p>
            <a:pPr algn="ctr" eaLnBrk="1" hangingPunct="1">
              <a:spcBef>
                <a:spcPct val="50000"/>
              </a:spcBef>
              <a:buNone/>
            </a:pPr>
            <a:r>
              <a:rPr lang="en-US" altLang="en-US" sz="4400" u="sng" dirty="0">
                <a:solidFill>
                  <a:srgbClr val="FFFFFF"/>
                </a:solidFill>
              </a:rPr>
              <a:t>61 to 90 days old</a:t>
            </a:r>
            <a:r>
              <a:rPr lang="en-US" altLang="en-US" sz="4400" dirty="0">
                <a:solidFill>
                  <a:srgbClr val="FFFFFF"/>
                </a:solidFill>
              </a:rPr>
              <a:t>: </a:t>
            </a:r>
          </a:p>
          <a:p>
            <a:pPr algn="ctr" eaLnBrk="1" hangingPunct="1">
              <a:spcBef>
                <a:spcPct val="50000"/>
              </a:spcBef>
              <a:buNone/>
            </a:pPr>
            <a:r>
              <a:rPr lang="en-US" altLang="en-US" sz="4400" dirty="0">
                <a:solidFill>
                  <a:srgbClr val="FFFFFF"/>
                </a:solidFill>
              </a:rPr>
              <a:t>Level 3: CA-FIRST protocol details </a:t>
            </a:r>
          </a:p>
        </p:txBody>
      </p:sp>
    </p:spTree>
    <p:extLst>
      <p:ext uri="{BB962C8B-B14F-4D97-AF65-F5344CB8AC3E}">
        <p14:creationId xmlns:p14="http://schemas.microsoft.com/office/powerpoint/2010/main" val="2772168230"/>
      </p:ext>
    </p:extLst>
  </p:cSld>
  <p:clrMapOvr>
    <a:masterClrMapping/>
  </p:clrMapOvr>
  <mc:AlternateContent xmlns:mc="http://schemas.openxmlformats.org/markup-compatibility/2006" xmlns:p14="http://schemas.microsoft.com/office/powerpoint/2010/main">
    <mc:Choice Requires="p14">
      <p:transition p14:dur="1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05316"/>
                                        </p:tgtEl>
                                        <p:attrNameLst>
                                          <p:attrName>style.visibility</p:attrName>
                                        </p:attrNameLst>
                                      </p:cBhvr>
                                      <p:to>
                                        <p:strVal val="visible"/>
                                      </p:to>
                                    </p:set>
                                    <p:animEffect transition="in" filter="wipe(left)">
                                      <p:cBhvr>
                                        <p:cTn id="7" dur="1000"/>
                                        <p:tgtEl>
                                          <p:spTgt spid="18053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05320"/>
                                        </p:tgtEl>
                                        <p:attrNameLst>
                                          <p:attrName>style.visibility</p:attrName>
                                        </p:attrNameLst>
                                      </p:cBhvr>
                                      <p:to>
                                        <p:strVal val="visible"/>
                                      </p:to>
                                    </p:set>
                                    <p:animEffect transition="in" filter="fade">
                                      <p:cBhvr>
                                        <p:cTn id="10" dur="500"/>
                                        <p:tgtEl>
                                          <p:spTgt spid="180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532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a:t>
            </a:r>
            <a:r>
              <a:rPr lang="en-US" sz="2200" dirty="0">
                <a:solidFill>
                  <a:sysClr val="windowText" lastClr="000000"/>
                </a:solidFill>
                <a:latin typeface="Microsoft Tai Le" panose="020B0502040204020203" pitchFamily="34" charset="0"/>
                <a:cs typeface="Microsoft Tai Le" panose="020B0502040204020203" pitchFamily="34" charset="0"/>
              </a:rPr>
              <a:t>Ill-Appearing Infant</a:t>
            </a:r>
          </a:p>
        </p:txBody>
      </p:sp>
      <p:sp>
        <p:nvSpPr>
          <p:cNvPr id="9" name="Rectangle 8">
            <a:extLst>
              <a:ext uri="{FF2B5EF4-FFF2-40B4-BE49-F238E27FC236}">
                <a16:creationId xmlns:a16="http://schemas.microsoft.com/office/drawing/2014/main" id="{C95DA26A-CF1C-DF49-B317-718087E3A7BB}"/>
              </a:ext>
            </a:extLst>
          </p:cNvPr>
          <p:cNvSpPr/>
          <p:nvPr/>
        </p:nvSpPr>
        <p:spPr>
          <a:xfrm>
            <a:off x="453081" y="3672796"/>
            <a:ext cx="8226436" cy="1915909"/>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dirty="0">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latin typeface="Microsoft Tai Le"/>
                <a:cs typeface="Microsoft Tai Le"/>
              </a:rPr>
              <a:t>Consult with Pediatrics and admission</a:t>
            </a:r>
          </a:p>
          <a:p>
            <a:pPr marL="342900" indent="-342900">
              <a:buFont typeface="Courier New" panose="02070309020205020404" pitchFamily="49" charset="0"/>
              <a:buChar char="o"/>
            </a:pPr>
            <a:r>
              <a:rPr lang="en-US" sz="2000" dirty="0">
                <a:latin typeface="Microsoft Tai Le"/>
                <a:cs typeface="Microsoft Tai Le"/>
              </a:rPr>
              <a:t>A full septic work-up</a:t>
            </a:r>
          </a:p>
          <a:p>
            <a:pPr marL="685800" lvl="1" indent="-342900">
              <a:buFont typeface="Arial" panose="020B0604020202020204" pitchFamily="34" charset="0"/>
              <a:buChar char="•"/>
            </a:pPr>
            <a:r>
              <a:rPr lang="en-US" sz="2000" dirty="0">
                <a:latin typeface="Microsoft Tai Le"/>
                <a:cs typeface="Microsoft Tai Le"/>
              </a:rPr>
              <a:t>CBC, UA, CSF studies, and Blood, Urine, and CSF cultures</a:t>
            </a:r>
          </a:p>
          <a:p>
            <a:pPr marL="342900" indent="-342900">
              <a:buFont typeface="Courier New" panose="02070309020205020404" pitchFamily="49" charset="0"/>
              <a:buChar char="o"/>
            </a:pPr>
            <a:r>
              <a:rPr lang="en-US" sz="2000" dirty="0">
                <a:latin typeface="Microsoft Tai Le"/>
                <a:cs typeface="Microsoft Tai Le"/>
              </a:rPr>
              <a:t>LP in discussion with pediatrics</a:t>
            </a:r>
          </a:p>
          <a:p>
            <a:pPr marL="342900" indent="-342900">
              <a:buFont typeface="Courier New" panose="02070309020205020404" pitchFamily="49" charset="0"/>
              <a:buChar char="o"/>
            </a:pPr>
            <a:r>
              <a:rPr lang="en-US" sz="2000" dirty="0">
                <a:latin typeface="Microsoft Tai Le"/>
                <a:cs typeface="Microsoft Tai Le"/>
              </a:rPr>
              <a:t>Parenteral antibiotic</a:t>
            </a:r>
          </a:p>
        </p:txBody>
      </p:sp>
      <p:sp>
        <p:nvSpPr>
          <p:cNvPr id="3" name="TextBox 2">
            <a:extLst>
              <a:ext uri="{FF2B5EF4-FFF2-40B4-BE49-F238E27FC236}">
                <a16:creationId xmlns:a16="http://schemas.microsoft.com/office/drawing/2014/main" id="{E5046F71-58A3-4954-8AE8-6F57BB4DE78C}"/>
              </a:ext>
            </a:extLst>
          </p:cNvPr>
          <p:cNvSpPr txBox="1"/>
          <p:nvPr/>
        </p:nvSpPr>
        <p:spPr>
          <a:xfrm>
            <a:off x="474101" y="1345947"/>
            <a:ext cx="8226436" cy="2031325"/>
          </a:xfrm>
          <a:prstGeom prst="rect">
            <a:avLst/>
          </a:prstGeom>
          <a:noFill/>
        </p:spPr>
        <p:txBody>
          <a:bodyPr wrap="square" lIns="68580" tIns="34290" rIns="68580" bIns="34290" rtlCol="0" anchor="t">
            <a:spAutoFit/>
          </a:bodyPr>
          <a:lstStyle/>
          <a:p>
            <a:r>
              <a:rPr lang="en-US" sz="2000" b="1" u="sng" dirty="0">
                <a:latin typeface="Microsoft Tai Le"/>
                <a:cs typeface="Microsoft Tai Le"/>
              </a:rPr>
              <a:t>Ill-appearing infants are very high risk</a:t>
            </a:r>
          </a:p>
          <a:p>
            <a:pPr marL="342900" indent="-342900">
              <a:buFont typeface="Arial" panose="020B0604020202020204" pitchFamily="34" charset="0"/>
              <a:buChar char="•"/>
            </a:pPr>
            <a:r>
              <a:rPr lang="en-US" dirty="0">
                <a:latin typeface="Microsoft Tai Le"/>
                <a:cs typeface="Microsoft Tai Le"/>
              </a:rPr>
              <a:t>The </a:t>
            </a:r>
            <a:r>
              <a:rPr lang="en-US" b="1" dirty="0">
                <a:latin typeface="Microsoft Tai Le"/>
                <a:cs typeface="Microsoft Tai Le"/>
              </a:rPr>
              <a:t>AAP guideline and Roseville Protocol </a:t>
            </a:r>
            <a:r>
              <a:rPr lang="en-US" dirty="0">
                <a:latin typeface="Microsoft Tai Le"/>
                <a:cs typeface="Microsoft Tai Le"/>
              </a:rPr>
              <a:t>exclude ill-appearing infants because they are very high risk</a:t>
            </a:r>
          </a:p>
          <a:p>
            <a:pPr marL="342900" indent="-342900">
              <a:buFont typeface="Arial" panose="020B0604020202020204" pitchFamily="34" charset="0"/>
              <a:buChar char="•"/>
            </a:pPr>
            <a:r>
              <a:rPr lang="en-US" b="1" dirty="0">
                <a:latin typeface="Microsoft Tai Le"/>
                <a:cs typeface="Microsoft Tai Le"/>
              </a:rPr>
              <a:t>Data and analysis </a:t>
            </a:r>
            <a:r>
              <a:rPr lang="en-US" dirty="0">
                <a:latin typeface="Microsoft Tai Le"/>
                <a:cs typeface="Microsoft Tai Le"/>
              </a:rPr>
              <a:t>from KPNC febrile infants seen in the ED from 2010-2019 found that of those age 61-90 days with isolated ill-appearance: </a:t>
            </a:r>
          </a:p>
          <a:p>
            <a:r>
              <a:rPr lang="en-US" sz="1950" i="1" dirty="0">
                <a:latin typeface="Microsoft Tai Le"/>
                <a:cs typeface="Microsoft Tai Le"/>
              </a:rPr>
              <a:t>					</a:t>
            </a:r>
            <a:r>
              <a:rPr lang="en-US" sz="1500" i="1" dirty="0">
                <a:cs typeface="Microsoft Tai Le"/>
              </a:rPr>
              <a:t>4/54 (7%) had bacteremia without meningitis </a:t>
            </a:r>
          </a:p>
          <a:p>
            <a:pPr lvl="5"/>
            <a:r>
              <a:rPr lang="en-US" sz="1500" i="1" dirty="0">
                <a:cs typeface="Microsoft Tai Le"/>
              </a:rPr>
              <a:t>     			2/54 (4%) had meningitis</a:t>
            </a:r>
          </a:p>
        </p:txBody>
      </p:sp>
      <p:sp>
        <p:nvSpPr>
          <p:cNvPr id="8" name="TextBox 7">
            <a:extLst>
              <a:ext uri="{FF2B5EF4-FFF2-40B4-BE49-F238E27FC236}">
                <a16:creationId xmlns:a16="http://schemas.microsoft.com/office/drawing/2014/main" id="{78A47266-347E-4F82-8119-7C6B7A9AACF6}"/>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34337992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69292" y="1314272"/>
            <a:ext cx="2743200" cy="895528"/>
            <a:chOff x="4137004" y="1454326"/>
            <a:chExt cx="3629804" cy="461820"/>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54326"/>
              <a:ext cx="3629803" cy="461820"/>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050" dirty="0">
                <a:solidFill>
                  <a:sysClr val="windowText" lastClr="000000"/>
                </a:solidFill>
              </a:endParaRPr>
            </a:p>
            <a:p>
              <a:pPr marL="257175" indent="-257175">
                <a:buFont typeface="+mj-lt"/>
                <a:buAutoNum type="arabicPeriod"/>
                <a:defRPr/>
              </a:pPr>
              <a:r>
                <a:rPr lang="en-US" sz="1100" dirty="0">
                  <a:solidFill>
                    <a:sysClr val="windowText" lastClr="000000"/>
                  </a:solidFill>
                </a:rPr>
                <a:t>Infants with clinical bronchiolitis, with or without positive tests for RSV  </a:t>
              </a:r>
            </a:p>
            <a:p>
              <a:pPr marL="257175" indent="-257175">
                <a:buFont typeface="+mj-lt"/>
                <a:buAutoNum type="arabicPeriod"/>
                <a:defRPr/>
              </a:pPr>
              <a:r>
                <a:rPr lang="en-US" sz="1100" dirty="0">
                  <a:solidFill>
                    <a:sysClr val="windowText" lastClr="000000"/>
                  </a:solidFill>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4146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5230" y="1318713"/>
            <a:ext cx="2468881" cy="731520"/>
            <a:chOff x="5092117" y="1946246"/>
            <a:chExt cx="2575422" cy="975360"/>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97536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endParaRPr>
            </a:p>
            <a:p>
              <a:pPr lvl="0" algn="ctr">
                <a:defRPr/>
              </a:pPr>
              <a:endParaRPr lang="en-US" sz="1100" dirty="0">
                <a:solidFill>
                  <a:sysClr val="windowText" lastClr="000000"/>
                </a:solidFill>
              </a:endParaRPr>
            </a:p>
            <a:p>
              <a:pPr lvl="0">
                <a:defRPr/>
              </a:pPr>
              <a:r>
                <a:rPr lang="en-US" sz="1100" dirty="0">
                  <a:solidFill>
                    <a:sysClr val="windowText" lastClr="000000"/>
                  </a:solidFill>
                </a:rPr>
                <a:t>Infants 61-90 days of age*, ill-appearing, temp ≥ 38C</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8" y="1946247"/>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26849" y="1314272"/>
            <a:ext cx="2468882" cy="3112700"/>
            <a:chOff x="4122280" y="1452438"/>
            <a:chExt cx="3644528" cy="1572645"/>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22281" y="1454327"/>
              <a:ext cx="3644527" cy="1570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endParaRPr>
            </a:p>
            <a:p>
              <a:r>
                <a:rPr lang="en-US" sz="1100" b="1" dirty="0">
                  <a:solidFill>
                    <a:schemeClr val="tx1"/>
                  </a:solidFill>
                </a:rPr>
                <a:t>*</a:t>
              </a:r>
              <a:r>
                <a:rPr lang="en-US" sz="1100" dirty="0">
                  <a:solidFill>
                    <a:schemeClr val="tx1"/>
                  </a:solidFill>
                </a:rPr>
                <a:t> The AAP does not include infants age &gt; 60 days</a:t>
              </a:r>
            </a:p>
            <a:p>
              <a:r>
                <a:rPr lang="en-US" sz="1100" b="1" dirty="0">
                  <a:solidFill>
                    <a:schemeClr val="tx1"/>
                  </a:solidFill>
                </a:rPr>
                <a:t>† </a:t>
              </a:r>
              <a:r>
                <a:rPr lang="en-US" sz="1100" dirty="0">
                  <a:solidFill>
                    <a:sysClr val="windowText" lastClr="000000"/>
                  </a:solidFill>
                </a:rPr>
                <a:t>If observed at home, then recommend oral antimicrobials to treat presumed UTI if UA positive. Clinicians may manage infants at home if ALL following criteria are met: </a:t>
              </a:r>
              <a:r>
                <a:rPr lang="en-US" sz="1100" b="1" dirty="0">
                  <a:solidFill>
                    <a:sysClr val="windowText" lastClr="000000"/>
                  </a:solidFill>
                </a:rPr>
                <a:t>1) Verbal teaching and written instructions </a:t>
              </a:r>
              <a:r>
                <a:rPr lang="en-US" sz="1100" dirty="0">
                  <a:solidFill>
                    <a:sysClr val="windowText" lastClr="000000"/>
                  </a:solidFill>
                </a:rPr>
                <a:t>have been provided for monitoring throughout the period at home  </a:t>
              </a:r>
              <a:r>
                <a:rPr lang="en-US" sz="1100" b="1" dirty="0">
                  <a:solidFill>
                    <a:sysClr val="windowText" lastClr="000000"/>
                  </a:solidFill>
                </a:rPr>
                <a:t>2)</a:t>
              </a:r>
              <a:r>
                <a:rPr lang="en-US" sz="1100" dirty="0">
                  <a:solidFill>
                    <a:sysClr val="windowText" lastClr="000000"/>
                  </a:solidFill>
                </a:rPr>
                <a:t> Follow-up plans</a:t>
              </a:r>
              <a:r>
                <a:rPr lang="en-US" sz="1100" b="1" dirty="0">
                  <a:solidFill>
                    <a:sysClr val="windowText" lastClr="000000"/>
                  </a:solidFill>
                </a:rPr>
                <a:t> </a:t>
              </a:r>
              <a:r>
                <a:rPr lang="en-US" sz="1100" dirty="0">
                  <a:solidFill>
                    <a:sysClr val="windowText" lastClr="000000"/>
                  </a:solidFill>
                </a:rPr>
                <a:t>for </a:t>
              </a:r>
              <a:r>
                <a:rPr lang="en-US" sz="1100" b="1" dirty="0">
                  <a:solidFill>
                    <a:sysClr val="windowText" lastClr="000000"/>
                  </a:solidFill>
                </a:rPr>
                <a:t>re-evaluation</a:t>
              </a:r>
              <a:r>
                <a:rPr lang="en-US" sz="1100" dirty="0">
                  <a:solidFill>
                    <a:sysClr val="windowText" lastClr="000000"/>
                  </a:solidFill>
                </a:rPr>
                <a:t> have been developed and are in place </a:t>
              </a:r>
              <a:r>
                <a:rPr lang="en-US" sz="1100" b="1" dirty="0">
                  <a:solidFill>
                    <a:sysClr val="windowText" lastClr="000000"/>
                  </a:solidFill>
                </a:rPr>
                <a:t>3)</a:t>
              </a:r>
              <a:r>
                <a:rPr lang="en-US" sz="1100" dirty="0">
                  <a:solidFill>
                    <a:sysClr val="windowText" lastClr="000000"/>
                  </a:solidFill>
                </a:rPr>
                <a:t> </a:t>
              </a:r>
              <a:r>
                <a:rPr lang="en-US" sz="1100" b="1" dirty="0">
                  <a:solidFill>
                    <a:sysClr val="windowText" lastClr="000000"/>
                  </a:solidFill>
                </a:rPr>
                <a:t>Plans have been developed and are in place in case of change in clinical status</a:t>
              </a:r>
              <a:r>
                <a:rPr lang="en-US" sz="1100" dirty="0">
                  <a:solidFill>
                    <a:sysClr val="windowText" lastClr="000000"/>
                  </a:solidFill>
                </a:rPr>
                <a:t>,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22280" y="1452438"/>
              <a:ext cx="3644526" cy="138596"/>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Footnote</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5231" y="2293111"/>
            <a:ext cx="2470459" cy="1751738"/>
            <a:chOff x="4137004" y="1450132"/>
            <a:chExt cx="3629803" cy="816959"/>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4" y="1456837"/>
              <a:ext cx="3629803" cy="81025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100" dirty="0">
                <a:solidFill>
                  <a:sysClr val="windowText" lastClr="000000"/>
                </a:solidFill>
              </a:endParaRPr>
            </a:p>
            <a:p>
              <a:pPr marL="257175" indent="-257175">
                <a:buFont typeface="+mj-lt"/>
                <a:buAutoNum type="arabicPeriod"/>
                <a:defRPr/>
              </a:pPr>
              <a:r>
                <a:rPr lang="en-US" sz="1100" dirty="0">
                  <a:solidFill>
                    <a:sysClr val="windowText" lastClr="000000"/>
                  </a:solidFill>
                </a:rPr>
                <a:t>Cath: catheter</a:t>
              </a:r>
            </a:p>
            <a:p>
              <a:pPr marL="257175" indent="-257175">
                <a:buFont typeface="+mj-lt"/>
                <a:buAutoNum type="arabicPeriod"/>
                <a:defRPr/>
              </a:pPr>
              <a:r>
                <a:rPr lang="en-US" sz="1100" dirty="0">
                  <a:solidFill>
                    <a:sysClr val="windowText" lastClr="000000"/>
                  </a:solidFill>
                </a:rPr>
                <a:t>CBC: complete blood count </a:t>
              </a:r>
            </a:p>
            <a:p>
              <a:pPr marL="257175" indent="-257175">
                <a:buFont typeface="+mj-lt"/>
                <a:buAutoNum type="arabicPeriod"/>
                <a:defRPr/>
              </a:pPr>
              <a:r>
                <a:rPr lang="en-US" sz="1100" dirty="0">
                  <a:solidFill>
                    <a:sysClr val="windowText" lastClr="000000"/>
                  </a:solidFill>
                </a:rPr>
                <a:t>LP: lumbar puncture</a:t>
              </a:r>
            </a:p>
            <a:p>
              <a:pPr marL="257175" indent="-257175">
                <a:buFont typeface="+mj-lt"/>
                <a:buAutoNum type="arabicPeriod"/>
                <a:defRPr/>
              </a:pPr>
              <a:r>
                <a:rPr lang="en-US" sz="1100" dirty="0">
                  <a:solidFill>
                    <a:sysClr val="windowText" lastClr="000000"/>
                  </a:solidFill>
                </a:rPr>
                <a:t>RSV: respiratory syncytial virus</a:t>
              </a:r>
            </a:p>
            <a:p>
              <a:pPr marL="257175" indent="-257175">
                <a:buFont typeface="+mj-lt"/>
                <a:buAutoNum type="arabicPeriod"/>
                <a:defRPr/>
              </a:pPr>
              <a:r>
                <a:rPr lang="en-US" sz="1100" dirty="0">
                  <a:solidFill>
                    <a:sysClr val="windowText" lastClr="000000"/>
                  </a:solidFill>
                </a:rPr>
                <a:t>UA: urinalysis</a:t>
              </a:r>
            </a:p>
            <a:p>
              <a:pPr marL="257175" indent="-257175">
                <a:buFont typeface="+mj-lt"/>
                <a:buAutoNum type="arabicPeriod"/>
                <a:defRPr/>
              </a:pPr>
              <a:r>
                <a:rPr lang="en-US" sz="1100" dirty="0">
                  <a:solidFill>
                    <a:sysClr val="windowText" lastClr="000000"/>
                  </a:solidFill>
                </a:rPr>
                <a:t>UCx: urine culture</a:t>
              </a:r>
            </a:p>
            <a:p>
              <a:pPr marL="257175" indent="-257175">
                <a:buFont typeface="+mj-lt"/>
                <a:buAutoNum type="arabicPeriod"/>
                <a:defRPr/>
              </a:pPr>
              <a:r>
                <a:rPr lang="en-US" sz="1100" dirty="0">
                  <a:solidFill>
                    <a:sysClr val="windowText" lastClr="000000"/>
                  </a:solidFill>
                </a:rPr>
                <a:t>UTI: urinary tract infection</a:t>
              </a:r>
            </a:p>
            <a:p>
              <a:pPr marL="257175" indent="-257175">
                <a:buFont typeface="+mj-lt"/>
                <a:buAutoNum type="arabicPeriod"/>
                <a:defRPr/>
              </a:pPr>
              <a:r>
                <a:rPr lang="en-US" sz="1100" dirty="0" err="1">
                  <a:solidFill>
                    <a:sysClr val="windowText" lastClr="000000"/>
                  </a:solidFill>
                </a:rPr>
                <a:t>Pabx</a:t>
              </a:r>
              <a:r>
                <a:rPr lang="en-US" sz="1100" dirty="0">
                  <a:solidFill>
                    <a:sysClr val="windowText" lastClr="000000"/>
                  </a:solidFill>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0132"/>
              <a:ext cx="3629803"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Abbreviations</a:t>
              </a:r>
            </a:p>
          </p:txBody>
        </p:sp>
      </p:grpSp>
      <p:sp>
        <p:nvSpPr>
          <p:cNvPr id="28" name="TextBox 27">
            <a:extLst>
              <a:ext uri="{FF2B5EF4-FFF2-40B4-BE49-F238E27FC236}">
                <a16:creationId xmlns:a16="http://schemas.microsoft.com/office/drawing/2014/main" id="{880BFB8F-4653-419B-ABED-DD9148EBFC7F}"/>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2" name="Title 1">
            <a:extLst>
              <a:ext uri="{FF2B5EF4-FFF2-40B4-BE49-F238E27FC236}">
                <a16:creationId xmlns:a16="http://schemas.microsoft.com/office/drawing/2014/main" id="{3345DDC0-7434-4BE2-A4AE-2C96B243C969}"/>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a:t>
            </a:r>
            <a:r>
              <a:rPr lang="en-US" sz="2200" dirty="0">
                <a:solidFill>
                  <a:sysClr val="windowText" lastClr="000000"/>
                </a:solidFill>
                <a:latin typeface="Microsoft Tai Le" panose="020B0502040204020203" pitchFamily="34" charset="0"/>
                <a:cs typeface="Microsoft Tai Le" panose="020B0502040204020203" pitchFamily="34" charset="0"/>
              </a:rPr>
              <a:t>Ill-Appearing Infant </a:t>
            </a:r>
            <a:endParaRPr lang="en-US" sz="2200" dirty="0">
              <a:solidFill>
                <a:schemeClr val="tx1"/>
              </a:solidFill>
              <a:latin typeface="Microsoft Tai Le"/>
              <a:cs typeface="Microsoft Tai Le"/>
            </a:endParaRPr>
          </a:p>
        </p:txBody>
      </p:sp>
      <p:sp>
        <p:nvSpPr>
          <p:cNvPr id="23" name="Rectangle 22">
            <a:extLst>
              <a:ext uri="{FF2B5EF4-FFF2-40B4-BE49-F238E27FC236}">
                <a16:creationId xmlns:a16="http://schemas.microsoft.com/office/drawing/2014/main" id="{97CD3EAF-104C-4B50-8EAA-D8D3EDDB2588}"/>
              </a:ext>
            </a:extLst>
          </p:cNvPr>
          <p:cNvSpPr/>
          <p:nvPr/>
        </p:nvSpPr>
        <p:spPr>
          <a:xfrm>
            <a:off x="660447" y="2643937"/>
            <a:ext cx="2449140" cy="400706"/>
          </a:xfrm>
          <a:prstGeom prst="rect">
            <a:avLst/>
          </a:prstGeom>
          <a:solidFill>
            <a:srgbClr val="FF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dirty="0">
                <a:solidFill>
                  <a:sysClr val="windowText" lastClr="000000"/>
                </a:solidFill>
              </a:rPr>
              <a:t>Consult Pediatrics</a:t>
            </a:r>
          </a:p>
        </p:txBody>
      </p:sp>
      <p:sp>
        <p:nvSpPr>
          <p:cNvPr id="27" name="Arrow: Down 26">
            <a:extLst>
              <a:ext uri="{FF2B5EF4-FFF2-40B4-BE49-F238E27FC236}">
                <a16:creationId xmlns:a16="http://schemas.microsoft.com/office/drawing/2014/main" id="{87C15E7A-7EE7-4ABA-B59D-7023662EBC13}"/>
              </a:ext>
            </a:extLst>
          </p:cNvPr>
          <p:cNvSpPr/>
          <p:nvPr/>
        </p:nvSpPr>
        <p:spPr>
          <a:xfrm>
            <a:off x="1612373" y="2220854"/>
            <a:ext cx="545289" cy="400706"/>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2133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BA0E9C9-689F-0D46-9FAD-77D4D0DFECB9}"/>
              </a:ext>
            </a:extLst>
          </p:cNvPr>
          <p:cNvSpPr txBox="1"/>
          <p:nvPr/>
        </p:nvSpPr>
        <p:spPr>
          <a:xfrm>
            <a:off x="6383564" y="2608827"/>
            <a:ext cx="2344563" cy="346249"/>
          </a:xfrm>
          <a:prstGeom prst="rect">
            <a:avLst/>
          </a:prstGeom>
          <a:solidFill>
            <a:schemeClr val="bg1">
              <a:lumMod val="95000"/>
            </a:schemeClr>
          </a:solidFill>
          <a:ln w="12700">
            <a:solidFill>
              <a:schemeClr val="tx1"/>
            </a:solidFill>
          </a:ln>
        </p:spPr>
        <p:txBody>
          <a:bodyPr wrap="square" lIns="68580" tIns="34290" rIns="68580" bIns="34290" rtlCol="0" anchor="t">
            <a:spAutoFit/>
          </a:bodyPr>
          <a:lstStyle/>
          <a:p>
            <a:r>
              <a:rPr lang="en-US" sz="900" b="1" dirty="0"/>
              <a:t>Footnotes:</a:t>
            </a:r>
          </a:p>
          <a:p>
            <a:r>
              <a:rPr lang="en-US" sz="900" b="1" dirty="0"/>
              <a:t>*</a:t>
            </a:r>
            <a:r>
              <a:rPr lang="en-US" sz="900" dirty="0"/>
              <a:t> The AAP does not include infants age &gt; 60 days</a:t>
            </a:r>
          </a:p>
        </p:txBody>
      </p:sp>
      <p:sp>
        <p:nvSpPr>
          <p:cNvPr id="22" name="TextBox 21">
            <a:extLst>
              <a:ext uri="{FF2B5EF4-FFF2-40B4-BE49-F238E27FC236}">
                <a16:creationId xmlns:a16="http://schemas.microsoft.com/office/drawing/2014/main" id="{D2A6BAF9-EFBA-418F-8678-9B1D4697F3A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19" name="Title 1">
            <a:extLst>
              <a:ext uri="{FF2B5EF4-FFF2-40B4-BE49-F238E27FC236}">
                <a16:creationId xmlns:a16="http://schemas.microsoft.com/office/drawing/2014/main" id="{4E0555B5-4807-4459-8402-1E2E15199238}"/>
              </a:ext>
            </a:extLst>
          </p:cNvPr>
          <p:cNvSpPr txBox="1">
            <a:spLocks/>
          </p:cNvSpPr>
          <p:nvPr/>
        </p:nvSpPr>
        <p:spPr bwMode="gray">
          <a:xfrm>
            <a:off x="469292"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61-90 Days Old, </a:t>
            </a:r>
            <a:r>
              <a:rPr lang="en-US" sz="2200" dirty="0">
                <a:solidFill>
                  <a:sysClr val="windowText" lastClr="000000"/>
                </a:solidFill>
                <a:latin typeface="Microsoft Tai Le" panose="020B0502040204020203" pitchFamily="34" charset="0"/>
                <a:cs typeface="Microsoft Tai Le" panose="020B0502040204020203" pitchFamily="34" charset="0"/>
              </a:rPr>
              <a:t>Ill-Appearing Infant </a:t>
            </a:r>
            <a:endParaRPr lang="en-US" sz="2200" dirty="0">
              <a:solidFill>
                <a:schemeClr val="tx1"/>
              </a:solidFill>
              <a:latin typeface="Microsoft Tai Le"/>
              <a:cs typeface="Microsoft Tai Le"/>
            </a:endParaRPr>
          </a:p>
        </p:txBody>
      </p:sp>
      <p:grpSp>
        <p:nvGrpSpPr>
          <p:cNvPr id="56" name="Group 55">
            <a:extLst>
              <a:ext uri="{FF2B5EF4-FFF2-40B4-BE49-F238E27FC236}">
                <a16:creationId xmlns:a16="http://schemas.microsoft.com/office/drawing/2014/main" id="{285432B4-3506-4FF7-9921-18339BA1A1D0}"/>
              </a:ext>
            </a:extLst>
          </p:cNvPr>
          <p:cNvGrpSpPr/>
          <p:nvPr/>
        </p:nvGrpSpPr>
        <p:grpSpPr>
          <a:xfrm>
            <a:off x="2432933" y="1605632"/>
            <a:ext cx="4118737" cy="4091735"/>
            <a:chOff x="3223741" y="1317577"/>
            <a:chExt cx="5491649" cy="5455647"/>
          </a:xfrm>
        </p:grpSpPr>
        <p:cxnSp>
          <p:nvCxnSpPr>
            <p:cNvPr id="57" name="Straight Arrow Connector 56">
              <a:extLst>
                <a:ext uri="{FF2B5EF4-FFF2-40B4-BE49-F238E27FC236}">
                  <a16:creationId xmlns:a16="http://schemas.microsoft.com/office/drawing/2014/main" id="{D9AD6185-AC1C-4ACC-84CE-BD5C50C6B082}"/>
                </a:ext>
              </a:extLst>
            </p:cNvPr>
            <p:cNvCxnSpPr>
              <a:cxnSpLocks/>
              <a:stCxn id="76" idx="2"/>
              <a:endCxn id="78" idx="0"/>
            </p:cNvCxnSpPr>
            <p:nvPr/>
          </p:nvCxnSpPr>
          <p:spPr>
            <a:xfrm>
              <a:off x="6423467" y="5370234"/>
              <a:ext cx="3311" cy="566569"/>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3964372-82C0-4652-AB1E-045F6934BEFD}"/>
                </a:ext>
              </a:extLst>
            </p:cNvPr>
            <p:cNvCxnSpPr>
              <a:cxnSpLocks/>
              <a:stCxn id="74" idx="2"/>
              <a:endCxn id="71" idx="0"/>
            </p:cNvCxnSpPr>
            <p:nvPr/>
          </p:nvCxnSpPr>
          <p:spPr>
            <a:xfrm flipH="1">
              <a:off x="6423468" y="1762558"/>
              <a:ext cx="246" cy="483656"/>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D2120905-9789-4240-8C91-BA5B537CAADF}"/>
                </a:ext>
              </a:extLst>
            </p:cNvPr>
            <p:cNvGrpSpPr/>
            <p:nvPr/>
          </p:nvGrpSpPr>
          <p:grpSpPr>
            <a:xfrm>
              <a:off x="3223741" y="1317577"/>
              <a:ext cx="5491649" cy="5455647"/>
              <a:chOff x="3060778" y="1179078"/>
              <a:chExt cx="5491649" cy="5455647"/>
            </a:xfrm>
          </p:grpSpPr>
          <p:cxnSp>
            <p:nvCxnSpPr>
              <p:cNvPr id="60" name="Straight Arrow Connector 59">
                <a:extLst>
                  <a:ext uri="{FF2B5EF4-FFF2-40B4-BE49-F238E27FC236}">
                    <a16:creationId xmlns:a16="http://schemas.microsoft.com/office/drawing/2014/main" id="{CD7C73A1-97AE-41B3-B54D-D30BD70E893B}"/>
                  </a:ext>
                </a:extLst>
              </p:cNvPr>
              <p:cNvCxnSpPr>
                <a:cxnSpLocks/>
                <a:stCxn id="76" idx="3"/>
                <a:endCxn id="77" idx="1"/>
              </p:cNvCxnSpPr>
              <p:nvPr/>
            </p:nvCxnSpPr>
            <p:spPr>
              <a:xfrm>
                <a:off x="7265065" y="4804158"/>
                <a:ext cx="406731"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F6BD8482-7C28-4C9B-A54A-78657E839EEB}"/>
                  </a:ext>
                </a:extLst>
              </p:cNvPr>
              <p:cNvGrpSpPr/>
              <p:nvPr/>
            </p:nvGrpSpPr>
            <p:grpSpPr>
              <a:xfrm>
                <a:off x="3060778" y="1179078"/>
                <a:ext cx="5491649" cy="5455647"/>
                <a:chOff x="3060778" y="1179078"/>
                <a:chExt cx="5491649" cy="5455647"/>
              </a:xfrm>
            </p:grpSpPr>
            <p:sp>
              <p:nvSpPr>
                <p:cNvPr id="62" name="TextBox 61">
                  <a:extLst>
                    <a:ext uri="{FF2B5EF4-FFF2-40B4-BE49-F238E27FC236}">
                      <a16:creationId xmlns:a16="http://schemas.microsoft.com/office/drawing/2014/main" id="{0CE2B162-AD07-432F-90C7-7913BE854286}"/>
                    </a:ext>
                  </a:extLst>
                </p:cNvPr>
                <p:cNvSpPr txBox="1"/>
                <p:nvPr/>
              </p:nvSpPr>
              <p:spPr>
                <a:xfrm>
                  <a:off x="6260504" y="5320933"/>
                  <a:ext cx="436445" cy="307776"/>
                </a:xfrm>
                <a:prstGeom prst="rect">
                  <a:avLst/>
                </a:prstGeom>
                <a:noFill/>
                <a:ln>
                  <a:noFill/>
                </a:ln>
              </p:spPr>
              <p:txBody>
                <a:bodyPr wrap="none" rtlCol="0">
                  <a:spAutoFit/>
                </a:bodyPr>
                <a:lstStyle/>
                <a:p>
                  <a:r>
                    <a:rPr lang="en-US" sz="900"/>
                    <a:t>NO</a:t>
                  </a:r>
                </a:p>
              </p:txBody>
            </p:sp>
            <p:sp>
              <p:nvSpPr>
                <p:cNvPr id="63" name="TextBox 62">
                  <a:extLst>
                    <a:ext uri="{FF2B5EF4-FFF2-40B4-BE49-F238E27FC236}">
                      <a16:creationId xmlns:a16="http://schemas.microsoft.com/office/drawing/2014/main" id="{42F687AE-BCA3-455B-9BC5-2B354EEF4DDE}"/>
                    </a:ext>
                  </a:extLst>
                </p:cNvPr>
                <p:cNvSpPr txBox="1"/>
                <p:nvPr/>
              </p:nvSpPr>
              <p:spPr>
                <a:xfrm>
                  <a:off x="7206516" y="4503106"/>
                  <a:ext cx="496291" cy="307776"/>
                </a:xfrm>
                <a:prstGeom prst="rect">
                  <a:avLst/>
                </a:prstGeom>
                <a:noFill/>
                <a:ln>
                  <a:noFill/>
                </a:ln>
              </p:spPr>
              <p:txBody>
                <a:bodyPr wrap="none" rtlCol="0">
                  <a:spAutoFit/>
                </a:bodyPr>
                <a:lstStyle/>
                <a:p>
                  <a:r>
                    <a:rPr lang="en-US" sz="900" dirty="0"/>
                    <a:t>YES</a:t>
                  </a:r>
                </a:p>
              </p:txBody>
            </p:sp>
            <p:grpSp>
              <p:nvGrpSpPr>
                <p:cNvPr id="64" name="Group 63">
                  <a:extLst>
                    <a:ext uri="{FF2B5EF4-FFF2-40B4-BE49-F238E27FC236}">
                      <a16:creationId xmlns:a16="http://schemas.microsoft.com/office/drawing/2014/main" id="{8F0282F5-1FFB-4099-ADE7-4087E3751947}"/>
                    </a:ext>
                  </a:extLst>
                </p:cNvPr>
                <p:cNvGrpSpPr/>
                <p:nvPr/>
              </p:nvGrpSpPr>
              <p:grpSpPr>
                <a:xfrm>
                  <a:off x="3060778" y="1179078"/>
                  <a:ext cx="5491649" cy="5455647"/>
                  <a:chOff x="3060778" y="1179078"/>
                  <a:chExt cx="5491649" cy="5455647"/>
                </a:xfrm>
              </p:grpSpPr>
              <p:sp>
                <p:nvSpPr>
                  <p:cNvPr id="65" name="TextBox 64">
                    <a:extLst>
                      <a:ext uri="{FF2B5EF4-FFF2-40B4-BE49-F238E27FC236}">
                        <a16:creationId xmlns:a16="http://schemas.microsoft.com/office/drawing/2014/main" id="{4B92BE14-A78D-4323-9595-A92A4FB205C0}"/>
                      </a:ext>
                    </a:extLst>
                  </p:cNvPr>
                  <p:cNvSpPr txBox="1"/>
                  <p:nvPr/>
                </p:nvSpPr>
                <p:spPr>
                  <a:xfrm>
                    <a:off x="6260504" y="2752133"/>
                    <a:ext cx="436445" cy="307776"/>
                  </a:xfrm>
                  <a:prstGeom prst="rect">
                    <a:avLst/>
                  </a:prstGeom>
                  <a:noFill/>
                  <a:ln>
                    <a:noFill/>
                  </a:ln>
                </p:spPr>
                <p:txBody>
                  <a:bodyPr wrap="none" rtlCol="0">
                    <a:spAutoFit/>
                  </a:bodyPr>
                  <a:lstStyle/>
                  <a:p>
                    <a:r>
                      <a:rPr lang="en-US" sz="900"/>
                      <a:t>NO</a:t>
                    </a:r>
                  </a:p>
                </p:txBody>
              </p:sp>
              <p:sp>
                <p:nvSpPr>
                  <p:cNvPr id="66" name="Rectangle 65">
                    <a:extLst>
                      <a:ext uri="{FF2B5EF4-FFF2-40B4-BE49-F238E27FC236}">
                        <a16:creationId xmlns:a16="http://schemas.microsoft.com/office/drawing/2014/main" id="{9910EE74-8BCD-4A7D-9D09-53E547E4AB0D}"/>
                      </a:ext>
                    </a:extLst>
                  </p:cNvPr>
                  <p:cNvSpPr/>
                  <p:nvPr/>
                </p:nvSpPr>
                <p:spPr>
                  <a:xfrm>
                    <a:off x="3060778" y="2596350"/>
                    <a:ext cx="1765376" cy="60730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ysClr val="windowText" lastClr="000000"/>
                      </a:solidFill>
                    </a:endParaRPr>
                  </a:p>
                  <a:p>
                    <a:pPr algn="ctr"/>
                    <a:r>
                      <a:rPr lang="en-US" sz="900" dirty="0">
                        <a:solidFill>
                          <a:sysClr val="windowText" lastClr="000000"/>
                        </a:solidFill>
                      </a:rPr>
                      <a:t>Confirm urine sent by bladder </a:t>
                    </a:r>
                    <a:r>
                      <a:rPr lang="en-US" sz="900" dirty="0" err="1">
                        <a:solidFill>
                          <a:sysClr val="windowText" lastClr="000000"/>
                        </a:solidFill>
                      </a:rPr>
                      <a:t>cath</a:t>
                    </a:r>
                    <a:endParaRPr lang="en-US" sz="900" dirty="0">
                      <a:solidFill>
                        <a:sysClr val="windowText" lastClr="000000"/>
                      </a:solidFill>
                    </a:endParaRPr>
                  </a:p>
                  <a:p>
                    <a:pPr algn="ctr"/>
                    <a:endParaRPr lang="en-US" sz="900" dirty="0">
                      <a:solidFill>
                        <a:sysClr val="windowText" lastClr="000000"/>
                      </a:solidFill>
                    </a:endParaRPr>
                  </a:p>
                </p:txBody>
              </p:sp>
              <p:sp>
                <p:nvSpPr>
                  <p:cNvPr id="67" name="TextBox 66">
                    <a:extLst>
                      <a:ext uri="{FF2B5EF4-FFF2-40B4-BE49-F238E27FC236}">
                        <a16:creationId xmlns:a16="http://schemas.microsoft.com/office/drawing/2014/main" id="{DB07FF08-9452-49C8-9E08-814374B8356B}"/>
                      </a:ext>
                    </a:extLst>
                  </p:cNvPr>
                  <p:cNvSpPr txBox="1"/>
                  <p:nvPr/>
                </p:nvSpPr>
                <p:spPr>
                  <a:xfrm>
                    <a:off x="5052677" y="2032103"/>
                    <a:ext cx="496291" cy="307776"/>
                  </a:xfrm>
                  <a:prstGeom prst="rect">
                    <a:avLst/>
                  </a:prstGeom>
                  <a:noFill/>
                  <a:ln>
                    <a:noFill/>
                  </a:ln>
                </p:spPr>
                <p:txBody>
                  <a:bodyPr wrap="none" rtlCol="0">
                    <a:spAutoFit/>
                  </a:bodyPr>
                  <a:lstStyle/>
                  <a:p>
                    <a:r>
                      <a:rPr lang="en-US" sz="900"/>
                      <a:t>YES</a:t>
                    </a:r>
                  </a:p>
                </p:txBody>
              </p:sp>
              <p:cxnSp>
                <p:nvCxnSpPr>
                  <p:cNvPr id="68" name="Connector: Elbow 67">
                    <a:extLst>
                      <a:ext uri="{FF2B5EF4-FFF2-40B4-BE49-F238E27FC236}">
                        <a16:creationId xmlns:a16="http://schemas.microsoft.com/office/drawing/2014/main" id="{240813FC-A7A3-4629-AC25-DF10281972CA}"/>
                      </a:ext>
                    </a:extLst>
                  </p:cNvPr>
                  <p:cNvCxnSpPr>
                    <a:cxnSpLocks/>
                    <a:stCxn id="71" idx="1"/>
                    <a:endCxn id="66" idx="0"/>
                  </p:cNvCxnSpPr>
                  <p:nvPr/>
                </p:nvCxnSpPr>
                <p:spPr>
                  <a:xfrm rot="10800000" flipV="1">
                    <a:off x="3943466" y="2332674"/>
                    <a:ext cx="1781424" cy="263675"/>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05290259-FD2C-4AB2-ABE4-3C3C1C9B43C3}"/>
                      </a:ext>
                    </a:extLst>
                  </p:cNvPr>
                  <p:cNvGrpSpPr/>
                  <p:nvPr/>
                </p:nvGrpSpPr>
                <p:grpSpPr>
                  <a:xfrm>
                    <a:off x="4199344" y="1179078"/>
                    <a:ext cx="4353083" cy="5455647"/>
                    <a:chOff x="4199344" y="1179078"/>
                    <a:chExt cx="4353083" cy="5455647"/>
                  </a:xfrm>
                </p:grpSpPr>
                <p:grpSp>
                  <p:nvGrpSpPr>
                    <p:cNvPr id="70" name="Group 69">
                      <a:extLst>
                        <a:ext uri="{FF2B5EF4-FFF2-40B4-BE49-F238E27FC236}">
                          <a16:creationId xmlns:a16="http://schemas.microsoft.com/office/drawing/2014/main" id="{E784050F-6FDE-49E8-A279-DF129C758466}"/>
                        </a:ext>
                      </a:extLst>
                    </p:cNvPr>
                    <p:cNvGrpSpPr/>
                    <p:nvPr/>
                  </p:nvGrpSpPr>
                  <p:grpSpPr>
                    <a:xfrm>
                      <a:off x="4199344" y="1179078"/>
                      <a:ext cx="4353083" cy="5455647"/>
                      <a:chOff x="-159466" y="1339845"/>
                      <a:chExt cx="7738805" cy="9698925"/>
                    </a:xfrm>
                  </p:grpSpPr>
                  <p:sp>
                    <p:nvSpPr>
                      <p:cNvPr id="74" name="Rectangle 73">
                        <a:extLst>
                          <a:ext uri="{FF2B5EF4-FFF2-40B4-BE49-F238E27FC236}">
                            <a16:creationId xmlns:a16="http://schemas.microsoft.com/office/drawing/2014/main" id="{41B165F1-0588-4282-BD88-08FD0B668FC0}"/>
                          </a:ext>
                        </a:extLst>
                      </p:cNvPr>
                      <p:cNvSpPr/>
                      <p:nvPr/>
                    </p:nvSpPr>
                    <p:spPr>
                      <a:xfrm>
                        <a:off x="800350" y="1339845"/>
                        <a:ext cx="5409807" cy="79107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endParaRPr>
                      </a:p>
                      <a:p>
                        <a:pPr algn="ctr"/>
                        <a:r>
                          <a:rPr lang="en-US" sz="900" dirty="0">
                            <a:solidFill>
                              <a:schemeClr val="tx1"/>
                            </a:solidFill>
                          </a:rPr>
                          <a:t>Perform UA, </a:t>
                        </a:r>
                        <a:r>
                          <a:rPr lang="en-US" sz="900" dirty="0" err="1">
                            <a:solidFill>
                              <a:schemeClr val="tx1"/>
                            </a:solidFill>
                          </a:rPr>
                          <a:t>UCx</a:t>
                        </a:r>
                        <a:r>
                          <a:rPr lang="en-US" sz="900" dirty="0">
                            <a:solidFill>
                              <a:schemeClr val="tx1"/>
                            </a:solidFill>
                          </a:rPr>
                          <a:t>, CBC w/diff, blood </a:t>
                        </a:r>
                        <a:r>
                          <a:rPr lang="en-US" sz="900" dirty="0" err="1">
                            <a:solidFill>
                              <a:schemeClr val="tx1"/>
                            </a:solidFill>
                          </a:rPr>
                          <a:t>Cx</a:t>
                        </a:r>
                        <a:r>
                          <a:rPr lang="en-US" sz="900" dirty="0">
                            <a:solidFill>
                              <a:schemeClr val="tx1"/>
                            </a:solidFill>
                          </a:rPr>
                          <a:t> and LP</a:t>
                        </a:r>
                      </a:p>
                      <a:p>
                        <a:endParaRPr lang="en-US" sz="900" dirty="0">
                          <a:solidFill>
                            <a:schemeClr val="tx1"/>
                          </a:solidFill>
                        </a:endParaRPr>
                      </a:p>
                    </p:txBody>
                  </p:sp>
                  <p:sp>
                    <p:nvSpPr>
                      <p:cNvPr id="75" name="Rectangle 74">
                        <a:extLst>
                          <a:ext uri="{FF2B5EF4-FFF2-40B4-BE49-F238E27FC236}">
                            <a16:creationId xmlns:a16="http://schemas.microsoft.com/office/drawing/2014/main" id="{8E80AB91-ED2F-405E-8663-9258992CB46E}"/>
                          </a:ext>
                        </a:extLst>
                      </p:cNvPr>
                      <p:cNvSpPr/>
                      <p:nvPr/>
                    </p:nvSpPr>
                    <p:spPr>
                      <a:xfrm>
                        <a:off x="2042611" y="5220827"/>
                        <a:ext cx="2925813" cy="84025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mj-lt"/>
                          <a:buAutoNum type="arabicPeriod"/>
                        </a:pPr>
                        <a:r>
                          <a:rPr lang="en-US" sz="900">
                            <a:solidFill>
                              <a:sysClr val="windowText" lastClr="000000"/>
                            </a:solidFill>
                          </a:rPr>
                          <a:t>Initiate </a:t>
                        </a:r>
                        <a:r>
                          <a:rPr lang="en-US" sz="900" err="1">
                            <a:solidFill>
                              <a:sysClr val="windowText" lastClr="000000"/>
                            </a:solidFill>
                          </a:rPr>
                          <a:t>Pabx</a:t>
                        </a:r>
                        <a:endParaRPr lang="en-US" sz="900">
                          <a:solidFill>
                            <a:sysClr val="windowText" lastClr="000000"/>
                          </a:solidFill>
                        </a:endParaRPr>
                      </a:p>
                      <a:p>
                        <a:pPr marL="171450" indent="-171450">
                          <a:buFont typeface="+mj-lt"/>
                          <a:buAutoNum type="arabicPeriod"/>
                        </a:pPr>
                        <a:r>
                          <a:rPr lang="en-US" sz="900">
                            <a:solidFill>
                              <a:sysClr val="windowText" lastClr="000000"/>
                            </a:solidFill>
                          </a:rPr>
                          <a:t>Observe in hospital</a:t>
                        </a:r>
                      </a:p>
                    </p:txBody>
                  </p:sp>
                  <p:sp>
                    <p:nvSpPr>
                      <p:cNvPr id="76" name="Diamond 75">
                        <a:extLst>
                          <a:ext uri="{FF2B5EF4-FFF2-40B4-BE49-F238E27FC236}">
                            <a16:creationId xmlns:a16="http://schemas.microsoft.com/office/drawing/2014/main" id="{1005FD8D-F1AC-4C80-8355-0CB222A6E486}"/>
                          </a:ext>
                        </a:extLst>
                      </p:cNvPr>
                      <p:cNvSpPr/>
                      <p:nvPr/>
                    </p:nvSpPr>
                    <p:spPr>
                      <a:xfrm>
                        <a:off x="1718930" y="7024296"/>
                        <a:ext cx="3571768" cy="1520274"/>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ysClr val="windowText" lastClr="000000"/>
                            </a:solidFill>
                          </a:rPr>
                          <a:t>Pathogen or Source identified</a:t>
                        </a:r>
                      </a:p>
                    </p:txBody>
                  </p:sp>
                  <p:sp>
                    <p:nvSpPr>
                      <p:cNvPr id="77" name="Rectangle 76">
                        <a:extLst>
                          <a:ext uri="{FF2B5EF4-FFF2-40B4-BE49-F238E27FC236}">
                            <a16:creationId xmlns:a16="http://schemas.microsoft.com/office/drawing/2014/main" id="{BD92B114-7BED-493C-95B5-2107ED757AA9}"/>
                          </a:ext>
                        </a:extLst>
                      </p:cNvPr>
                      <p:cNvSpPr/>
                      <p:nvPr/>
                    </p:nvSpPr>
                    <p:spPr>
                      <a:xfrm>
                        <a:off x="6013775" y="7276821"/>
                        <a:ext cx="1565564" cy="1015223"/>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Treat infection</a:t>
                        </a:r>
                      </a:p>
                    </p:txBody>
                  </p:sp>
                  <p:sp>
                    <p:nvSpPr>
                      <p:cNvPr id="78" name="Rectangle 77">
                        <a:extLst>
                          <a:ext uri="{FF2B5EF4-FFF2-40B4-BE49-F238E27FC236}">
                            <a16:creationId xmlns:a16="http://schemas.microsoft.com/office/drawing/2014/main" id="{230D533D-FA20-4F16-BE85-8B7FD07AF66B}"/>
                          </a:ext>
                        </a:extLst>
                      </p:cNvPr>
                      <p:cNvSpPr/>
                      <p:nvPr/>
                    </p:nvSpPr>
                    <p:spPr>
                      <a:xfrm>
                        <a:off x="-159466" y="9551804"/>
                        <a:ext cx="7340331" cy="1486966"/>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661" indent="-144661">
                          <a:buFont typeface="+mj-lt"/>
                          <a:buAutoNum type="arabicPeriod"/>
                        </a:pPr>
                        <a:r>
                          <a:rPr lang="en-US" sz="900">
                            <a:solidFill>
                              <a:sysClr val="windowText" lastClr="000000"/>
                            </a:solidFill>
                          </a:rPr>
                          <a:t>Discontinue antimicrobial(s) and may discharge hospitalized infant if all </a:t>
                        </a:r>
                        <a:r>
                          <a:rPr lang="en-US" sz="900" err="1">
                            <a:solidFill>
                              <a:sysClr val="windowText" lastClr="000000"/>
                            </a:solidFill>
                          </a:rPr>
                          <a:t>Cx</a:t>
                        </a:r>
                        <a:r>
                          <a:rPr lang="en-US" sz="900">
                            <a:solidFill>
                              <a:sysClr val="windowText" lastClr="000000"/>
                            </a:solidFill>
                          </a:rPr>
                          <a:t>- at 24-36 </a:t>
                        </a:r>
                        <a:r>
                          <a:rPr lang="en-US" sz="900" err="1">
                            <a:solidFill>
                              <a:sysClr val="windowText" lastClr="000000"/>
                            </a:solidFill>
                          </a:rPr>
                          <a:t>hrs</a:t>
                        </a:r>
                        <a:endParaRPr lang="en-US" sz="900">
                          <a:solidFill>
                            <a:sysClr val="windowText" lastClr="000000"/>
                          </a:solidFill>
                        </a:endParaRPr>
                      </a:p>
                      <a:p>
                        <a:pPr marL="144661" indent="-144661">
                          <a:buFont typeface="+mj-lt"/>
                          <a:buAutoNum type="arabicPeriod"/>
                        </a:pPr>
                        <a:r>
                          <a:rPr lang="en-US" sz="900">
                            <a:solidFill>
                              <a:sysClr val="windowText" lastClr="000000"/>
                            </a:solidFill>
                          </a:rPr>
                          <a:t>Follow for duration of illness</a:t>
                        </a:r>
                      </a:p>
                    </p:txBody>
                  </p:sp>
                </p:grpSp>
                <p:sp>
                  <p:nvSpPr>
                    <p:cNvPr id="71" name="Diamond 70">
                      <a:extLst>
                        <a:ext uri="{FF2B5EF4-FFF2-40B4-BE49-F238E27FC236}">
                          <a16:creationId xmlns:a16="http://schemas.microsoft.com/office/drawing/2014/main" id="{BE2E91EB-0FD6-4180-AD20-2C6348F76F7A}"/>
                        </a:ext>
                      </a:extLst>
                    </p:cNvPr>
                    <p:cNvSpPr/>
                    <p:nvPr/>
                  </p:nvSpPr>
                  <p:spPr>
                    <a:xfrm>
                      <a:off x="5724890" y="2107715"/>
                      <a:ext cx="1071230" cy="449920"/>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UA+ </a:t>
                      </a:r>
                    </a:p>
                  </p:txBody>
                </p:sp>
                <p:cxnSp>
                  <p:nvCxnSpPr>
                    <p:cNvPr id="72" name="Straight Arrow Connector 71">
                      <a:extLst>
                        <a:ext uri="{FF2B5EF4-FFF2-40B4-BE49-F238E27FC236}">
                          <a16:creationId xmlns:a16="http://schemas.microsoft.com/office/drawing/2014/main" id="{5DA7F0F5-7ECB-49AE-9D3F-0195A4036446}"/>
                        </a:ext>
                      </a:extLst>
                    </p:cNvPr>
                    <p:cNvCxnSpPr>
                      <a:cxnSpLocks/>
                      <a:stCxn id="71" idx="2"/>
                      <a:endCxn id="75" idx="0"/>
                    </p:cNvCxnSpPr>
                    <p:nvPr/>
                  </p:nvCxnSpPr>
                  <p:spPr>
                    <a:xfrm>
                      <a:off x="6260505" y="2557635"/>
                      <a:ext cx="395" cy="804495"/>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3BE72E7-B6A9-4C06-A902-D912AA5B7BE0}"/>
                        </a:ext>
                      </a:extLst>
                    </p:cNvPr>
                    <p:cNvCxnSpPr>
                      <a:cxnSpLocks/>
                      <a:stCxn id="75" idx="2"/>
                      <a:endCxn id="76" idx="0"/>
                    </p:cNvCxnSpPr>
                    <p:nvPr/>
                  </p:nvCxnSpPr>
                  <p:spPr>
                    <a:xfrm flipH="1">
                      <a:off x="6260504" y="3834773"/>
                      <a:ext cx="396" cy="54180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grpSp>
      </p:grpSp>
      <p:cxnSp>
        <p:nvCxnSpPr>
          <p:cNvPr id="79" name="Straight Arrow Connector 78">
            <a:extLst>
              <a:ext uri="{FF2B5EF4-FFF2-40B4-BE49-F238E27FC236}">
                <a16:creationId xmlns:a16="http://schemas.microsoft.com/office/drawing/2014/main" id="{C6C0C8AA-EF26-4B11-AE3A-E74B0FEBF5EA}"/>
              </a:ext>
            </a:extLst>
          </p:cNvPr>
          <p:cNvCxnSpPr>
            <a:cxnSpLocks/>
          </p:cNvCxnSpPr>
          <p:nvPr/>
        </p:nvCxnSpPr>
        <p:spPr>
          <a:xfrm flipV="1">
            <a:off x="3756966" y="2889298"/>
            <a:ext cx="1075763" cy="7027"/>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1624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69292" y="1314271"/>
            <a:ext cx="2743200" cy="1225728"/>
            <a:chOff x="4137004" y="1454326"/>
            <a:chExt cx="3629804" cy="632103"/>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54326"/>
              <a:ext cx="3629803" cy="632103"/>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050" dirty="0">
                <a:solidFill>
                  <a:sysClr val="windowText" lastClr="000000"/>
                </a:solidFill>
              </a:endParaRPr>
            </a:p>
            <a:p>
              <a:pPr marL="257175" indent="-257175">
                <a:buFont typeface="+mj-lt"/>
                <a:buAutoNum type="arabicPeriod"/>
                <a:defRPr/>
              </a:pPr>
              <a:r>
                <a:rPr lang="en-US" sz="1100" dirty="0">
                  <a:solidFill>
                    <a:sysClr val="windowText" lastClr="000000"/>
                  </a:solidFill>
                </a:rPr>
                <a:t>Infants who have received immunizations within the last 48 </a:t>
              </a:r>
              <a:r>
                <a:rPr lang="en-US" sz="1100" dirty="0" err="1">
                  <a:solidFill>
                    <a:sysClr val="windowText" lastClr="000000"/>
                  </a:solidFill>
                </a:rPr>
                <a:t>hrs</a:t>
              </a:r>
              <a:endParaRPr lang="en-US" sz="1100" dirty="0">
                <a:solidFill>
                  <a:sysClr val="windowText" lastClr="000000"/>
                </a:solidFill>
              </a:endParaRPr>
            </a:p>
            <a:p>
              <a:pPr marL="257175" indent="-257175">
                <a:buFont typeface="+mj-lt"/>
                <a:buAutoNum type="arabicPeriod"/>
                <a:defRPr/>
              </a:pPr>
              <a:r>
                <a:rPr lang="en-US" sz="1100" dirty="0">
                  <a:solidFill>
                    <a:sysClr val="windowText" lastClr="000000"/>
                  </a:solidFill>
                </a:rPr>
                <a:t>Infants with clinical bronchiolitis, with or without positive tests for RSV</a:t>
              </a:r>
            </a:p>
            <a:p>
              <a:pPr marL="257175" indent="-257175">
                <a:buFont typeface="+mj-lt"/>
                <a:buAutoNum type="arabicPeriod"/>
                <a:defRPr/>
              </a:pPr>
              <a:r>
                <a:rPr lang="en-US" sz="1100" dirty="0">
                  <a:solidFill>
                    <a:sysClr val="windowText" lastClr="000000"/>
                  </a:solidFill>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4146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5230" y="1318713"/>
            <a:ext cx="2468881" cy="2601354"/>
            <a:chOff x="5092117" y="1946246"/>
            <a:chExt cx="2575422" cy="3468472"/>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6"/>
              <a:ext cx="2575421" cy="3468472"/>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endParaRPr>
            </a:p>
            <a:p>
              <a:pPr lvl="0" algn="ctr">
                <a:defRPr/>
              </a:pPr>
              <a:endParaRPr lang="en-US" sz="1100" dirty="0">
                <a:solidFill>
                  <a:sysClr val="windowText" lastClr="000000"/>
                </a:solidFill>
              </a:endParaRPr>
            </a:p>
            <a:p>
              <a:pPr lvl="0">
                <a:defRPr/>
              </a:pPr>
              <a:r>
                <a:rPr lang="en-US" sz="1100" dirty="0">
                  <a:solidFill>
                    <a:sysClr val="windowText" lastClr="000000"/>
                  </a:solidFill>
                </a:rPr>
                <a:t>Infants 61-90 days of age*, well-appearing, temp ≥ 38C AND one of the following:</a:t>
              </a:r>
            </a:p>
            <a:p>
              <a:pPr marL="228600" lvl="0" indent="-228600">
                <a:buAutoNum type="arabicPeriod"/>
                <a:defRPr/>
              </a:pPr>
              <a:r>
                <a:rPr lang="en-US" sz="1100" dirty="0">
                  <a:solidFill>
                    <a:sysClr val="windowText" lastClr="000000"/>
                  </a:solidFill>
                </a:rPr>
                <a:t>Premature infants &lt; 37 </a:t>
              </a:r>
              <a:r>
                <a:rPr lang="en-US" sz="1100" dirty="0" err="1">
                  <a:solidFill>
                    <a:sysClr val="windowText" lastClr="000000"/>
                  </a:solidFill>
                </a:rPr>
                <a:t>wks</a:t>
              </a:r>
              <a:r>
                <a:rPr lang="en-US" sz="1100" dirty="0">
                  <a:solidFill>
                    <a:sysClr val="windowText" lastClr="000000"/>
                  </a:solidFill>
                </a:rPr>
                <a:t> gestational age</a:t>
              </a:r>
            </a:p>
            <a:p>
              <a:pPr marL="228600" lvl="0" indent="-228600">
                <a:buAutoNum type="arabicPeriod"/>
                <a:defRPr/>
              </a:pPr>
              <a:r>
                <a:rPr lang="en-US" sz="1100" dirty="0">
                  <a:solidFill>
                    <a:sysClr val="windowText" lastClr="000000"/>
                  </a:solidFill>
                </a:rPr>
                <a:t>Infants with documented or suspected immune compromise </a:t>
              </a:r>
            </a:p>
            <a:p>
              <a:pPr marL="228600" lvl="0" indent="-228600">
                <a:buAutoNum type="arabicPeriod"/>
                <a:defRPr/>
              </a:pPr>
              <a:r>
                <a:rPr lang="en-US" sz="1100" dirty="0">
                  <a:solidFill>
                    <a:sysClr val="windowText" lastClr="000000"/>
                  </a:solidFill>
                </a:rPr>
                <a:t>Infants whose neonatal course was complicated by surgery or infection.</a:t>
              </a:r>
            </a:p>
            <a:p>
              <a:pPr marL="228600" lvl="0" indent="-228600">
                <a:buAutoNum type="arabicPeriod"/>
                <a:defRPr/>
              </a:pPr>
              <a:r>
                <a:rPr lang="en-US" sz="1100" dirty="0">
                  <a:solidFill>
                    <a:sysClr val="windowText" lastClr="000000"/>
                  </a:solidFill>
                </a:rPr>
                <a:t>Infants with congenital or chromosomal abnormalities </a:t>
              </a:r>
            </a:p>
            <a:p>
              <a:pPr marL="228600" lvl="0" indent="-228600">
                <a:buAutoNum type="arabicPeriod"/>
                <a:defRPr/>
              </a:pPr>
              <a:r>
                <a:rPr lang="en-US" sz="1100" dirty="0">
                  <a:solidFill>
                    <a:sysClr val="windowText" lastClr="000000"/>
                  </a:solidFill>
                </a:rPr>
                <a:t>Medically fragile infants requiring some form of technology or ongoing therapeutic intervention to sustain life</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8" y="1946247"/>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26849" y="1314272"/>
            <a:ext cx="2468882" cy="3112700"/>
            <a:chOff x="4122280" y="1452438"/>
            <a:chExt cx="3644528" cy="1572645"/>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22281" y="1454327"/>
              <a:ext cx="3644527" cy="1570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endParaRPr>
            </a:p>
            <a:p>
              <a:r>
                <a:rPr lang="en-US" sz="1100" b="1" dirty="0">
                  <a:solidFill>
                    <a:schemeClr val="tx1"/>
                  </a:solidFill>
                </a:rPr>
                <a:t>*</a:t>
              </a:r>
              <a:r>
                <a:rPr lang="en-US" sz="1100" dirty="0">
                  <a:solidFill>
                    <a:schemeClr val="tx1"/>
                  </a:solidFill>
                </a:rPr>
                <a:t> The AAP does not include infants age &gt; 60 days</a:t>
              </a:r>
            </a:p>
            <a:p>
              <a:r>
                <a:rPr lang="en-US" sz="1100" b="1" dirty="0">
                  <a:solidFill>
                    <a:schemeClr val="tx1"/>
                  </a:solidFill>
                </a:rPr>
                <a:t>† </a:t>
              </a:r>
              <a:r>
                <a:rPr lang="en-US" sz="1100" dirty="0">
                  <a:solidFill>
                    <a:sysClr val="windowText" lastClr="000000"/>
                  </a:solidFill>
                </a:rPr>
                <a:t>If observed at home, then recommend oral antimicrobials to treat presumed UTI if UA positive. Clinicians may manage infants at home if ALL following criteria are met: </a:t>
              </a:r>
              <a:r>
                <a:rPr lang="en-US" sz="1100" b="1" dirty="0">
                  <a:solidFill>
                    <a:sysClr val="windowText" lastClr="000000"/>
                  </a:solidFill>
                </a:rPr>
                <a:t>1) Verbal teaching and written instructions </a:t>
              </a:r>
              <a:r>
                <a:rPr lang="en-US" sz="1100" dirty="0">
                  <a:solidFill>
                    <a:sysClr val="windowText" lastClr="000000"/>
                  </a:solidFill>
                </a:rPr>
                <a:t>have been provided for monitoring throughout the period at home  </a:t>
              </a:r>
              <a:r>
                <a:rPr lang="en-US" sz="1100" b="1" dirty="0">
                  <a:solidFill>
                    <a:sysClr val="windowText" lastClr="000000"/>
                  </a:solidFill>
                </a:rPr>
                <a:t>2)</a:t>
              </a:r>
              <a:r>
                <a:rPr lang="en-US" sz="1100" dirty="0">
                  <a:solidFill>
                    <a:sysClr val="windowText" lastClr="000000"/>
                  </a:solidFill>
                </a:rPr>
                <a:t> Follow-up plans</a:t>
              </a:r>
              <a:r>
                <a:rPr lang="en-US" sz="1100" b="1" dirty="0">
                  <a:solidFill>
                    <a:sysClr val="windowText" lastClr="000000"/>
                  </a:solidFill>
                </a:rPr>
                <a:t> </a:t>
              </a:r>
              <a:r>
                <a:rPr lang="en-US" sz="1100" dirty="0">
                  <a:solidFill>
                    <a:sysClr val="windowText" lastClr="000000"/>
                  </a:solidFill>
                </a:rPr>
                <a:t>for </a:t>
              </a:r>
              <a:r>
                <a:rPr lang="en-US" sz="1100" b="1" dirty="0">
                  <a:solidFill>
                    <a:sysClr val="windowText" lastClr="000000"/>
                  </a:solidFill>
                </a:rPr>
                <a:t>re-evaluation</a:t>
              </a:r>
              <a:r>
                <a:rPr lang="en-US" sz="1100" dirty="0">
                  <a:solidFill>
                    <a:sysClr val="windowText" lastClr="000000"/>
                  </a:solidFill>
                </a:rPr>
                <a:t> have been developed and are in place </a:t>
              </a:r>
              <a:r>
                <a:rPr lang="en-US" sz="1100" b="1" dirty="0">
                  <a:solidFill>
                    <a:sysClr val="windowText" lastClr="000000"/>
                  </a:solidFill>
                </a:rPr>
                <a:t>3)</a:t>
              </a:r>
              <a:r>
                <a:rPr lang="en-US" sz="1100" dirty="0">
                  <a:solidFill>
                    <a:sysClr val="windowText" lastClr="000000"/>
                  </a:solidFill>
                </a:rPr>
                <a:t> </a:t>
              </a:r>
              <a:r>
                <a:rPr lang="en-US" sz="1100" b="1" dirty="0">
                  <a:solidFill>
                    <a:sysClr val="windowText" lastClr="000000"/>
                  </a:solidFill>
                </a:rPr>
                <a:t>Plans have been developed and are in place in case of change in clinical status</a:t>
              </a:r>
              <a:r>
                <a:rPr lang="en-US" sz="1100" dirty="0">
                  <a:solidFill>
                    <a:sysClr val="windowText" lastClr="000000"/>
                  </a:solidFill>
                </a:rPr>
                <a:t>,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22280" y="1452438"/>
              <a:ext cx="3644526" cy="138596"/>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Footnote</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5230" y="4207714"/>
            <a:ext cx="2470459" cy="1751738"/>
            <a:chOff x="4137004" y="1450132"/>
            <a:chExt cx="3629803" cy="816959"/>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4" y="1456837"/>
              <a:ext cx="3629803" cy="81025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100" dirty="0">
                <a:solidFill>
                  <a:sysClr val="windowText" lastClr="000000"/>
                </a:solidFill>
              </a:endParaRPr>
            </a:p>
            <a:p>
              <a:pPr marL="257175" indent="-257175">
                <a:buFont typeface="+mj-lt"/>
                <a:buAutoNum type="arabicPeriod"/>
                <a:defRPr/>
              </a:pPr>
              <a:r>
                <a:rPr lang="en-US" sz="1100" dirty="0">
                  <a:solidFill>
                    <a:sysClr val="windowText" lastClr="000000"/>
                  </a:solidFill>
                </a:rPr>
                <a:t>Cath: catheter</a:t>
              </a:r>
            </a:p>
            <a:p>
              <a:pPr marL="257175" indent="-257175">
                <a:buFont typeface="+mj-lt"/>
                <a:buAutoNum type="arabicPeriod"/>
                <a:defRPr/>
              </a:pPr>
              <a:r>
                <a:rPr lang="en-US" sz="1100" dirty="0">
                  <a:solidFill>
                    <a:sysClr val="windowText" lastClr="000000"/>
                  </a:solidFill>
                </a:rPr>
                <a:t>CBC: complete blood count </a:t>
              </a:r>
            </a:p>
            <a:p>
              <a:pPr marL="257175" indent="-257175">
                <a:buFont typeface="+mj-lt"/>
                <a:buAutoNum type="arabicPeriod"/>
                <a:defRPr/>
              </a:pPr>
              <a:r>
                <a:rPr lang="en-US" sz="1100" dirty="0">
                  <a:solidFill>
                    <a:sysClr val="windowText" lastClr="000000"/>
                  </a:solidFill>
                </a:rPr>
                <a:t>LP: lumbar puncture</a:t>
              </a:r>
            </a:p>
            <a:p>
              <a:pPr marL="257175" indent="-257175">
                <a:buFont typeface="+mj-lt"/>
                <a:buAutoNum type="arabicPeriod"/>
                <a:defRPr/>
              </a:pPr>
              <a:r>
                <a:rPr lang="en-US" sz="1100" dirty="0">
                  <a:solidFill>
                    <a:sysClr val="windowText" lastClr="000000"/>
                  </a:solidFill>
                </a:rPr>
                <a:t>RSV: respiratory syncytial virus</a:t>
              </a:r>
            </a:p>
            <a:p>
              <a:pPr marL="257175" indent="-257175">
                <a:buFont typeface="+mj-lt"/>
                <a:buAutoNum type="arabicPeriod"/>
                <a:defRPr/>
              </a:pPr>
              <a:r>
                <a:rPr lang="en-US" sz="1100" dirty="0">
                  <a:solidFill>
                    <a:sysClr val="windowText" lastClr="000000"/>
                  </a:solidFill>
                </a:rPr>
                <a:t>UA: urinalysis</a:t>
              </a:r>
            </a:p>
            <a:p>
              <a:pPr marL="257175" indent="-257175">
                <a:buFont typeface="+mj-lt"/>
                <a:buAutoNum type="arabicPeriod"/>
                <a:defRPr/>
              </a:pPr>
              <a:r>
                <a:rPr lang="en-US" sz="1100" dirty="0">
                  <a:solidFill>
                    <a:sysClr val="windowText" lastClr="000000"/>
                  </a:solidFill>
                </a:rPr>
                <a:t>UCx: urine culture</a:t>
              </a:r>
            </a:p>
            <a:p>
              <a:pPr marL="257175" indent="-257175">
                <a:buFont typeface="+mj-lt"/>
                <a:buAutoNum type="arabicPeriod"/>
                <a:defRPr/>
              </a:pPr>
              <a:r>
                <a:rPr lang="en-US" sz="1100" dirty="0">
                  <a:solidFill>
                    <a:sysClr val="windowText" lastClr="000000"/>
                  </a:solidFill>
                </a:rPr>
                <a:t>UTI: urinary tract infection</a:t>
              </a:r>
            </a:p>
            <a:p>
              <a:pPr marL="257175" indent="-257175">
                <a:buFont typeface="+mj-lt"/>
                <a:buAutoNum type="arabicPeriod"/>
                <a:defRPr/>
              </a:pPr>
              <a:r>
                <a:rPr lang="en-US" sz="1100" dirty="0" err="1">
                  <a:solidFill>
                    <a:sysClr val="windowText" lastClr="000000"/>
                  </a:solidFill>
                </a:rPr>
                <a:t>Pabx</a:t>
              </a:r>
              <a:r>
                <a:rPr lang="en-US" sz="1100" dirty="0">
                  <a:solidFill>
                    <a:sysClr val="windowText" lastClr="000000"/>
                  </a:solidFill>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0132"/>
              <a:ext cx="3629803"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Abbreviations</a:t>
              </a:r>
            </a:p>
          </p:txBody>
        </p:sp>
      </p:grpSp>
      <p:sp>
        <p:nvSpPr>
          <p:cNvPr id="28" name="TextBox 27">
            <a:extLst>
              <a:ext uri="{FF2B5EF4-FFF2-40B4-BE49-F238E27FC236}">
                <a16:creationId xmlns:a16="http://schemas.microsoft.com/office/drawing/2014/main" id="{880BFB8F-4653-419B-ABED-DD9148EBFC7F}"/>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2" name="Title 1">
            <a:extLst>
              <a:ext uri="{FF2B5EF4-FFF2-40B4-BE49-F238E27FC236}">
                <a16:creationId xmlns:a16="http://schemas.microsoft.com/office/drawing/2014/main" id="{3345DDC0-7434-4BE2-A4AE-2C96B243C969}"/>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High-risk,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 </a:t>
            </a:r>
            <a:endParaRPr lang="en-US" sz="2200" dirty="0">
              <a:solidFill>
                <a:schemeClr val="tx1"/>
              </a:solidFill>
              <a:latin typeface="Microsoft Tai Le"/>
              <a:cs typeface="Microsoft Tai Le"/>
            </a:endParaRPr>
          </a:p>
        </p:txBody>
      </p:sp>
      <p:sp>
        <p:nvSpPr>
          <p:cNvPr id="23" name="Rectangle 22">
            <a:extLst>
              <a:ext uri="{FF2B5EF4-FFF2-40B4-BE49-F238E27FC236}">
                <a16:creationId xmlns:a16="http://schemas.microsoft.com/office/drawing/2014/main" id="{97CD3EAF-104C-4B50-8EAA-D8D3EDDB2588}"/>
              </a:ext>
            </a:extLst>
          </p:cNvPr>
          <p:cNvSpPr/>
          <p:nvPr/>
        </p:nvSpPr>
        <p:spPr>
          <a:xfrm>
            <a:off x="660447" y="2965670"/>
            <a:ext cx="2449140" cy="400706"/>
          </a:xfrm>
          <a:prstGeom prst="rect">
            <a:avLst/>
          </a:prstGeom>
          <a:solidFill>
            <a:srgbClr val="FF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b="1" dirty="0">
                <a:solidFill>
                  <a:sysClr val="windowText" lastClr="000000"/>
                </a:solidFill>
              </a:rPr>
              <a:t>Consult Pediatrics</a:t>
            </a:r>
          </a:p>
        </p:txBody>
      </p:sp>
      <p:sp>
        <p:nvSpPr>
          <p:cNvPr id="27" name="Arrow: Down 26">
            <a:extLst>
              <a:ext uri="{FF2B5EF4-FFF2-40B4-BE49-F238E27FC236}">
                <a16:creationId xmlns:a16="http://schemas.microsoft.com/office/drawing/2014/main" id="{87C15E7A-7EE7-4ABA-B59D-7023662EBC13}"/>
              </a:ext>
            </a:extLst>
          </p:cNvPr>
          <p:cNvSpPr/>
          <p:nvPr/>
        </p:nvSpPr>
        <p:spPr>
          <a:xfrm>
            <a:off x="1612373" y="2551055"/>
            <a:ext cx="545289" cy="400706"/>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76132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BA0E9C9-689F-0D46-9FAD-77D4D0DFECB9}"/>
              </a:ext>
            </a:extLst>
          </p:cNvPr>
          <p:cNvSpPr txBox="1"/>
          <p:nvPr/>
        </p:nvSpPr>
        <p:spPr>
          <a:xfrm>
            <a:off x="5779477" y="1643271"/>
            <a:ext cx="2344563" cy="1869743"/>
          </a:xfrm>
          <a:prstGeom prst="rect">
            <a:avLst/>
          </a:prstGeom>
          <a:solidFill>
            <a:schemeClr val="bg1">
              <a:lumMod val="95000"/>
            </a:schemeClr>
          </a:solidFill>
          <a:ln w="12700">
            <a:solidFill>
              <a:schemeClr val="tx1"/>
            </a:solidFill>
          </a:ln>
        </p:spPr>
        <p:txBody>
          <a:bodyPr wrap="square" lIns="68580" tIns="34290" rIns="68580" bIns="34290" rtlCol="0" anchor="t">
            <a:spAutoFit/>
          </a:bodyPr>
          <a:lstStyle/>
          <a:p>
            <a:r>
              <a:rPr lang="en-US" sz="900" b="1" dirty="0"/>
              <a:t>Footnotes:</a:t>
            </a:r>
          </a:p>
          <a:p>
            <a:r>
              <a:rPr lang="en-US" sz="900" b="1" dirty="0"/>
              <a:t>*</a:t>
            </a:r>
            <a:r>
              <a:rPr lang="en-US" sz="900" dirty="0"/>
              <a:t> The AAP does not include infants age &gt; 60 days</a:t>
            </a:r>
          </a:p>
          <a:p>
            <a:r>
              <a:rPr lang="en-US" sz="900" b="1" dirty="0"/>
              <a:t>† </a:t>
            </a:r>
            <a:r>
              <a:rPr lang="en-US" sz="900" dirty="0">
                <a:solidFill>
                  <a:sysClr val="windowText" lastClr="000000"/>
                </a:solidFill>
              </a:rPr>
              <a:t>If observed at home, then recommend oral antimicrobials to treat presumed UTI if UA positive.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22" name="TextBox 21">
            <a:extLst>
              <a:ext uri="{FF2B5EF4-FFF2-40B4-BE49-F238E27FC236}">
                <a16:creationId xmlns:a16="http://schemas.microsoft.com/office/drawing/2014/main" id="{D2A6BAF9-EFBA-418F-8678-9B1D4697F3A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19" name="Title 1">
            <a:extLst>
              <a:ext uri="{FF2B5EF4-FFF2-40B4-BE49-F238E27FC236}">
                <a16:creationId xmlns:a16="http://schemas.microsoft.com/office/drawing/2014/main" id="{4E0555B5-4807-4459-8402-1E2E15199238}"/>
              </a:ext>
            </a:extLst>
          </p:cNvPr>
          <p:cNvSpPr txBox="1">
            <a:spLocks/>
          </p:cNvSpPr>
          <p:nvPr/>
        </p:nvSpPr>
        <p:spPr bwMode="gray">
          <a:xfrm>
            <a:off x="469292"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61-90 Days Old, High-Risk,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 </a:t>
            </a:r>
            <a:endParaRPr lang="en-US" sz="2200" dirty="0">
              <a:solidFill>
                <a:schemeClr val="tx1"/>
              </a:solidFill>
              <a:latin typeface="Microsoft Tai Le"/>
              <a:cs typeface="Microsoft Tai Le"/>
            </a:endParaRPr>
          </a:p>
        </p:txBody>
      </p:sp>
      <p:grpSp>
        <p:nvGrpSpPr>
          <p:cNvPr id="42" name="Group 41">
            <a:extLst>
              <a:ext uri="{FF2B5EF4-FFF2-40B4-BE49-F238E27FC236}">
                <a16:creationId xmlns:a16="http://schemas.microsoft.com/office/drawing/2014/main" id="{5111A2DD-9221-4D96-86AC-C86D2328C303}"/>
              </a:ext>
            </a:extLst>
          </p:cNvPr>
          <p:cNvGrpSpPr/>
          <p:nvPr/>
        </p:nvGrpSpPr>
        <p:grpSpPr>
          <a:xfrm>
            <a:off x="1127760" y="1818979"/>
            <a:ext cx="3845572" cy="3061622"/>
            <a:chOff x="2852853" y="1259753"/>
            <a:chExt cx="5127429" cy="4082163"/>
          </a:xfrm>
        </p:grpSpPr>
        <p:cxnSp>
          <p:nvCxnSpPr>
            <p:cNvPr id="43" name="Straight Arrow Connector 42">
              <a:extLst>
                <a:ext uri="{FF2B5EF4-FFF2-40B4-BE49-F238E27FC236}">
                  <a16:creationId xmlns:a16="http://schemas.microsoft.com/office/drawing/2014/main" id="{744953F2-F196-4E97-96A0-149337B1C43D}"/>
                </a:ext>
              </a:extLst>
            </p:cNvPr>
            <p:cNvCxnSpPr>
              <a:cxnSpLocks/>
              <a:stCxn id="53" idx="2"/>
              <a:endCxn id="51" idx="0"/>
            </p:cNvCxnSpPr>
            <p:nvPr/>
          </p:nvCxnSpPr>
          <p:spPr>
            <a:xfrm>
              <a:off x="6429398" y="1942563"/>
              <a:ext cx="0" cy="30365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8A727021-3C92-449A-8001-37C68E2CF4DC}"/>
                </a:ext>
              </a:extLst>
            </p:cNvPr>
            <p:cNvGrpSpPr/>
            <p:nvPr/>
          </p:nvGrpSpPr>
          <p:grpSpPr>
            <a:xfrm>
              <a:off x="2852853" y="1259753"/>
              <a:ext cx="5127429" cy="4082163"/>
              <a:chOff x="2689890" y="1121254"/>
              <a:chExt cx="5127429" cy="4082163"/>
            </a:xfrm>
          </p:grpSpPr>
          <p:sp>
            <p:nvSpPr>
              <p:cNvPr id="45" name="TextBox 44">
                <a:extLst>
                  <a:ext uri="{FF2B5EF4-FFF2-40B4-BE49-F238E27FC236}">
                    <a16:creationId xmlns:a16="http://schemas.microsoft.com/office/drawing/2014/main" id="{714A10BD-B39F-4D87-B285-68E637C40A7E}"/>
                  </a:ext>
                </a:extLst>
              </p:cNvPr>
              <p:cNvSpPr txBox="1"/>
              <p:nvPr/>
            </p:nvSpPr>
            <p:spPr>
              <a:xfrm>
                <a:off x="6230260" y="2932505"/>
                <a:ext cx="447132"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dirty="0">
                    <a:solidFill>
                      <a:prstClr val="black"/>
                    </a:solidFill>
                    <a:latin typeface="Calibri" panose="020F0502020204030204"/>
                    <a:cs typeface="+mn-cs"/>
                  </a:rPr>
                  <a:t>NO</a:t>
                </a:r>
              </a:p>
            </p:txBody>
          </p:sp>
          <p:sp>
            <p:nvSpPr>
              <p:cNvPr id="46" name="Rectangle 45">
                <a:extLst>
                  <a:ext uri="{FF2B5EF4-FFF2-40B4-BE49-F238E27FC236}">
                    <a16:creationId xmlns:a16="http://schemas.microsoft.com/office/drawing/2014/main" id="{5EBC4B56-95C9-4F58-A3E5-C6CB6F4B112C}"/>
                  </a:ext>
                </a:extLst>
              </p:cNvPr>
              <p:cNvSpPr/>
              <p:nvPr/>
            </p:nvSpPr>
            <p:spPr>
              <a:xfrm>
                <a:off x="2689890" y="3029131"/>
                <a:ext cx="1881941" cy="741737"/>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900" dirty="0">
                  <a:solidFill>
                    <a:sysClr val="windowText" lastClr="000000"/>
                  </a:solidFill>
                  <a:latin typeface="Calibri" panose="020F0502020204030204"/>
                </a:endParaRPr>
              </a:p>
              <a:p>
                <a:pPr algn="ctr" defTabSz="685800" eaLnBrk="1" fontAlgn="auto" hangingPunct="1">
                  <a:spcBef>
                    <a:spcPts val="0"/>
                  </a:spcBef>
                  <a:spcAft>
                    <a:spcPts val="0"/>
                  </a:spcAft>
                  <a:defRPr/>
                </a:pPr>
                <a:r>
                  <a:rPr lang="en-US" sz="1200" dirty="0">
                    <a:solidFill>
                      <a:sysClr val="windowText" lastClr="000000"/>
                    </a:solidFill>
                    <a:latin typeface="Calibri" panose="020F0502020204030204"/>
                  </a:rPr>
                  <a:t>Confirm urine sent by bladder </a:t>
                </a:r>
                <a:r>
                  <a:rPr lang="en-US" sz="1200" dirty="0" err="1">
                    <a:solidFill>
                      <a:sysClr val="windowText" lastClr="000000"/>
                    </a:solidFill>
                    <a:latin typeface="Calibri" panose="020F0502020204030204"/>
                  </a:rPr>
                  <a:t>cath</a:t>
                </a:r>
                <a:endParaRPr lang="en-US" sz="1200" dirty="0">
                  <a:solidFill>
                    <a:sysClr val="windowText" lastClr="000000"/>
                  </a:solidFill>
                  <a:latin typeface="Calibri" panose="020F0502020204030204"/>
                </a:endParaRPr>
              </a:p>
              <a:p>
                <a:pPr algn="ctr" defTabSz="685800" eaLnBrk="1" fontAlgn="auto" hangingPunct="1">
                  <a:spcBef>
                    <a:spcPts val="0"/>
                  </a:spcBef>
                  <a:spcAft>
                    <a:spcPts val="0"/>
                  </a:spcAft>
                  <a:defRPr/>
                </a:pPr>
                <a:endParaRPr lang="en-US" sz="900" dirty="0">
                  <a:solidFill>
                    <a:sysClr val="windowText" lastClr="000000"/>
                  </a:solidFill>
                  <a:latin typeface="Calibri" panose="020F0502020204030204"/>
                </a:endParaRPr>
              </a:p>
            </p:txBody>
          </p:sp>
          <p:sp>
            <p:nvSpPr>
              <p:cNvPr id="47" name="TextBox 46">
                <a:extLst>
                  <a:ext uri="{FF2B5EF4-FFF2-40B4-BE49-F238E27FC236}">
                    <a16:creationId xmlns:a16="http://schemas.microsoft.com/office/drawing/2014/main" id="{A4442DBA-06B8-403F-8F39-AB56322A25F9}"/>
                  </a:ext>
                </a:extLst>
              </p:cNvPr>
              <p:cNvSpPr txBox="1"/>
              <p:nvPr/>
            </p:nvSpPr>
            <p:spPr>
              <a:xfrm>
                <a:off x="4423597" y="2202335"/>
                <a:ext cx="466368" cy="307776"/>
              </a:xfrm>
              <a:prstGeom prst="rect">
                <a:avLst/>
              </a:prstGeom>
              <a:noFill/>
            </p:spPr>
            <p:txBody>
              <a:bodyPr wrap="none" rtlCol="0">
                <a:spAutoFit/>
              </a:bodyPr>
              <a:lstStyle/>
              <a:p>
                <a:pPr algn="ctr" defTabSz="685800" eaLnBrk="1" fontAlgn="auto" hangingPunct="1">
                  <a:spcBef>
                    <a:spcPts val="0"/>
                  </a:spcBef>
                  <a:spcAft>
                    <a:spcPts val="0"/>
                  </a:spcAft>
                  <a:defRPr/>
                </a:pPr>
                <a:r>
                  <a:rPr lang="en-US" sz="900" dirty="0">
                    <a:solidFill>
                      <a:prstClr val="black"/>
                    </a:solidFill>
                    <a:latin typeface="Calibri" panose="020F0502020204030204"/>
                    <a:cs typeface="+mn-cs"/>
                  </a:rPr>
                  <a:t>YES</a:t>
                </a:r>
              </a:p>
            </p:txBody>
          </p:sp>
          <p:cxnSp>
            <p:nvCxnSpPr>
              <p:cNvPr id="48" name="Connector: Elbow 47">
                <a:extLst>
                  <a:ext uri="{FF2B5EF4-FFF2-40B4-BE49-F238E27FC236}">
                    <a16:creationId xmlns:a16="http://schemas.microsoft.com/office/drawing/2014/main" id="{7A8440C7-885F-4179-AD04-2E7D1FB35C06}"/>
                  </a:ext>
                </a:extLst>
              </p:cNvPr>
              <p:cNvCxnSpPr>
                <a:cxnSpLocks/>
                <a:stCxn id="51" idx="1"/>
                <a:endCxn id="46" idx="0"/>
              </p:cNvCxnSpPr>
              <p:nvPr/>
            </p:nvCxnSpPr>
            <p:spPr>
              <a:xfrm rot="10800000" flipV="1">
                <a:off x="3630861" y="2468027"/>
                <a:ext cx="1918398" cy="561103"/>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B302E4E1-7DD1-48F6-A0E0-2385BA790150}"/>
                  </a:ext>
                </a:extLst>
              </p:cNvPr>
              <p:cNvGrpSpPr/>
              <p:nvPr/>
            </p:nvGrpSpPr>
            <p:grpSpPr>
              <a:xfrm>
                <a:off x="4715550" y="1121254"/>
                <a:ext cx="3101769" cy="4082163"/>
                <a:chOff x="4715550" y="1121254"/>
                <a:chExt cx="3101769" cy="4082163"/>
              </a:xfrm>
            </p:grpSpPr>
            <p:grpSp>
              <p:nvGrpSpPr>
                <p:cNvPr id="50" name="Group 49">
                  <a:extLst>
                    <a:ext uri="{FF2B5EF4-FFF2-40B4-BE49-F238E27FC236}">
                      <a16:creationId xmlns:a16="http://schemas.microsoft.com/office/drawing/2014/main" id="{3E546D65-7417-4AF8-8341-A15354A718E6}"/>
                    </a:ext>
                  </a:extLst>
                </p:cNvPr>
                <p:cNvGrpSpPr/>
                <p:nvPr/>
              </p:nvGrpSpPr>
              <p:grpSpPr>
                <a:xfrm>
                  <a:off x="4715550" y="1121254"/>
                  <a:ext cx="3101769" cy="4082163"/>
                  <a:chOff x="758232" y="1237047"/>
                  <a:chExt cx="5514250" cy="7257180"/>
                </a:xfrm>
              </p:grpSpPr>
              <p:sp>
                <p:nvSpPr>
                  <p:cNvPr id="53" name="Rectangle 52">
                    <a:extLst>
                      <a:ext uri="{FF2B5EF4-FFF2-40B4-BE49-F238E27FC236}">
                        <a16:creationId xmlns:a16="http://schemas.microsoft.com/office/drawing/2014/main" id="{8CFE720D-04F3-45BE-8682-0782CD900567}"/>
                      </a:ext>
                    </a:extLst>
                  </p:cNvPr>
                  <p:cNvSpPr/>
                  <p:nvPr/>
                </p:nvSpPr>
                <p:spPr>
                  <a:xfrm>
                    <a:off x="758232" y="1237047"/>
                    <a:ext cx="5514250" cy="121388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825" dirty="0">
                      <a:solidFill>
                        <a:prstClr val="black"/>
                      </a:solidFill>
                      <a:latin typeface="Calibri" panose="020F0502020204030204"/>
                    </a:endParaRPr>
                  </a:p>
                  <a:p>
                    <a:pPr algn="ctr" defTabSz="685800" eaLnBrk="1" fontAlgn="auto" hangingPunct="1">
                      <a:spcBef>
                        <a:spcPts val="0"/>
                      </a:spcBef>
                      <a:spcAft>
                        <a:spcPts val="0"/>
                      </a:spcAft>
                      <a:defRPr/>
                    </a:pPr>
                    <a:r>
                      <a:rPr lang="en-US" sz="1200" dirty="0">
                        <a:solidFill>
                          <a:prstClr val="black"/>
                        </a:solidFill>
                        <a:latin typeface="Calibri" panose="020F0502020204030204"/>
                      </a:rPr>
                      <a:t>Perform UA, UCx, CBC w/diff, and blood </a:t>
                    </a:r>
                    <a:r>
                      <a:rPr lang="en-US" sz="1200" dirty="0" err="1">
                        <a:solidFill>
                          <a:prstClr val="black"/>
                        </a:solidFill>
                        <a:latin typeface="Calibri" panose="020F0502020204030204"/>
                      </a:rPr>
                      <a:t>Cx</a:t>
                    </a:r>
                    <a:endParaRPr lang="en-US" sz="1200" dirty="0">
                      <a:solidFill>
                        <a:prstClr val="black"/>
                      </a:solidFill>
                      <a:latin typeface="Calibri" panose="020F0502020204030204"/>
                    </a:endParaRPr>
                  </a:p>
                  <a:p>
                    <a:pPr algn="ctr" defTabSz="685800" eaLnBrk="1" fontAlgn="auto" hangingPunct="1">
                      <a:spcBef>
                        <a:spcPts val="0"/>
                      </a:spcBef>
                      <a:spcAft>
                        <a:spcPts val="0"/>
                      </a:spcAft>
                      <a:defRPr/>
                    </a:pPr>
                    <a:endParaRPr lang="en-US" sz="900" dirty="0">
                      <a:solidFill>
                        <a:prstClr val="black"/>
                      </a:solidFill>
                      <a:latin typeface="Calibri" panose="020F0502020204030204"/>
                    </a:endParaRPr>
                  </a:p>
                </p:txBody>
              </p:sp>
              <p:sp>
                <p:nvSpPr>
                  <p:cNvPr id="54" name="Rectangle 53">
                    <a:extLst>
                      <a:ext uri="{FF2B5EF4-FFF2-40B4-BE49-F238E27FC236}">
                        <a16:creationId xmlns:a16="http://schemas.microsoft.com/office/drawing/2014/main" id="{B6BDA14D-E372-4C6D-9400-43EB03B9B177}"/>
                      </a:ext>
                    </a:extLst>
                  </p:cNvPr>
                  <p:cNvSpPr/>
                  <p:nvPr/>
                </p:nvSpPr>
                <p:spPr>
                  <a:xfrm>
                    <a:off x="1223453" y="6817489"/>
                    <a:ext cx="4668036" cy="1676738"/>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dirty="0">
                        <a:solidFill>
                          <a:sysClr val="windowText" lastClr="000000"/>
                        </a:solidFill>
                      </a:rPr>
                      <a:t>LP, </a:t>
                    </a:r>
                    <a:r>
                      <a:rPr lang="en-US" sz="1200" dirty="0" err="1">
                        <a:solidFill>
                          <a:sysClr val="windowText" lastClr="000000"/>
                        </a:solidFill>
                      </a:rPr>
                      <a:t>Pabx</a:t>
                    </a:r>
                    <a:r>
                      <a:rPr lang="en-US" sz="1200" dirty="0">
                        <a:solidFill>
                          <a:sysClr val="windowText" lastClr="000000"/>
                        </a:solidFill>
                      </a:rPr>
                      <a:t>, and disposition in discussion with Pediatrics</a:t>
                    </a:r>
                  </a:p>
                </p:txBody>
              </p:sp>
            </p:grpSp>
            <p:sp>
              <p:nvSpPr>
                <p:cNvPr id="51" name="Diamond 50">
                  <a:extLst>
                    <a:ext uri="{FF2B5EF4-FFF2-40B4-BE49-F238E27FC236}">
                      <a16:creationId xmlns:a16="http://schemas.microsoft.com/office/drawing/2014/main" id="{BCD9BFED-B5C3-4832-8848-6E784D003411}"/>
                    </a:ext>
                  </a:extLst>
                </p:cNvPr>
                <p:cNvSpPr/>
                <p:nvPr/>
              </p:nvSpPr>
              <p:spPr>
                <a:xfrm>
                  <a:off x="5549259" y="2107714"/>
                  <a:ext cx="1434351" cy="720627"/>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900" dirty="0">
                      <a:solidFill>
                        <a:prstClr val="black"/>
                      </a:solidFill>
                      <a:latin typeface="Calibri" panose="020F0502020204030204"/>
                    </a:rPr>
                    <a:t>UA+ </a:t>
                  </a:r>
                </a:p>
              </p:txBody>
            </p:sp>
            <p:cxnSp>
              <p:nvCxnSpPr>
                <p:cNvPr id="52" name="Straight Arrow Connector 51">
                  <a:extLst>
                    <a:ext uri="{FF2B5EF4-FFF2-40B4-BE49-F238E27FC236}">
                      <a16:creationId xmlns:a16="http://schemas.microsoft.com/office/drawing/2014/main" id="{C26E86B2-E5C3-4DAC-B450-F8CE4705BD24}"/>
                    </a:ext>
                  </a:extLst>
                </p:cNvPr>
                <p:cNvCxnSpPr>
                  <a:cxnSpLocks/>
                  <a:stCxn id="51" idx="2"/>
                  <a:endCxn id="54" idx="0"/>
                </p:cNvCxnSpPr>
                <p:nvPr/>
              </p:nvCxnSpPr>
              <p:spPr>
                <a:xfrm>
                  <a:off x="6266435" y="2828341"/>
                  <a:ext cx="23689" cy="143191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grpSp>
      </p:grpSp>
      <p:cxnSp>
        <p:nvCxnSpPr>
          <p:cNvPr id="55" name="Straight Arrow Connector 54">
            <a:extLst>
              <a:ext uri="{FF2B5EF4-FFF2-40B4-BE49-F238E27FC236}">
                <a16:creationId xmlns:a16="http://schemas.microsoft.com/office/drawing/2014/main" id="{CC3124B6-D01E-45B7-9D87-DC9081B96B75}"/>
              </a:ext>
            </a:extLst>
          </p:cNvPr>
          <p:cNvCxnSpPr>
            <a:cxnSpLocks/>
          </p:cNvCxnSpPr>
          <p:nvPr/>
        </p:nvCxnSpPr>
        <p:spPr>
          <a:xfrm>
            <a:off x="2539216" y="3528038"/>
            <a:ext cx="1266506"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830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59076"/>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a:t>
            </a:r>
            <a:br>
              <a:rPr lang="en-US" sz="2200" dirty="0">
                <a:solidFill>
                  <a:sysClr val="windowText" lastClr="000000"/>
                </a:solidFill>
                <a:latin typeface="Microsoft Tai Le" panose="020B0502040204020203" pitchFamily="34" charset="0"/>
                <a:cs typeface="Microsoft Tai Le" panose="020B0502040204020203" pitchFamily="34" charset="0"/>
              </a:rPr>
            </a:br>
            <a:r>
              <a:rPr lang="en-US" sz="2200" dirty="0">
                <a:solidFill>
                  <a:sysClr val="windowText" lastClr="000000"/>
                </a:solidFill>
                <a:latin typeface="Microsoft Tai Le" panose="020B0502040204020203" pitchFamily="34" charset="0"/>
                <a:cs typeface="Microsoft Tai Le" panose="020B0502040204020203" pitchFamily="34" charset="0"/>
              </a:rPr>
              <a:t>with Bronchiolitis</a:t>
            </a:r>
          </a:p>
        </p:txBody>
      </p:sp>
      <p:sp>
        <p:nvSpPr>
          <p:cNvPr id="9" name="Rectangle 8">
            <a:extLst>
              <a:ext uri="{FF2B5EF4-FFF2-40B4-BE49-F238E27FC236}">
                <a16:creationId xmlns:a16="http://schemas.microsoft.com/office/drawing/2014/main" id="{C95DA26A-CF1C-DF49-B317-718087E3A7BB}"/>
              </a:ext>
            </a:extLst>
          </p:cNvPr>
          <p:cNvSpPr/>
          <p:nvPr/>
        </p:nvSpPr>
        <p:spPr>
          <a:xfrm>
            <a:off x="464483" y="4697537"/>
            <a:ext cx="8226436" cy="70788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 for this infant</a:t>
            </a: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May go home without further testing</a:t>
            </a:r>
          </a:p>
        </p:txBody>
      </p:sp>
      <p:sp>
        <p:nvSpPr>
          <p:cNvPr id="3" name="TextBox 2">
            <a:extLst>
              <a:ext uri="{FF2B5EF4-FFF2-40B4-BE49-F238E27FC236}">
                <a16:creationId xmlns:a16="http://schemas.microsoft.com/office/drawing/2014/main" id="{CD9DEDC6-C426-4C89-9C2F-8DC90CEF24AD}"/>
              </a:ext>
            </a:extLst>
          </p:cNvPr>
          <p:cNvSpPr txBox="1"/>
          <p:nvPr/>
        </p:nvSpPr>
        <p:spPr>
          <a:xfrm>
            <a:off x="448272" y="1329466"/>
            <a:ext cx="8226436" cy="2569934"/>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known bronchiolitis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clinical bronchiolitis from their algorithms because they are lower 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A review </a:t>
            </a:r>
            <a:r>
              <a:rPr lang="en-US" dirty="0">
                <a:solidFill>
                  <a:sysClr val="windowText" lastClr="000000"/>
                </a:solidFill>
                <a:latin typeface="Microsoft Tai Le" panose="020B0502040204020203" pitchFamily="34" charset="0"/>
                <a:cs typeface="Microsoft Tai Le" panose="020B0502040204020203" pitchFamily="34" charset="0"/>
              </a:rPr>
              <a:t>(Ralston et al) of 11 studies of febrile infants with clinical bronchiolitis found no cases of meningitis </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22-60 days who were well-appearing and RSV+: </a:t>
            </a:r>
            <a:endParaRPr lang="en-US" sz="2100" dirty="0">
              <a:solidFill>
                <a:sysClr val="windowText" lastClr="000000"/>
              </a:solidFill>
              <a:latin typeface="Microsoft Tai Le" panose="020B0502040204020203" pitchFamily="34" charset="0"/>
              <a:cs typeface="Microsoft Tai Le" panose="020B0502040204020203" pitchFamily="34" charset="0"/>
            </a:endParaRPr>
          </a:p>
          <a:p>
            <a:pPr lvl="3"/>
            <a:r>
              <a:rPr lang="en-US" sz="1500"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0/116  had bacteremia without meningitis </a:t>
            </a:r>
          </a:p>
          <a:p>
            <a:r>
              <a:rPr lang="en-US" sz="1500" i="1" dirty="0">
                <a:solidFill>
                  <a:sysClr val="windowText" lastClr="000000"/>
                </a:solidFill>
                <a:cs typeface="Microsoft Tai Le" panose="020B0502040204020203" pitchFamily="34" charset="0"/>
              </a:rPr>
              <a:t>		      		    	0/116 had meningitis</a:t>
            </a:r>
          </a:p>
        </p:txBody>
      </p:sp>
      <p:sp>
        <p:nvSpPr>
          <p:cNvPr id="8" name="TextBox 7">
            <a:extLst>
              <a:ext uri="{FF2B5EF4-FFF2-40B4-BE49-F238E27FC236}">
                <a16:creationId xmlns:a16="http://schemas.microsoft.com/office/drawing/2014/main" id="{FF09B486-2A0C-423E-98E9-C4B8B6676FC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984821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a:t>
            </a:r>
            <a:br>
              <a:rPr lang="en-US" sz="2200" dirty="0">
                <a:solidFill>
                  <a:sysClr val="windowText" lastClr="000000"/>
                </a:solidFill>
                <a:latin typeface="Microsoft Tai Le" panose="020B0502040204020203" pitchFamily="34" charset="0"/>
                <a:cs typeface="Microsoft Tai Le" panose="020B0502040204020203" pitchFamily="34" charset="0"/>
              </a:rPr>
            </a:br>
            <a:r>
              <a:rPr lang="en-US" sz="2200" dirty="0">
                <a:solidFill>
                  <a:schemeClr val="tx1"/>
                </a:solidFill>
                <a:latin typeface="Microsoft Tai Le"/>
                <a:cs typeface="Microsoft Tai Le"/>
              </a:rPr>
              <a:t>Vaccinated within 48 hours</a:t>
            </a:r>
          </a:p>
        </p:txBody>
      </p:sp>
      <p:sp>
        <p:nvSpPr>
          <p:cNvPr id="9" name="Rectangle 8">
            <a:extLst>
              <a:ext uri="{FF2B5EF4-FFF2-40B4-BE49-F238E27FC236}">
                <a16:creationId xmlns:a16="http://schemas.microsoft.com/office/drawing/2014/main" id="{C95DA26A-CF1C-DF49-B317-718087E3A7BB}"/>
              </a:ext>
            </a:extLst>
          </p:cNvPr>
          <p:cNvSpPr/>
          <p:nvPr/>
        </p:nvSpPr>
        <p:spPr>
          <a:xfrm>
            <a:off x="505088" y="3823164"/>
            <a:ext cx="8226436" cy="707886"/>
          </a:xfrm>
          <a:prstGeom prst="rect">
            <a:avLst/>
          </a:prstGeom>
          <a:solidFill>
            <a:srgbClr val="E2F0D9"/>
          </a:solidFill>
          <a:ln w="28575">
            <a:solidFill>
              <a:srgbClr val="00B050"/>
            </a:solidFill>
          </a:ln>
        </p:spPr>
        <p:txBody>
          <a:bodyPr wrap="square">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Recommendations for this infant</a:t>
            </a:r>
            <a:endParaRPr lang="en-US" sz="2000" b="1" dirty="0">
              <a:solidFill>
                <a:sysClr val="windowText" lastClr="000000"/>
              </a:solidFill>
              <a:latin typeface="Microsoft Tai Le" panose="020B0502040204020203" pitchFamily="34" charset="0"/>
              <a:cs typeface="Microsoft Tai Le" panose="020B0502040204020203" pitchFamily="34" charset="0"/>
            </a:endParaRPr>
          </a:p>
          <a:p>
            <a:pPr marL="342900" indent="-342900">
              <a:buFont typeface="Courier New" panose="02070309020205020404" pitchFamily="49" charset="0"/>
              <a:buChar char="o"/>
            </a:pPr>
            <a:r>
              <a:rPr lang="en-US" sz="2000" dirty="0">
                <a:solidFill>
                  <a:sysClr val="windowText" lastClr="000000"/>
                </a:solidFill>
                <a:latin typeface="Microsoft Tai Le" panose="020B0502040204020203" pitchFamily="34" charset="0"/>
                <a:cs typeface="Microsoft Tai Le" panose="020B0502040204020203" pitchFamily="34" charset="0"/>
              </a:rPr>
              <a:t>May go home without further testing</a:t>
            </a:r>
          </a:p>
        </p:txBody>
      </p:sp>
      <p:sp>
        <p:nvSpPr>
          <p:cNvPr id="3" name="TextBox 2">
            <a:extLst>
              <a:ext uri="{FF2B5EF4-FFF2-40B4-BE49-F238E27FC236}">
                <a16:creationId xmlns:a16="http://schemas.microsoft.com/office/drawing/2014/main" id="{FEF0E380-0664-4E93-8A53-A8C44F1B01A5}"/>
              </a:ext>
            </a:extLst>
          </p:cNvPr>
          <p:cNvSpPr txBox="1"/>
          <p:nvPr/>
        </p:nvSpPr>
        <p:spPr>
          <a:xfrm>
            <a:off x="448272" y="1336158"/>
            <a:ext cx="8226436" cy="2262158"/>
          </a:xfrm>
          <a:prstGeom prst="rect">
            <a:avLst/>
          </a:prstGeom>
          <a:noFill/>
        </p:spPr>
        <p:txBody>
          <a:bodyPr wrap="square" rtlCol="0">
            <a:spAutoFit/>
          </a:bodyPr>
          <a:lstStyle/>
          <a:p>
            <a:r>
              <a:rPr lang="en-US" sz="2000" b="1" u="sng" dirty="0">
                <a:solidFill>
                  <a:sysClr val="windowText" lastClr="000000"/>
                </a:solidFill>
                <a:latin typeface="Microsoft Tai Le" panose="020B0502040204020203" pitchFamily="34" charset="0"/>
                <a:cs typeface="Microsoft Tai Le" panose="020B0502040204020203" pitchFamily="34" charset="0"/>
              </a:rPr>
              <a:t>Infants with recent vaccinations are low-risk </a:t>
            </a:r>
          </a:p>
          <a:p>
            <a:pPr marL="342900" indent="-342900">
              <a:buFont typeface="Arial" panose="020B0604020202020204" pitchFamily="34" charset="0"/>
              <a:buChar char="•"/>
            </a:pPr>
            <a:r>
              <a:rPr lang="en-US" dirty="0">
                <a:solidFill>
                  <a:sysClr val="windowText" lastClr="000000"/>
                </a:solidFill>
                <a:latin typeface="Microsoft Tai Le" panose="020B0502040204020203" pitchFamily="34" charset="0"/>
                <a:cs typeface="Microsoft Tai Le" panose="020B0502040204020203" pitchFamily="34" charset="0"/>
              </a:rPr>
              <a:t>The </a:t>
            </a:r>
            <a:r>
              <a:rPr lang="en-US" b="1" dirty="0">
                <a:solidFill>
                  <a:sysClr val="windowText" lastClr="000000"/>
                </a:solidFill>
                <a:latin typeface="Microsoft Tai Le" panose="020B0502040204020203" pitchFamily="34" charset="0"/>
                <a:cs typeface="Microsoft Tai Le" panose="020B0502040204020203" pitchFamily="34" charset="0"/>
              </a:rPr>
              <a:t>AAP guideline </a:t>
            </a:r>
            <a:r>
              <a:rPr lang="en-US" dirty="0">
                <a:solidFill>
                  <a:sysClr val="windowText" lastClr="000000"/>
                </a:solidFill>
                <a:latin typeface="Microsoft Tai Le" panose="020B0502040204020203" pitchFamily="34" charset="0"/>
                <a:cs typeface="Microsoft Tai Le" panose="020B0502040204020203" pitchFamily="34" charset="0"/>
              </a:rPr>
              <a:t>excludes infants with vaccinations within 48 hours of presentation from their algorithms because they are low-risk</a:t>
            </a:r>
          </a:p>
          <a:p>
            <a:pPr marL="342900" indent="-342900">
              <a:buFont typeface="Arial" panose="020B0604020202020204" pitchFamily="34" charset="0"/>
              <a:buChar char="•"/>
            </a:pPr>
            <a:r>
              <a:rPr lang="en-US" b="1" dirty="0">
                <a:solidFill>
                  <a:sysClr val="windowText" lastClr="000000"/>
                </a:solidFill>
                <a:latin typeface="Microsoft Tai Le" panose="020B0502040204020203" pitchFamily="34" charset="0"/>
                <a:cs typeface="Microsoft Tai Le" panose="020B0502040204020203" pitchFamily="34" charset="0"/>
              </a:rPr>
              <a:t>Data and analysis </a:t>
            </a:r>
            <a:r>
              <a:rPr lang="en-US" dirty="0">
                <a:solidFill>
                  <a:sysClr val="windowText" lastClr="000000"/>
                </a:solidFill>
                <a:latin typeface="Microsoft Tai Le" panose="020B0502040204020203" pitchFamily="34" charset="0"/>
                <a:cs typeface="Microsoft Tai Le" panose="020B0502040204020203" pitchFamily="34" charset="0"/>
              </a:rPr>
              <a:t>from KPNC febrile infants seen in the ED from 2010-2019 found that of those age 61-90 days with no high-risk criteria and vaccination within 48 hours: </a:t>
            </a:r>
          </a:p>
          <a:p>
            <a:r>
              <a:rPr lang="en-US" sz="1500" b="1" i="1" dirty="0">
                <a:solidFill>
                  <a:sysClr val="windowText" lastClr="000000"/>
                </a:solidFill>
                <a:latin typeface="Microsoft Tai Le" panose="020B0502040204020203" pitchFamily="34" charset="0"/>
                <a:cs typeface="Microsoft Tai Le" panose="020B0502040204020203" pitchFamily="34" charset="0"/>
              </a:rPr>
              <a:t>					</a:t>
            </a:r>
            <a:r>
              <a:rPr lang="en-US" sz="1500" i="1" dirty="0">
                <a:solidFill>
                  <a:sysClr val="windowText" lastClr="000000"/>
                </a:solidFill>
                <a:cs typeface="Microsoft Tai Le" panose="020B0502040204020203" pitchFamily="34" charset="0"/>
              </a:rPr>
              <a:t>0/127 had bacteremia without meningitis </a:t>
            </a:r>
          </a:p>
          <a:p>
            <a:r>
              <a:rPr lang="en-US" sz="1500" i="1" dirty="0">
                <a:solidFill>
                  <a:sysClr val="windowText" lastClr="000000"/>
                </a:solidFill>
                <a:cs typeface="Microsoft Tai Le" panose="020B0502040204020203" pitchFamily="34" charset="0"/>
              </a:rPr>
              <a:t>		      		 	0/127 had meningitis</a:t>
            </a:r>
          </a:p>
        </p:txBody>
      </p:sp>
      <p:sp>
        <p:nvSpPr>
          <p:cNvPr id="8" name="TextBox 7">
            <a:extLst>
              <a:ext uri="{FF2B5EF4-FFF2-40B4-BE49-F238E27FC236}">
                <a16:creationId xmlns:a16="http://schemas.microsoft.com/office/drawing/2014/main" id="{B8DEEFEF-9487-4C1C-B2A9-33DA7F2F7FBB}"/>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7212664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8D9F15-8BD7-45B8-A4FD-5736CA1B6167}"/>
              </a:ext>
            </a:extLst>
          </p:cNvPr>
          <p:cNvGrpSpPr/>
          <p:nvPr/>
        </p:nvGrpSpPr>
        <p:grpSpPr>
          <a:xfrm>
            <a:off x="469292" y="1314272"/>
            <a:ext cx="2743200" cy="3657600"/>
            <a:chOff x="4137004" y="1454326"/>
            <a:chExt cx="3629804" cy="1886209"/>
          </a:xfrm>
        </p:grpSpPr>
        <p:sp>
          <p:nvSpPr>
            <p:cNvPr id="11" name="Rectangle 10">
              <a:extLst>
                <a:ext uri="{FF2B5EF4-FFF2-40B4-BE49-F238E27FC236}">
                  <a16:creationId xmlns:a16="http://schemas.microsoft.com/office/drawing/2014/main" id="{D16DD992-3020-481A-89A5-70797C986525}"/>
                </a:ext>
              </a:extLst>
            </p:cNvPr>
            <p:cNvSpPr/>
            <p:nvPr/>
          </p:nvSpPr>
          <p:spPr>
            <a:xfrm>
              <a:off x="4137005" y="1454326"/>
              <a:ext cx="3629803" cy="1886209"/>
            </a:xfrm>
            <a:prstGeom prst="rect">
              <a:avLst/>
            </a:prstGeom>
            <a:solidFill>
              <a:srgbClr val="EEE4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050" dirty="0">
                <a:solidFill>
                  <a:sysClr val="windowText" lastClr="000000"/>
                </a:solidFill>
              </a:endParaRPr>
            </a:p>
            <a:p>
              <a:pPr marL="257175" indent="-257175">
                <a:buFont typeface="+mj-lt"/>
                <a:buAutoNum type="arabicPeriod"/>
                <a:defRPr/>
              </a:pPr>
              <a:r>
                <a:rPr lang="en-US" sz="1100" dirty="0">
                  <a:solidFill>
                    <a:sysClr val="windowText" lastClr="000000"/>
                  </a:solidFill>
                </a:rPr>
                <a:t>Premature infants &lt; 37 </a:t>
              </a:r>
              <a:r>
                <a:rPr lang="en-US" sz="1100" dirty="0" err="1">
                  <a:solidFill>
                    <a:sysClr val="windowText" lastClr="000000"/>
                  </a:solidFill>
                </a:rPr>
                <a:t>wks</a:t>
              </a:r>
              <a:r>
                <a:rPr lang="en-US" sz="1100" dirty="0">
                  <a:solidFill>
                    <a:sysClr val="windowText" lastClr="000000"/>
                  </a:solidFill>
                </a:rPr>
                <a:t> gestational age</a:t>
              </a:r>
            </a:p>
            <a:p>
              <a:pPr marL="257175" indent="-257175">
                <a:buFont typeface="+mj-lt"/>
                <a:buAutoNum type="arabicPeriod"/>
                <a:defRPr/>
              </a:pPr>
              <a:r>
                <a:rPr lang="en-US" sz="1100" dirty="0">
                  <a:solidFill>
                    <a:sysClr val="windowText" lastClr="000000"/>
                  </a:solidFill>
                </a:rPr>
                <a:t>Infants with a focal bacterial infection (e.g., cellulitis, omphalitis, septic arthritis, osteomyelitis). These infections should be managed according to accepted standards.</a:t>
              </a:r>
            </a:p>
            <a:p>
              <a:pPr marL="257175" indent="-257175">
                <a:buFont typeface="+mj-lt"/>
                <a:buAutoNum type="arabicPeriod"/>
                <a:defRPr/>
              </a:pPr>
              <a:r>
                <a:rPr lang="en-US" sz="1100" dirty="0">
                  <a:solidFill>
                    <a:sysClr val="windowText" lastClr="000000"/>
                  </a:solidFill>
                </a:rPr>
                <a:t>Infants with documented or suspected immune compromise </a:t>
              </a:r>
            </a:p>
            <a:p>
              <a:pPr marL="257175" indent="-257175">
                <a:buFont typeface="+mj-lt"/>
                <a:buAutoNum type="arabicPeriod"/>
                <a:defRPr/>
              </a:pPr>
              <a:r>
                <a:rPr lang="en-US" sz="1100" dirty="0">
                  <a:solidFill>
                    <a:sysClr val="windowText" lastClr="000000"/>
                  </a:solidFill>
                </a:rPr>
                <a:t>Infants whose neonatal course was complicated by surgery or infection.</a:t>
              </a:r>
            </a:p>
            <a:p>
              <a:pPr marL="257175" indent="-257175">
                <a:buFont typeface="+mj-lt"/>
                <a:buAutoNum type="arabicPeriod"/>
                <a:defRPr/>
              </a:pPr>
              <a:r>
                <a:rPr lang="en-US" sz="1100" dirty="0">
                  <a:solidFill>
                    <a:sysClr val="windowText" lastClr="000000"/>
                  </a:solidFill>
                </a:rPr>
                <a:t>Infants with congenital or chromosomal abnormalities </a:t>
              </a:r>
            </a:p>
            <a:p>
              <a:pPr marL="257175" indent="-257175">
                <a:buFont typeface="+mj-lt"/>
                <a:buAutoNum type="arabicPeriod"/>
                <a:defRPr/>
              </a:pPr>
              <a:r>
                <a:rPr lang="en-US" sz="1100" dirty="0">
                  <a:solidFill>
                    <a:sysClr val="windowText" lastClr="000000"/>
                  </a:solidFill>
                </a:rPr>
                <a:t>Medically fragile infants requiring some form of technology or ongoing therapeutic intervention to sustain life</a:t>
              </a:r>
            </a:p>
            <a:p>
              <a:pPr marL="257175" indent="-257175">
                <a:buFont typeface="+mj-lt"/>
                <a:buAutoNum type="arabicPeriod"/>
                <a:defRPr/>
              </a:pPr>
              <a:r>
                <a:rPr lang="en-US" sz="1100" dirty="0">
                  <a:solidFill>
                    <a:sysClr val="windowText" lastClr="000000"/>
                  </a:solidFill>
                </a:rPr>
                <a:t>Infants who have received immunizations within the last 48 </a:t>
              </a:r>
              <a:r>
                <a:rPr lang="en-US" sz="1100" dirty="0" err="1">
                  <a:solidFill>
                    <a:sysClr val="windowText" lastClr="000000"/>
                  </a:solidFill>
                </a:rPr>
                <a:t>hrs</a:t>
              </a:r>
              <a:endParaRPr lang="en-US" sz="1100" dirty="0">
                <a:solidFill>
                  <a:sysClr val="windowText" lastClr="000000"/>
                </a:solidFill>
              </a:endParaRPr>
            </a:p>
            <a:p>
              <a:pPr marL="257175" indent="-257175">
                <a:buFont typeface="+mj-lt"/>
                <a:buAutoNum type="arabicPeriod"/>
                <a:defRPr/>
              </a:pPr>
              <a:r>
                <a:rPr lang="en-US" sz="1100" dirty="0">
                  <a:solidFill>
                    <a:sysClr val="windowText" lastClr="000000"/>
                  </a:solidFill>
                </a:rPr>
                <a:t>Infants with clinical bronchiolitis, with or without positive tests for RSV</a:t>
              </a:r>
            </a:p>
            <a:p>
              <a:pPr marL="257175" indent="-257175">
                <a:buFont typeface="+mj-lt"/>
                <a:buAutoNum type="arabicPeriod"/>
                <a:defRPr/>
              </a:pPr>
              <a:r>
                <a:rPr lang="en-US" sz="1100" dirty="0">
                  <a:solidFill>
                    <a:sysClr val="windowText" lastClr="000000"/>
                  </a:solidFill>
                </a:rPr>
                <a:t>Infants with COVID-19</a:t>
              </a:r>
            </a:p>
          </p:txBody>
        </p:sp>
        <p:sp>
          <p:nvSpPr>
            <p:cNvPr id="12" name="Rectangle 11">
              <a:extLst>
                <a:ext uri="{FF2B5EF4-FFF2-40B4-BE49-F238E27FC236}">
                  <a16:creationId xmlns:a16="http://schemas.microsoft.com/office/drawing/2014/main" id="{488D1E06-DEE0-4F42-9F42-53ED89E5EC6E}"/>
                </a:ext>
              </a:extLst>
            </p:cNvPr>
            <p:cNvSpPr/>
            <p:nvPr/>
          </p:nvSpPr>
          <p:spPr>
            <a:xfrm>
              <a:off x="4137004" y="1454327"/>
              <a:ext cx="3629803" cy="14146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Exclusion criteria</a:t>
              </a:r>
            </a:p>
          </p:txBody>
        </p:sp>
      </p:grpSp>
      <p:grpSp>
        <p:nvGrpSpPr>
          <p:cNvPr id="13" name="Group 12">
            <a:extLst>
              <a:ext uri="{FF2B5EF4-FFF2-40B4-BE49-F238E27FC236}">
                <a16:creationId xmlns:a16="http://schemas.microsoft.com/office/drawing/2014/main" id="{EF4CFD73-6EF2-4C4B-92A8-48A24FCC7308}"/>
              </a:ext>
            </a:extLst>
          </p:cNvPr>
          <p:cNvGrpSpPr/>
          <p:nvPr/>
        </p:nvGrpSpPr>
        <p:grpSpPr>
          <a:xfrm>
            <a:off x="3485230" y="1318714"/>
            <a:ext cx="2468881" cy="731520"/>
            <a:chOff x="5092117" y="1946247"/>
            <a:chExt cx="2575422" cy="975360"/>
          </a:xfrm>
        </p:grpSpPr>
        <p:sp>
          <p:nvSpPr>
            <p:cNvPr id="14" name="Rectangle 13">
              <a:extLst>
                <a:ext uri="{FF2B5EF4-FFF2-40B4-BE49-F238E27FC236}">
                  <a16:creationId xmlns:a16="http://schemas.microsoft.com/office/drawing/2014/main" id="{49C843C5-C192-4904-A44C-33EC13CA7947}"/>
                </a:ext>
              </a:extLst>
            </p:cNvPr>
            <p:cNvSpPr/>
            <p:nvPr/>
          </p:nvSpPr>
          <p:spPr>
            <a:xfrm>
              <a:off x="5092117" y="1946247"/>
              <a:ext cx="2575421" cy="97536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a:defRPr/>
              </a:pPr>
              <a:endParaRPr lang="en-US" sz="1050" dirty="0">
                <a:solidFill>
                  <a:sysClr val="windowText" lastClr="000000"/>
                </a:solidFill>
              </a:endParaRPr>
            </a:p>
            <a:p>
              <a:pPr lvl="0" algn="ctr">
                <a:defRPr/>
              </a:pPr>
              <a:endParaRPr lang="en-US" sz="1100" dirty="0">
                <a:solidFill>
                  <a:sysClr val="windowText" lastClr="000000"/>
                </a:solidFill>
              </a:endParaRPr>
            </a:p>
            <a:p>
              <a:pPr lvl="0">
                <a:defRPr/>
              </a:pPr>
              <a:r>
                <a:rPr lang="en-US" sz="1100" dirty="0">
                  <a:solidFill>
                    <a:sysClr val="windowText" lastClr="000000"/>
                  </a:solidFill>
                </a:rPr>
                <a:t>Infants 61-90 days of age*, well-appearing, temp ≥ 38C</a:t>
              </a:r>
            </a:p>
          </p:txBody>
        </p:sp>
        <p:sp>
          <p:nvSpPr>
            <p:cNvPr id="15" name="Rectangle 14">
              <a:extLst>
                <a:ext uri="{FF2B5EF4-FFF2-40B4-BE49-F238E27FC236}">
                  <a16:creationId xmlns:a16="http://schemas.microsoft.com/office/drawing/2014/main" id="{A8FF4DF0-213D-4ACE-A088-E77513CE29A8}"/>
                </a:ext>
              </a:extLst>
            </p:cNvPr>
            <p:cNvSpPr/>
            <p:nvPr/>
          </p:nvSpPr>
          <p:spPr>
            <a:xfrm>
              <a:off x="5092118" y="1946247"/>
              <a:ext cx="2575421" cy="3657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Inclusion criteria</a:t>
              </a:r>
            </a:p>
          </p:txBody>
        </p:sp>
      </p:grpSp>
      <p:grpSp>
        <p:nvGrpSpPr>
          <p:cNvPr id="16" name="Group 15">
            <a:extLst>
              <a:ext uri="{FF2B5EF4-FFF2-40B4-BE49-F238E27FC236}">
                <a16:creationId xmlns:a16="http://schemas.microsoft.com/office/drawing/2014/main" id="{E602097C-FC0C-4174-81E0-6510167266A6}"/>
              </a:ext>
            </a:extLst>
          </p:cNvPr>
          <p:cNvGrpSpPr/>
          <p:nvPr/>
        </p:nvGrpSpPr>
        <p:grpSpPr>
          <a:xfrm>
            <a:off x="6226849" y="1314272"/>
            <a:ext cx="2468882" cy="3112700"/>
            <a:chOff x="4122280" y="1452438"/>
            <a:chExt cx="3644528" cy="1572645"/>
          </a:xfrm>
          <a:solidFill>
            <a:schemeClr val="bg2">
              <a:lumMod val="90000"/>
            </a:schemeClr>
          </a:solidFill>
        </p:grpSpPr>
        <p:sp>
          <p:nvSpPr>
            <p:cNvPr id="17" name="Rectangle 16">
              <a:extLst>
                <a:ext uri="{FF2B5EF4-FFF2-40B4-BE49-F238E27FC236}">
                  <a16:creationId xmlns:a16="http://schemas.microsoft.com/office/drawing/2014/main" id="{577D754E-6F3B-420B-B56E-9E563D8A2B0E}"/>
                </a:ext>
              </a:extLst>
            </p:cNvPr>
            <p:cNvSpPr/>
            <p:nvPr/>
          </p:nvSpPr>
          <p:spPr>
            <a:xfrm>
              <a:off x="4122281" y="1454327"/>
              <a:ext cx="3644527" cy="15707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1100" dirty="0">
                <a:solidFill>
                  <a:sysClr val="windowText" lastClr="000000"/>
                </a:solidFill>
              </a:endParaRPr>
            </a:p>
            <a:p>
              <a:r>
                <a:rPr lang="en-US" sz="1100" b="1" dirty="0">
                  <a:solidFill>
                    <a:schemeClr val="tx1"/>
                  </a:solidFill>
                </a:rPr>
                <a:t>*</a:t>
              </a:r>
              <a:r>
                <a:rPr lang="en-US" sz="1100" dirty="0">
                  <a:solidFill>
                    <a:schemeClr val="tx1"/>
                  </a:solidFill>
                </a:rPr>
                <a:t> The AAP does not include infants age &gt; 60 days</a:t>
              </a:r>
            </a:p>
            <a:p>
              <a:r>
                <a:rPr lang="en-US" sz="1100" b="1" dirty="0">
                  <a:solidFill>
                    <a:schemeClr val="tx1"/>
                  </a:solidFill>
                </a:rPr>
                <a:t>† </a:t>
              </a:r>
              <a:r>
                <a:rPr lang="en-US" sz="1100" dirty="0">
                  <a:solidFill>
                    <a:sysClr val="windowText" lastClr="000000"/>
                  </a:solidFill>
                </a:rPr>
                <a:t>If observed at home, then recommend oral antimicrobials to treat presumed UTI if UA positive. Clinicians may manage infants at home if ALL following criteria are met: </a:t>
              </a:r>
              <a:r>
                <a:rPr lang="en-US" sz="1100" b="1" dirty="0">
                  <a:solidFill>
                    <a:sysClr val="windowText" lastClr="000000"/>
                  </a:solidFill>
                </a:rPr>
                <a:t>1) Verbal teaching and written instructions </a:t>
              </a:r>
              <a:r>
                <a:rPr lang="en-US" sz="1100" dirty="0">
                  <a:solidFill>
                    <a:sysClr val="windowText" lastClr="000000"/>
                  </a:solidFill>
                </a:rPr>
                <a:t>have been provided for monitoring throughout the period at home  </a:t>
              </a:r>
              <a:r>
                <a:rPr lang="en-US" sz="1100" b="1" dirty="0">
                  <a:solidFill>
                    <a:sysClr val="windowText" lastClr="000000"/>
                  </a:solidFill>
                </a:rPr>
                <a:t>2)</a:t>
              </a:r>
              <a:r>
                <a:rPr lang="en-US" sz="1100" dirty="0">
                  <a:solidFill>
                    <a:sysClr val="windowText" lastClr="000000"/>
                  </a:solidFill>
                </a:rPr>
                <a:t> Follow-up plans</a:t>
              </a:r>
              <a:r>
                <a:rPr lang="en-US" sz="1100" b="1" dirty="0">
                  <a:solidFill>
                    <a:sysClr val="windowText" lastClr="000000"/>
                  </a:solidFill>
                </a:rPr>
                <a:t> </a:t>
              </a:r>
              <a:r>
                <a:rPr lang="en-US" sz="1100" dirty="0">
                  <a:solidFill>
                    <a:sysClr val="windowText" lastClr="000000"/>
                  </a:solidFill>
                </a:rPr>
                <a:t>for </a:t>
              </a:r>
              <a:r>
                <a:rPr lang="en-US" sz="1100" b="1" dirty="0">
                  <a:solidFill>
                    <a:sysClr val="windowText" lastClr="000000"/>
                  </a:solidFill>
                </a:rPr>
                <a:t>re-evaluation</a:t>
              </a:r>
              <a:r>
                <a:rPr lang="en-US" sz="1100" dirty="0">
                  <a:solidFill>
                    <a:sysClr val="windowText" lastClr="000000"/>
                  </a:solidFill>
                </a:rPr>
                <a:t> have been developed and are in place </a:t>
              </a:r>
              <a:r>
                <a:rPr lang="en-US" sz="1100" b="1" dirty="0">
                  <a:solidFill>
                    <a:sysClr val="windowText" lastClr="000000"/>
                  </a:solidFill>
                </a:rPr>
                <a:t>3)</a:t>
              </a:r>
              <a:r>
                <a:rPr lang="en-US" sz="1100" dirty="0">
                  <a:solidFill>
                    <a:sysClr val="windowText" lastClr="000000"/>
                  </a:solidFill>
                </a:rPr>
                <a:t> </a:t>
              </a:r>
              <a:r>
                <a:rPr lang="en-US" sz="1100" b="1" dirty="0">
                  <a:solidFill>
                    <a:sysClr val="windowText" lastClr="000000"/>
                  </a:solidFill>
                </a:rPr>
                <a:t>Plans have been developed and are in place in case of change in clinical status</a:t>
              </a:r>
              <a:r>
                <a:rPr lang="en-US" sz="1100" dirty="0">
                  <a:solidFill>
                    <a:sysClr val="windowText" lastClr="000000"/>
                  </a:solidFill>
                </a:rPr>
                <a:t>, including means of communication between family and providers and access to emergency medical care.</a:t>
              </a:r>
            </a:p>
          </p:txBody>
        </p:sp>
        <p:sp>
          <p:nvSpPr>
            <p:cNvPr id="18" name="Rectangle 17">
              <a:extLst>
                <a:ext uri="{FF2B5EF4-FFF2-40B4-BE49-F238E27FC236}">
                  <a16:creationId xmlns:a16="http://schemas.microsoft.com/office/drawing/2014/main" id="{A179D32E-AC81-4BA2-807C-33C9039A0B74}"/>
                </a:ext>
              </a:extLst>
            </p:cNvPr>
            <p:cNvSpPr/>
            <p:nvPr/>
          </p:nvSpPr>
          <p:spPr>
            <a:xfrm>
              <a:off x="4122280" y="1452438"/>
              <a:ext cx="3644526" cy="138596"/>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a:solidFill>
                    <a:sysClr val="windowText" lastClr="000000"/>
                  </a:solidFill>
                </a:rPr>
                <a:t>Footnote</a:t>
              </a:r>
            </a:p>
          </p:txBody>
        </p:sp>
      </p:grpSp>
      <p:grpSp>
        <p:nvGrpSpPr>
          <p:cNvPr id="19" name="Group 18">
            <a:extLst>
              <a:ext uri="{FF2B5EF4-FFF2-40B4-BE49-F238E27FC236}">
                <a16:creationId xmlns:a16="http://schemas.microsoft.com/office/drawing/2014/main" id="{C27C0ED2-B040-4BBD-9814-A99D8A3358A5}"/>
              </a:ext>
            </a:extLst>
          </p:cNvPr>
          <p:cNvGrpSpPr/>
          <p:nvPr/>
        </p:nvGrpSpPr>
        <p:grpSpPr>
          <a:xfrm>
            <a:off x="3485231" y="2328957"/>
            <a:ext cx="2468880" cy="1751738"/>
            <a:chOff x="4137004" y="1450132"/>
            <a:chExt cx="3629803" cy="816959"/>
          </a:xfrm>
          <a:solidFill>
            <a:schemeClr val="accent1">
              <a:lumMod val="20000"/>
              <a:lumOff val="80000"/>
            </a:schemeClr>
          </a:solidFill>
        </p:grpSpPr>
        <p:sp>
          <p:nvSpPr>
            <p:cNvPr id="20" name="Rectangle 19">
              <a:extLst>
                <a:ext uri="{FF2B5EF4-FFF2-40B4-BE49-F238E27FC236}">
                  <a16:creationId xmlns:a16="http://schemas.microsoft.com/office/drawing/2014/main" id="{C00FAC2B-10A3-481D-8A0B-20F0CAE65DB1}"/>
                </a:ext>
              </a:extLst>
            </p:cNvPr>
            <p:cNvSpPr/>
            <p:nvPr/>
          </p:nvSpPr>
          <p:spPr>
            <a:xfrm>
              <a:off x="4137004" y="1456837"/>
              <a:ext cx="3629803" cy="810254"/>
            </a:xfrm>
            <a:prstGeom prst="rect">
              <a:avLst/>
            </a:prstGeom>
            <a:solidFill>
              <a:srgbClr val="DAE3F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endParaRPr lang="en-US" sz="900" dirty="0">
                <a:solidFill>
                  <a:sysClr val="windowText" lastClr="000000"/>
                </a:solidFill>
              </a:endParaRPr>
            </a:p>
            <a:p>
              <a:pPr lvl="0">
                <a:defRPr/>
              </a:pPr>
              <a:endParaRPr lang="en-US" sz="1100" dirty="0">
                <a:solidFill>
                  <a:sysClr val="windowText" lastClr="000000"/>
                </a:solidFill>
              </a:endParaRPr>
            </a:p>
            <a:p>
              <a:pPr marL="257175" indent="-257175">
                <a:buFont typeface="+mj-lt"/>
                <a:buAutoNum type="arabicPeriod"/>
                <a:defRPr/>
              </a:pPr>
              <a:r>
                <a:rPr lang="en-US" sz="1100" dirty="0">
                  <a:solidFill>
                    <a:sysClr val="windowText" lastClr="000000"/>
                  </a:solidFill>
                </a:rPr>
                <a:t>Cath: catheter</a:t>
              </a:r>
            </a:p>
            <a:p>
              <a:pPr marL="257175" indent="-257175">
                <a:buFont typeface="+mj-lt"/>
                <a:buAutoNum type="arabicPeriod"/>
                <a:defRPr/>
              </a:pPr>
              <a:r>
                <a:rPr lang="en-US" sz="1100" dirty="0">
                  <a:solidFill>
                    <a:sysClr val="windowText" lastClr="000000"/>
                  </a:solidFill>
                </a:rPr>
                <a:t>CBC: complete blood count </a:t>
              </a:r>
            </a:p>
            <a:p>
              <a:pPr marL="257175" indent="-257175">
                <a:buFont typeface="+mj-lt"/>
                <a:buAutoNum type="arabicPeriod"/>
                <a:defRPr/>
              </a:pPr>
              <a:r>
                <a:rPr lang="en-US" sz="1100" dirty="0">
                  <a:solidFill>
                    <a:sysClr val="windowText" lastClr="000000"/>
                  </a:solidFill>
                </a:rPr>
                <a:t>LP: lumbar puncture</a:t>
              </a:r>
            </a:p>
            <a:p>
              <a:pPr marL="257175" indent="-257175">
                <a:buFont typeface="+mj-lt"/>
                <a:buAutoNum type="arabicPeriod"/>
                <a:defRPr/>
              </a:pPr>
              <a:r>
                <a:rPr lang="en-US" sz="1100" dirty="0">
                  <a:solidFill>
                    <a:sysClr val="windowText" lastClr="000000"/>
                  </a:solidFill>
                </a:rPr>
                <a:t>RSV: respiratory syncytial virus</a:t>
              </a:r>
            </a:p>
            <a:p>
              <a:pPr marL="257175" indent="-257175">
                <a:buFont typeface="+mj-lt"/>
                <a:buAutoNum type="arabicPeriod"/>
                <a:defRPr/>
              </a:pPr>
              <a:r>
                <a:rPr lang="en-US" sz="1100" dirty="0">
                  <a:solidFill>
                    <a:sysClr val="windowText" lastClr="000000"/>
                  </a:solidFill>
                </a:rPr>
                <a:t>UA: urinalysis</a:t>
              </a:r>
            </a:p>
            <a:p>
              <a:pPr marL="257175" indent="-257175">
                <a:buFont typeface="+mj-lt"/>
                <a:buAutoNum type="arabicPeriod"/>
                <a:defRPr/>
              </a:pPr>
              <a:r>
                <a:rPr lang="en-US" sz="1100" dirty="0">
                  <a:solidFill>
                    <a:sysClr val="windowText" lastClr="000000"/>
                  </a:solidFill>
                </a:rPr>
                <a:t>UCx: urine culture</a:t>
              </a:r>
            </a:p>
            <a:p>
              <a:pPr marL="257175" indent="-257175">
                <a:buFont typeface="+mj-lt"/>
                <a:buAutoNum type="arabicPeriod"/>
                <a:defRPr/>
              </a:pPr>
              <a:r>
                <a:rPr lang="en-US" sz="1100" dirty="0">
                  <a:solidFill>
                    <a:sysClr val="windowText" lastClr="000000"/>
                  </a:solidFill>
                </a:rPr>
                <a:t>UTI: urinary tract infection</a:t>
              </a:r>
            </a:p>
            <a:p>
              <a:pPr marL="257175" indent="-257175">
                <a:buFont typeface="+mj-lt"/>
                <a:buAutoNum type="arabicPeriod"/>
                <a:defRPr/>
              </a:pPr>
              <a:r>
                <a:rPr lang="en-US" sz="1100" dirty="0" err="1">
                  <a:solidFill>
                    <a:sysClr val="windowText" lastClr="000000"/>
                  </a:solidFill>
                </a:rPr>
                <a:t>Pabx</a:t>
              </a:r>
              <a:r>
                <a:rPr lang="en-US" sz="1100" dirty="0">
                  <a:solidFill>
                    <a:sysClr val="windowText" lastClr="000000"/>
                  </a:solidFill>
                </a:rPr>
                <a:t>: parenteral antibiotics</a:t>
              </a:r>
            </a:p>
          </p:txBody>
        </p:sp>
        <p:sp>
          <p:nvSpPr>
            <p:cNvPr id="21" name="Rectangle 20">
              <a:extLst>
                <a:ext uri="{FF2B5EF4-FFF2-40B4-BE49-F238E27FC236}">
                  <a16:creationId xmlns:a16="http://schemas.microsoft.com/office/drawing/2014/main" id="{F0674EA4-C11E-4D9F-A359-7C335ED48086}"/>
                </a:ext>
              </a:extLst>
            </p:cNvPr>
            <p:cNvSpPr/>
            <p:nvPr/>
          </p:nvSpPr>
          <p:spPr>
            <a:xfrm>
              <a:off x="4137004" y="1450132"/>
              <a:ext cx="3629803" cy="127935"/>
            </a:xfrm>
            <a:prstGeom prst="rect">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defRPr/>
              </a:pPr>
              <a:r>
                <a:rPr lang="en-US" sz="1200" b="1" dirty="0">
                  <a:solidFill>
                    <a:sysClr val="windowText" lastClr="000000"/>
                  </a:solidFill>
                </a:rPr>
                <a:t>Abbreviations</a:t>
              </a:r>
            </a:p>
          </p:txBody>
        </p:sp>
      </p:grpSp>
      <p:sp>
        <p:nvSpPr>
          <p:cNvPr id="28" name="TextBox 27">
            <a:extLst>
              <a:ext uri="{FF2B5EF4-FFF2-40B4-BE49-F238E27FC236}">
                <a16:creationId xmlns:a16="http://schemas.microsoft.com/office/drawing/2014/main" id="{880BFB8F-4653-419B-ABED-DD9148EBFC7F}"/>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22" name="Title 1">
            <a:extLst>
              <a:ext uri="{FF2B5EF4-FFF2-40B4-BE49-F238E27FC236}">
                <a16:creationId xmlns:a16="http://schemas.microsoft.com/office/drawing/2014/main" id="{3345DDC0-7434-4BE2-A4AE-2C96B243C969}"/>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61-90 Days Old, Low-risk,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a:t>
            </a:r>
            <a:endParaRPr lang="en-US" sz="2200" dirty="0">
              <a:solidFill>
                <a:schemeClr val="tx1"/>
              </a:solidFill>
              <a:latin typeface="Microsoft Tai Le"/>
              <a:cs typeface="Microsoft Tai Le"/>
            </a:endParaRPr>
          </a:p>
        </p:txBody>
      </p:sp>
    </p:spTree>
    <p:extLst>
      <p:ext uri="{BB962C8B-B14F-4D97-AF65-F5344CB8AC3E}">
        <p14:creationId xmlns:p14="http://schemas.microsoft.com/office/powerpoint/2010/main" val="27399231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60AC74E-6F5A-450A-9BD3-8BEA734D6BFA}"/>
              </a:ext>
            </a:extLst>
          </p:cNvPr>
          <p:cNvGrpSpPr/>
          <p:nvPr/>
        </p:nvGrpSpPr>
        <p:grpSpPr>
          <a:xfrm>
            <a:off x="1190174" y="1365221"/>
            <a:ext cx="4309681" cy="4123607"/>
            <a:chOff x="2582037" y="272201"/>
            <a:chExt cx="5746241" cy="5498142"/>
          </a:xfrm>
        </p:grpSpPr>
        <p:cxnSp>
          <p:nvCxnSpPr>
            <p:cNvPr id="12" name="Straight Arrow Connector 11">
              <a:extLst>
                <a:ext uri="{FF2B5EF4-FFF2-40B4-BE49-F238E27FC236}">
                  <a16:creationId xmlns:a16="http://schemas.microsoft.com/office/drawing/2014/main" id="{2B2FF98F-DEBF-4F97-8668-D6848B943126}"/>
                </a:ext>
              </a:extLst>
            </p:cNvPr>
            <p:cNvCxnSpPr>
              <a:cxnSpLocks/>
              <a:stCxn id="23" idx="1"/>
              <a:endCxn id="31" idx="3"/>
            </p:cNvCxnSpPr>
            <p:nvPr/>
          </p:nvCxnSpPr>
          <p:spPr>
            <a:xfrm flipH="1">
              <a:off x="4889933" y="2137213"/>
              <a:ext cx="1503280"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A94D8800-4B1D-4DCC-8EAD-998330BBDE29}"/>
                </a:ext>
              </a:extLst>
            </p:cNvPr>
            <p:cNvGrpSpPr/>
            <p:nvPr/>
          </p:nvGrpSpPr>
          <p:grpSpPr>
            <a:xfrm>
              <a:off x="2582037" y="272201"/>
              <a:ext cx="5746241" cy="5498142"/>
              <a:chOff x="2587160" y="288210"/>
              <a:chExt cx="5746241" cy="5498142"/>
            </a:xfrm>
          </p:grpSpPr>
          <p:sp>
            <p:nvSpPr>
              <p:cNvPr id="23" name="Diamond 22">
                <a:extLst>
                  <a:ext uri="{FF2B5EF4-FFF2-40B4-BE49-F238E27FC236}">
                    <a16:creationId xmlns:a16="http://schemas.microsoft.com/office/drawing/2014/main" id="{120AEB69-28C6-4AEC-8FD9-DDF1346B7BCD}"/>
                  </a:ext>
                </a:extLst>
              </p:cNvPr>
              <p:cNvSpPr/>
              <p:nvPr/>
            </p:nvSpPr>
            <p:spPr>
              <a:xfrm>
                <a:off x="6398336" y="1843884"/>
                <a:ext cx="1238446" cy="618676"/>
              </a:xfrm>
              <a:prstGeom prst="diamond">
                <a:avLst/>
              </a:prstGeom>
              <a:solidFill>
                <a:schemeClr val="accent1">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UA+ </a:t>
                </a:r>
              </a:p>
            </p:txBody>
          </p:sp>
          <p:grpSp>
            <p:nvGrpSpPr>
              <p:cNvPr id="11" name="Group 10">
                <a:extLst>
                  <a:ext uri="{FF2B5EF4-FFF2-40B4-BE49-F238E27FC236}">
                    <a16:creationId xmlns:a16="http://schemas.microsoft.com/office/drawing/2014/main" id="{3800CD2C-056B-4F06-818C-7BE20FCB8400}"/>
                  </a:ext>
                </a:extLst>
              </p:cNvPr>
              <p:cNvGrpSpPr/>
              <p:nvPr/>
            </p:nvGrpSpPr>
            <p:grpSpPr>
              <a:xfrm>
                <a:off x="2587160" y="288210"/>
                <a:ext cx="5746241" cy="5498142"/>
                <a:chOff x="2587160" y="288210"/>
                <a:chExt cx="5746241" cy="5498142"/>
              </a:xfrm>
            </p:grpSpPr>
            <p:sp>
              <p:nvSpPr>
                <p:cNvPr id="21" name="TextBox 20">
                  <a:extLst>
                    <a:ext uri="{FF2B5EF4-FFF2-40B4-BE49-F238E27FC236}">
                      <a16:creationId xmlns:a16="http://schemas.microsoft.com/office/drawing/2014/main" id="{DB81D492-7C0D-4A0C-999C-36E8D9DE504A}"/>
                    </a:ext>
                  </a:extLst>
                </p:cNvPr>
                <p:cNvSpPr txBox="1"/>
                <p:nvPr/>
              </p:nvSpPr>
              <p:spPr>
                <a:xfrm>
                  <a:off x="7017558" y="2761782"/>
                  <a:ext cx="498427" cy="369332"/>
                </a:xfrm>
                <a:prstGeom prst="rect">
                  <a:avLst/>
                </a:prstGeom>
                <a:noFill/>
              </p:spPr>
              <p:txBody>
                <a:bodyPr wrap="none" rtlCol="0">
                  <a:spAutoFit/>
                </a:bodyPr>
                <a:lstStyle/>
                <a:p>
                  <a:r>
                    <a:rPr lang="en-US" sz="1200"/>
                    <a:t>NO</a:t>
                  </a:r>
                  <a:endParaRPr lang="en-US" sz="900"/>
                </a:p>
              </p:txBody>
            </p:sp>
            <p:grpSp>
              <p:nvGrpSpPr>
                <p:cNvPr id="10" name="Group 9">
                  <a:extLst>
                    <a:ext uri="{FF2B5EF4-FFF2-40B4-BE49-F238E27FC236}">
                      <a16:creationId xmlns:a16="http://schemas.microsoft.com/office/drawing/2014/main" id="{048E7AD1-A159-4D5A-8E82-C342DB221985}"/>
                    </a:ext>
                  </a:extLst>
                </p:cNvPr>
                <p:cNvGrpSpPr/>
                <p:nvPr/>
              </p:nvGrpSpPr>
              <p:grpSpPr>
                <a:xfrm>
                  <a:off x="2587160" y="288210"/>
                  <a:ext cx="5746241" cy="5498142"/>
                  <a:chOff x="2587160" y="288210"/>
                  <a:chExt cx="5746241" cy="5498142"/>
                </a:xfrm>
              </p:grpSpPr>
              <p:grpSp>
                <p:nvGrpSpPr>
                  <p:cNvPr id="6" name="Group 5">
                    <a:extLst>
                      <a:ext uri="{FF2B5EF4-FFF2-40B4-BE49-F238E27FC236}">
                        <a16:creationId xmlns:a16="http://schemas.microsoft.com/office/drawing/2014/main" id="{ECD19815-3ABA-4EF8-9C46-DB3094FC9BD4}"/>
                      </a:ext>
                    </a:extLst>
                  </p:cNvPr>
                  <p:cNvGrpSpPr/>
                  <p:nvPr/>
                </p:nvGrpSpPr>
                <p:grpSpPr>
                  <a:xfrm>
                    <a:off x="5514279" y="288210"/>
                    <a:ext cx="2232031" cy="1925006"/>
                    <a:chOff x="822240" y="512372"/>
                    <a:chExt cx="3968053" cy="3422234"/>
                  </a:xfrm>
                </p:grpSpPr>
                <p:sp>
                  <p:nvSpPr>
                    <p:cNvPr id="16" name="Rectangle 15">
                      <a:extLst>
                        <a:ext uri="{FF2B5EF4-FFF2-40B4-BE49-F238E27FC236}">
                          <a16:creationId xmlns:a16="http://schemas.microsoft.com/office/drawing/2014/main" id="{14C815F4-3E4B-4657-8DD6-3BDF96293D0A}"/>
                        </a:ext>
                      </a:extLst>
                    </p:cNvPr>
                    <p:cNvSpPr/>
                    <p:nvPr/>
                  </p:nvSpPr>
                  <p:spPr>
                    <a:xfrm>
                      <a:off x="2212600" y="512372"/>
                      <a:ext cx="2577693" cy="1272224"/>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r>
                        <a:rPr lang="en-US" sz="1200" dirty="0">
                          <a:solidFill>
                            <a:schemeClr val="tx1"/>
                          </a:solidFill>
                        </a:rPr>
                        <a:t>May obtain</a:t>
                      </a:r>
                    </a:p>
                    <a:p>
                      <a:pPr algn="ctr"/>
                      <a:r>
                        <a:rPr lang="en-US" sz="1200" dirty="0">
                          <a:solidFill>
                            <a:schemeClr val="tx1"/>
                          </a:solidFill>
                        </a:rPr>
                        <a:t>UA &amp; UCx</a:t>
                      </a:r>
                    </a:p>
                    <a:p>
                      <a:pPr algn="ctr"/>
                      <a:endParaRPr lang="en-US" sz="1200" dirty="0">
                        <a:solidFill>
                          <a:schemeClr val="tx1"/>
                        </a:solidFill>
                      </a:endParaRPr>
                    </a:p>
                  </p:txBody>
                </p:sp>
                <p:sp>
                  <p:nvSpPr>
                    <p:cNvPr id="2" name="TextBox 1">
                      <a:extLst>
                        <a:ext uri="{FF2B5EF4-FFF2-40B4-BE49-F238E27FC236}">
                          <a16:creationId xmlns:a16="http://schemas.microsoft.com/office/drawing/2014/main" id="{B3A294D1-9205-488A-A9D6-4186444C3EF3}"/>
                        </a:ext>
                      </a:extLst>
                    </p:cNvPr>
                    <p:cNvSpPr txBox="1"/>
                    <p:nvPr/>
                  </p:nvSpPr>
                  <p:spPr>
                    <a:xfrm>
                      <a:off x="822240" y="3278016"/>
                      <a:ext cx="1041882" cy="656590"/>
                    </a:xfrm>
                    <a:prstGeom prst="rect">
                      <a:avLst/>
                    </a:prstGeom>
                    <a:noFill/>
                  </p:spPr>
                  <p:txBody>
                    <a:bodyPr wrap="none" rtlCol="0">
                      <a:spAutoFit/>
                    </a:bodyPr>
                    <a:lstStyle/>
                    <a:p>
                      <a:r>
                        <a:rPr lang="en-US" sz="1200"/>
                        <a:t>YES</a:t>
                      </a:r>
                    </a:p>
                  </p:txBody>
                </p:sp>
              </p:grpSp>
              <p:cxnSp>
                <p:nvCxnSpPr>
                  <p:cNvPr id="27" name="Straight Arrow Connector 26">
                    <a:extLst>
                      <a:ext uri="{FF2B5EF4-FFF2-40B4-BE49-F238E27FC236}">
                        <a16:creationId xmlns:a16="http://schemas.microsoft.com/office/drawing/2014/main" id="{62715D02-BF5D-4954-9511-0C74AEC78385}"/>
                      </a:ext>
                    </a:extLst>
                  </p:cNvPr>
                  <p:cNvCxnSpPr>
                    <a:cxnSpLocks/>
                    <a:stCxn id="16" idx="2"/>
                    <a:endCxn id="23" idx="0"/>
                  </p:cNvCxnSpPr>
                  <p:nvPr/>
                </p:nvCxnSpPr>
                <p:spPr>
                  <a:xfrm flipH="1">
                    <a:off x="7017559" y="1003836"/>
                    <a:ext cx="3775" cy="840048"/>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82E1749-49F0-4761-B6F2-04783389ADC3}"/>
                      </a:ext>
                    </a:extLst>
                  </p:cNvPr>
                  <p:cNvCxnSpPr>
                    <a:cxnSpLocks/>
                    <a:stCxn id="23" idx="2"/>
                    <a:endCxn id="29" idx="0"/>
                  </p:cNvCxnSpPr>
                  <p:nvPr/>
                </p:nvCxnSpPr>
                <p:spPr>
                  <a:xfrm>
                    <a:off x="7017559" y="2462560"/>
                    <a:ext cx="0" cy="1149441"/>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B1766528-CAD5-420F-BBC4-41501CB071A1}"/>
                      </a:ext>
                    </a:extLst>
                  </p:cNvPr>
                  <p:cNvSpPr/>
                  <p:nvPr/>
                </p:nvSpPr>
                <p:spPr>
                  <a:xfrm>
                    <a:off x="5701717" y="3612001"/>
                    <a:ext cx="2631684" cy="2174351"/>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1200" dirty="0">
                        <a:solidFill>
                          <a:schemeClr val="tx1"/>
                        </a:solidFill>
                      </a:rPr>
                      <a:t>Need not perform CBC or blood culture</a:t>
                    </a:r>
                  </a:p>
                  <a:p>
                    <a:pPr marL="171450" indent="-171450">
                      <a:buAutoNum type="arabicPeriod"/>
                    </a:pPr>
                    <a:r>
                      <a:rPr lang="en-US" sz="1200" dirty="0">
                        <a:solidFill>
                          <a:schemeClr val="tx1"/>
                        </a:solidFill>
                      </a:rPr>
                      <a:t>Need not administer antimicrobials</a:t>
                    </a:r>
                  </a:p>
                  <a:p>
                    <a:pPr marL="171450" indent="-171450">
                      <a:buAutoNum type="arabicPeriod"/>
                    </a:pPr>
                    <a:r>
                      <a:rPr lang="en-US" sz="1200" dirty="0">
                        <a:solidFill>
                          <a:schemeClr val="tx1"/>
                        </a:solidFill>
                      </a:rPr>
                      <a:t>Observe closely at home* </a:t>
                    </a:r>
                  </a:p>
                  <a:p>
                    <a:pPr marL="171450" indent="-171450">
                      <a:buAutoNum type="arabicPeriod"/>
                    </a:pPr>
                    <a:r>
                      <a:rPr lang="en-US" sz="1200" dirty="0">
                        <a:solidFill>
                          <a:schemeClr val="tx1"/>
                        </a:solidFill>
                      </a:rPr>
                      <a:t>Follow-up within 24-36 </a:t>
                    </a:r>
                    <a:r>
                      <a:rPr lang="en-US" sz="1200" dirty="0" err="1">
                        <a:solidFill>
                          <a:schemeClr val="tx1"/>
                        </a:solidFill>
                      </a:rPr>
                      <a:t>hrs</a:t>
                    </a:r>
                    <a:r>
                      <a:rPr lang="en-US" sz="1200" dirty="0">
                        <a:solidFill>
                          <a:schemeClr val="tx1"/>
                        </a:solidFill>
                      </a:rPr>
                      <a:t> </a:t>
                    </a:r>
                  </a:p>
                </p:txBody>
              </p:sp>
              <p:sp>
                <p:nvSpPr>
                  <p:cNvPr id="31" name="Rectangle 30">
                    <a:extLst>
                      <a:ext uri="{FF2B5EF4-FFF2-40B4-BE49-F238E27FC236}">
                        <a16:creationId xmlns:a16="http://schemas.microsoft.com/office/drawing/2014/main" id="{3B16064F-1545-4E6A-8B74-275B3AAE9085}"/>
                      </a:ext>
                    </a:extLst>
                  </p:cNvPr>
                  <p:cNvSpPr/>
                  <p:nvPr/>
                </p:nvSpPr>
                <p:spPr>
                  <a:xfrm>
                    <a:off x="2587160" y="737867"/>
                    <a:ext cx="2307896" cy="2874135"/>
                  </a:xfrm>
                  <a:prstGeom prst="rect">
                    <a:avLst/>
                  </a:prstGeom>
                  <a:solidFill>
                    <a:schemeClr val="accent6">
                      <a:lumMod val="20000"/>
                      <a:lumOff val="80000"/>
                    </a:schemeClr>
                  </a:solidFill>
                  <a:ln w="285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AutoNum type="arabicPeriod"/>
                    </a:pPr>
                    <a:r>
                      <a:rPr lang="en-US" sz="1200" dirty="0">
                        <a:solidFill>
                          <a:schemeClr val="tx1"/>
                        </a:solidFill>
                      </a:rPr>
                      <a:t>Confirm urine sent by bladder </a:t>
                    </a:r>
                    <a:r>
                      <a:rPr lang="en-US" sz="1200" dirty="0" err="1">
                        <a:solidFill>
                          <a:schemeClr val="tx1"/>
                        </a:solidFill>
                      </a:rPr>
                      <a:t>cath</a:t>
                    </a:r>
                    <a:r>
                      <a:rPr lang="en-US" sz="1200" dirty="0">
                        <a:solidFill>
                          <a:schemeClr val="tx1"/>
                        </a:solidFill>
                      </a:rPr>
                      <a:t> </a:t>
                    </a:r>
                  </a:p>
                  <a:p>
                    <a:pPr marL="171450" indent="-171450">
                      <a:buAutoNum type="arabicPeriod"/>
                    </a:pPr>
                    <a:r>
                      <a:rPr lang="en-US" sz="1200" dirty="0">
                        <a:solidFill>
                          <a:schemeClr val="tx1"/>
                        </a:solidFill>
                      </a:rPr>
                      <a:t>Consider CBC and blood culture</a:t>
                    </a:r>
                  </a:p>
                  <a:p>
                    <a:pPr marL="171450" indent="-171450">
                      <a:buAutoNum type="arabicPeriod"/>
                    </a:pPr>
                    <a:r>
                      <a:rPr lang="en-US" sz="1200" dirty="0">
                        <a:solidFill>
                          <a:schemeClr val="tx1"/>
                        </a:solidFill>
                      </a:rPr>
                      <a:t>Need not perform LP</a:t>
                    </a:r>
                  </a:p>
                  <a:p>
                    <a:pPr marL="171450" indent="-171450">
                      <a:buAutoNum type="arabicPeriod"/>
                    </a:pPr>
                    <a:r>
                      <a:rPr lang="en-US" sz="1200" dirty="0">
                        <a:solidFill>
                          <a:schemeClr val="tx1"/>
                        </a:solidFill>
                      </a:rPr>
                      <a:t>Administer oral antimicrobial</a:t>
                    </a:r>
                  </a:p>
                  <a:p>
                    <a:pPr marL="171450" indent="-171450">
                      <a:buAutoNum type="arabicPeriod"/>
                    </a:pPr>
                    <a:r>
                      <a:rPr lang="en-US" sz="1200" dirty="0">
                        <a:solidFill>
                          <a:schemeClr val="tx1"/>
                        </a:solidFill>
                      </a:rPr>
                      <a:t>May observe closely at home </a:t>
                    </a:r>
                    <a:r>
                      <a:rPr lang="en-US" sz="1200" b="1" dirty="0">
                        <a:solidFill>
                          <a:schemeClr val="tx1"/>
                        </a:solidFill>
                      </a:rPr>
                      <a:t>†</a:t>
                    </a:r>
                    <a:endParaRPr lang="en-US" sz="1200" dirty="0">
                      <a:solidFill>
                        <a:schemeClr val="tx1"/>
                      </a:solidFill>
                    </a:endParaRPr>
                  </a:p>
                  <a:p>
                    <a:pPr marL="171450" indent="-171450">
                      <a:buAutoNum type="arabicPeriod"/>
                    </a:pPr>
                    <a:r>
                      <a:rPr lang="en-US" sz="1200" dirty="0">
                        <a:solidFill>
                          <a:schemeClr val="tx1"/>
                        </a:solidFill>
                      </a:rPr>
                      <a:t>Follow-up in 12-24 </a:t>
                    </a:r>
                    <a:r>
                      <a:rPr lang="en-US" sz="1200" dirty="0" err="1">
                        <a:solidFill>
                          <a:schemeClr val="tx1"/>
                        </a:solidFill>
                      </a:rPr>
                      <a:t>hrs</a:t>
                    </a:r>
                    <a:endParaRPr lang="en-US" sz="1200" dirty="0">
                      <a:solidFill>
                        <a:schemeClr val="tx1"/>
                      </a:solidFill>
                    </a:endParaRPr>
                  </a:p>
                </p:txBody>
              </p:sp>
            </p:grpSp>
          </p:grpSp>
        </p:grpSp>
      </p:grpSp>
      <p:sp>
        <p:nvSpPr>
          <p:cNvPr id="20" name="TextBox 19">
            <a:extLst>
              <a:ext uri="{FF2B5EF4-FFF2-40B4-BE49-F238E27FC236}">
                <a16:creationId xmlns:a16="http://schemas.microsoft.com/office/drawing/2014/main" id="{0BA0E9C9-689F-0D46-9FAD-77D4D0DFECB9}"/>
              </a:ext>
            </a:extLst>
          </p:cNvPr>
          <p:cNvSpPr txBox="1"/>
          <p:nvPr/>
        </p:nvSpPr>
        <p:spPr>
          <a:xfrm>
            <a:off x="5779477" y="1643271"/>
            <a:ext cx="2344563" cy="1869743"/>
          </a:xfrm>
          <a:prstGeom prst="rect">
            <a:avLst/>
          </a:prstGeom>
          <a:solidFill>
            <a:schemeClr val="bg1">
              <a:lumMod val="95000"/>
            </a:schemeClr>
          </a:solidFill>
          <a:ln w="12700">
            <a:solidFill>
              <a:schemeClr val="tx1"/>
            </a:solidFill>
          </a:ln>
        </p:spPr>
        <p:txBody>
          <a:bodyPr wrap="square" lIns="68580" tIns="34290" rIns="68580" bIns="34290" rtlCol="0" anchor="t">
            <a:spAutoFit/>
          </a:bodyPr>
          <a:lstStyle/>
          <a:p>
            <a:r>
              <a:rPr lang="en-US" sz="900" b="1" dirty="0"/>
              <a:t>Footnotes:</a:t>
            </a:r>
          </a:p>
          <a:p>
            <a:r>
              <a:rPr lang="en-US" sz="900" b="1" dirty="0"/>
              <a:t>*</a:t>
            </a:r>
            <a:r>
              <a:rPr lang="en-US" sz="900" dirty="0"/>
              <a:t> The AAP does not include infants age &gt; 60 days</a:t>
            </a:r>
          </a:p>
          <a:p>
            <a:r>
              <a:rPr lang="en-US" sz="900" b="1" dirty="0"/>
              <a:t>† </a:t>
            </a:r>
            <a:r>
              <a:rPr lang="en-US" sz="900" dirty="0">
                <a:solidFill>
                  <a:sysClr val="windowText" lastClr="000000"/>
                </a:solidFill>
              </a:rPr>
              <a:t>If observed at home, then recommend oral antimicrobials to treat presumed UTI if UA positive. Clinicians may manage infants at home if ALL following criteria are met: 1) Verbal teaching and written instructions have been provided for monitoring throughout the period at home  2) Follow-up plans for re-evaluation have been developed and are in place 3) Plans have been developed and are in place in case of change in clinical status, including means of communication between family and providers and access to emergency medical care.</a:t>
            </a:r>
          </a:p>
        </p:txBody>
      </p:sp>
      <p:sp>
        <p:nvSpPr>
          <p:cNvPr id="22" name="TextBox 21">
            <a:extLst>
              <a:ext uri="{FF2B5EF4-FFF2-40B4-BE49-F238E27FC236}">
                <a16:creationId xmlns:a16="http://schemas.microsoft.com/office/drawing/2014/main" id="{D2A6BAF9-EFBA-418F-8678-9B1D4697F3A2}"/>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
        <p:nvSpPr>
          <p:cNvPr id="19" name="Title 1">
            <a:extLst>
              <a:ext uri="{FF2B5EF4-FFF2-40B4-BE49-F238E27FC236}">
                <a16:creationId xmlns:a16="http://schemas.microsoft.com/office/drawing/2014/main" id="{4E0555B5-4807-4459-8402-1E2E15199238}"/>
              </a:ext>
            </a:extLst>
          </p:cNvPr>
          <p:cNvSpPr txBox="1">
            <a:spLocks/>
          </p:cNvSpPr>
          <p:nvPr/>
        </p:nvSpPr>
        <p:spPr bwMode="gray">
          <a:xfrm>
            <a:off x="469292" y="361029"/>
            <a:ext cx="8226436" cy="731520"/>
          </a:xfrm>
          <a:prstGeom prst="rect">
            <a:avLst/>
          </a:prstGeom>
          <a:solidFill>
            <a:srgbClr val="DAE3F3"/>
          </a:solidFill>
          <a:ln w="28575">
            <a:solidFill>
              <a:srgbClr val="4472C4"/>
            </a:solidFill>
          </a:ln>
          <a:effectLst/>
        </p:spPr>
        <p:txBody>
          <a:bodyPr vert="horz" wrap="square" lIns="91440" tIns="45720" rIns="91440" bIns="45720" numCol="1" anchor="ctr" anchorCtr="0" compatLnSpc="1">
            <a:prstTxWarp prst="textNoShape">
              <a:avLst/>
            </a:prstTxWarp>
            <a:normAutofit/>
          </a:bodyPr>
          <a:lstStyle>
            <a:lvl1pPr algn="ctr" rtl="0" eaLnBrk="0" fontAlgn="base" hangingPunct="0">
              <a:lnSpc>
                <a:spcPct val="90000"/>
              </a:lnSpc>
              <a:spcBef>
                <a:spcPct val="0"/>
              </a:spcBef>
              <a:spcAft>
                <a:spcPct val="0"/>
              </a:spcAft>
              <a:defRPr sz="6000" b="1" kern="1200">
                <a:solidFill>
                  <a:srgbClr val="3A3A6E"/>
                </a:solidFill>
                <a:latin typeface="+mj-lt"/>
                <a:ea typeface="+mj-ea"/>
                <a:cs typeface="+mj-cs"/>
              </a:defRPr>
            </a:lvl1pPr>
            <a:lvl2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5pPr>
            <a:lvl6pPr marL="4572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6pPr>
            <a:lvl7pPr marL="9144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7pPr>
            <a:lvl8pPr marL="13716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8pPr>
            <a:lvl9pPr marL="1828800" algn="l" rtl="0" fontAlgn="base">
              <a:lnSpc>
                <a:spcPct val="90000"/>
              </a:lnSpc>
              <a:spcBef>
                <a:spcPct val="0"/>
              </a:spcBef>
              <a:spcAft>
                <a:spcPct val="0"/>
              </a:spcAft>
              <a:defRPr sz="3400" b="1">
                <a:solidFill>
                  <a:srgbClr val="3A3A6E"/>
                </a:solidFill>
                <a:latin typeface="Arial Narrow" panose="020B0606020202030204" pitchFamily="34" charset="0"/>
                <a:cs typeface="Arial" panose="020B0604020202020204" pitchFamily="34" charset="0"/>
              </a:defRPr>
            </a:lvl9pPr>
          </a:lstStyle>
          <a:p>
            <a:r>
              <a:rPr lang="en-US" sz="2200" dirty="0">
                <a:solidFill>
                  <a:schemeClr val="tx1"/>
                </a:solidFill>
                <a:latin typeface="Microsoft Tai Le"/>
                <a:cs typeface="Microsoft Tai Le"/>
              </a:rPr>
              <a:t>Febrile, 61-90 Days Old, Low-risk, </a:t>
            </a:r>
            <a:r>
              <a:rPr lang="en-US" sz="2200" dirty="0">
                <a:solidFill>
                  <a:sysClr val="windowText" lastClr="000000"/>
                </a:solidFill>
                <a:latin typeface="Microsoft Tai Le" panose="020B0502040204020203" pitchFamily="34" charset="0"/>
                <a:cs typeface="Microsoft Tai Le" panose="020B0502040204020203" pitchFamily="34" charset="0"/>
              </a:rPr>
              <a:t>Well-Appearing Infant </a:t>
            </a:r>
            <a:endParaRPr lang="en-US" sz="2200" dirty="0">
              <a:solidFill>
                <a:schemeClr val="tx1"/>
              </a:solidFill>
              <a:latin typeface="Microsoft Tai Le"/>
              <a:cs typeface="Microsoft Tai Le"/>
            </a:endParaRPr>
          </a:p>
        </p:txBody>
      </p:sp>
    </p:spTree>
    <p:extLst>
      <p:ext uri="{BB962C8B-B14F-4D97-AF65-F5344CB8AC3E}">
        <p14:creationId xmlns:p14="http://schemas.microsoft.com/office/powerpoint/2010/main" val="17264181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255F1-5AF1-AC4E-A2AB-4750CB86DCFA}"/>
              </a:ext>
            </a:extLst>
          </p:cNvPr>
          <p:cNvSpPr>
            <a:spLocks noGrp="1"/>
          </p:cNvSpPr>
          <p:nvPr>
            <p:ph type="title"/>
          </p:nvPr>
        </p:nvSpPr>
        <p:spPr>
          <a:xfrm>
            <a:off x="469292" y="361029"/>
            <a:ext cx="8226436" cy="731520"/>
          </a:xfrm>
          <a:solidFill>
            <a:srgbClr val="DAE3F3"/>
          </a:solidFill>
          <a:ln w="28575">
            <a:solidFill>
              <a:srgbClr val="4472C4"/>
            </a:solidFill>
          </a:ln>
        </p:spPr>
        <p:txBody>
          <a:bodyPr anchor="ctr">
            <a:normAutofit/>
          </a:bodyPr>
          <a:lstStyle/>
          <a:p>
            <a:pPr algn="ctr"/>
            <a:r>
              <a:rPr lang="en-US" sz="2200" dirty="0">
                <a:solidFill>
                  <a:schemeClr val="tx1"/>
                </a:solidFill>
                <a:latin typeface="Microsoft Tai Le"/>
                <a:cs typeface="Microsoft Tai Le"/>
              </a:rPr>
              <a:t>Febrile Infant, </a:t>
            </a:r>
            <a:r>
              <a:rPr lang="en-US" sz="2200" dirty="0">
                <a:solidFill>
                  <a:sysClr val="windowText" lastClr="000000"/>
                </a:solidFill>
                <a:latin typeface="Microsoft Tai Le" panose="020B0502040204020203" pitchFamily="34" charset="0"/>
                <a:cs typeface="Microsoft Tai Le" panose="020B0502040204020203" pitchFamily="34" charset="0"/>
              </a:rPr>
              <a:t>Isolated COVID-19 Positive </a:t>
            </a:r>
          </a:p>
        </p:txBody>
      </p:sp>
      <p:sp>
        <p:nvSpPr>
          <p:cNvPr id="9" name="Rectangle 8">
            <a:extLst>
              <a:ext uri="{FF2B5EF4-FFF2-40B4-BE49-F238E27FC236}">
                <a16:creationId xmlns:a16="http://schemas.microsoft.com/office/drawing/2014/main" id="{C95DA26A-CF1C-DF49-B317-718087E3A7BB}"/>
              </a:ext>
            </a:extLst>
          </p:cNvPr>
          <p:cNvSpPr/>
          <p:nvPr/>
        </p:nvSpPr>
        <p:spPr>
          <a:xfrm>
            <a:off x="505087" y="2898247"/>
            <a:ext cx="8226436" cy="2531462"/>
          </a:xfrm>
          <a:prstGeom prst="rect">
            <a:avLst/>
          </a:prstGeom>
          <a:solidFill>
            <a:srgbClr val="E2F0D9"/>
          </a:solidFill>
          <a:ln w="28575">
            <a:solidFill>
              <a:srgbClr val="00B050"/>
            </a:solidFill>
          </a:ln>
        </p:spPr>
        <p:txBody>
          <a:bodyPr wrap="square" lIns="68580" tIns="34290" rIns="68580" bIns="34290" anchor="t">
            <a:spAutoFit/>
          </a:bodyPr>
          <a:lstStyle/>
          <a:p>
            <a:r>
              <a:rPr lang="en-US" sz="2000" b="1" u="sng" dirty="0">
                <a:latin typeface="Microsoft Tai Le"/>
                <a:cs typeface="Microsoft Tai Le"/>
              </a:rPr>
              <a:t>Recommendations for this infant</a:t>
            </a:r>
            <a:endParaRPr lang="en-US" sz="2000" b="1" u="sng" dirty="0">
              <a:latin typeface="Microsoft Tai Le" panose="020B0502040204020203" pitchFamily="34" charset="0"/>
              <a:cs typeface="Microsoft Tai Le" panose="020B0502040204020203" pitchFamily="34" charset="0"/>
            </a:endParaRPr>
          </a:p>
          <a:p>
            <a:r>
              <a:rPr lang="en-US" sz="2000" dirty="0">
                <a:latin typeface="Microsoft Tai Le"/>
                <a:cs typeface="Microsoft Tai Le"/>
              </a:rPr>
              <a:t>For those at </a:t>
            </a:r>
            <a:r>
              <a:rPr lang="en-US" sz="2000" b="1" dirty="0">
                <a:latin typeface="Microsoft Tai Le"/>
                <a:cs typeface="Microsoft Tai Le"/>
              </a:rPr>
              <a:t>baseline low-risk:</a:t>
            </a:r>
          </a:p>
          <a:p>
            <a:pPr marL="685800" lvl="1" indent="-342900">
              <a:buFont typeface="Arial" panose="020B0604020202020204" pitchFamily="34" charset="0"/>
              <a:buChar char="•"/>
            </a:pPr>
            <a:r>
              <a:rPr lang="en-US" sz="2000" b="1" dirty="0">
                <a:latin typeface="Microsoft Tai Le"/>
                <a:cs typeface="Microsoft Tai Le"/>
              </a:rPr>
              <a:t>Age 7-21 days: </a:t>
            </a:r>
            <a:r>
              <a:rPr lang="en-US" sz="2000" dirty="0">
                <a:latin typeface="Microsoft Tai Le"/>
                <a:cs typeface="Microsoft Tai Le"/>
              </a:rPr>
              <a:t>Consult with Pediatrics</a:t>
            </a:r>
          </a:p>
          <a:p>
            <a:pPr marL="685800" lvl="1" indent="-342900">
              <a:buFont typeface="Arial" panose="020B0604020202020204" pitchFamily="34" charset="0"/>
              <a:buChar char="•"/>
              <a:defRPr/>
            </a:pPr>
            <a:r>
              <a:rPr lang="en-US" sz="2000" b="1" dirty="0">
                <a:latin typeface="Microsoft Tai Le"/>
                <a:cs typeface="Microsoft Tai Le"/>
              </a:rPr>
              <a:t>Age 22-60 days: </a:t>
            </a:r>
            <a:endParaRPr lang="en-US" sz="2000" b="1" dirty="0">
              <a:latin typeface="Microsoft Tai Le" panose="020B0502040204020203" pitchFamily="34" charset="0"/>
              <a:cs typeface="Microsoft Tai Le" panose="020B0502040204020203" pitchFamily="34" charset="0"/>
            </a:endParaRPr>
          </a:p>
          <a:p>
            <a:pPr marL="1028700" lvl="2" indent="-342900">
              <a:buFont typeface="Arial" panose="020B0604020202020204" pitchFamily="34" charset="0"/>
              <a:buChar char="•"/>
              <a:defRPr/>
            </a:pPr>
            <a:r>
              <a:rPr lang="en-US" sz="2000" dirty="0">
                <a:latin typeface="Microsoft Tai Le"/>
                <a:cs typeface="Microsoft Tai Le"/>
              </a:rPr>
              <a:t>CBC and blood culture, UA and urine culture</a:t>
            </a:r>
          </a:p>
          <a:p>
            <a:pPr marL="1028700" lvl="2" indent="-342900">
              <a:buFont typeface="Arial" panose="020B0604020202020204" pitchFamily="34" charset="0"/>
              <a:buChar char="•"/>
              <a:defRPr/>
            </a:pPr>
            <a:r>
              <a:rPr lang="en-US" sz="2000" dirty="0">
                <a:latin typeface="Microsoft Tai Le"/>
                <a:cs typeface="Microsoft Tai Le"/>
              </a:rPr>
              <a:t>Disposition in discussion with Pediatrics</a:t>
            </a:r>
          </a:p>
          <a:p>
            <a:pPr marL="685800" lvl="1" indent="-342900">
              <a:buFont typeface="Arial" panose="020B0604020202020204" pitchFamily="34" charset="0"/>
              <a:buChar char="•"/>
            </a:pPr>
            <a:r>
              <a:rPr lang="en-US" sz="2000" b="1" dirty="0">
                <a:latin typeface="Microsoft Tai Le"/>
                <a:cs typeface="Microsoft Tai Le"/>
              </a:rPr>
              <a:t>61-90 days: </a:t>
            </a:r>
            <a:r>
              <a:rPr lang="en-US" sz="2000" dirty="0">
                <a:latin typeface="Microsoft Tai Le"/>
                <a:cs typeface="Microsoft Tai Le"/>
              </a:rPr>
              <a:t>Need not perform UA and urine culture</a:t>
            </a:r>
          </a:p>
          <a:p>
            <a:r>
              <a:rPr lang="en-US" sz="2000" b="1" dirty="0">
                <a:latin typeface="Microsoft Tai Le"/>
                <a:cs typeface="Microsoft Tai Le"/>
              </a:rPr>
              <a:t>High-risk baseline: </a:t>
            </a:r>
            <a:r>
              <a:rPr lang="en-US" sz="2000" dirty="0">
                <a:latin typeface="Microsoft Tai Le"/>
                <a:cs typeface="Microsoft Tai Le"/>
              </a:rPr>
              <a:t>Consult with Pediatrics</a:t>
            </a:r>
          </a:p>
        </p:txBody>
      </p:sp>
      <p:sp>
        <p:nvSpPr>
          <p:cNvPr id="3" name="TextBox 2">
            <a:extLst>
              <a:ext uri="{FF2B5EF4-FFF2-40B4-BE49-F238E27FC236}">
                <a16:creationId xmlns:a16="http://schemas.microsoft.com/office/drawing/2014/main" id="{256360C3-933B-4442-BDFB-2C439951A6BD}"/>
              </a:ext>
            </a:extLst>
          </p:cNvPr>
          <p:cNvSpPr txBox="1"/>
          <p:nvPr/>
        </p:nvSpPr>
        <p:spPr>
          <a:xfrm>
            <a:off x="458782" y="1328264"/>
            <a:ext cx="8226436" cy="1246495"/>
          </a:xfrm>
          <a:prstGeom prst="rect">
            <a:avLst/>
          </a:prstGeom>
          <a:noFill/>
        </p:spPr>
        <p:txBody>
          <a:bodyPr wrap="square" rtlCol="0">
            <a:spAutoFit/>
          </a:bodyPr>
          <a:lstStyle/>
          <a:p>
            <a:r>
              <a:rPr lang="en-US" sz="2000" b="1" u="sng" dirty="0">
                <a:latin typeface="Microsoft Tai Le"/>
                <a:cs typeface="Microsoft Tai Le"/>
              </a:rPr>
              <a:t>Known COVID+ infant</a:t>
            </a:r>
          </a:p>
          <a:p>
            <a:pPr marL="257175" indent="-257175">
              <a:buFont typeface="Arial" panose="020B0604020202020204" pitchFamily="34" charset="0"/>
              <a:buChar char="•"/>
            </a:pPr>
            <a:r>
              <a:rPr lang="en-US" b="1" dirty="0">
                <a:latin typeface="Microsoft Tai Le"/>
                <a:cs typeface="Microsoft Tai Le"/>
              </a:rPr>
              <a:t>No data </a:t>
            </a:r>
            <a:r>
              <a:rPr lang="en-US" dirty="0">
                <a:latin typeface="Microsoft Tai Le"/>
                <a:cs typeface="Microsoft Tai Le"/>
              </a:rPr>
              <a:t>are currently available to inform management </a:t>
            </a:r>
            <a:endParaRPr lang="en-US" dirty="0">
              <a:latin typeface="Microsoft Tai Le" panose="020B0502040204020203" pitchFamily="34" charset="0"/>
              <a:cs typeface="Microsoft Tai Le" panose="020B0502040204020203" pitchFamily="34" charset="0"/>
            </a:endParaRPr>
          </a:p>
          <a:p>
            <a:pPr marL="257175" indent="-257175">
              <a:buFont typeface="Arial" panose="020B0604020202020204" pitchFamily="34" charset="0"/>
              <a:buChar char="•"/>
            </a:pPr>
            <a:r>
              <a:rPr lang="en-US" dirty="0">
                <a:latin typeface="Microsoft Tai Le"/>
                <a:cs typeface="Microsoft Tai Le"/>
              </a:rPr>
              <a:t>Until additional data are obtained, </a:t>
            </a:r>
            <a:r>
              <a:rPr lang="en-US" b="1" dirty="0">
                <a:latin typeface="Microsoft Tai Le"/>
                <a:cs typeface="Microsoft Tai Le"/>
              </a:rPr>
              <a:t>test and treat based on other age and risk matched criteria</a:t>
            </a:r>
          </a:p>
        </p:txBody>
      </p:sp>
      <p:sp>
        <p:nvSpPr>
          <p:cNvPr id="7" name="TextBox 6">
            <a:extLst>
              <a:ext uri="{FF2B5EF4-FFF2-40B4-BE49-F238E27FC236}">
                <a16:creationId xmlns:a16="http://schemas.microsoft.com/office/drawing/2014/main" id="{DDAD6A60-F8DA-4204-869A-A04A72E3C015}"/>
              </a:ext>
            </a:extLst>
          </p:cNvPr>
          <p:cNvSpPr txBox="1"/>
          <p:nvPr/>
        </p:nvSpPr>
        <p:spPr>
          <a:xfrm>
            <a:off x="59389" y="6486460"/>
            <a:ext cx="1825628" cy="307777"/>
          </a:xfrm>
          <a:prstGeom prst="rect">
            <a:avLst/>
          </a:prstGeom>
          <a:noFill/>
        </p:spPr>
        <p:txBody>
          <a:bodyPr wrap="none" rtlCol="0">
            <a:spAutoFit/>
          </a:bodyPr>
          <a:lstStyle/>
          <a:p>
            <a:r>
              <a:rPr lang="en-US" sz="1400" b="1" dirty="0">
                <a:solidFill>
                  <a:schemeClr val="bg2">
                    <a:lumMod val="75000"/>
                  </a:schemeClr>
                </a:solidFill>
              </a:rPr>
              <a:t>CA FIRST Protocol v2.1</a:t>
            </a:r>
          </a:p>
        </p:txBody>
      </p:sp>
    </p:spTree>
    <p:extLst>
      <p:ext uri="{BB962C8B-B14F-4D97-AF65-F5344CB8AC3E}">
        <p14:creationId xmlns:p14="http://schemas.microsoft.com/office/powerpoint/2010/main" val="2328906090"/>
      </p:ext>
    </p:extLst>
  </p:cSld>
  <p:clrMapOvr>
    <a:masterClrMapping/>
  </p:clrMapOvr>
</p:sld>
</file>

<file path=ppt/theme/theme1.xml><?xml version="1.0" encoding="utf-8"?>
<a:theme xmlns:a="http://schemas.openxmlformats.org/drawingml/2006/main" name="Title Slide">
  <a:themeElements>
    <a:clrScheme name="Title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fontScheme name="Title Slide">
      <a:majorFont>
        <a:latin typeface="Arial Narrow"/>
        <a:ea typeface=""/>
        <a:cs typeface="Arial"/>
      </a:majorFont>
      <a:minorFont>
        <a:latin typeface="Arial Narrow"/>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Title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gue Slide">
  <a:themeElements>
    <a:clrScheme name="1_Segue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fontScheme name="1_Segue Slide">
      <a:majorFont>
        <a:latin typeface="Arial Narrow"/>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1_Segue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 Slide">
  <a:themeElements>
    <a:clrScheme name="Content Slide 1">
      <a:dk1>
        <a:srgbClr val="000000"/>
      </a:dk1>
      <a:lt1>
        <a:srgbClr val="FFFFFF"/>
      </a:lt1>
      <a:dk2>
        <a:srgbClr val="52ABD5"/>
      </a:dk2>
      <a:lt2>
        <a:srgbClr val="AAB198"/>
      </a:lt2>
      <a:accent1>
        <a:srgbClr val="5EBEA5"/>
      </a:accent1>
      <a:accent2>
        <a:srgbClr val="8086C1"/>
      </a:accent2>
      <a:accent3>
        <a:srgbClr val="FFFFFF"/>
      </a:accent3>
      <a:accent4>
        <a:srgbClr val="000000"/>
      </a:accent4>
      <a:accent5>
        <a:srgbClr val="B6DBCF"/>
      </a:accent5>
      <a:accent6>
        <a:srgbClr val="7379AF"/>
      </a:accent6>
      <a:hlink>
        <a:srgbClr val="7FB741"/>
      </a:hlink>
      <a:folHlink>
        <a:srgbClr val="DA6426"/>
      </a:folHlink>
    </a:clrScheme>
    <a:fontScheme name="Content Slide">
      <a:majorFont>
        <a:latin typeface="Arial Narrow"/>
        <a:ea typeface=""/>
        <a:cs typeface="Arial"/>
      </a:majorFont>
      <a:minorFont>
        <a:latin typeface="Arial Narrow"/>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Content Slide 1">
        <a:dk1>
          <a:srgbClr val="000000"/>
        </a:dk1>
        <a:lt1>
          <a:srgbClr val="FFFFFF"/>
        </a:lt1>
        <a:dk2>
          <a:srgbClr val="52ABD5"/>
        </a:dk2>
        <a:lt2>
          <a:srgbClr val="AAB198"/>
        </a:lt2>
        <a:accent1>
          <a:srgbClr val="5EBEA5"/>
        </a:accent1>
        <a:accent2>
          <a:srgbClr val="8086C1"/>
        </a:accent2>
        <a:accent3>
          <a:srgbClr val="FFFFFF"/>
        </a:accent3>
        <a:accent4>
          <a:srgbClr val="000000"/>
        </a:accent4>
        <a:accent5>
          <a:srgbClr val="B6DBCF"/>
        </a:accent5>
        <a:accent6>
          <a:srgbClr val="7379AF"/>
        </a:accent6>
        <a:hlink>
          <a:srgbClr val="7FB741"/>
        </a:hlink>
        <a:folHlink>
          <a:srgbClr val="DA642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ivider Slide">
  <a:themeElements>
    <a:clrScheme name="Divider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fontScheme name="Divider Slide">
      <a:majorFont>
        <a:latin typeface="Arial Narrow"/>
        <a:ea typeface=""/>
        <a:cs typeface="Arial"/>
      </a:majorFont>
      <a:minorFont>
        <a:latin typeface="Arial Narrow"/>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Divider Slide 1">
        <a:dk1>
          <a:srgbClr val="000000"/>
        </a:dk1>
        <a:lt1>
          <a:srgbClr val="FFFFFF"/>
        </a:lt1>
        <a:dk2>
          <a:srgbClr val="52ABD5"/>
        </a:dk2>
        <a:lt2>
          <a:srgbClr val="AAB198"/>
        </a:lt2>
        <a:accent1>
          <a:srgbClr val="5EBEA5"/>
        </a:accent1>
        <a:accent2>
          <a:srgbClr val="7296CE"/>
        </a:accent2>
        <a:accent3>
          <a:srgbClr val="FFFFFF"/>
        </a:accent3>
        <a:accent4>
          <a:srgbClr val="000000"/>
        </a:accent4>
        <a:accent5>
          <a:srgbClr val="B6DBCF"/>
        </a:accent5>
        <a:accent6>
          <a:srgbClr val="6787BA"/>
        </a:accent6>
        <a:hlink>
          <a:srgbClr val="7FB741"/>
        </a:hlink>
        <a:folHlink>
          <a:srgbClr val="DA6426"/>
        </a:folHlink>
      </a:clrScheme>
      <a:clrMap bg1="lt1" tx1="dk1" bg2="lt2" tx2="dk2" accent1="accent1" accent2="accent2" accent3="accent3" accent4="accent4" accent5="accent5" accent6="accent6" hlink="hlink" folHlink="folHlink"/>
    </a:extraClrScheme>
    <a:extraClrScheme>
      <a:clrScheme name="Divider Slide 2">
        <a:dk1>
          <a:srgbClr val="000000"/>
        </a:dk1>
        <a:lt1>
          <a:srgbClr val="FFFFFF"/>
        </a:lt1>
        <a:dk2>
          <a:srgbClr val="52ABD5"/>
        </a:dk2>
        <a:lt2>
          <a:srgbClr val="AAB198"/>
        </a:lt2>
        <a:accent1>
          <a:srgbClr val="5EBEA5"/>
        </a:accent1>
        <a:accent2>
          <a:srgbClr val="8086C1"/>
        </a:accent2>
        <a:accent3>
          <a:srgbClr val="FFFFFF"/>
        </a:accent3>
        <a:accent4>
          <a:srgbClr val="000000"/>
        </a:accent4>
        <a:accent5>
          <a:srgbClr val="B6DBCF"/>
        </a:accent5>
        <a:accent6>
          <a:srgbClr val="7379AF"/>
        </a:accent6>
        <a:hlink>
          <a:srgbClr val="7FB741"/>
        </a:hlink>
        <a:folHlink>
          <a:srgbClr val="DA642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18925</TotalTime>
  <Words>13395</Words>
  <Application>Microsoft Office PowerPoint</Application>
  <PresentationFormat>On-screen Show (4:3)</PresentationFormat>
  <Paragraphs>1879</Paragraphs>
  <Slides>82</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82</vt:i4>
      </vt:variant>
    </vt:vector>
  </HeadingPairs>
  <TitlesOfParts>
    <vt:vector size="92" baseType="lpstr">
      <vt:lpstr>Arial</vt:lpstr>
      <vt:lpstr>Arial Narrow</vt:lpstr>
      <vt:lpstr>Calibri</vt:lpstr>
      <vt:lpstr>Courier New</vt:lpstr>
      <vt:lpstr>Microsoft Tai Le</vt:lpstr>
      <vt:lpstr>Wingdings</vt:lpstr>
      <vt:lpstr>Title Slide</vt:lpstr>
      <vt:lpstr>1_Segue Slide</vt:lpstr>
      <vt:lpstr>Content Slide</vt:lpstr>
      <vt:lpstr>Divider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Febrile, 0-6 Days Old Infant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Febrile, 7-28 Days Old, High-Risk Infant</vt:lpstr>
      <vt:lpstr>PowerPoint Presentation</vt:lpstr>
      <vt:lpstr>Febrile, 7-28 Days Old, Ill-Appearing Infant</vt:lpstr>
      <vt:lpstr>Febrile, 7-21 Days Old, Well-Appearing Infant  with Bronchiolitis</vt:lpstr>
      <vt:lpstr>PowerPoint Presentation</vt:lpstr>
      <vt:lpstr>Febrile, 7-21 Days Old, Well-Appearing Infant  with Bronchiolitis</vt:lpstr>
      <vt:lpstr>Febrile, 7-21 Days Old, Well-Appearing Infant</vt:lpstr>
      <vt:lpstr>PowerPoint Presentation</vt:lpstr>
      <vt:lpstr>PowerPoint Presentation</vt:lpstr>
      <vt:lpstr>Febrile, 7-21 Days Old, Well-Appearing Infant  with normal initial labs</vt:lpstr>
      <vt:lpstr>Febrile Infant, Isolated COVID-19 Positive </vt:lpstr>
      <vt:lpstr>PowerPoint Presentation</vt:lpstr>
      <vt:lpstr>PowerPoint Presentation</vt:lpstr>
      <vt:lpstr>PowerPoint Presentation</vt:lpstr>
      <vt:lpstr>PowerPoint Presentation</vt:lpstr>
      <vt:lpstr>PowerPoint Presentation</vt:lpstr>
      <vt:lpstr>PowerPoint Presentation</vt:lpstr>
      <vt:lpstr>Febrile, 7-28 Days Old, Ill-Appearing Infant</vt:lpstr>
      <vt:lpstr>Febrile, 7-28 Days Old, High-Risk Infant</vt:lpstr>
      <vt:lpstr>PowerPoint Presentation</vt:lpstr>
      <vt:lpstr>Febrile, 22-60 Days Old, High-Risk, Well-Appearing Infant  with bronchiolitis</vt:lpstr>
      <vt:lpstr>PowerPoint Presentation</vt:lpstr>
      <vt:lpstr>Febrile, 22-60 Days Old, Low-Risk, Well-Appearing Infant  with bronchiolitis</vt:lpstr>
      <vt:lpstr>PowerPoint Presentation</vt:lpstr>
      <vt:lpstr>Febrile, 22-60 Days Old, Low-Risk, Well-Appearing Infant  with bronchiolitis</vt:lpstr>
      <vt:lpstr>Febrile, 22-28 Days Old, Low-Risk, Well-Appearing Infant</vt:lpstr>
      <vt:lpstr>PowerPoint Presentation</vt:lpstr>
      <vt:lpstr>PowerPoint Presentation</vt:lpstr>
      <vt:lpstr>Febrile, 22-28 Days Old, Low-Risk, Well-Appearing Infant  with normal initial labs</vt:lpstr>
      <vt:lpstr>Febrile Infant, Isolated COVID-19 Positive </vt:lpstr>
      <vt:lpstr>PowerPoint Presentation</vt:lpstr>
      <vt:lpstr>PowerPoint Presentation</vt:lpstr>
      <vt:lpstr>PowerPoint Presentation</vt:lpstr>
      <vt:lpstr>PowerPoint Presentation</vt:lpstr>
      <vt:lpstr>PowerPoint Presentation</vt:lpstr>
      <vt:lpstr>PowerPoint Presentation</vt:lpstr>
      <vt:lpstr>Febrile, 29-60 Days Old, Ill-Appearing Infant</vt:lpstr>
      <vt:lpstr>Febrile, 29-60 Days Old, High-Risk Infant</vt:lpstr>
      <vt:lpstr>PowerPoint Presentation</vt:lpstr>
      <vt:lpstr>Febrile, 22-60 Days Old, High-Risk, Well-Appearing Infant  with bronchiolitis</vt:lpstr>
      <vt:lpstr>PowerPoint Presentation</vt:lpstr>
      <vt:lpstr>Febrile, 22-60 Days Old, Low-Risk, Well-Appearing Infant  with bronchiolitis</vt:lpstr>
      <vt:lpstr>PowerPoint Presentation</vt:lpstr>
      <vt:lpstr>Febrile, 22-60 Days Old, Low-Risk, Well-Appearing Infant  with bronchiolitis</vt:lpstr>
      <vt:lpstr>Febrile, 29-60 Days Old, Well-Appearing Infant Vaccinated within 48 hours</vt:lpstr>
      <vt:lpstr>Febrile, 29-60 Days Old, Low-Risk, Well-Appearing Infant</vt:lpstr>
      <vt:lpstr>PowerPoint Presentation</vt:lpstr>
      <vt:lpstr>Well-Appearing Infant 29-60 Days with Abnormal  WBC Count or Bands</vt:lpstr>
      <vt:lpstr>Well-Appearing Infant 29-60 Days with Normal Blood Work</vt:lpstr>
      <vt:lpstr>Febrile Infant, Isolated COVID-19 Positive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Febrile, 61-90 Days Old, Ill-Appearing Infant</vt:lpstr>
      <vt:lpstr>Febrile, 61-90 Days Old, Ill-Appearing Infant </vt:lpstr>
      <vt:lpstr>PowerPoint Presentation</vt:lpstr>
      <vt:lpstr>Febrile, 61-90 Days Old, High-risk, Well-Appearing Infant </vt:lpstr>
      <vt:lpstr>PowerPoint Presentation</vt:lpstr>
      <vt:lpstr>Febrile, 61-90 Days Old, Well-Appearing Infant with Bronchiolitis</vt:lpstr>
      <vt:lpstr>Febrile, 61-90 Days Old, Well-Appearing Infant Vaccinated within 48 hours</vt:lpstr>
      <vt:lpstr>Febrile, 61-90 Days Old, Low-risk, Well-Appearing Infant</vt:lpstr>
      <vt:lpstr>PowerPoint Presentation</vt:lpstr>
      <vt:lpstr>Febrile Infant, Isolated COVID-19 Positive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Sean P Fitzwater</dc:creator>
  <cp:lastModifiedBy>Ifeoma E. Anidi</cp:lastModifiedBy>
  <cp:revision>358</cp:revision>
  <dcterms:created xsi:type="dcterms:W3CDTF">2020-09-03T14:49:03Z</dcterms:created>
  <dcterms:modified xsi:type="dcterms:W3CDTF">2022-05-27T01:49:30Z</dcterms:modified>
</cp:coreProperties>
</file>