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notesMasterIdLst>
    <p:notesMasterId r:id="rId12"/>
  </p:notesMasterIdLst>
  <p:sldIdLst>
    <p:sldId id="256" r:id="rId2"/>
    <p:sldId id="260" r:id="rId3"/>
    <p:sldId id="269" r:id="rId4"/>
    <p:sldId id="262" r:id="rId5"/>
    <p:sldId id="268" r:id="rId6"/>
    <p:sldId id="266" r:id="rId7"/>
    <p:sldId id="265" r:id="rId8"/>
    <p:sldId id="267" r:id="rId9"/>
    <p:sldId id="264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73678" autoAdjust="0"/>
  </p:normalViewPr>
  <p:slideViewPr>
    <p:cSldViewPr snapToGrid="0">
      <p:cViewPr varScale="1">
        <p:scale>
          <a:sx n="84" d="100"/>
          <a:sy n="84" d="100"/>
        </p:scale>
        <p:origin x="24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23809-0E48-42DF-9FEF-B986B4811106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02E3E-72D4-44E7-84E2-C6DD8B2CC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19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02E3E-72D4-44E7-84E2-C6DD8B2CCB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5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986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81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96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1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5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37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84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48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72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8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924BA1-33EB-4FF7-9C3F-0324F8F9CEC1}" type="datetimeFigureOut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C51D798-FD0E-41B5-884F-5B8221A94D8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72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vid19-druginteractions.org/checke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64D5-500D-4569-A3BC-78BE37CBFE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Prescribing</a:t>
            </a:r>
            <a:br>
              <a:rPr lang="en-US" sz="6600" dirty="0"/>
            </a:br>
            <a:r>
              <a:rPr lang="en-US" sz="6600" dirty="0" err="1"/>
              <a:t>nirmatrelvir</a:t>
            </a:r>
            <a:r>
              <a:rPr lang="en-US" sz="6600" dirty="0"/>
              <a:t>/ritonavir (</a:t>
            </a:r>
            <a:r>
              <a:rPr lang="en-US" sz="6600" dirty="0" err="1"/>
              <a:t>Paxlovid</a:t>
            </a:r>
            <a:r>
              <a:rPr lang="en-US" sz="6600" baseline="30000" dirty="0"/>
              <a:t>™</a:t>
            </a:r>
            <a:r>
              <a:rPr lang="en-US" sz="6600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4FE47-532A-4A77-BEC8-9338662638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Kaiser Permanente Downey Medical Center</a:t>
            </a:r>
          </a:p>
          <a:p>
            <a:r>
              <a:rPr lang="en-US" dirty="0"/>
              <a:t>Emergency Department </a:t>
            </a:r>
          </a:p>
        </p:txBody>
      </p:sp>
    </p:spTree>
    <p:extLst>
      <p:ext uri="{BB962C8B-B14F-4D97-AF65-F5344CB8AC3E}">
        <p14:creationId xmlns:p14="http://schemas.microsoft.com/office/powerpoint/2010/main" val="243456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72B0-54C3-4161-AC40-53D7093B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 for </a:t>
            </a:r>
            <a:r>
              <a:rPr lang="en-US" dirty="0" err="1"/>
              <a:t>Paxlovid</a:t>
            </a:r>
            <a:r>
              <a:rPr lang="en-US" sz="4800" baseline="30000" dirty="0"/>
              <a:t>™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5DBF5-EBE2-43F3-ADB1-562456ACA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Inclusion criteria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1530E-CA09-4C44-ADBB-2E88174C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544146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12 years old or older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40 kg or greater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Mild to moderate COVID-19 disease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O2 saturation ≥ 94% on room air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Symptoms started within 5 days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Presence of at least one risk factor for severe COVID-19 (see next slide)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80BFD6-2B1B-4AAA-8EF4-E6A5049A3A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Exclusion criteria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3B4BE-8A77-4E37-BB0D-87880AB70EE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Hospitalized due to severe or critical COVID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Severe hepatic impairment (Child-Pugh Class C)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Severe kidney disease (GFR is &gt; 30)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Contraindications to certain medications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Allergic to </a:t>
            </a:r>
            <a:r>
              <a:rPr lang="en-US" dirty="0" err="1"/>
              <a:t>nirmatrelvir</a:t>
            </a:r>
            <a:r>
              <a:rPr lang="en-US" dirty="0"/>
              <a:t> or ritonavir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History of transplant (consult with transplant specialist</a:t>
            </a:r>
            <a:r>
              <a:rPr lang="en-US"/>
              <a:t>)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317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C2DFD-F163-4045-ACEF-64E3803D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Risk factors for severe COVID-19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C0A5C-DE4E-4AE2-8D86-F1D025B871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Cancer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Chronic kidney disease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Chronic liver disease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Chronic lung diseases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Cystic Fibrosis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Dementia or other neurologic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Diabetes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Disabilities (people with any type of disability that makes it more difficult to do certain activities or interact with the world around them, including people who need help with self-care or daily activities, cerebral palsy, birth defects, intellectual and developmental disabilities, learning disabilities, spinal cord injuries, Down syndrome)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Heart conditions (includes HTN)</a:t>
            </a:r>
          </a:p>
          <a:p>
            <a:endParaRPr lang="en-US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99F91-D036-47D3-BDD8-2080708178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HIV infection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Immunocompromised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Mental health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Overweight and obesity, overweight (BMI ≥ 25)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Physical inactivity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Pregnancy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Sickle cell disease or thalassemia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Smoking, current or former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Solid organ or blood stem cell transplant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Stroke or cerebrovascular disease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Substance use disorders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/>
              <a:t> Tuberculosis</a:t>
            </a:r>
          </a:p>
          <a:p>
            <a:endParaRPr lang="en-US" sz="1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C9BAD-A77A-45AE-9129-88AFE52DA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" y="6459786"/>
            <a:ext cx="8000999" cy="365125"/>
          </a:xfrm>
        </p:spPr>
        <p:txBody>
          <a:bodyPr/>
          <a:lstStyle/>
          <a:p>
            <a:r>
              <a:rPr lang="en-US" dirty="0"/>
              <a:t>COVID-19: People with certain medical conditions. Centers of Disease Control and Prevention. Updated February 25, 2022. Accessed April 17, 2022. https://www.cdc.gov/coronavirus/2019-ncov/need-extra-precautions/people-with-medical-conditions.html</a:t>
            </a:r>
          </a:p>
        </p:txBody>
      </p:sp>
    </p:spTree>
    <p:extLst>
      <p:ext uri="{BB962C8B-B14F-4D97-AF65-F5344CB8AC3E}">
        <p14:creationId xmlns:p14="http://schemas.microsoft.com/office/powerpoint/2010/main" val="3311706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F2B5-B43A-4DFC-993D-FAEFBE84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Contraindicated medications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4C430-7CEB-4512-9DF8-9244EC592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2959" y="1845733"/>
            <a:ext cx="7543799" cy="439567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St. John’s Wort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A202EEC-32DB-48EB-94D3-72AAFC5A0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194556"/>
              </p:ext>
            </p:extLst>
          </p:nvPr>
        </p:nvGraphicFramePr>
        <p:xfrm>
          <a:off x="502918" y="1805942"/>
          <a:ext cx="8183879" cy="4957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2">
                  <a:extLst>
                    <a:ext uri="{9D8B030D-6E8A-4147-A177-3AD203B41FA5}">
                      <a16:colId xmlns:a16="http://schemas.microsoft.com/office/drawing/2014/main" val="973850506"/>
                    </a:ext>
                  </a:extLst>
                </a:gridCol>
                <a:gridCol w="5429247">
                  <a:extLst>
                    <a:ext uri="{9D8B030D-6E8A-4147-A177-3AD203B41FA5}">
                      <a16:colId xmlns:a16="http://schemas.microsoft.com/office/drawing/2014/main" val="4147642833"/>
                    </a:ext>
                  </a:extLst>
                </a:gridCol>
              </a:tblGrid>
              <a:tr h="289293">
                <a:tc>
                  <a:txBody>
                    <a:bodyPr/>
                    <a:lstStyle/>
                    <a:p>
                      <a:r>
                        <a:rPr lang="en-US" sz="14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Drug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127631"/>
                  </a:ext>
                </a:extLst>
              </a:tr>
              <a:tr h="118108">
                <a:tc>
                  <a:txBody>
                    <a:bodyPr/>
                    <a:lstStyle/>
                    <a:p>
                      <a:r>
                        <a:rPr lang="en-US" sz="1400" b="1" dirty="0"/>
                        <a:t>Alpha1-adrenoreceptor antagonist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</a:rPr>
                        <a:t>Alfuzosin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521665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Analgesics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Pethidine, piroxicam, propoxyphene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947961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Antianginal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Ranolazine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236774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Antiandrogen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</a:rPr>
                        <a:t>Apalutamide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3160548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Antiarrhythmic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u="none" strike="noStrike" baseline="0" dirty="0" err="1">
                          <a:solidFill>
                            <a:schemeClr val="tx1"/>
                          </a:solidFill>
                        </a:rPr>
                        <a:t>Amiodarone</a:t>
                      </a:r>
                      <a:r>
                        <a:rPr lang="es-ES" sz="1400" b="0" i="0" u="none" strike="noStrik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s-ES" sz="1400" b="0" i="0" u="none" strike="noStrike" baseline="0" dirty="0" err="1">
                          <a:solidFill>
                            <a:schemeClr val="tx1"/>
                          </a:solidFill>
                        </a:rPr>
                        <a:t>dronedarone</a:t>
                      </a:r>
                      <a:r>
                        <a:rPr lang="es-ES" sz="1400" b="0" i="0" u="none" strike="noStrik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s-ES" sz="1400" b="0" i="0" u="none" strike="noStrike" baseline="0" dirty="0" err="1">
                          <a:solidFill>
                            <a:schemeClr val="tx1"/>
                          </a:solidFill>
                        </a:rPr>
                        <a:t>flecainide</a:t>
                      </a:r>
                      <a:r>
                        <a:rPr lang="es-ES" sz="1400" b="0" i="0" u="none" strike="noStrik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s-ES" sz="1400" b="0" i="0" u="none" strike="noStrike" baseline="0" dirty="0" err="1">
                          <a:solidFill>
                            <a:schemeClr val="tx1"/>
                          </a:solidFill>
                        </a:rPr>
                        <a:t>propafenone</a:t>
                      </a:r>
                      <a:r>
                        <a:rPr lang="es-ES" sz="1400" b="0" i="0" u="none" strike="noStrike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s-ES" sz="1400" b="0" i="0" u="none" strike="noStrike" baseline="0" dirty="0" err="1">
                          <a:solidFill>
                            <a:schemeClr val="tx1"/>
                          </a:solidFill>
                        </a:rPr>
                        <a:t>quinidine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481235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Antibiotic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Rifampin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89266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Anticoagulant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Rivaroxaban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518571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Anti-gout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</a:rPr>
                        <a:t>Colchicine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571121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Antifungal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Voriconazole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577128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Antipsychotics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Lurasidone, pimozide, clozapine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762927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Antiepileptics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</a:rPr>
                        <a:t>Carbamazepine, Phenobarbital, phenytoin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348558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Ergot derivatives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baseline="0" dirty="0">
                          <a:solidFill>
                            <a:schemeClr val="tx1"/>
                          </a:solidFill>
                        </a:rPr>
                        <a:t>Dihydroergotamine, ergotamine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methylergonovine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239555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Herbal supplement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St. John’s Wort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41146"/>
                  </a:ext>
                </a:extLst>
              </a:tr>
              <a:tr h="289293">
                <a:tc>
                  <a:txBody>
                    <a:bodyPr/>
                    <a:lstStyle/>
                    <a:p>
                      <a:r>
                        <a:rPr lang="en-US" sz="1400" b="1" dirty="0"/>
                        <a:t>PDE5 inhibitor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Sildenafil for pulmonary arterial hypertension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01976"/>
                  </a:ext>
                </a:extLst>
              </a:tr>
              <a:tr h="385505">
                <a:tc>
                  <a:txBody>
                    <a:bodyPr/>
                    <a:lstStyle/>
                    <a:p>
                      <a:r>
                        <a:rPr lang="en-US" sz="1400" b="1" dirty="0"/>
                        <a:t>Sedative/hypnotics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Triazolam, oral midazolam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72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72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1C60D-55B6-48B8-AE50-5C5819C3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Paxlovid</a:t>
            </a:r>
            <a:r>
              <a:rPr lang="en-US" sz="4800" baseline="30000" dirty="0"/>
              <a:t>™</a:t>
            </a:r>
            <a:r>
              <a:rPr lang="en-US" dirty="0"/>
              <a:t> Dosing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A43C57D-76DF-4990-8FF8-10D84EB3F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7429652"/>
              </p:ext>
            </p:extLst>
          </p:nvPr>
        </p:nvGraphicFramePr>
        <p:xfrm>
          <a:off x="822325" y="1846262"/>
          <a:ext cx="7543800" cy="3765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435">
                  <a:extLst>
                    <a:ext uri="{9D8B030D-6E8A-4147-A177-3AD203B41FA5}">
                      <a16:colId xmlns:a16="http://schemas.microsoft.com/office/drawing/2014/main" val="4249863446"/>
                    </a:ext>
                  </a:extLst>
                </a:gridCol>
                <a:gridCol w="4571365">
                  <a:extLst>
                    <a:ext uri="{9D8B030D-6E8A-4147-A177-3AD203B41FA5}">
                      <a16:colId xmlns:a16="http://schemas.microsoft.com/office/drawing/2014/main" val="3184889823"/>
                    </a:ext>
                  </a:extLst>
                </a:gridCol>
              </a:tblGrid>
              <a:tr h="690724">
                <a:tc>
                  <a:txBody>
                    <a:bodyPr/>
                    <a:lstStyle/>
                    <a:p>
                      <a:r>
                        <a:rPr lang="en-US" sz="2000" dirty="0"/>
                        <a:t>GFR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670207"/>
                  </a:ext>
                </a:extLst>
              </a:tr>
              <a:tr h="1192209">
                <a:tc>
                  <a:txBody>
                    <a:bodyPr/>
                    <a:lstStyle/>
                    <a:p>
                      <a:r>
                        <a:rPr lang="en-US" sz="2000" dirty="0"/>
                        <a:t>≥ 60 mL/min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Nirmatrelvir</a:t>
                      </a:r>
                      <a:r>
                        <a:rPr lang="en-US" sz="2000" dirty="0"/>
                        <a:t> 300 mg/ritonavir 100 mg  orally twice daily x 5 days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795736"/>
                  </a:ext>
                </a:extLst>
              </a:tr>
              <a:tr h="1192209">
                <a:tc>
                  <a:txBody>
                    <a:bodyPr/>
                    <a:lstStyle/>
                    <a:p>
                      <a:r>
                        <a:rPr lang="en-US" sz="2000" dirty="0"/>
                        <a:t>30 mL/min to 59 mL/min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Nirmatrelvir</a:t>
                      </a:r>
                      <a:r>
                        <a:rPr lang="en-US" sz="2000" dirty="0"/>
                        <a:t> 150 mg/ ritonavir 100 mg orally twice daily x 5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396680"/>
                  </a:ext>
                </a:extLst>
              </a:tr>
              <a:tr h="690724">
                <a:tc>
                  <a:txBody>
                    <a:bodyPr/>
                    <a:lstStyle/>
                    <a:p>
                      <a:r>
                        <a:rPr lang="en-US" sz="2000" dirty="0"/>
                        <a:t>&lt; 30 mL/min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Contraindicated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91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550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B800-FBBC-4D54-A3CC-A5163573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64C06-2765-4E76-8B85-14E282288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/>
              <a:t> Dysgeusia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My</a:t>
            </a:r>
            <a:r>
              <a:rPr lang="en-US" sz="2400" b="0" i="0" u="none" strike="noStrike" baseline="0" dirty="0"/>
              <a:t>algias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/>
              <a:t> Diarrhea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/>
              <a:t> </a:t>
            </a:r>
            <a:r>
              <a:rPr lang="en-US" sz="2400" dirty="0"/>
              <a:t>E</a:t>
            </a:r>
            <a:r>
              <a:rPr lang="en-US" sz="2400" b="0" i="0" u="none" strike="noStrike" baseline="0" dirty="0"/>
              <a:t>levated blood pressure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24238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325A-CC58-47B7-9756-2C6B0DA2F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populations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9295-A4EE-421B-B6B4-168232E27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023360"/>
          </a:xfrm>
        </p:spPr>
        <p:txBody>
          <a:bodyPr>
            <a:noAutofit/>
          </a:bodyPr>
          <a:lstStyle/>
          <a:p>
            <a:pPr>
              <a:buFont typeface="Symbol" panose="05050102010706020507" pitchFamily="18" charset="2"/>
              <a:buChar char=""/>
            </a:pPr>
            <a:r>
              <a:rPr lang="en-US" sz="1800" b="1" i="0" strike="noStrike" baseline="0" dirty="0">
                <a:solidFill>
                  <a:srgbClr val="000000"/>
                </a:solidFill>
              </a:rPr>
              <a:t> </a:t>
            </a:r>
            <a:r>
              <a:rPr lang="en-US" sz="1700" b="1" i="0" strike="noStrike" baseline="0" dirty="0">
                <a:solidFill>
                  <a:srgbClr val="000000"/>
                </a:solidFill>
              </a:rPr>
              <a:t>Pregnancy: </a:t>
            </a:r>
          </a:p>
          <a:p>
            <a:pPr lvl="1">
              <a:buFont typeface="Symbol" panose="05050102010706020507" pitchFamily="18" charset="2"/>
              <a:buChar char=""/>
            </a:pPr>
            <a:r>
              <a:rPr lang="en-US" sz="1700" b="0" i="0" strike="noStrike" baseline="0" dirty="0">
                <a:solidFill>
                  <a:srgbClr val="000000"/>
                </a:solidFill>
              </a:rPr>
              <a:t>There is no data on the use of </a:t>
            </a:r>
            <a:r>
              <a:rPr lang="en-US" sz="1700" b="0" i="0" strike="noStrike" baseline="0" dirty="0" err="1">
                <a:solidFill>
                  <a:srgbClr val="000000"/>
                </a:solidFill>
              </a:rPr>
              <a:t>nirmatrelvir</a:t>
            </a:r>
            <a:r>
              <a:rPr lang="en-US" sz="1700" b="0" i="0" strike="noStrike" baseline="0" dirty="0">
                <a:solidFill>
                  <a:srgbClr val="000000"/>
                </a:solidFill>
              </a:rPr>
              <a:t> during pregnancy. </a:t>
            </a:r>
          </a:p>
          <a:p>
            <a:pPr lvl="1">
              <a:buFont typeface="Symbol" panose="05050102010706020507" pitchFamily="18" charset="2"/>
              <a:buChar char=""/>
            </a:pPr>
            <a:r>
              <a:rPr lang="en-US" sz="1700" b="0" i="0" strike="noStrike" baseline="0" dirty="0">
                <a:solidFill>
                  <a:srgbClr val="000000"/>
                </a:solidFill>
              </a:rPr>
              <a:t>Ritonavir use during pregnancy has not been associated with an increase in birth defects. </a:t>
            </a:r>
          </a:p>
          <a:p>
            <a:pPr lvl="1">
              <a:buFont typeface="Symbol" panose="05050102010706020507" pitchFamily="18" charset="2"/>
              <a:buChar char=""/>
            </a:pPr>
            <a:r>
              <a:rPr lang="en-US" sz="1700" b="0" i="0" strike="noStrike" baseline="0" dirty="0">
                <a:solidFill>
                  <a:srgbClr val="000000"/>
                </a:solidFill>
              </a:rPr>
              <a:t>There is insufficient data to determine whether ritonavir increases </a:t>
            </a:r>
            <a:r>
              <a:rPr lang="en-US" sz="1700" dirty="0">
                <a:solidFill>
                  <a:srgbClr val="000000"/>
                </a:solidFill>
              </a:rPr>
              <a:t>risk of miscarriage. </a:t>
            </a:r>
          </a:p>
          <a:p>
            <a:pPr>
              <a:buFont typeface="Symbol" panose="05050102010706020507" pitchFamily="18" charset="2"/>
              <a:buChar char=""/>
            </a:pPr>
            <a:r>
              <a:rPr lang="en-US" sz="1700" b="1" i="0" strike="noStrike" baseline="0" dirty="0">
                <a:solidFill>
                  <a:srgbClr val="000000"/>
                </a:solidFill>
              </a:rPr>
              <a:t> Lactation: </a:t>
            </a:r>
          </a:p>
          <a:p>
            <a:pPr lvl="1">
              <a:buFont typeface="Symbol" panose="05050102010706020507" pitchFamily="18" charset="2"/>
              <a:buChar char=""/>
            </a:pPr>
            <a:r>
              <a:rPr lang="en-US" sz="1700" b="0" i="0" strike="noStrike" baseline="0" dirty="0">
                <a:solidFill>
                  <a:srgbClr val="000000"/>
                </a:solidFill>
              </a:rPr>
              <a:t>There is no data on the presence of </a:t>
            </a:r>
            <a:r>
              <a:rPr lang="en-US" sz="1700" b="0" i="0" strike="noStrike" baseline="0" dirty="0" err="1">
                <a:solidFill>
                  <a:srgbClr val="000000"/>
                </a:solidFill>
              </a:rPr>
              <a:t>nirmatrelvir</a:t>
            </a:r>
            <a:r>
              <a:rPr lang="en-US" sz="1700" b="0" i="0" strike="noStrike" baseline="0" dirty="0">
                <a:solidFill>
                  <a:srgbClr val="000000"/>
                </a:solidFill>
              </a:rPr>
              <a:t> in human or animal milk.</a:t>
            </a:r>
          </a:p>
          <a:p>
            <a:pPr lvl="1">
              <a:buFont typeface="Symbol" panose="05050102010706020507" pitchFamily="18" charset="2"/>
              <a:buChar char=""/>
            </a:pPr>
            <a:r>
              <a:rPr lang="en-US" sz="1700" dirty="0">
                <a:solidFill>
                  <a:srgbClr val="000000"/>
                </a:solidFill>
              </a:rPr>
              <a:t>R</a:t>
            </a:r>
            <a:r>
              <a:rPr lang="en-US" sz="1700" b="0" i="0" strike="noStrike" baseline="0" dirty="0">
                <a:solidFill>
                  <a:srgbClr val="000000"/>
                </a:solidFill>
              </a:rPr>
              <a:t>itonavir is present in human milk, but there is no information on the effects of ritonavir on the breastfed infant or on milk production. </a:t>
            </a:r>
          </a:p>
          <a:p>
            <a:pPr>
              <a:buFont typeface="Symbol" panose="05050102010706020507" pitchFamily="18" charset="2"/>
              <a:buChar char=""/>
            </a:pPr>
            <a:r>
              <a:rPr lang="en-US" sz="1700" b="1" i="0" strike="noStrike" baseline="0" dirty="0">
                <a:solidFill>
                  <a:srgbClr val="000000"/>
                </a:solidFill>
              </a:rPr>
              <a:t> Females and male of reproductive potential: </a:t>
            </a:r>
          </a:p>
          <a:p>
            <a:pPr lvl="1">
              <a:buFont typeface="Symbol" panose="05050102010706020507" pitchFamily="18" charset="2"/>
              <a:buChar char=""/>
            </a:pPr>
            <a:r>
              <a:rPr lang="en-US" sz="1700" b="0" i="0" strike="noStrike" baseline="0" dirty="0">
                <a:solidFill>
                  <a:srgbClr val="000000"/>
                </a:solidFill>
              </a:rPr>
              <a:t>Ritonavir may reduce the efficacy of combined hormonal contraceptives. </a:t>
            </a:r>
          </a:p>
          <a:p>
            <a:pPr lvl="1">
              <a:buFont typeface="Symbol" panose="05050102010706020507" pitchFamily="18" charset="2"/>
              <a:buChar char=""/>
            </a:pPr>
            <a:r>
              <a:rPr lang="en-US" sz="1700" b="0" i="0" strike="noStrike" baseline="0" dirty="0">
                <a:solidFill>
                  <a:srgbClr val="000000"/>
                </a:solidFill>
              </a:rPr>
              <a:t>Advise patients using combined hormonal contraceptives to use an effective alternative contraceptive method or an additional barrier method of contraception.</a:t>
            </a:r>
          </a:p>
        </p:txBody>
      </p:sp>
    </p:spTree>
    <p:extLst>
      <p:ext uri="{BB962C8B-B14F-4D97-AF65-F5344CB8AC3E}">
        <p14:creationId xmlns:p14="http://schemas.microsoft.com/office/powerpoint/2010/main" val="1552236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E121-DC7C-4F87-8E1A-6B1DCEE5F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Prescribing </a:t>
            </a:r>
            <a:r>
              <a:rPr lang="en-US" dirty="0" err="1"/>
              <a:t>Paxlovid</a:t>
            </a:r>
            <a:r>
              <a:rPr lang="en-US" sz="4800" baseline="30000" dirty="0"/>
              <a:t>™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5F9EB-2EE3-41D6-AB3D-F3C38FDD0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Use </a:t>
            </a:r>
            <a:r>
              <a:rPr lang="en-US" sz="2400" dirty="0" err="1"/>
              <a:t>smartphrase</a:t>
            </a:r>
            <a:r>
              <a:rPr lang="en-US" sz="2400" dirty="0"/>
              <a:t> .PAXLOVIDED.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Obtain patient consent for </a:t>
            </a:r>
            <a:r>
              <a:rPr lang="en-US" sz="2400" dirty="0" err="1"/>
              <a:t>Paxlovid</a:t>
            </a:r>
            <a:r>
              <a:rPr lang="en-US" sz="2400" baseline="30000" dirty="0"/>
              <a:t>™</a:t>
            </a:r>
            <a:r>
              <a:rPr lang="en-US" sz="2400" dirty="0"/>
              <a:t>.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Place order for </a:t>
            </a:r>
            <a:r>
              <a:rPr lang="en-US" sz="2400" dirty="0" err="1"/>
              <a:t>Paxlovid</a:t>
            </a:r>
            <a:r>
              <a:rPr lang="en-US" sz="2400" baseline="30000" dirty="0"/>
              <a:t>™</a:t>
            </a:r>
            <a:r>
              <a:rPr lang="en-US" sz="2400" dirty="0"/>
              <a:t> in </a:t>
            </a:r>
            <a:r>
              <a:rPr lang="en-US" sz="2400" dirty="0" err="1"/>
              <a:t>HealthConnect</a:t>
            </a:r>
            <a:r>
              <a:rPr lang="en-US" sz="24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Notify Downey 24 hour Pharmacy of new </a:t>
            </a:r>
            <a:r>
              <a:rPr lang="en-US" sz="2400" dirty="0" err="1"/>
              <a:t>Paxlovid</a:t>
            </a:r>
            <a:r>
              <a:rPr lang="en-US" sz="2400" baseline="30000" dirty="0"/>
              <a:t>™</a:t>
            </a:r>
            <a:r>
              <a:rPr lang="en-US" sz="2400" dirty="0"/>
              <a:t> prescription.</a:t>
            </a:r>
            <a:endParaRPr lang="en-US" sz="2400" baseline="30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Direct line: 562-236-6661 </a:t>
            </a:r>
          </a:p>
        </p:txBody>
      </p:sp>
    </p:spTree>
    <p:extLst>
      <p:ext uri="{BB962C8B-B14F-4D97-AF65-F5344CB8AC3E}">
        <p14:creationId xmlns:p14="http://schemas.microsoft.com/office/powerpoint/2010/main" val="3404791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1ECC-A8DA-40D5-B678-02C7DCDE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Management of common </a:t>
            </a:r>
            <a:r>
              <a:rPr lang="en-US" dirty="0" err="1"/>
              <a:t>Paxlovid</a:t>
            </a:r>
            <a:r>
              <a:rPr lang="en-US" dirty="0"/>
              <a:t>™ drug-drug interactions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DC7C699-21FD-4988-91F8-EDDC3B6D5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402267"/>
              </p:ext>
            </p:extLst>
          </p:nvPr>
        </p:nvGraphicFramePr>
        <p:xfrm>
          <a:off x="320040" y="1794793"/>
          <a:ext cx="8503920" cy="460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3986341682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827569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Medication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916966"/>
                  </a:ext>
                </a:extLst>
              </a:tr>
              <a:tr h="357724">
                <a:tc>
                  <a:txBody>
                    <a:bodyPr/>
                    <a:lstStyle/>
                    <a:p>
                      <a:r>
                        <a:rPr lang="en-US" sz="1200" dirty="0"/>
                        <a:t>Anticoagulant: apixaban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If patient is on apixaban 5 mg or 10 mg twice daily, reduce dose by 50% for 8 days from the first dose of </a:t>
                      </a:r>
                      <a:r>
                        <a:rPr lang="en-US" sz="1200" dirty="0" err="1"/>
                        <a:t>Paxlovid</a:t>
                      </a:r>
                      <a:r>
                        <a:rPr lang="en-US" sz="1200" baseline="30000" dirty="0" err="1"/>
                        <a:t>TM</a:t>
                      </a:r>
                      <a:r>
                        <a:rPr lang="en-US" sz="1200" dirty="0"/>
                        <a:t>. If patient is on apixaban 2.5 mg twice daily, do not use </a:t>
                      </a:r>
                      <a:r>
                        <a:rPr lang="en-US" sz="1200" dirty="0" err="1"/>
                        <a:t>Paxlovid</a:t>
                      </a:r>
                      <a:r>
                        <a:rPr lang="en-US" sz="1200" baseline="30000" dirty="0" err="1"/>
                        <a:t>TM</a:t>
                      </a:r>
                      <a:r>
                        <a:rPr lang="en-US" sz="120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73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Antiplatelets: clopidogrel, ticagrelor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Consult with Cardiology if stent placement was recent. Use with caution and watch for diminished antiplatelet effects.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49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Benzodiazepine: alprazolam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Decrease alprazolam dose by 50% for 8 days from the first dose of </a:t>
                      </a:r>
                      <a:r>
                        <a:rPr lang="en-US" sz="1200" dirty="0" err="1"/>
                        <a:t>Paxlovid</a:t>
                      </a:r>
                      <a:r>
                        <a:rPr lang="en-US" sz="1200" baseline="30000" dirty="0" err="1"/>
                        <a:t>TM</a:t>
                      </a: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795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Calcium channel blockers: amlodipine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Decrease amlodipine dose by 50% for 8 days from the first dose of </a:t>
                      </a:r>
                      <a:r>
                        <a:rPr lang="en-US" sz="1200" dirty="0" err="1"/>
                        <a:t>Paxlovid</a:t>
                      </a:r>
                      <a:r>
                        <a:rPr lang="en-US" sz="1200" baseline="30000" dirty="0" err="1"/>
                        <a:t>TM</a:t>
                      </a:r>
                      <a:r>
                        <a:rPr lang="en-US" sz="120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328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Hormonal contraceptives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 an effective alternative contraceptive method or an additional barrier method of contraception.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254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Narcotics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Check for interactions </a:t>
                      </a:r>
                      <a:r>
                        <a:rPr lang="en-US" sz="1200" dirty="0">
                          <a:hlinkClick r:id="rId2"/>
                        </a:rPr>
                        <a:t>here</a:t>
                      </a:r>
                      <a:r>
                        <a:rPr lang="en-US" sz="120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220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Sildenafil (for erectile dysfunction)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Stop sildenafil for 8 days from the first dose of </a:t>
                      </a:r>
                      <a:r>
                        <a:rPr lang="en-US" sz="1200" dirty="0" err="1"/>
                        <a:t>Paxlovid</a:t>
                      </a:r>
                      <a:r>
                        <a:rPr lang="en-US" sz="1200" baseline="30000" dirty="0" err="1"/>
                        <a:t>TM</a:t>
                      </a: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461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St. John’s wort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Stop St. John’s wort for 8 days from the first dose of </a:t>
                      </a:r>
                      <a:r>
                        <a:rPr lang="en-US" sz="1200" dirty="0" err="1"/>
                        <a:t>Paxlovid</a:t>
                      </a:r>
                      <a:r>
                        <a:rPr lang="en-US" sz="1200" baseline="30000" dirty="0" err="1"/>
                        <a:t>TM</a:t>
                      </a: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34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Statins: atorvastatin, rosuvastatin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Stop statin for 8 days from the first dose of </a:t>
                      </a:r>
                      <a:r>
                        <a:rPr lang="en-US" sz="1200" dirty="0" err="1"/>
                        <a:t>Paxlovid</a:t>
                      </a:r>
                      <a:r>
                        <a:rPr lang="en-US" sz="1200" baseline="30000" dirty="0" err="1"/>
                        <a:t>TM</a:t>
                      </a:r>
                      <a:r>
                        <a:rPr lang="en-US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822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Statins: lovastatin, simvastatin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Stop taking statin 12 hours prior to starting </a:t>
                      </a:r>
                      <a:r>
                        <a:rPr lang="en-US" sz="1200" dirty="0" err="1"/>
                        <a:t>Paxlovid</a:t>
                      </a:r>
                      <a:r>
                        <a:rPr lang="en-US" sz="1200" baseline="30000" dirty="0" err="1"/>
                        <a:t>TM</a:t>
                      </a:r>
                      <a:r>
                        <a:rPr lang="en-US" sz="1200" dirty="0"/>
                        <a:t> treatment, during the 5 days of treatment, and for 5 days after completing treatment.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106239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7C031-9488-4551-BA36-0EE243526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8590" y="6459786"/>
            <a:ext cx="8789670" cy="365125"/>
          </a:xfrm>
        </p:spPr>
        <p:txBody>
          <a:bodyPr/>
          <a:lstStyle/>
          <a:p>
            <a:r>
              <a:rPr lang="en-US" dirty="0"/>
              <a:t>Management of </a:t>
            </a:r>
            <a:r>
              <a:rPr lang="en-US" dirty="0" err="1"/>
              <a:t>Paxlovid</a:t>
            </a:r>
            <a:r>
              <a:rPr lang="en-US" dirty="0"/>
              <a:t> drug-drug interactions. </a:t>
            </a:r>
            <a:r>
              <a:rPr lang="en-US" dirty="0" err="1"/>
              <a:t>Univeristy</a:t>
            </a:r>
            <a:r>
              <a:rPr lang="en-US" dirty="0"/>
              <a:t> of Michigan. Updated February 28, 2022. Accessed April 18, 2022. https://www.med.umich.edu/asp/pdf/outpatient_guidelines/Paxlovid-DDI.pdf </a:t>
            </a:r>
          </a:p>
        </p:txBody>
      </p:sp>
    </p:spTree>
    <p:extLst>
      <p:ext uri="{BB962C8B-B14F-4D97-AF65-F5344CB8AC3E}">
        <p14:creationId xmlns:p14="http://schemas.microsoft.com/office/powerpoint/2010/main" val="203086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0E461-7807-4B4A-B217-CAF9F74E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therapies to </a:t>
            </a:r>
            <a:r>
              <a:rPr lang="en-US" dirty="0" err="1"/>
              <a:t>Paxlovid</a:t>
            </a:r>
            <a:r>
              <a:rPr lang="en-US" sz="4800" baseline="30000" dirty="0"/>
              <a:t>™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B52D7-C9E8-4345-B998-642959711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794510"/>
            <a:ext cx="7543801" cy="4074584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If patient does not meet criteria for </a:t>
            </a:r>
            <a:r>
              <a:rPr lang="en-US" sz="2400" dirty="0" err="1"/>
              <a:t>Paxlovid</a:t>
            </a:r>
            <a:r>
              <a:rPr lang="en-US" sz="2400" dirty="0"/>
              <a:t>™ but presents to the ER within 7 days of COVID-19 symptom onset, consider:  </a:t>
            </a:r>
            <a:br>
              <a:rPr lang="en-US" sz="2400" dirty="0"/>
            </a:b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 err="1"/>
              <a:t>Bebtelovimab</a:t>
            </a:r>
            <a:r>
              <a:rPr lang="en-US" sz="2200" dirty="0"/>
              <a:t> 175 mg IV push over 30 seconds x 1 dose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Remdesivir 200 mg IV on day 1, followed by 100 mg IV daily on days 2-3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Requires coordination with Home Health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6349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2555</TotalTime>
  <Words>959</Words>
  <Application>Microsoft Office PowerPoint</Application>
  <PresentationFormat>On-screen Show (4:3)</PresentationFormat>
  <Paragraphs>135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Retrospect</vt:lpstr>
      <vt:lpstr>Prescribing nirmatrelvir/ritonavir (Paxlovid™)</vt:lpstr>
      <vt:lpstr>Criteria for Paxlovid™ </vt:lpstr>
      <vt:lpstr>Risk factors for severe COVID-19</vt:lpstr>
      <vt:lpstr>Contraindicated medications </vt:lpstr>
      <vt:lpstr>Paxlovid™ Dosing </vt:lpstr>
      <vt:lpstr>Side effects</vt:lpstr>
      <vt:lpstr>Special populations</vt:lpstr>
      <vt:lpstr>Prescribing Paxlovid™</vt:lpstr>
      <vt:lpstr>Management of common Paxlovid™ drug-drug interactions </vt:lpstr>
      <vt:lpstr>Alternative therapies to Paxlovid™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Prescribing Paxlovid</dc:title>
  <dc:creator>Tracy P. Trang</dc:creator>
  <cp:lastModifiedBy>Tracy P. Trang</cp:lastModifiedBy>
  <cp:revision>24</cp:revision>
  <dcterms:created xsi:type="dcterms:W3CDTF">2022-04-17T01:00:47Z</dcterms:created>
  <dcterms:modified xsi:type="dcterms:W3CDTF">2022-04-19T05:29:05Z</dcterms:modified>
</cp:coreProperties>
</file>